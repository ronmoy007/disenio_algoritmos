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tif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222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1051559"/>
            <a:ext cx="5818149" cy="1223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Big O + variables,</a:t>
            </a:r>
          </a:p>
          <a:p>
            <a:pPr>
              <a:defRPr b="1" sz="4000">
                <a:solidFill>
                  <a:srgbClr val="FFFFFF"/>
                </a:solidFill>
              </a:defRPr>
            </a:pPr>
            <a:r>
              <a:t>constantes y tipos de datos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95527" y="3383279"/>
            <a:ext cx="508269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rgbClr val="BFDBFE"/>
                </a:solidFill>
              </a:defRPr>
            </a:lvl1pPr>
          </a:lstStyle>
          <a:p>
            <a:pPr/>
            <a:r>
              <a:t>Clase 6 · 29 de septiembre de 2026 · Laboratorio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9" name="TextBox 2"/>
          <p:cNvSpPr txBox="1"/>
          <p:nvPr/>
        </p:nvSpPr>
        <p:spPr>
          <a:xfrm>
            <a:off x="640079" y="256032"/>
            <a:ext cx="1806754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Noticia tech</a:t>
            </a:r>
          </a:p>
        </p:txBody>
      </p:sp>
      <p:pic>
        <p:nvPicPr>
          <p:cNvPr id="100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489087" y="715225"/>
            <a:ext cx="7689811" cy="58506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TextBox 2"/>
          <p:cNvSpPr txBox="1"/>
          <p:nvPr/>
        </p:nvSpPr>
        <p:spPr>
          <a:xfrm>
            <a:off x="640079" y="256031"/>
            <a:ext cx="3614681" cy="434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Vistazo al mundo laboral</a:t>
            </a:r>
          </a:p>
        </p:txBody>
      </p:sp>
      <p:pic>
        <p:nvPicPr>
          <p:cNvPr id="104" name="Image" descr="Image"/>
          <p:cNvPicPr>
            <a:picLocks noChangeAspect="1"/>
          </p:cNvPicPr>
          <p:nvPr/>
        </p:nvPicPr>
        <p:blipFill>
          <a:blip r:embed="rId2">
            <a:extLst/>
          </a:blip>
          <a:srcRect l="0" t="0" r="0" b="9471"/>
          <a:stretch>
            <a:fillRect/>
          </a:stretch>
        </p:blipFill>
        <p:spPr>
          <a:xfrm>
            <a:off x="3308923" y="890633"/>
            <a:ext cx="6185942" cy="56000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TextBox 2"/>
          <p:cNvSpPr txBox="1"/>
          <p:nvPr/>
        </p:nvSpPr>
        <p:spPr>
          <a:xfrm>
            <a:off x="640079" y="256031"/>
            <a:ext cx="3666584" cy="434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Big O: ¿por qué importa?</a:t>
            </a:r>
          </a:p>
        </p:txBody>
      </p:sp>
      <p:sp>
        <p:nvSpPr>
          <p:cNvPr id="108" name="TextBox 3"/>
          <p:cNvSpPr txBox="1"/>
          <p:nvPr/>
        </p:nvSpPr>
        <p:spPr>
          <a:xfrm>
            <a:off x="658367" y="859536"/>
            <a:ext cx="4004257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>
                <a:solidFill>
                  <a:srgbClr val="475569"/>
                </a:solidFill>
              </a:defRPr>
            </a:lvl1pPr>
          </a:lstStyle>
          <a:p>
            <a:pPr/>
            <a:r>
              <a:t>Dos algoritmos correctos pueden crecer de forma muy distinta.</a:t>
            </a:r>
          </a:p>
        </p:txBody>
      </p:sp>
      <p:sp>
        <p:nvSpPr>
          <p:cNvPr id="109" name="Rounded Rectangle 4"/>
          <p:cNvSpPr/>
          <p:nvPr/>
        </p:nvSpPr>
        <p:spPr>
          <a:xfrm>
            <a:off x="731519" y="1371600"/>
            <a:ext cx="512064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0" name="Rectangle 5"/>
          <p:cNvSpPr/>
          <p:nvPr/>
        </p:nvSpPr>
        <p:spPr>
          <a:xfrm>
            <a:off x="731519" y="1371600"/>
            <a:ext cx="73153" cy="3200400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6"/>
          <p:cNvSpPr txBox="1"/>
          <p:nvPr/>
        </p:nvSpPr>
        <p:spPr>
          <a:xfrm>
            <a:off x="978407" y="1499616"/>
            <a:ext cx="1370173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solidFill>
                  <a:srgbClr val="122238"/>
                </a:solidFill>
              </a:defRPr>
            </a:lvl1pPr>
          </a:lstStyle>
          <a:p>
            <a:pPr/>
            <a:r>
              <a:t>Algoritmo A</a:t>
            </a:r>
          </a:p>
        </p:txBody>
      </p:sp>
      <p:sp>
        <p:nvSpPr>
          <p:cNvPr id="112" name="TextBox 7"/>
          <p:cNvSpPr txBox="1"/>
          <p:nvPr/>
        </p:nvSpPr>
        <p:spPr>
          <a:xfrm>
            <a:off x="978407" y="1938527"/>
            <a:ext cx="2281168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n=10 → ~10 operaciones</a:t>
            </a:r>
            <a:br/>
            <a:r>
              <a:t>n=1,000 → ~1,000</a:t>
            </a:r>
          </a:p>
        </p:txBody>
      </p:sp>
      <p:sp>
        <p:nvSpPr>
          <p:cNvPr id="113" name="Rounded Rectangle 8"/>
          <p:cNvSpPr/>
          <p:nvPr/>
        </p:nvSpPr>
        <p:spPr>
          <a:xfrm>
            <a:off x="6309359" y="1371600"/>
            <a:ext cx="5120641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Rectangle 9"/>
          <p:cNvSpPr/>
          <p:nvPr/>
        </p:nvSpPr>
        <p:spPr>
          <a:xfrm>
            <a:off x="6309359" y="1371600"/>
            <a:ext cx="73153" cy="3200400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10"/>
          <p:cNvSpPr txBox="1"/>
          <p:nvPr/>
        </p:nvSpPr>
        <p:spPr>
          <a:xfrm>
            <a:off x="6556247" y="1499616"/>
            <a:ext cx="1358638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solidFill>
                  <a:srgbClr val="122238"/>
                </a:solidFill>
              </a:defRPr>
            </a:lvl1pPr>
          </a:lstStyle>
          <a:p>
            <a:pPr/>
            <a:r>
              <a:t>Algoritmo B</a:t>
            </a:r>
          </a:p>
        </p:txBody>
      </p:sp>
      <p:sp>
        <p:nvSpPr>
          <p:cNvPr id="116" name="TextBox 11"/>
          <p:cNvSpPr txBox="1"/>
          <p:nvPr/>
        </p:nvSpPr>
        <p:spPr>
          <a:xfrm>
            <a:off x="6556247" y="1938527"/>
            <a:ext cx="2390594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n=10 → ~100 operaciones</a:t>
            </a:r>
            <a:br/>
            <a:r>
              <a:t>n=1,000 → ~1,000,000</a:t>
            </a:r>
          </a:p>
        </p:txBody>
      </p:sp>
      <p:sp>
        <p:nvSpPr>
          <p:cNvPr id="117" name="Rounded Rectangle 12"/>
          <p:cNvSpPr/>
          <p:nvPr/>
        </p:nvSpPr>
        <p:spPr>
          <a:xfrm>
            <a:off x="1645920" y="4937759"/>
            <a:ext cx="8961120" cy="9144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Rectangle 13"/>
          <p:cNvSpPr/>
          <p:nvPr/>
        </p:nvSpPr>
        <p:spPr>
          <a:xfrm>
            <a:off x="1645920" y="4937759"/>
            <a:ext cx="73153" cy="91440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14"/>
          <p:cNvSpPr txBox="1"/>
          <p:nvPr/>
        </p:nvSpPr>
        <p:spPr>
          <a:xfrm>
            <a:off x="1892808" y="5065776"/>
            <a:ext cx="913449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Pregunta</a:t>
            </a:r>
          </a:p>
        </p:txBody>
      </p:sp>
      <p:sp>
        <p:nvSpPr>
          <p:cNvPr id="120" name="TextBox 15"/>
          <p:cNvSpPr txBox="1"/>
          <p:nvPr/>
        </p:nvSpPr>
        <p:spPr>
          <a:xfrm>
            <a:off x="1892808" y="5504688"/>
            <a:ext cx="22183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solidFill>
                  <a:srgbClr val="475569"/>
                </a:solidFill>
              </a:defRPr>
            </a:lvl1pPr>
          </a:lstStyle>
          <a:p>
            <a:pPr/>
            <a:r>
              <a:t>¿Qué ocurre cuando n crece?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TextBox 2"/>
          <p:cNvSpPr txBox="1"/>
          <p:nvPr/>
        </p:nvSpPr>
        <p:spPr>
          <a:xfrm>
            <a:off x="640079" y="256032"/>
            <a:ext cx="5837503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Big O describe crecimiento, no segundos</a:t>
            </a:r>
          </a:p>
        </p:txBody>
      </p:sp>
      <p:sp>
        <p:nvSpPr>
          <p:cNvPr id="124" name="Rounded Rectangle 3"/>
          <p:cNvSpPr/>
          <p:nvPr/>
        </p:nvSpPr>
        <p:spPr>
          <a:xfrm>
            <a:off x="640080" y="1417319"/>
            <a:ext cx="3489960" cy="210312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4"/>
          <p:cNvSpPr/>
          <p:nvPr/>
        </p:nvSpPr>
        <p:spPr>
          <a:xfrm>
            <a:off x="640080" y="1417319"/>
            <a:ext cx="73153" cy="210312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5"/>
          <p:cNvSpPr txBox="1"/>
          <p:nvPr/>
        </p:nvSpPr>
        <p:spPr>
          <a:xfrm>
            <a:off x="886967" y="1545336"/>
            <a:ext cx="2131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n</a:t>
            </a:r>
          </a:p>
        </p:txBody>
      </p:sp>
      <p:sp>
        <p:nvSpPr>
          <p:cNvPr id="127" name="TextBox 6"/>
          <p:cNvSpPr txBox="1"/>
          <p:nvPr/>
        </p:nvSpPr>
        <p:spPr>
          <a:xfrm>
            <a:off x="886967" y="1984248"/>
            <a:ext cx="159681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Tamaño de la entrada.</a:t>
            </a:r>
          </a:p>
        </p:txBody>
      </p:sp>
      <p:sp>
        <p:nvSpPr>
          <p:cNvPr id="128" name="Rounded Rectangle 7"/>
          <p:cNvSpPr/>
          <p:nvPr/>
        </p:nvSpPr>
        <p:spPr>
          <a:xfrm>
            <a:off x="4358640" y="1417319"/>
            <a:ext cx="3489960" cy="210312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Rectangle 8"/>
          <p:cNvSpPr/>
          <p:nvPr/>
        </p:nvSpPr>
        <p:spPr>
          <a:xfrm>
            <a:off x="4358640" y="1417319"/>
            <a:ext cx="73153" cy="2103122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9"/>
          <p:cNvSpPr txBox="1"/>
          <p:nvPr/>
        </p:nvSpPr>
        <p:spPr>
          <a:xfrm>
            <a:off x="4605528" y="1545336"/>
            <a:ext cx="73289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Trabajo</a:t>
            </a:r>
          </a:p>
        </p:txBody>
      </p:sp>
      <p:sp>
        <p:nvSpPr>
          <p:cNvPr id="131" name="TextBox 10"/>
          <p:cNvSpPr txBox="1"/>
          <p:nvPr/>
        </p:nvSpPr>
        <p:spPr>
          <a:xfrm>
            <a:off x="4605528" y="1984248"/>
            <a:ext cx="2594184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Iteraciones u operaciones relevantes.</a:t>
            </a:r>
          </a:p>
        </p:txBody>
      </p:sp>
      <p:sp>
        <p:nvSpPr>
          <p:cNvPr id="132" name="Rounded Rectangle 11"/>
          <p:cNvSpPr/>
          <p:nvPr/>
        </p:nvSpPr>
        <p:spPr>
          <a:xfrm>
            <a:off x="8077199" y="1417319"/>
            <a:ext cx="3489961" cy="210312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3" name="Rectangle 12"/>
          <p:cNvSpPr/>
          <p:nvPr/>
        </p:nvSpPr>
        <p:spPr>
          <a:xfrm>
            <a:off x="8077199" y="1417319"/>
            <a:ext cx="73153" cy="2103122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TextBox 13"/>
          <p:cNvSpPr txBox="1"/>
          <p:nvPr/>
        </p:nvSpPr>
        <p:spPr>
          <a:xfrm>
            <a:off x="8324086" y="1545336"/>
            <a:ext cx="54764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Big O</a:t>
            </a:r>
          </a:p>
        </p:txBody>
      </p:sp>
      <p:sp>
        <p:nvSpPr>
          <p:cNvPr id="135" name="TextBox 14"/>
          <p:cNvSpPr txBox="1"/>
          <p:nvPr/>
        </p:nvSpPr>
        <p:spPr>
          <a:xfrm>
            <a:off x="8324086" y="1984248"/>
            <a:ext cx="2379103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Forma dominante de crecimiento.</a:t>
            </a:r>
          </a:p>
        </p:txBody>
      </p:sp>
      <p:sp>
        <p:nvSpPr>
          <p:cNvPr id="136" name="Rounded Rectangle 15"/>
          <p:cNvSpPr/>
          <p:nvPr/>
        </p:nvSpPr>
        <p:spPr>
          <a:xfrm>
            <a:off x="1280160" y="4297679"/>
            <a:ext cx="9601201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Rectangle 16"/>
          <p:cNvSpPr/>
          <p:nvPr/>
        </p:nvSpPr>
        <p:spPr>
          <a:xfrm>
            <a:off x="1280160" y="4297679"/>
            <a:ext cx="73153" cy="1097281"/>
          </a:xfrm>
          <a:prstGeom prst="rect">
            <a:avLst/>
          </a:prstGeom>
          <a:solidFill>
            <a:srgbClr val="DC262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TextBox 17"/>
          <p:cNvSpPr txBox="1"/>
          <p:nvPr/>
        </p:nvSpPr>
        <p:spPr>
          <a:xfrm>
            <a:off x="1527047" y="4425696"/>
            <a:ext cx="1060313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Importante</a:t>
            </a:r>
          </a:p>
        </p:txBody>
      </p:sp>
      <p:sp>
        <p:nvSpPr>
          <p:cNvPr id="139" name="TextBox 18"/>
          <p:cNvSpPr txBox="1"/>
          <p:nvPr/>
        </p:nvSpPr>
        <p:spPr>
          <a:xfrm>
            <a:off x="1527047" y="4864608"/>
            <a:ext cx="4337086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O(n²) no significa n² segundos. Describe cómo escala el trabajo.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TextBox 2"/>
          <p:cNvSpPr txBox="1"/>
          <p:nvPr/>
        </p:nvSpPr>
        <p:spPr>
          <a:xfrm>
            <a:off x="640079" y="256032"/>
            <a:ext cx="4754388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Complejidades de tus programas</a:t>
            </a:r>
          </a:p>
        </p:txBody>
      </p:sp>
      <p:sp>
        <p:nvSpPr>
          <p:cNvPr id="143" name="Rounded Rectangle 3"/>
          <p:cNvSpPr/>
          <p:nvPr/>
        </p:nvSpPr>
        <p:spPr>
          <a:xfrm>
            <a:off x="640080" y="1645920"/>
            <a:ext cx="2002536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Rectangle 4"/>
          <p:cNvSpPr/>
          <p:nvPr/>
        </p:nvSpPr>
        <p:spPr>
          <a:xfrm>
            <a:off x="640080" y="1645920"/>
            <a:ext cx="73153" cy="1828801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5"/>
          <p:cNvSpPr txBox="1"/>
          <p:nvPr/>
        </p:nvSpPr>
        <p:spPr>
          <a:xfrm>
            <a:off x="886966" y="1773935"/>
            <a:ext cx="47115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O(1)</a:t>
            </a:r>
          </a:p>
        </p:txBody>
      </p:sp>
      <p:sp>
        <p:nvSpPr>
          <p:cNvPr id="146" name="TextBox 6"/>
          <p:cNvSpPr txBox="1"/>
          <p:nvPr/>
        </p:nvSpPr>
        <p:spPr>
          <a:xfrm>
            <a:off x="886966" y="2212848"/>
            <a:ext cx="1280318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Acceso por índice</a:t>
            </a:r>
          </a:p>
        </p:txBody>
      </p:sp>
      <p:sp>
        <p:nvSpPr>
          <p:cNvPr id="147" name="Rounded Rectangle 7"/>
          <p:cNvSpPr/>
          <p:nvPr/>
        </p:nvSpPr>
        <p:spPr>
          <a:xfrm>
            <a:off x="2871215" y="1645920"/>
            <a:ext cx="2002536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Rectangle 8"/>
          <p:cNvSpPr/>
          <p:nvPr/>
        </p:nvSpPr>
        <p:spPr>
          <a:xfrm>
            <a:off x="2871215" y="1645920"/>
            <a:ext cx="73153" cy="182880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9"/>
          <p:cNvSpPr txBox="1"/>
          <p:nvPr/>
        </p:nvSpPr>
        <p:spPr>
          <a:xfrm>
            <a:off x="3118103" y="1773935"/>
            <a:ext cx="77863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O(log n)</a:t>
            </a:r>
          </a:p>
        </p:txBody>
      </p:sp>
      <p:sp>
        <p:nvSpPr>
          <p:cNvPr id="150" name="TextBox 10"/>
          <p:cNvSpPr txBox="1"/>
          <p:nvPr/>
        </p:nvSpPr>
        <p:spPr>
          <a:xfrm>
            <a:off x="3118103" y="2212848"/>
            <a:ext cx="126903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Búsqueda binaria</a:t>
            </a:r>
          </a:p>
        </p:txBody>
      </p:sp>
      <p:sp>
        <p:nvSpPr>
          <p:cNvPr id="151" name="Rounded Rectangle 11"/>
          <p:cNvSpPr/>
          <p:nvPr/>
        </p:nvSpPr>
        <p:spPr>
          <a:xfrm>
            <a:off x="5102352" y="1645920"/>
            <a:ext cx="2002537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Rectangle 12"/>
          <p:cNvSpPr/>
          <p:nvPr/>
        </p:nvSpPr>
        <p:spPr>
          <a:xfrm>
            <a:off x="5102352" y="1645920"/>
            <a:ext cx="73153" cy="182880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3" name="TextBox 13"/>
          <p:cNvSpPr txBox="1"/>
          <p:nvPr/>
        </p:nvSpPr>
        <p:spPr>
          <a:xfrm>
            <a:off x="5349240" y="1773935"/>
            <a:ext cx="477203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O(n)</a:t>
            </a:r>
          </a:p>
        </p:txBody>
      </p:sp>
      <p:sp>
        <p:nvSpPr>
          <p:cNvPr id="154" name="TextBox 14"/>
          <p:cNvSpPr txBox="1"/>
          <p:nvPr/>
        </p:nvSpPr>
        <p:spPr>
          <a:xfrm>
            <a:off x="5349240" y="2212848"/>
            <a:ext cx="1378345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Encontrar el mayor</a:t>
            </a:r>
          </a:p>
        </p:txBody>
      </p:sp>
      <p:sp>
        <p:nvSpPr>
          <p:cNvPr id="155" name="Rounded Rectangle 15"/>
          <p:cNvSpPr/>
          <p:nvPr/>
        </p:nvSpPr>
        <p:spPr>
          <a:xfrm>
            <a:off x="7333488" y="1645920"/>
            <a:ext cx="2002536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Rectangle 16"/>
          <p:cNvSpPr/>
          <p:nvPr/>
        </p:nvSpPr>
        <p:spPr>
          <a:xfrm>
            <a:off x="7333488" y="1645920"/>
            <a:ext cx="73153" cy="182880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17"/>
          <p:cNvSpPr txBox="1"/>
          <p:nvPr/>
        </p:nvSpPr>
        <p:spPr>
          <a:xfrm>
            <a:off x="7580376" y="1773935"/>
            <a:ext cx="93361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O(n log n)</a:t>
            </a:r>
          </a:p>
        </p:txBody>
      </p:sp>
      <p:sp>
        <p:nvSpPr>
          <p:cNvPr id="158" name="TextBox 18"/>
          <p:cNvSpPr txBox="1"/>
          <p:nvPr/>
        </p:nvSpPr>
        <p:spPr>
          <a:xfrm>
            <a:off x="7580376" y="2212848"/>
            <a:ext cx="854346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Merge Sort</a:t>
            </a:r>
          </a:p>
        </p:txBody>
      </p:sp>
      <p:sp>
        <p:nvSpPr>
          <p:cNvPr id="159" name="Rounded Rectangle 19"/>
          <p:cNvSpPr/>
          <p:nvPr/>
        </p:nvSpPr>
        <p:spPr>
          <a:xfrm>
            <a:off x="9564623" y="1645920"/>
            <a:ext cx="2002537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Rectangle 20"/>
          <p:cNvSpPr/>
          <p:nvPr/>
        </p:nvSpPr>
        <p:spPr>
          <a:xfrm>
            <a:off x="9564623" y="1645920"/>
            <a:ext cx="73153" cy="1828801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1" name="TextBox 21"/>
          <p:cNvSpPr txBox="1"/>
          <p:nvPr/>
        </p:nvSpPr>
        <p:spPr>
          <a:xfrm>
            <a:off x="9811512" y="1773935"/>
            <a:ext cx="545863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O(n²)</a:t>
            </a:r>
          </a:p>
        </p:txBody>
      </p:sp>
      <p:sp>
        <p:nvSpPr>
          <p:cNvPr id="162" name="TextBox 22"/>
          <p:cNvSpPr txBox="1"/>
          <p:nvPr/>
        </p:nvSpPr>
        <p:spPr>
          <a:xfrm>
            <a:off x="9811512" y="2212848"/>
            <a:ext cx="1399063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Rutas / Bubble Sort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2"/>
          <p:cNvSpPr txBox="1"/>
          <p:nvPr/>
        </p:nvSpPr>
        <p:spPr>
          <a:xfrm>
            <a:off x="640079" y="256032"/>
            <a:ext cx="3247838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Curvas de crecimiento</a:t>
            </a:r>
          </a:p>
        </p:txBody>
      </p:sp>
      <p:pic>
        <p:nvPicPr>
          <p:cNvPr id="166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80160" y="1143000"/>
            <a:ext cx="9601201" cy="52120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TextBox 2"/>
          <p:cNvSpPr txBox="1"/>
          <p:nvPr/>
        </p:nvSpPr>
        <p:spPr>
          <a:xfrm>
            <a:off x="640079" y="256032"/>
            <a:ext cx="3456625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O(1) · Acceso por índice</a:t>
            </a:r>
          </a:p>
        </p:txBody>
      </p:sp>
      <p:sp>
        <p:nvSpPr>
          <p:cNvPr id="170" name="Rounded Rectangle 4"/>
          <p:cNvSpPr/>
          <p:nvPr/>
        </p:nvSpPr>
        <p:spPr>
          <a:xfrm>
            <a:off x="594359" y="1325880"/>
            <a:ext cx="5212081" cy="3566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16A34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5"/>
          <p:cNvSpPr txBox="1"/>
          <p:nvPr/>
        </p:nvSpPr>
        <p:spPr>
          <a:xfrm>
            <a:off x="822959" y="1435607"/>
            <a:ext cx="1673925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0_encontrar_por_indice.py</a:t>
            </a:r>
          </a:p>
        </p:txBody>
      </p:sp>
      <p:sp>
        <p:nvSpPr>
          <p:cNvPr id="172" name="TextBox 6"/>
          <p:cNvSpPr txBox="1"/>
          <p:nvPr/>
        </p:nvSpPr>
        <p:spPr>
          <a:xfrm>
            <a:off x="841247" y="1801367"/>
            <a:ext cx="2481968" cy="485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elemento = lista[indice]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iteraciones += 1</a:t>
            </a:r>
          </a:p>
        </p:txBody>
      </p:sp>
      <p:sp>
        <p:nvSpPr>
          <p:cNvPr id="173" name="Rounded Rectangle 7"/>
          <p:cNvSpPr/>
          <p:nvPr/>
        </p:nvSpPr>
        <p:spPr>
          <a:xfrm>
            <a:off x="6126479" y="132588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Rectangle 8"/>
          <p:cNvSpPr/>
          <p:nvPr/>
        </p:nvSpPr>
        <p:spPr>
          <a:xfrm>
            <a:off x="6126479" y="1325879"/>
            <a:ext cx="73153" cy="105156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9"/>
          <p:cNvSpPr txBox="1"/>
          <p:nvPr/>
        </p:nvSpPr>
        <p:spPr>
          <a:xfrm>
            <a:off x="6373367" y="1453894"/>
            <a:ext cx="436952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n=6</a:t>
            </a:r>
          </a:p>
        </p:txBody>
      </p:sp>
      <p:sp>
        <p:nvSpPr>
          <p:cNvPr id="176" name="TextBox 10"/>
          <p:cNvSpPr txBox="1"/>
          <p:nvPr/>
        </p:nvSpPr>
        <p:spPr>
          <a:xfrm>
            <a:off x="6373367" y="1892806"/>
            <a:ext cx="200694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7" name="Rounded Rectangle 11"/>
          <p:cNvSpPr/>
          <p:nvPr/>
        </p:nvSpPr>
        <p:spPr>
          <a:xfrm>
            <a:off x="6126479" y="265176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Rectangle 12"/>
          <p:cNvSpPr/>
          <p:nvPr/>
        </p:nvSpPr>
        <p:spPr>
          <a:xfrm>
            <a:off x="6126479" y="2651760"/>
            <a:ext cx="73153" cy="1051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9" name="TextBox 13"/>
          <p:cNvSpPr txBox="1"/>
          <p:nvPr/>
        </p:nvSpPr>
        <p:spPr>
          <a:xfrm>
            <a:off x="6373367" y="2779776"/>
            <a:ext cx="43695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n=7</a:t>
            </a:r>
          </a:p>
        </p:txBody>
      </p:sp>
      <p:sp>
        <p:nvSpPr>
          <p:cNvPr id="180" name="TextBox 14"/>
          <p:cNvSpPr txBox="1"/>
          <p:nvPr/>
        </p:nvSpPr>
        <p:spPr>
          <a:xfrm>
            <a:off x="6373367" y="3218688"/>
            <a:ext cx="200694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81" name="Rounded Rectangle 15"/>
          <p:cNvSpPr/>
          <p:nvPr/>
        </p:nvSpPr>
        <p:spPr>
          <a:xfrm>
            <a:off x="6126479" y="3977638"/>
            <a:ext cx="5212081" cy="10515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Rectangle 16"/>
          <p:cNvSpPr/>
          <p:nvPr/>
        </p:nvSpPr>
        <p:spPr>
          <a:xfrm>
            <a:off x="6126479" y="3977638"/>
            <a:ext cx="73153" cy="1051562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17"/>
          <p:cNvSpPr txBox="1"/>
          <p:nvPr/>
        </p:nvSpPr>
        <p:spPr>
          <a:xfrm>
            <a:off x="6373367" y="4105654"/>
            <a:ext cx="546378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n=11</a:t>
            </a:r>
          </a:p>
        </p:txBody>
      </p:sp>
      <p:sp>
        <p:nvSpPr>
          <p:cNvPr id="184" name="TextBox 18"/>
          <p:cNvSpPr txBox="1"/>
          <p:nvPr/>
        </p:nvSpPr>
        <p:spPr>
          <a:xfrm>
            <a:off x="6373367" y="4544567"/>
            <a:ext cx="200694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7" name="TextBox 2"/>
          <p:cNvSpPr txBox="1"/>
          <p:nvPr/>
        </p:nvSpPr>
        <p:spPr>
          <a:xfrm>
            <a:off x="640079" y="256032"/>
            <a:ext cx="3681988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O(n) · Encontrar el mayor</a:t>
            </a:r>
          </a:p>
        </p:txBody>
      </p:sp>
      <p:sp>
        <p:nvSpPr>
          <p:cNvPr id="188" name="Rounded Rectangle 4"/>
          <p:cNvSpPr/>
          <p:nvPr/>
        </p:nvSpPr>
        <p:spPr>
          <a:xfrm>
            <a:off x="594359" y="1325880"/>
            <a:ext cx="5212081" cy="3566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2563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TextBox 5"/>
          <p:cNvSpPr txBox="1"/>
          <p:nvPr/>
        </p:nvSpPr>
        <p:spPr>
          <a:xfrm>
            <a:off x="822959" y="1435607"/>
            <a:ext cx="1658713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1_numero_mas_grande.py</a:t>
            </a:r>
          </a:p>
        </p:txBody>
      </p:sp>
      <p:sp>
        <p:nvSpPr>
          <p:cNvPr id="190" name="TextBox 6"/>
          <p:cNvSpPr txBox="1"/>
          <p:nvPr/>
        </p:nvSpPr>
        <p:spPr>
          <a:xfrm>
            <a:off x="841247" y="1801367"/>
            <a:ext cx="2481968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elemento in lista: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iteraciones += 1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if elemento &gt; mayor: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mayor = elemento</a:t>
            </a:r>
          </a:p>
        </p:txBody>
      </p:sp>
      <p:sp>
        <p:nvSpPr>
          <p:cNvPr id="191" name="Rounded Rectangle 7"/>
          <p:cNvSpPr/>
          <p:nvPr/>
        </p:nvSpPr>
        <p:spPr>
          <a:xfrm>
            <a:off x="6126479" y="132588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8"/>
          <p:cNvSpPr/>
          <p:nvPr/>
        </p:nvSpPr>
        <p:spPr>
          <a:xfrm>
            <a:off x="6126479" y="1325879"/>
            <a:ext cx="73153" cy="105156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TextBox 9"/>
          <p:cNvSpPr txBox="1"/>
          <p:nvPr/>
        </p:nvSpPr>
        <p:spPr>
          <a:xfrm>
            <a:off x="6373367" y="1453894"/>
            <a:ext cx="436952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n=6</a:t>
            </a:r>
          </a:p>
        </p:txBody>
      </p:sp>
      <p:sp>
        <p:nvSpPr>
          <p:cNvPr id="194" name="TextBox 10"/>
          <p:cNvSpPr txBox="1"/>
          <p:nvPr/>
        </p:nvSpPr>
        <p:spPr>
          <a:xfrm>
            <a:off x="6373367" y="1892806"/>
            <a:ext cx="200694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95" name="Rounded Rectangle 11"/>
          <p:cNvSpPr/>
          <p:nvPr/>
        </p:nvSpPr>
        <p:spPr>
          <a:xfrm>
            <a:off x="6126479" y="265176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6" name="Rectangle 12"/>
          <p:cNvSpPr/>
          <p:nvPr/>
        </p:nvSpPr>
        <p:spPr>
          <a:xfrm>
            <a:off x="6126479" y="2651760"/>
            <a:ext cx="73153" cy="1051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13"/>
          <p:cNvSpPr txBox="1"/>
          <p:nvPr/>
        </p:nvSpPr>
        <p:spPr>
          <a:xfrm>
            <a:off x="6373367" y="2779776"/>
            <a:ext cx="43695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n=7</a:t>
            </a:r>
          </a:p>
        </p:txBody>
      </p:sp>
      <p:sp>
        <p:nvSpPr>
          <p:cNvPr id="198" name="TextBox 14"/>
          <p:cNvSpPr txBox="1"/>
          <p:nvPr/>
        </p:nvSpPr>
        <p:spPr>
          <a:xfrm>
            <a:off x="6373367" y="3218688"/>
            <a:ext cx="200694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99" name="Rounded Rectangle 15"/>
          <p:cNvSpPr/>
          <p:nvPr/>
        </p:nvSpPr>
        <p:spPr>
          <a:xfrm>
            <a:off x="6126479" y="3977638"/>
            <a:ext cx="5212081" cy="10515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Rectangle 16"/>
          <p:cNvSpPr/>
          <p:nvPr/>
        </p:nvSpPr>
        <p:spPr>
          <a:xfrm>
            <a:off x="6126479" y="3977638"/>
            <a:ext cx="73153" cy="1051562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TextBox 17"/>
          <p:cNvSpPr txBox="1"/>
          <p:nvPr/>
        </p:nvSpPr>
        <p:spPr>
          <a:xfrm>
            <a:off x="6373367" y="4105654"/>
            <a:ext cx="546378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n=11</a:t>
            </a:r>
          </a:p>
        </p:txBody>
      </p:sp>
      <p:sp>
        <p:nvSpPr>
          <p:cNvPr id="202" name="TextBox 18"/>
          <p:cNvSpPr txBox="1"/>
          <p:nvPr/>
        </p:nvSpPr>
        <p:spPr>
          <a:xfrm>
            <a:off x="6373367" y="4544567"/>
            <a:ext cx="297246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5" name="TextBox 2"/>
          <p:cNvSpPr txBox="1"/>
          <p:nvPr/>
        </p:nvSpPr>
        <p:spPr>
          <a:xfrm>
            <a:off x="640079" y="256032"/>
            <a:ext cx="3054622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O(n²) · Generar rutas</a:t>
            </a:r>
          </a:p>
        </p:txBody>
      </p:sp>
      <p:sp>
        <p:nvSpPr>
          <p:cNvPr id="206" name="Rounded Rectangle 4"/>
          <p:cNvSpPr/>
          <p:nvPr/>
        </p:nvSpPr>
        <p:spPr>
          <a:xfrm>
            <a:off x="594359" y="1325880"/>
            <a:ext cx="5212081" cy="3566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EA580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7" name="TextBox 5"/>
          <p:cNvSpPr txBox="1"/>
          <p:nvPr/>
        </p:nvSpPr>
        <p:spPr>
          <a:xfrm>
            <a:off x="822959" y="1435607"/>
            <a:ext cx="1233747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2_generar_rutas.py</a:t>
            </a:r>
          </a:p>
        </p:txBody>
      </p:sp>
      <p:sp>
        <p:nvSpPr>
          <p:cNvPr id="208" name="TextBox 6"/>
          <p:cNvSpPr txBox="1"/>
          <p:nvPr/>
        </p:nvSpPr>
        <p:spPr>
          <a:xfrm>
            <a:off x="841247" y="1801367"/>
            <a:ext cx="2581045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origen in rutas: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for destino in rutas: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iteraciones += 1</a:t>
            </a:r>
          </a:p>
        </p:txBody>
      </p:sp>
      <p:sp>
        <p:nvSpPr>
          <p:cNvPr id="209" name="Rounded Rectangle 7"/>
          <p:cNvSpPr/>
          <p:nvPr/>
        </p:nvSpPr>
        <p:spPr>
          <a:xfrm>
            <a:off x="6126479" y="132588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0" name="Rectangle 8"/>
          <p:cNvSpPr/>
          <p:nvPr/>
        </p:nvSpPr>
        <p:spPr>
          <a:xfrm>
            <a:off x="6126479" y="1325879"/>
            <a:ext cx="73153" cy="105156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1" name="TextBox 9"/>
          <p:cNvSpPr txBox="1"/>
          <p:nvPr/>
        </p:nvSpPr>
        <p:spPr>
          <a:xfrm>
            <a:off x="6373367" y="1453894"/>
            <a:ext cx="436952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n=2</a:t>
            </a:r>
          </a:p>
        </p:txBody>
      </p:sp>
      <p:sp>
        <p:nvSpPr>
          <p:cNvPr id="212" name="TextBox 10"/>
          <p:cNvSpPr txBox="1"/>
          <p:nvPr/>
        </p:nvSpPr>
        <p:spPr>
          <a:xfrm>
            <a:off x="6373367" y="1892806"/>
            <a:ext cx="200694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13" name="Rounded Rectangle 11"/>
          <p:cNvSpPr/>
          <p:nvPr/>
        </p:nvSpPr>
        <p:spPr>
          <a:xfrm>
            <a:off x="6126479" y="265176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4" name="Rectangle 12"/>
          <p:cNvSpPr/>
          <p:nvPr/>
        </p:nvSpPr>
        <p:spPr>
          <a:xfrm>
            <a:off x="6126479" y="2651760"/>
            <a:ext cx="73153" cy="1051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5" name="TextBox 13"/>
          <p:cNvSpPr txBox="1"/>
          <p:nvPr/>
        </p:nvSpPr>
        <p:spPr>
          <a:xfrm>
            <a:off x="6373367" y="2779776"/>
            <a:ext cx="43695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n=3</a:t>
            </a:r>
          </a:p>
        </p:txBody>
      </p:sp>
      <p:sp>
        <p:nvSpPr>
          <p:cNvPr id="216" name="TextBox 14"/>
          <p:cNvSpPr txBox="1"/>
          <p:nvPr/>
        </p:nvSpPr>
        <p:spPr>
          <a:xfrm>
            <a:off x="6373367" y="3218688"/>
            <a:ext cx="200694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217" name="Rounded Rectangle 15"/>
          <p:cNvSpPr/>
          <p:nvPr/>
        </p:nvSpPr>
        <p:spPr>
          <a:xfrm>
            <a:off x="6126479" y="3977638"/>
            <a:ext cx="5212081" cy="10515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Rectangle 16"/>
          <p:cNvSpPr/>
          <p:nvPr/>
        </p:nvSpPr>
        <p:spPr>
          <a:xfrm>
            <a:off x="6126479" y="3977638"/>
            <a:ext cx="73153" cy="1051562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17"/>
          <p:cNvSpPr txBox="1"/>
          <p:nvPr/>
        </p:nvSpPr>
        <p:spPr>
          <a:xfrm>
            <a:off x="6373367" y="4105654"/>
            <a:ext cx="436952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n=4</a:t>
            </a:r>
          </a:p>
        </p:txBody>
      </p:sp>
      <p:sp>
        <p:nvSpPr>
          <p:cNvPr id="220" name="TextBox 18"/>
          <p:cNvSpPr txBox="1"/>
          <p:nvPr/>
        </p:nvSpPr>
        <p:spPr>
          <a:xfrm>
            <a:off x="6373367" y="4544567"/>
            <a:ext cx="297246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TextBox 2"/>
          <p:cNvSpPr txBox="1"/>
          <p:nvPr/>
        </p:nvSpPr>
        <p:spPr>
          <a:xfrm>
            <a:off x="640079" y="256032"/>
            <a:ext cx="2762119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O(n²) · Bubble Sort</a:t>
            </a:r>
          </a:p>
        </p:txBody>
      </p:sp>
      <p:sp>
        <p:nvSpPr>
          <p:cNvPr id="224" name="Rounded Rectangle 4"/>
          <p:cNvSpPr/>
          <p:nvPr/>
        </p:nvSpPr>
        <p:spPr>
          <a:xfrm>
            <a:off x="594359" y="1325880"/>
            <a:ext cx="5212081" cy="3566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EA580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TextBox 5"/>
          <p:cNvSpPr txBox="1"/>
          <p:nvPr/>
        </p:nvSpPr>
        <p:spPr>
          <a:xfrm>
            <a:off x="822959" y="1435607"/>
            <a:ext cx="1125220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3_bubble_sort.py</a:t>
            </a:r>
          </a:p>
        </p:txBody>
      </p:sp>
      <p:sp>
        <p:nvSpPr>
          <p:cNvPr id="226" name="TextBox 6"/>
          <p:cNvSpPr txBox="1"/>
          <p:nvPr/>
        </p:nvSpPr>
        <p:spPr>
          <a:xfrm>
            <a:off x="841247" y="1801367"/>
            <a:ext cx="3373654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pasada in range(n):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for posicion in range(n - 1):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iteraciones += 1</a:t>
            </a:r>
          </a:p>
        </p:txBody>
      </p:sp>
      <p:sp>
        <p:nvSpPr>
          <p:cNvPr id="227" name="Rounded Rectangle 7"/>
          <p:cNvSpPr/>
          <p:nvPr/>
        </p:nvSpPr>
        <p:spPr>
          <a:xfrm>
            <a:off x="6126479" y="132588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8"/>
          <p:cNvSpPr/>
          <p:nvPr/>
        </p:nvSpPr>
        <p:spPr>
          <a:xfrm>
            <a:off x="6126479" y="1325879"/>
            <a:ext cx="73153" cy="105156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9"/>
          <p:cNvSpPr txBox="1"/>
          <p:nvPr/>
        </p:nvSpPr>
        <p:spPr>
          <a:xfrm>
            <a:off x="6373367" y="1453894"/>
            <a:ext cx="436952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n=6</a:t>
            </a:r>
          </a:p>
        </p:txBody>
      </p:sp>
      <p:sp>
        <p:nvSpPr>
          <p:cNvPr id="230" name="TextBox 10"/>
          <p:cNvSpPr txBox="1"/>
          <p:nvPr/>
        </p:nvSpPr>
        <p:spPr>
          <a:xfrm>
            <a:off x="6373367" y="1892806"/>
            <a:ext cx="297246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30</a:t>
            </a:r>
          </a:p>
        </p:txBody>
      </p:sp>
      <p:sp>
        <p:nvSpPr>
          <p:cNvPr id="231" name="Rounded Rectangle 11"/>
          <p:cNvSpPr/>
          <p:nvPr/>
        </p:nvSpPr>
        <p:spPr>
          <a:xfrm>
            <a:off x="6126479" y="265176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Rectangle 12"/>
          <p:cNvSpPr/>
          <p:nvPr/>
        </p:nvSpPr>
        <p:spPr>
          <a:xfrm>
            <a:off x="6126479" y="2651760"/>
            <a:ext cx="73153" cy="1051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3" name="TextBox 13"/>
          <p:cNvSpPr txBox="1"/>
          <p:nvPr/>
        </p:nvSpPr>
        <p:spPr>
          <a:xfrm>
            <a:off x="6373367" y="2779776"/>
            <a:ext cx="43695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n=7</a:t>
            </a:r>
          </a:p>
        </p:txBody>
      </p:sp>
      <p:sp>
        <p:nvSpPr>
          <p:cNvPr id="234" name="TextBox 14"/>
          <p:cNvSpPr txBox="1"/>
          <p:nvPr/>
        </p:nvSpPr>
        <p:spPr>
          <a:xfrm>
            <a:off x="6373367" y="3218688"/>
            <a:ext cx="297246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42</a:t>
            </a:r>
          </a:p>
        </p:txBody>
      </p:sp>
      <p:sp>
        <p:nvSpPr>
          <p:cNvPr id="235" name="Rounded Rectangle 15"/>
          <p:cNvSpPr/>
          <p:nvPr/>
        </p:nvSpPr>
        <p:spPr>
          <a:xfrm>
            <a:off x="6126479" y="3977638"/>
            <a:ext cx="5212081" cy="10515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" name="Rectangle 16"/>
          <p:cNvSpPr/>
          <p:nvPr/>
        </p:nvSpPr>
        <p:spPr>
          <a:xfrm>
            <a:off x="6126479" y="3977638"/>
            <a:ext cx="73153" cy="1051562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TextBox 17"/>
          <p:cNvSpPr txBox="1"/>
          <p:nvPr/>
        </p:nvSpPr>
        <p:spPr>
          <a:xfrm>
            <a:off x="6373367" y="4105654"/>
            <a:ext cx="546378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n=11</a:t>
            </a:r>
          </a:p>
        </p:txBody>
      </p:sp>
      <p:sp>
        <p:nvSpPr>
          <p:cNvPr id="238" name="TextBox 18"/>
          <p:cNvSpPr txBox="1"/>
          <p:nvPr/>
        </p:nvSpPr>
        <p:spPr>
          <a:xfrm>
            <a:off x="6373367" y="4544567"/>
            <a:ext cx="393798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110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" name="TextBox 2"/>
          <p:cNvSpPr txBox="1"/>
          <p:nvPr/>
        </p:nvSpPr>
        <p:spPr>
          <a:xfrm>
            <a:off x="640079" y="256032"/>
            <a:ext cx="3970473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O(log n) · Búsqueda binaria</a:t>
            </a:r>
          </a:p>
        </p:txBody>
      </p:sp>
      <p:sp>
        <p:nvSpPr>
          <p:cNvPr id="242" name="Rounded Rectangle 4"/>
          <p:cNvSpPr/>
          <p:nvPr/>
        </p:nvSpPr>
        <p:spPr>
          <a:xfrm>
            <a:off x="594359" y="1325880"/>
            <a:ext cx="5212081" cy="3566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0D948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TextBox 5"/>
          <p:cNvSpPr txBox="1"/>
          <p:nvPr/>
        </p:nvSpPr>
        <p:spPr>
          <a:xfrm>
            <a:off x="822959" y="1435607"/>
            <a:ext cx="1467785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4_busqueda_binaria.py</a:t>
            </a:r>
          </a:p>
        </p:txBody>
      </p:sp>
      <p:sp>
        <p:nvSpPr>
          <p:cNvPr id="244" name="TextBox 6"/>
          <p:cNvSpPr txBox="1"/>
          <p:nvPr/>
        </p:nvSpPr>
        <p:spPr>
          <a:xfrm>
            <a:off x="841247" y="1801367"/>
            <a:ext cx="3869034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izquierda &lt;= derecha: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iteraciones += 1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mitad = (izquierda + derecha) // 2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descartamos ~la mitad</a:t>
            </a:r>
          </a:p>
        </p:txBody>
      </p:sp>
      <p:sp>
        <p:nvSpPr>
          <p:cNvPr id="245" name="Rounded Rectangle 7"/>
          <p:cNvSpPr/>
          <p:nvPr/>
        </p:nvSpPr>
        <p:spPr>
          <a:xfrm>
            <a:off x="6126479" y="132588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" name="Rectangle 8"/>
          <p:cNvSpPr/>
          <p:nvPr/>
        </p:nvSpPr>
        <p:spPr>
          <a:xfrm>
            <a:off x="6126479" y="1325879"/>
            <a:ext cx="73153" cy="1051562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TextBox 9"/>
          <p:cNvSpPr txBox="1"/>
          <p:nvPr/>
        </p:nvSpPr>
        <p:spPr>
          <a:xfrm>
            <a:off x="6373367" y="1453894"/>
            <a:ext cx="6464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Visual</a:t>
            </a:r>
          </a:p>
        </p:txBody>
      </p:sp>
      <p:sp>
        <p:nvSpPr>
          <p:cNvPr id="248" name="TextBox 10"/>
          <p:cNvSpPr txBox="1"/>
          <p:nvPr/>
        </p:nvSpPr>
        <p:spPr>
          <a:xfrm>
            <a:off x="6373367" y="1892806"/>
            <a:ext cx="1738832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32→16→8→4→2→1</a:t>
            </a:r>
          </a:p>
        </p:txBody>
      </p:sp>
      <p:sp>
        <p:nvSpPr>
          <p:cNvPr id="249" name="Rounded Rectangle 11"/>
          <p:cNvSpPr/>
          <p:nvPr/>
        </p:nvSpPr>
        <p:spPr>
          <a:xfrm>
            <a:off x="6126479" y="265176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0" name="Rectangle 12"/>
          <p:cNvSpPr/>
          <p:nvPr/>
        </p:nvSpPr>
        <p:spPr>
          <a:xfrm>
            <a:off x="6126479" y="2651760"/>
            <a:ext cx="73153" cy="105156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TextBox 13"/>
          <p:cNvSpPr txBox="1"/>
          <p:nvPr/>
        </p:nvSpPr>
        <p:spPr>
          <a:xfrm>
            <a:off x="6373367" y="2779776"/>
            <a:ext cx="492825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Idea</a:t>
            </a:r>
          </a:p>
        </p:txBody>
      </p:sp>
      <p:sp>
        <p:nvSpPr>
          <p:cNvPr id="252" name="TextBox 14"/>
          <p:cNvSpPr txBox="1"/>
          <p:nvPr/>
        </p:nvSpPr>
        <p:spPr>
          <a:xfrm>
            <a:off x="6373367" y="3218688"/>
            <a:ext cx="2399629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Dividir repetidamente entre 2</a:t>
            </a:r>
          </a:p>
        </p:txBody>
      </p:sp>
      <p:sp>
        <p:nvSpPr>
          <p:cNvPr id="253" name="Rounded Rectangle 15"/>
          <p:cNvSpPr/>
          <p:nvPr/>
        </p:nvSpPr>
        <p:spPr>
          <a:xfrm>
            <a:off x="6126479" y="3977638"/>
            <a:ext cx="5212081" cy="10515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4" name="Rectangle 16"/>
          <p:cNvSpPr/>
          <p:nvPr/>
        </p:nvSpPr>
        <p:spPr>
          <a:xfrm>
            <a:off x="6126479" y="3977638"/>
            <a:ext cx="73153" cy="1051562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5" name="TextBox 17"/>
          <p:cNvSpPr txBox="1"/>
          <p:nvPr/>
        </p:nvSpPr>
        <p:spPr>
          <a:xfrm>
            <a:off x="6373367" y="4105654"/>
            <a:ext cx="943916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Requisito</a:t>
            </a:r>
          </a:p>
        </p:txBody>
      </p:sp>
      <p:sp>
        <p:nvSpPr>
          <p:cNvPr id="256" name="TextBox 18"/>
          <p:cNvSpPr txBox="1"/>
          <p:nvPr/>
        </p:nvSpPr>
        <p:spPr>
          <a:xfrm>
            <a:off x="6373367" y="4544567"/>
            <a:ext cx="1237933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Lista ordenada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TextBox 2"/>
          <p:cNvSpPr txBox="1"/>
          <p:nvPr/>
        </p:nvSpPr>
        <p:spPr>
          <a:xfrm>
            <a:off x="640079" y="256032"/>
            <a:ext cx="3337079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O(n log n) · Merge Sort</a:t>
            </a:r>
          </a:p>
        </p:txBody>
      </p:sp>
      <p:sp>
        <p:nvSpPr>
          <p:cNvPr id="260" name="Rounded Rectangle 4"/>
          <p:cNvSpPr/>
          <p:nvPr/>
        </p:nvSpPr>
        <p:spPr>
          <a:xfrm>
            <a:off x="594359" y="1325880"/>
            <a:ext cx="5212081" cy="3566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7C3AE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5"/>
          <p:cNvSpPr txBox="1"/>
          <p:nvPr/>
        </p:nvSpPr>
        <p:spPr>
          <a:xfrm>
            <a:off x="822959" y="1435607"/>
            <a:ext cx="108777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5_merge_sort.py</a:t>
            </a:r>
          </a:p>
        </p:txBody>
      </p:sp>
      <p:sp>
        <p:nvSpPr>
          <p:cNvPr id="262" name="TextBox 6"/>
          <p:cNvSpPr txBox="1"/>
          <p:nvPr/>
        </p:nvSpPr>
        <p:spPr>
          <a:xfrm>
            <a:off x="841247" y="1801367"/>
            <a:ext cx="1887512" cy="1308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dividir a la mitad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ordenar cada mitad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mezclar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niveles ≈ log₂(n)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trabajo/nivel ≈ n</a:t>
            </a:r>
          </a:p>
        </p:txBody>
      </p:sp>
      <p:sp>
        <p:nvSpPr>
          <p:cNvPr id="263" name="Rounded Rectangle 7"/>
          <p:cNvSpPr/>
          <p:nvPr/>
        </p:nvSpPr>
        <p:spPr>
          <a:xfrm>
            <a:off x="6126479" y="132588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4" name="Rectangle 8"/>
          <p:cNvSpPr/>
          <p:nvPr/>
        </p:nvSpPr>
        <p:spPr>
          <a:xfrm>
            <a:off x="6126479" y="1325879"/>
            <a:ext cx="73153" cy="105156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5" name="TextBox 9"/>
          <p:cNvSpPr txBox="1"/>
          <p:nvPr/>
        </p:nvSpPr>
        <p:spPr>
          <a:xfrm>
            <a:off x="6373367" y="1453894"/>
            <a:ext cx="436952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n=4</a:t>
            </a:r>
          </a:p>
        </p:txBody>
      </p:sp>
      <p:sp>
        <p:nvSpPr>
          <p:cNvPr id="266" name="TextBox 10"/>
          <p:cNvSpPr txBox="1"/>
          <p:nvPr/>
        </p:nvSpPr>
        <p:spPr>
          <a:xfrm>
            <a:off x="6373367" y="1892806"/>
            <a:ext cx="200694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267" name="Rounded Rectangle 11"/>
          <p:cNvSpPr/>
          <p:nvPr/>
        </p:nvSpPr>
        <p:spPr>
          <a:xfrm>
            <a:off x="6126479" y="2651760"/>
            <a:ext cx="5212081" cy="1051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8" name="Rectangle 12"/>
          <p:cNvSpPr/>
          <p:nvPr/>
        </p:nvSpPr>
        <p:spPr>
          <a:xfrm>
            <a:off x="6126479" y="2651760"/>
            <a:ext cx="73153" cy="1051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TextBox 13"/>
          <p:cNvSpPr txBox="1"/>
          <p:nvPr/>
        </p:nvSpPr>
        <p:spPr>
          <a:xfrm>
            <a:off x="6373367" y="2779776"/>
            <a:ext cx="43695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n=8</a:t>
            </a:r>
          </a:p>
        </p:txBody>
      </p:sp>
      <p:sp>
        <p:nvSpPr>
          <p:cNvPr id="270" name="TextBox 14"/>
          <p:cNvSpPr txBox="1"/>
          <p:nvPr/>
        </p:nvSpPr>
        <p:spPr>
          <a:xfrm>
            <a:off x="6373367" y="3218688"/>
            <a:ext cx="297246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24</a:t>
            </a:r>
          </a:p>
        </p:txBody>
      </p:sp>
      <p:sp>
        <p:nvSpPr>
          <p:cNvPr id="271" name="Rounded Rectangle 15"/>
          <p:cNvSpPr/>
          <p:nvPr/>
        </p:nvSpPr>
        <p:spPr>
          <a:xfrm>
            <a:off x="6126479" y="3977638"/>
            <a:ext cx="5212081" cy="10515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2" name="Rectangle 16"/>
          <p:cNvSpPr/>
          <p:nvPr/>
        </p:nvSpPr>
        <p:spPr>
          <a:xfrm>
            <a:off x="6126479" y="3977638"/>
            <a:ext cx="73153" cy="1051562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17"/>
          <p:cNvSpPr txBox="1"/>
          <p:nvPr/>
        </p:nvSpPr>
        <p:spPr>
          <a:xfrm>
            <a:off x="6373367" y="4105654"/>
            <a:ext cx="546378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n=16</a:t>
            </a:r>
          </a:p>
        </p:txBody>
      </p:sp>
      <p:sp>
        <p:nvSpPr>
          <p:cNvPr id="274" name="TextBox 18"/>
          <p:cNvSpPr txBox="1"/>
          <p:nvPr/>
        </p:nvSpPr>
        <p:spPr>
          <a:xfrm>
            <a:off x="6373367" y="4544567"/>
            <a:ext cx="297246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500">
                <a:solidFill>
                  <a:srgbClr val="475569"/>
                </a:solidFill>
              </a:defRPr>
            </a:lvl1pPr>
          </a:lstStyle>
          <a:p>
            <a:pPr/>
            <a:r>
              <a:t>64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7" name="TextBox 2"/>
          <p:cNvSpPr txBox="1"/>
          <p:nvPr/>
        </p:nvSpPr>
        <p:spPr>
          <a:xfrm>
            <a:off x="640079" y="256032"/>
            <a:ext cx="3900989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Bubble Sort vs. Merge Sort</a:t>
            </a:r>
          </a:p>
        </p:txBody>
      </p:sp>
      <p:sp>
        <p:nvSpPr>
          <p:cNvPr id="278" name="TextBox 3"/>
          <p:cNvSpPr txBox="1"/>
          <p:nvPr/>
        </p:nvSpPr>
        <p:spPr>
          <a:xfrm>
            <a:off x="658367" y="859535"/>
            <a:ext cx="325141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>
                <a:solidFill>
                  <a:srgbClr val="475569"/>
                </a:solidFill>
              </a:defRPr>
            </a:lvl1pPr>
          </a:lstStyle>
          <a:p>
            <a:pPr/>
            <a:r>
              <a:t>Mismo problema; distinta estrategia y crecimiento.</a:t>
            </a:r>
          </a:p>
        </p:txBody>
      </p:sp>
      <p:sp>
        <p:nvSpPr>
          <p:cNvPr id="279" name="Rounded Rectangle 4"/>
          <p:cNvSpPr/>
          <p:nvPr/>
        </p:nvSpPr>
        <p:spPr>
          <a:xfrm>
            <a:off x="640080" y="1417319"/>
            <a:ext cx="3489960" cy="28346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0" name="Rectangle 5"/>
          <p:cNvSpPr/>
          <p:nvPr/>
        </p:nvSpPr>
        <p:spPr>
          <a:xfrm>
            <a:off x="640080" y="1417320"/>
            <a:ext cx="73153" cy="2834640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1" name="TextBox 6"/>
          <p:cNvSpPr txBox="1"/>
          <p:nvPr/>
        </p:nvSpPr>
        <p:spPr>
          <a:xfrm>
            <a:off x="886967" y="1545336"/>
            <a:ext cx="1091268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Bubble Sort</a:t>
            </a:r>
          </a:p>
        </p:txBody>
      </p:sp>
      <p:sp>
        <p:nvSpPr>
          <p:cNvPr id="282" name="TextBox 7"/>
          <p:cNvSpPr txBox="1"/>
          <p:nvPr/>
        </p:nvSpPr>
        <p:spPr>
          <a:xfrm>
            <a:off x="886967" y="1984248"/>
            <a:ext cx="2182804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O(n²)</a:t>
            </a:r>
            <a:br/>
            <a:r>
              <a:t>n=1,000 → orden de 1,000,000</a:t>
            </a:r>
          </a:p>
        </p:txBody>
      </p:sp>
      <p:sp>
        <p:nvSpPr>
          <p:cNvPr id="283" name="Rounded Rectangle 8"/>
          <p:cNvSpPr/>
          <p:nvPr/>
        </p:nvSpPr>
        <p:spPr>
          <a:xfrm>
            <a:off x="4358640" y="1417319"/>
            <a:ext cx="3489960" cy="28346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4" name="Rectangle 9"/>
          <p:cNvSpPr/>
          <p:nvPr/>
        </p:nvSpPr>
        <p:spPr>
          <a:xfrm>
            <a:off x="4358640" y="1417320"/>
            <a:ext cx="73153" cy="2834640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5" name="TextBox 10"/>
          <p:cNvSpPr txBox="1"/>
          <p:nvPr/>
        </p:nvSpPr>
        <p:spPr>
          <a:xfrm>
            <a:off x="4605528" y="1545336"/>
            <a:ext cx="1044238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Merge Sort</a:t>
            </a:r>
          </a:p>
        </p:txBody>
      </p:sp>
      <p:sp>
        <p:nvSpPr>
          <p:cNvPr id="286" name="TextBox 11"/>
          <p:cNvSpPr txBox="1"/>
          <p:nvPr/>
        </p:nvSpPr>
        <p:spPr>
          <a:xfrm>
            <a:off x="4605528" y="1984248"/>
            <a:ext cx="205648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O(n log n)</a:t>
            </a:r>
            <a:br/>
            <a:r>
              <a:t>n=1,000 → orden de ~10,000</a:t>
            </a:r>
          </a:p>
        </p:txBody>
      </p:sp>
      <p:sp>
        <p:nvSpPr>
          <p:cNvPr id="287" name="Rounded Rectangle 12"/>
          <p:cNvSpPr/>
          <p:nvPr/>
        </p:nvSpPr>
        <p:spPr>
          <a:xfrm>
            <a:off x="8077199" y="1417319"/>
            <a:ext cx="3489961" cy="28346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Rectangle 13"/>
          <p:cNvSpPr/>
          <p:nvPr/>
        </p:nvSpPr>
        <p:spPr>
          <a:xfrm>
            <a:off x="8077199" y="1417320"/>
            <a:ext cx="73153" cy="2834640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TextBox 14"/>
          <p:cNvSpPr txBox="1"/>
          <p:nvPr/>
        </p:nvSpPr>
        <p:spPr>
          <a:xfrm>
            <a:off x="8324086" y="1545336"/>
            <a:ext cx="730608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Lección</a:t>
            </a:r>
          </a:p>
        </p:txBody>
      </p:sp>
      <p:sp>
        <p:nvSpPr>
          <p:cNvPr id="290" name="TextBox 15"/>
          <p:cNvSpPr txBox="1"/>
          <p:nvPr/>
        </p:nvSpPr>
        <p:spPr>
          <a:xfrm>
            <a:off x="8324086" y="1984248"/>
            <a:ext cx="203415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La diferencia aumenta con 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TextBox 2"/>
          <p:cNvSpPr txBox="1"/>
          <p:nvPr/>
        </p:nvSpPr>
        <p:spPr>
          <a:xfrm>
            <a:off x="640079" y="256032"/>
            <a:ext cx="4970207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Cómo identificar Big O: guía inicial</a:t>
            </a:r>
          </a:p>
        </p:txBody>
      </p:sp>
      <p:sp>
        <p:nvSpPr>
          <p:cNvPr id="294" name="Rounded Rectangle 3"/>
          <p:cNvSpPr/>
          <p:nvPr/>
        </p:nvSpPr>
        <p:spPr>
          <a:xfrm>
            <a:off x="640080" y="1371600"/>
            <a:ext cx="348996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5" name="Rectangle 4"/>
          <p:cNvSpPr/>
          <p:nvPr/>
        </p:nvSpPr>
        <p:spPr>
          <a:xfrm>
            <a:off x="640080" y="1371600"/>
            <a:ext cx="73153" cy="1828800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6" name="TextBox 5"/>
          <p:cNvSpPr txBox="1"/>
          <p:nvPr/>
        </p:nvSpPr>
        <p:spPr>
          <a:xfrm>
            <a:off x="886967" y="1499616"/>
            <a:ext cx="20713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97" name="TextBox 6"/>
          <p:cNvSpPr txBox="1"/>
          <p:nvPr/>
        </p:nvSpPr>
        <p:spPr>
          <a:xfrm>
            <a:off x="886967" y="1938527"/>
            <a:ext cx="709319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Define n.</a:t>
            </a:r>
          </a:p>
        </p:txBody>
      </p:sp>
      <p:sp>
        <p:nvSpPr>
          <p:cNvPr id="298" name="Rounded Rectangle 7"/>
          <p:cNvSpPr/>
          <p:nvPr/>
        </p:nvSpPr>
        <p:spPr>
          <a:xfrm>
            <a:off x="4358640" y="1371600"/>
            <a:ext cx="348996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8"/>
          <p:cNvSpPr/>
          <p:nvPr/>
        </p:nvSpPr>
        <p:spPr>
          <a:xfrm>
            <a:off x="4358640" y="1371600"/>
            <a:ext cx="73153" cy="1828800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9"/>
          <p:cNvSpPr txBox="1"/>
          <p:nvPr/>
        </p:nvSpPr>
        <p:spPr>
          <a:xfrm>
            <a:off x="4605528" y="1499616"/>
            <a:ext cx="20713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01" name="TextBox 10"/>
          <p:cNvSpPr txBox="1"/>
          <p:nvPr/>
        </p:nvSpPr>
        <p:spPr>
          <a:xfrm>
            <a:off x="4605528" y="1938527"/>
            <a:ext cx="2223193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Busca ciclos dependientes de n.</a:t>
            </a:r>
          </a:p>
        </p:txBody>
      </p:sp>
      <p:sp>
        <p:nvSpPr>
          <p:cNvPr id="302" name="Rounded Rectangle 11"/>
          <p:cNvSpPr/>
          <p:nvPr/>
        </p:nvSpPr>
        <p:spPr>
          <a:xfrm>
            <a:off x="8077199" y="1371600"/>
            <a:ext cx="3489961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3" name="Rectangle 12"/>
          <p:cNvSpPr/>
          <p:nvPr/>
        </p:nvSpPr>
        <p:spPr>
          <a:xfrm>
            <a:off x="8077199" y="1371600"/>
            <a:ext cx="73153" cy="1828800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TextBox 13"/>
          <p:cNvSpPr txBox="1"/>
          <p:nvPr/>
        </p:nvSpPr>
        <p:spPr>
          <a:xfrm>
            <a:off x="8324086" y="1499616"/>
            <a:ext cx="20713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05" name="TextBox 14"/>
          <p:cNvSpPr txBox="1"/>
          <p:nvPr/>
        </p:nvSpPr>
        <p:spPr>
          <a:xfrm>
            <a:off x="8324086" y="1938527"/>
            <a:ext cx="23919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Ciclos anidados suelen multiplicar.</a:t>
            </a:r>
          </a:p>
        </p:txBody>
      </p:sp>
      <p:sp>
        <p:nvSpPr>
          <p:cNvPr id="306" name="Rounded Rectangle 15"/>
          <p:cNvSpPr/>
          <p:nvPr/>
        </p:nvSpPr>
        <p:spPr>
          <a:xfrm>
            <a:off x="640080" y="3520440"/>
            <a:ext cx="3489960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Rectangle 16"/>
          <p:cNvSpPr/>
          <p:nvPr/>
        </p:nvSpPr>
        <p:spPr>
          <a:xfrm>
            <a:off x="640080" y="3520440"/>
            <a:ext cx="73153" cy="182880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8" name="TextBox 17"/>
          <p:cNvSpPr txBox="1"/>
          <p:nvPr/>
        </p:nvSpPr>
        <p:spPr>
          <a:xfrm>
            <a:off x="886967" y="3648455"/>
            <a:ext cx="20713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09" name="TextBox 18"/>
          <p:cNvSpPr txBox="1"/>
          <p:nvPr/>
        </p:nvSpPr>
        <p:spPr>
          <a:xfrm>
            <a:off x="886967" y="4087367"/>
            <a:ext cx="223834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Reducir a la mitad sugiere log n.</a:t>
            </a:r>
          </a:p>
        </p:txBody>
      </p:sp>
      <p:sp>
        <p:nvSpPr>
          <p:cNvPr id="310" name="Rounded Rectangle 19"/>
          <p:cNvSpPr/>
          <p:nvPr/>
        </p:nvSpPr>
        <p:spPr>
          <a:xfrm>
            <a:off x="4358640" y="3520440"/>
            <a:ext cx="3489960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1" name="Rectangle 20"/>
          <p:cNvSpPr/>
          <p:nvPr/>
        </p:nvSpPr>
        <p:spPr>
          <a:xfrm>
            <a:off x="4358640" y="3520440"/>
            <a:ext cx="73153" cy="1828801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1"/>
          <p:cNvSpPr txBox="1"/>
          <p:nvPr/>
        </p:nvSpPr>
        <p:spPr>
          <a:xfrm>
            <a:off x="4605528" y="3648455"/>
            <a:ext cx="20713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13" name="TextBox 22"/>
          <p:cNvSpPr txBox="1"/>
          <p:nvPr/>
        </p:nvSpPr>
        <p:spPr>
          <a:xfrm>
            <a:off x="4605528" y="4087367"/>
            <a:ext cx="2263823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Conserva el término dominante.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TextBox 2"/>
          <p:cNvSpPr txBox="1"/>
          <p:nvPr/>
        </p:nvSpPr>
        <p:spPr>
          <a:xfrm>
            <a:off x="640079" y="256032"/>
            <a:ext cx="2081342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Simplificación</a:t>
            </a:r>
          </a:p>
        </p:txBody>
      </p:sp>
      <p:sp>
        <p:nvSpPr>
          <p:cNvPr id="317" name="Rounded Rectangle 3"/>
          <p:cNvSpPr/>
          <p:nvPr/>
        </p:nvSpPr>
        <p:spPr>
          <a:xfrm>
            <a:off x="640080" y="1417319"/>
            <a:ext cx="5349241" cy="19659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8" name="Rectangle 4"/>
          <p:cNvSpPr/>
          <p:nvPr/>
        </p:nvSpPr>
        <p:spPr>
          <a:xfrm>
            <a:off x="640080" y="1417319"/>
            <a:ext cx="73153" cy="196596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TextBox 5"/>
          <p:cNvSpPr txBox="1"/>
          <p:nvPr/>
        </p:nvSpPr>
        <p:spPr>
          <a:xfrm>
            <a:off x="886966" y="1545336"/>
            <a:ext cx="61224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3n + 5</a:t>
            </a:r>
          </a:p>
        </p:txBody>
      </p:sp>
      <p:sp>
        <p:nvSpPr>
          <p:cNvPr id="320" name="TextBox 6"/>
          <p:cNvSpPr txBox="1"/>
          <p:nvPr/>
        </p:nvSpPr>
        <p:spPr>
          <a:xfrm>
            <a:off x="886966" y="1984248"/>
            <a:ext cx="40032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O(n)</a:t>
            </a:r>
          </a:p>
        </p:txBody>
      </p:sp>
      <p:sp>
        <p:nvSpPr>
          <p:cNvPr id="321" name="Rounded Rectangle 7"/>
          <p:cNvSpPr/>
          <p:nvPr/>
        </p:nvSpPr>
        <p:spPr>
          <a:xfrm>
            <a:off x="6217920" y="1417319"/>
            <a:ext cx="5349241" cy="19659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Rectangle 8"/>
          <p:cNvSpPr/>
          <p:nvPr/>
        </p:nvSpPr>
        <p:spPr>
          <a:xfrm>
            <a:off x="6217920" y="1417319"/>
            <a:ext cx="73153" cy="1965961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TextBox 9"/>
          <p:cNvSpPr txBox="1"/>
          <p:nvPr/>
        </p:nvSpPr>
        <p:spPr>
          <a:xfrm>
            <a:off x="6464807" y="1545336"/>
            <a:ext cx="118899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2n² + 7n + 10</a:t>
            </a:r>
          </a:p>
        </p:txBody>
      </p:sp>
      <p:sp>
        <p:nvSpPr>
          <p:cNvPr id="324" name="TextBox 10"/>
          <p:cNvSpPr txBox="1"/>
          <p:nvPr/>
        </p:nvSpPr>
        <p:spPr>
          <a:xfrm>
            <a:off x="6464807" y="1984248"/>
            <a:ext cx="455785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O(n²)</a:t>
            </a:r>
          </a:p>
        </p:txBody>
      </p:sp>
      <p:sp>
        <p:nvSpPr>
          <p:cNvPr id="325" name="Rounded Rectangle 11"/>
          <p:cNvSpPr/>
          <p:nvPr/>
        </p:nvSpPr>
        <p:spPr>
          <a:xfrm>
            <a:off x="640080" y="3703320"/>
            <a:ext cx="5349241" cy="19659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6" name="Rectangle 12"/>
          <p:cNvSpPr/>
          <p:nvPr/>
        </p:nvSpPr>
        <p:spPr>
          <a:xfrm>
            <a:off x="640080" y="3703320"/>
            <a:ext cx="73153" cy="1965961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TextBox 13"/>
          <p:cNvSpPr txBox="1"/>
          <p:nvPr/>
        </p:nvSpPr>
        <p:spPr>
          <a:xfrm>
            <a:off x="886966" y="3831335"/>
            <a:ext cx="20713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28" name="TextBox 14"/>
          <p:cNvSpPr txBox="1"/>
          <p:nvPr/>
        </p:nvSpPr>
        <p:spPr>
          <a:xfrm>
            <a:off x="886966" y="4270247"/>
            <a:ext cx="39725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O(1)</a:t>
            </a:r>
          </a:p>
        </p:txBody>
      </p:sp>
      <p:sp>
        <p:nvSpPr>
          <p:cNvPr id="329" name="Rounded Rectangle 15"/>
          <p:cNvSpPr/>
          <p:nvPr/>
        </p:nvSpPr>
        <p:spPr>
          <a:xfrm>
            <a:off x="6217920" y="3703320"/>
            <a:ext cx="5349241" cy="19659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Rectangle 16"/>
          <p:cNvSpPr/>
          <p:nvPr/>
        </p:nvSpPr>
        <p:spPr>
          <a:xfrm>
            <a:off x="6217920" y="3703320"/>
            <a:ext cx="73153" cy="196596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TextBox 17"/>
          <p:cNvSpPr txBox="1"/>
          <p:nvPr/>
        </p:nvSpPr>
        <p:spPr>
          <a:xfrm>
            <a:off x="6464807" y="3831335"/>
            <a:ext cx="97171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n log n + n</a:t>
            </a:r>
          </a:p>
        </p:txBody>
      </p:sp>
      <p:sp>
        <p:nvSpPr>
          <p:cNvPr id="332" name="TextBox 18"/>
          <p:cNvSpPr txBox="1"/>
          <p:nvPr/>
        </p:nvSpPr>
        <p:spPr>
          <a:xfrm>
            <a:off x="6464807" y="4270247"/>
            <a:ext cx="76438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O(n log 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5" name="TextBox 2"/>
          <p:cNvSpPr txBox="1"/>
          <p:nvPr/>
        </p:nvSpPr>
        <p:spPr>
          <a:xfrm>
            <a:off x="640079" y="256032"/>
            <a:ext cx="3581697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Puente al temario oficial</a:t>
            </a:r>
          </a:p>
        </p:txBody>
      </p:sp>
      <p:sp>
        <p:nvSpPr>
          <p:cNvPr id="336" name="TextBox 3"/>
          <p:cNvSpPr txBox="1"/>
          <p:nvPr/>
        </p:nvSpPr>
        <p:spPr>
          <a:xfrm>
            <a:off x="658367" y="859535"/>
            <a:ext cx="542377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>
                <a:solidFill>
                  <a:srgbClr val="475569"/>
                </a:solidFill>
              </a:defRPr>
            </a:lvl1pPr>
          </a:lstStyle>
          <a:p>
            <a:pPr/>
            <a:r>
              <a:t>Los algoritmos procesan datos. Ahora veremos cómo esos datos viven en el programa.</a:t>
            </a:r>
          </a:p>
        </p:txBody>
      </p:sp>
      <p:sp>
        <p:nvSpPr>
          <p:cNvPr id="337" name="Rounded Rectangle 4"/>
          <p:cNvSpPr/>
          <p:nvPr/>
        </p:nvSpPr>
        <p:spPr>
          <a:xfrm>
            <a:off x="640080" y="1508760"/>
            <a:ext cx="3489960" cy="2194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8" name="Rectangle 5"/>
          <p:cNvSpPr/>
          <p:nvPr/>
        </p:nvSpPr>
        <p:spPr>
          <a:xfrm>
            <a:off x="640080" y="1508760"/>
            <a:ext cx="73153" cy="219456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9" name="TextBox 6"/>
          <p:cNvSpPr txBox="1"/>
          <p:nvPr/>
        </p:nvSpPr>
        <p:spPr>
          <a:xfrm>
            <a:off x="886967" y="1636776"/>
            <a:ext cx="881023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Memoria</a:t>
            </a:r>
          </a:p>
        </p:txBody>
      </p:sp>
      <p:sp>
        <p:nvSpPr>
          <p:cNvPr id="340" name="TextBox 7"/>
          <p:cNvSpPr txBox="1"/>
          <p:nvPr/>
        </p:nvSpPr>
        <p:spPr>
          <a:xfrm>
            <a:off x="886967" y="2075688"/>
            <a:ext cx="2413525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¿Dónde se almacena información?</a:t>
            </a:r>
          </a:p>
        </p:txBody>
      </p:sp>
      <p:sp>
        <p:nvSpPr>
          <p:cNvPr id="341" name="Rounded Rectangle 8"/>
          <p:cNvSpPr/>
          <p:nvPr/>
        </p:nvSpPr>
        <p:spPr>
          <a:xfrm>
            <a:off x="4358640" y="1508760"/>
            <a:ext cx="3489960" cy="2194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Rectangle 9"/>
          <p:cNvSpPr/>
          <p:nvPr/>
        </p:nvSpPr>
        <p:spPr>
          <a:xfrm>
            <a:off x="4358640" y="1508760"/>
            <a:ext cx="73153" cy="219456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TextBox 10"/>
          <p:cNvSpPr txBox="1"/>
          <p:nvPr/>
        </p:nvSpPr>
        <p:spPr>
          <a:xfrm>
            <a:off x="4605528" y="1636776"/>
            <a:ext cx="1965683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Variables / constantes</a:t>
            </a:r>
          </a:p>
        </p:txBody>
      </p:sp>
      <p:sp>
        <p:nvSpPr>
          <p:cNvPr id="344" name="TextBox 11"/>
          <p:cNvSpPr txBox="1"/>
          <p:nvPr/>
        </p:nvSpPr>
        <p:spPr>
          <a:xfrm>
            <a:off x="4605528" y="2075688"/>
            <a:ext cx="1652034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¿Cómo la nombramos?</a:t>
            </a:r>
          </a:p>
        </p:txBody>
      </p:sp>
      <p:sp>
        <p:nvSpPr>
          <p:cNvPr id="345" name="Rounded Rectangle 12"/>
          <p:cNvSpPr/>
          <p:nvPr/>
        </p:nvSpPr>
        <p:spPr>
          <a:xfrm>
            <a:off x="8077199" y="1508760"/>
            <a:ext cx="3489961" cy="2194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6" name="Rectangle 13"/>
          <p:cNvSpPr/>
          <p:nvPr/>
        </p:nvSpPr>
        <p:spPr>
          <a:xfrm>
            <a:off x="8077199" y="1508760"/>
            <a:ext cx="73153" cy="2194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TextBox 14"/>
          <p:cNvSpPr txBox="1"/>
          <p:nvPr/>
        </p:nvSpPr>
        <p:spPr>
          <a:xfrm>
            <a:off x="8324086" y="1636776"/>
            <a:ext cx="55399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Tipos</a:t>
            </a:r>
          </a:p>
        </p:txBody>
      </p:sp>
      <p:sp>
        <p:nvSpPr>
          <p:cNvPr id="348" name="TextBox 15"/>
          <p:cNvSpPr txBox="1"/>
          <p:nvPr/>
        </p:nvSpPr>
        <p:spPr>
          <a:xfrm>
            <a:off x="8324086" y="2075688"/>
            <a:ext cx="1669286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¿Qué clase de valor es?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1" name="TextBox 2"/>
          <p:cNvSpPr txBox="1"/>
          <p:nvPr/>
        </p:nvSpPr>
        <p:spPr>
          <a:xfrm>
            <a:off x="640079" y="256032"/>
            <a:ext cx="4073946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Variables: cajas con nombre</a:t>
            </a:r>
          </a:p>
        </p:txBody>
      </p:sp>
      <p:sp>
        <p:nvSpPr>
          <p:cNvPr id="352" name="Rounded Rectangle 3"/>
          <p:cNvSpPr/>
          <p:nvPr/>
        </p:nvSpPr>
        <p:spPr>
          <a:xfrm>
            <a:off x="685800" y="1325880"/>
            <a:ext cx="5212080" cy="2537981"/>
          </a:xfrm>
          <a:prstGeom prst="roundRect">
            <a:avLst>
              <a:gd name="adj" fmla="val 22819"/>
            </a:avLst>
          </a:prstGeom>
          <a:solidFill>
            <a:srgbClr val="0F172A"/>
          </a:solidFill>
          <a:ln>
            <a:solidFill>
              <a:srgbClr val="2563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3" name="TextBox 4"/>
          <p:cNvSpPr txBox="1"/>
          <p:nvPr/>
        </p:nvSpPr>
        <p:spPr>
          <a:xfrm>
            <a:off x="914399" y="1435607"/>
            <a:ext cx="51983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54" name="TextBox 5"/>
          <p:cNvSpPr txBox="1"/>
          <p:nvPr/>
        </p:nvSpPr>
        <p:spPr>
          <a:xfrm>
            <a:off x="932687" y="1801367"/>
            <a:ext cx="2299059" cy="1285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6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saldo = 100</a:t>
            </a:r>
          </a:p>
          <a:p>
            <a:pPr>
              <a:spcBef>
                <a:spcPts val="100"/>
              </a:spcBef>
              <a:defRPr sz="16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print(saldo)</a:t>
            </a:r>
          </a:p>
          <a:p>
            <a:pPr>
              <a:spcBef>
                <a:spcPts val="100"/>
              </a:spcBef>
              <a:defRPr sz="16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6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saldo = saldo - 20</a:t>
            </a:r>
          </a:p>
          <a:p>
            <a:pPr>
              <a:spcBef>
                <a:spcPts val="100"/>
              </a:spcBef>
              <a:defRPr sz="16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print(saldo)</a:t>
            </a:r>
          </a:p>
        </p:txBody>
      </p:sp>
      <p:sp>
        <p:nvSpPr>
          <p:cNvPr id="355" name="Rounded Rectangle 6"/>
          <p:cNvSpPr/>
          <p:nvPr/>
        </p:nvSpPr>
        <p:spPr>
          <a:xfrm>
            <a:off x="640080" y="3931920"/>
            <a:ext cx="3489960" cy="14630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6" name="Rectangle 7"/>
          <p:cNvSpPr/>
          <p:nvPr/>
        </p:nvSpPr>
        <p:spPr>
          <a:xfrm>
            <a:off x="640080" y="3931920"/>
            <a:ext cx="73153" cy="146304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8"/>
          <p:cNvSpPr txBox="1"/>
          <p:nvPr/>
        </p:nvSpPr>
        <p:spPr>
          <a:xfrm>
            <a:off x="886967" y="4059935"/>
            <a:ext cx="79381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Nombre</a:t>
            </a:r>
          </a:p>
        </p:txBody>
      </p:sp>
      <p:sp>
        <p:nvSpPr>
          <p:cNvPr id="358" name="TextBox 9"/>
          <p:cNvSpPr txBox="1"/>
          <p:nvPr/>
        </p:nvSpPr>
        <p:spPr>
          <a:xfrm>
            <a:off x="886967" y="4498847"/>
            <a:ext cx="45949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saldo</a:t>
            </a:r>
          </a:p>
        </p:txBody>
      </p:sp>
      <p:sp>
        <p:nvSpPr>
          <p:cNvPr id="359" name="Rounded Rectangle 10"/>
          <p:cNvSpPr/>
          <p:nvPr/>
        </p:nvSpPr>
        <p:spPr>
          <a:xfrm>
            <a:off x="4358640" y="3931920"/>
            <a:ext cx="3489960" cy="14630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Rectangle 11"/>
          <p:cNvSpPr/>
          <p:nvPr/>
        </p:nvSpPr>
        <p:spPr>
          <a:xfrm>
            <a:off x="4358640" y="3931920"/>
            <a:ext cx="73153" cy="146304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TextBox 12"/>
          <p:cNvSpPr txBox="1"/>
          <p:nvPr/>
        </p:nvSpPr>
        <p:spPr>
          <a:xfrm>
            <a:off x="4605528" y="4059935"/>
            <a:ext cx="602417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Inicial</a:t>
            </a:r>
          </a:p>
        </p:txBody>
      </p:sp>
      <p:sp>
        <p:nvSpPr>
          <p:cNvPr id="362" name="TextBox 13"/>
          <p:cNvSpPr txBox="1"/>
          <p:nvPr/>
        </p:nvSpPr>
        <p:spPr>
          <a:xfrm>
            <a:off x="4605528" y="4498847"/>
            <a:ext cx="355176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100</a:t>
            </a:r>
          </a:p>
        </p:txBody>
      </p:sp>
      <p:sp>
        <p:nvSpPr>
          <p:cNvPr id="363" name="Rounded Rectangle 14"/>
          <p:cNvSpPr/>
          <p:nvPr/>
        </p:nvSpPr>
        <p:spPr>
          <a:xfrm>
            <a:off x="8077199" y="3931920"/>
            <a:ext cx="3489961" cy="14630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4" name="Rectangle 15"/>
          <p:cNvSpPr/>
          <p:nvPr/>
        </p:nvSpPr>
        <p:spPr>
          <a:xfrm>
            <a:off x="8077199" y="3931920"/>
            <a:ext cx="73153" cy="1463041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TextBox 16"/>
          <p:cNvSpPr txBox="1"/>
          <p:nvPr/>
        </p:nvSpPr>
        <p:spPr>
          <a:xfrm>
            <a:off x="8324086" y="4059935"/>
            <a:ext cx="817028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Después</a:t>
            </a:r>
          </a:p>
        </p:txBody>
      </p:sp>
      <p:sp>
        <p:nvSpPr>
          <p:cNvPr id="366" name="TextBox 17"/>
          <p:cNvSpPr txBox="1"/>
          <p:nvPr/>
        </p:nvSpPr>
        <p:spPr>
          <a:xfrm>
            <a:off x="8324086" y="4498847"/>
            <a:ext cx="271499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80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9" name="TextBox 2"/>
          <p:cNvSpPr txBox="1"/>
          <p:nvPr/>
        </p:nvSpPr>
        <p:spPr>
          <a:xfrm>
            <a:off x="640079" y="256032"/>
            <a:ext cx="1676659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Constantes</a:t>
            </a:r>
          </a:p>
        </p:txBody>
      </p:sp>
      <p:sp>
        <p:nvSpPr>
          <p:cNvPr id="370" name="TextBox 3"/>
          <p:cNvSpPr txBox="1"/>
          <p:nvPr/>
        </p:nvSpPr>
        <p:spPr>
          <a:xfrm>
            <a:off x="658367" y="859535"/>
            <a:ext cx="2859843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>
                <a:solidFill>
                  <a:srgbClr val="475569"/>
                </a:solidFill>
              </a:defRPr>
            </a:lvl1pPr>
          </a:lstStyle>
          <a:p>
            <a:pPr/>
            <a:r>
              <a:t>Valores que por diseño no deberían cambiar.</a:t>
            </a:r>
          </a:p>
        </p:txBody>
      </p:sp>
      <p:sp>
        <p:nvSpPr>
          <p:cNvPr id="371" name="Rounded Rectangle 4"/>
          <p:cNvSpPr/>
          <p:nvPr/>
        </p:nvSpPr>
        <p:spPr>
          <a:xfrm>
            <a:off x="731519" y="1371600"/>
            <a:ext cx="5120642" cy="32004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7C3AE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2" name="TextBox 5"/>
          <p:cNvSpPr txBox="1"/>
          <p:nvPr/>
        </p:nvSpPr>
        <p:spPr>
          <a:xfrm>
            <a:off x="960119" y="1481327"/>
            <a:ext cx="779108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Convención</a:t>
            </a:r>
          </a:p>
        </p:txBody>
      </p:sp>
      <p:sp>
        <p:nvSpPr>
          <p:cNvPr id="373" name="TextBox 6"/>
          <p:cNvSpPr txBox="1"/>
          <p:nvPr/>
        </p:nvSpPr>
        <p:spPr>
          <a:xfrm>
            <a:off x="978407" y="1847088"/>
            <a:ext cx="1613147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PI = 3.1416</a:t>
            </a:r>
          </a:p>
          <a:p>
            <a:pPr>
              <a:spcBef>
                <a:spcPts val="100"/>
              </a:spcBef>
              <a:defRPr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IVA = 0.16</a:t>
            </a:r>
          </a:p>
        </p:txBody>
      </p:sp>
      <p:sp>
        <p:nvSpPr>
          <p:cNvPr id="374" name="Rounded Rectangle 7"/>
          <p:cNvSpPr/>
          <p:nvPr/>
        </p:nvSpPr>
        <p:spPr>
          <a:xfrm>
            <a:off x="6217920" y="1371600"/>
            <a:ext cx="5212080" cy="15544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5" name="Rectangle 8"/>
          <p:cNvSpPr/>
          <p:nvPr/>
        </p:nvSpPr>
        <p:spPr>
          <a:xfrm>
            <a:off x="6217920" y="1371599"/>
            <a:ext cx="73153" cy="155448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6" name="TextBox 9"/>
          <p:cNvSpPr txBox="1"/>
          <p:nvPr/>
        </p:nvSpPr>
        <p:spPr>
          <a:xfrm>
            <a:off x="6464807" y="1499616"/>
            <a:ext cx="134061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MAYÚSCULAS</a:t>
            </a:r>
          </a:p>
        </p:txBody>
      </p:sp>
      <p:sp>
        <p:nvSpPr>
          <p:cNvPr id="377" name="TextBox 10"/>
          <p:cNvSpPr txBox="1"/>
          <p:nvPr/>
        </p:nvSpPr>
        <p:spPr>
          <a:xfrm>
            <a:off x="6464807" y="1938528"/>
            <a:ext cx="404170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solidFill>
                  <a:srgbClr val="475569"/>
                </a:solidFill>
              </a:defRPr>
            </a:lvl1pPr>
          </a:lstStyle>
          <a:p>
            <a:pPr/>
            <a:r>
              <a:t>Comunican que el valor debe tratarse como constante.</a:t>
            </a:r>
          </a:p>
        </p:txBody>
      </p:sp>
      <p:sp>
        <p:nvSpPr>
          <p:cNvPr id="378" name="Rounded Rectangle 11"/>
          <p:cNvSpPr/>
          <p:nvPr/>
        </p:nvSpPr>
        <p:spPr>
          <a:xfrm>
            <a:off x="6217920" y="3200400"/>
            <a:ext cx="5212080" cy="17373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9" name="Rectangle 12"/>
          <p:cNvSpPr/>
          <p:nvPr/>
        </p:nvSpPr>
        <p:spPr>
          <a:xfrm>
            <a:off x="6217920" y="3200399"/>
            <a:ext cx="73153" cy="1737362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0" name="TextBox 13"/>
          <p:cNvSpPr txBox="1"/>
          <p:nvPr/>
        </p:nvSpPr>
        <p:spPr>
          <a:xfrm>
            <a:off x="6464807" y="3328415"/>
            <a:ext cx="74657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700">
                <a:solidFill>
                  <a:srgbClr val="122238"/>
                </a:solidFill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1" name="TextBox 14"/>
          <p:cNvSpPr txBox="1"/>
          <p:nvPr/>
        </p:nvSpPr>
        <p:spPr>
          <a:xfrm>
            <a:off x="6464807" y="3767328"/>
            <a:ext cx="4984613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solidFill>
                  <a:srgbClr val="475569"/>
                </a:solidFill>
              </a:defRPr>
            </a:lvl1pPr>
          </a:lstStyle>
          <a:p>
            <a:pPr/>
            <a:r>
              <a:t>Es una convención: el lenguaje no impide técnicamente reasignarlo.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640079" y="256032"/>
            <a:ext cx="2161709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Tipos de datos</a:t>
            </a:r>
          </a:p>
        </p:txBody>
      </p:sp>
      <p:sp>
        <p:nvSpPr>
          <p:cNvPr id="385" name="Rounded Rectangle 3"/>
          <p:cNvSpPr/>
          <p:nvPr/>
        </p:nvSpPr>
        <p:spPr>
          <a:xfrm>
            <a:off x="640080" y="1417319"/>
            <a:ext cx="5349241" cy="19659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6" name="Rectangle 4"/>
          <p:cNvSpPr/>
          <p:nvPr/>
        </p:nvSpPr>
        <p:spPr>
          <a:xfrm>
            <a:off x="640080" y="1417319"/>
            <a:ext cx="73153" cy="196596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TextBox 5"/>
          <p:cNvSpPr txBox="1"/>
          <p:nvPr/>
        </p:nvSpPr>
        <p:spPr>
          <a:xfrm>
            <a:off x="886966" y="1545336"/>
            <a:ext cx="33165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int</a:t>
            </a:r>
          </a:p>
        </p:txBody>
      </p:sp>
      <p:sp>
        <p:nvSpPr>
          <p:cNvPr id="388" name="TextBox 6"/>
          <p:cNvSpPr txBox="1"/>
          <p:nvPr/>
        </p:nvSpPr>
        <p:spPr>
          <a:xfrm>
            <a:off x="886966" y="1984248"/>
            <a:ext cx="6464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Enteros</a:t>
            </a:r>
            <a:br/>
            <a:r>
              <a:t>-5, 0, 42</a:t>
            </a:r>
          </a:p>
        </p:txBody>
      </p:sp>
      <p:sp>
        <p:nvSpPr>
          <p:cNvPr id="389" name="Rounded Rectangle 7"/>
          <p:cNvSpPr/>
          <p:nvPr/>
        </p:nvSpPr>
        <p:spPr>
          <a:xfrm>
            <a:off x="6217920" y="1417319"/>
            <a:ext cx="5349241" cy="196596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0" name="Rectangle 8"/>
          <p:cNvSpPr/>
          <p:nvPr/>
        </p:nvSpPr>
        <p:spPr>
          <a:xfrm>
            <a:off x="6217920" y="1417319"/>
            <a:ext cx="73153" cy="19659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TextBox 9"/>
          <p:cNvSpPr txBox="1"/>
          <p:nvPr/>
        </p:nvSpPr>
        <p:spPr>
          <a:xfrm>
            <a:off x="6464807" y="1545336"/>
            <a:ext cx="49645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float</a:t>
            </a:r>
          </a:p>
        </p:txBody>
      </p:sp>
      <p:sp>
        <p:nvSpPr>
          <p:cNvPr id="392" name="TextBox 10"/>
          <p:cNvSpPr txBox="1"/>
          <p:nvPr/>
        </p:nvSpPr>
        <p:spPr>
          <a:xfrm>
            <a:off x="6464807" y="1984248"/>
            <a:ext cx="1106189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Decimales</a:t>
            </a:r>
            <a:br/>
            <a:r>
              <a:t>3.14, -0.5, 10.0</a:t>
            </a:r>
          </a:p>
        </p:txBody>
      </p:sp>
      <p:sp>
        <p:nvSpPr>
          <p:cNvPr id="393" name="Rounded Rectangle 11"/>
          <p:cNvSpPr/>
          <p:nvPr/>
        </p:nvSpPr>
        <p:spPr>
          <a:xfrm>
            <a:off x="640080" y="3703320"/>
            <a:ext cx="5349241" cy="19659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4" name="Rectangle 12"/>
          <p:cNvSpPr/>
          <p:nvPr/>
        </p:nvSpPr>
        <p:spPr>
          <a:xfrm>
            <a:off x="640080" y="3703320"/>
            <a:ext cx="73153" cy="196596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5" name="TextBox 13"/>
          <p:cNvSpPr txBox="1"/>
          <p:nvPr/>
        </p:nvSpPr>
        <p:spPr>
          <a:xfrm>
            <a:off x="886966" y="3831335"/>
            <a:ext cx="325598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str</a:t>
            </a:r>
          </a:p>
        </p:txBody>
      </p:sp>
      <p:sp>
        <p:nvSpPr>
          <p:cNvPr id="396" name="TextBox 14"/>
          <p:cNvSpPr txBox="1"/>
          <p:nvPr/>
        </p:nvSpPr>
        <p:spPr>
          <a:xfrm>
            <a:off x="886966" y="4270247"/>
            <a:ext cx="1092404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Texto</a:t>
            </a:r>
            <a:br/>
            <a:r>
              <a:t>"Python", "10"</a:t>
            </a:r>
          </a:p>
        </p:txBody>
      </p:sp>
      <p:sp>
        <p:nvSpPr>
          <p:cNvPr id="397" name="Rounded Rectangle 15"/>
          <p:cNvSpPr/>
          <p:nvPr/>
        </p:nvSpPr>
        <p:spPr>
          <a:xfrm>
            <a:off x="6217920" y="3703320"/>
            <a:ext cx="5349241" cy="19659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Rectangle 16"/>
          <p:cNvSpPr/>
          <p:nvPr/>
        </p:nvSpPr>
        <p:spPr>
          <a:xfrm>
            <a:off x="6217920" y="3703320"/>
            <a:ext cx="73153" cy="1965961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9" name="TextBox 17"/>
          <p:cNvSpPr txBox="1"/>
          <p:nvPr/>
        </p:nvSpPr>
        <p:spPr>
          <a:xfrm>
            <a:off x="6464807" y="3831335"/>
            <a:ext cx="48157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bool</a:t>
            </a:r>
          </a:p>
        </p:txBody>
      </p:sp>
      <p:sp>
        <p:nvSpPr>
          <p:cNvPr id="400" name="TextBox 18"/>
          <p:cNvSpPr txBox="1"/>
          <p:nvPr/>
        </p:nvSpPr>
        <p:spPr>
          <a:xfrm>
            <a:off x="6464807" y="4270247"/>
            <a:ext cx="874339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True / False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TextBox 2"/>
          <p:cNvSpPr txBox="1"/>
          <p:nvPr/>
        </p:nvSpPr>
        <p:spPr>
          <a:xfrm>
            <a:off x="640079" y="256032"/>
            <a:ext cx="7455060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type(): preguntarle a Python qué tipo tiene un valor</a:t>
            </a:r>
          </a:p>
        </p:txBody>
      </p:sp>
      <p:sp>
        <p:nvSpPr>
          <p:cNvPr id="404" name="Rounded Rectangle 3"/>
          <p:cNvSpPr/>
          <p:nvPr/>
        </p:nvSpPr>
        <p:spPr>
          <a:xfrm>
            <a:off x="685800" y="1325880"/>
            <a:ext cx="5486400" cy="384048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2563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5" name="TextBox 4"/>
          <p:cNvSpPr txBox="1"/>
          <p:nvPr/>
        </p:nvSpPr>
        <p:spPr>
          <a:xfrm>
            <a:off x="914399" y="1435607"/>
            <a:ext cx="51983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6" name="TextBox 5"/>
          <p:cNvSpPr txBox="1"/>
          <p:nvPr/>
        </p:nvSpPr>
        <p:spPr>
          <a:xfrm>
            <a:off x="932687" y="1801367"/>
            <a:ext cx="2680121" cy="190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edad = 20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altura = 1.75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nombre = "Ana"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es_estudiante = True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print(type(edad))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print(type(altura))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print(type(nombre))</a:t>
            </a:r>
          </a:p>
          <a:p>
            <a: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print(type(es_estudiante))</a:t>
            </a:r>
          </a:p>
        </p:txBody>
      </p:sp>
      <p:sp>
        <p:nvSpPr>
          <p:cNvPr id="407" name="Rounded Rectangle 6"/>
          <p:cNvSpPr/>
          <p:nvPr/>
        </p:nvSpPr>
        <p:spPr>
          <a:xfrm>
            <a:off x="6446520" y="1325880"/>
            <a:ext cx="4846321" cy="31089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8" name="Rectangle 7"/>
          <p:cNvSpPr/>
          <p:nvPr/>
        </p:nvSpPr>
        <p:spPr>
          <a:xfrm>
            <a:off x="6446520" y="1325879"/>
            <a:ext cx="73153" cy="3108962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TextBox 8"/>
          <p:cNvSpPr txBox="1"/>
          <p:nvPr/>
        </p:nvSpPr>
        <p:spPr>
          <a:xfrm>
            <a:off x="6693407" y="1453894"/>
            <a:ext cx="1050019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>
                <a:solidFill>
                  <a:srgbClr val="122238"/>
                </a:solidFill>
              </a:defRPr>
            </a:lvl1pPr>
          </a:lstStyle>
          <a:p>
            <a:pPr/>
            <a:r>
              <a:t>Resultado</a:t>
            </a:r>
          </a:p>
        </p:txBody>
      </p:sp>
      <p:sp>
        <p:nvSpPr>
          <p:cNvPr id="410" name="TextBox 9"/>
          <p:cNvSpPr txBox="1"/>
          <p:nvPr/>
        </p:nvSpPr>
        <p:spPr>
          <a:xfrm>
            <a:off x="6693407" y="1892807"/>
            <a:ext cx="530869" cy="12093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>
                <a:solidFill>
                  <a:srgbClr val="475569"/>
                </a:solidFill>
              </a:defRPr>
            </a:pPr>
            <a:r>
              <a:t>int</a:t>
            </a:r>
            <a:br/>
            <a:r>
              <a:t>float</a:t>
            </a:r>
            <a:br/>
            <a:r>
              <a:t>str</a:t>
            </a:r>
            <a:br/>
            <a:r>
              <a:t>bool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3" name="TextBox 2"/>
          <p:cNvSpPr txBox="1"/>
          <p:nvPr/>
        </p:nvSpPr>
        <p:spPr>
          <a:xfrm>
            <a:off x="640079" y="256032"/>
            <a:ext cx="4015345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10 no es lo mismo que "10"</a:t>
            </a:r>
          </a:p>
        </p:txBody>
      </p:sp>
      <p:sp>
        <p:nvSpPr>
          <p:cNvPr id="414" name="Rounded Rectangle 3"/>
          <p:cNvSpPr/>
          <p:nvPr/>
        </p:nvSpPr>
        <p:spPr>
          <a:xfrm>
            <a:off x="640080" y="1554480"/>
            <a:ext cx="3489960" cy="22860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4"/>
          <p:cNvSpPr/>
          <p:nvPr/>
        </p:nvSpPr>
        <p:spPr>
          <a:xfrm>
            <a:off x="640080" y="1554480"/>
            <a:ext cx="73153" cy="228600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6" name="TextBox 5"/>
          <p:cNvSpPr txBox="1"/>
          <p:nvPr/>
        </p:nvSpPr>
        <p:spPr>
          <a:xfrm>
            <a:off x="886967" y="1682494"/>
            <a:ext cx="310119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417" name="TextBox 6"/>
          <p:cNvSpPr txBox="1"/>
          <p:nvPr/>
        </p:nvSpPr>
        <p:spPr>
          <a:xfrm>
            <a:off x="886967" y="2121407"/>
            <a:ext cx="16451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int · cantidad numérica</a:t>
            </a:r>
          </a:p>
        </p:txBody>
      </p:sp>
      <p:sp>
        <p:nvSpPr>
          <p:cNvPr id="418" name="Rounded Rectangle 7"/>
          <p:cNvSpPr/>
          <p:nvPr/>
        </p:nvSpPr>
        <p:spPr>
          <a:xfrm>
            <a:off x="4358640" y="1554480"/>
            <a:ext cx="3489960" cy="22860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9" name="Rectangle 8"/>
          <p:cNvSpPr/>
          <p:nvPr/>
        </p:nvSpPr>
        <p:spPr>
          <a:xfrm>
            <a:off x="4358640" y="1554480"/>
            <a:ext cx="73153" cy="228600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0" name="TextBox 9"/>
          <p:cNvSpPr txBox="1"/>
          <p:nvPr/>
        </p:nvSpPr>
        <p:spPr>
          <a:xfrm>
            <a:off x="4605528" y="1682494"/>
            <a:ext cx="488316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"10"</a:t>
            </a:r>
          </a:p>
        </p:txBody>
      </p:sp>
      <p:sp>
        <p:nvSpPr>
          <p:cNvPr id="421" name="TextBox 10"/>
          <p:cNvSpPr txBox="1"/>
          <p:nvPr/>
        </p:nvSpPr>
        <p:spPr>
          <a:xfrm>
            <a:off x="4605528" y="2121407"/>
            <a:ext cx="235000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str · texto formado por caracteres</a:t>
            </a:r>
          </a:p>
        </p:txBody>
      </p:sp>
      <p:sp>
        <p:nvSpPr>
          <p:cNvPr id="422" name="Rounded Rectangle 11"/>
          <p:cNvSpPr/>
          <p:nvPr/>
        </p:nvSpPr>
        <p:spPr>
          <a:xfrm>
            <a:off x="8077199" y="1554480"/>
            <a:ext cx="3489961" cy="22860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Rectangle 12"/>
          <p:cNvSpPr/>
          <p:nvPr/>
        </p:nvSpPr>
        <p:spPr>
          <a:xfrm>
            <a:off x="8077199" y="1554480"/>
            <a:ext cx="73153" cy="2286001"/>
          </a:xfrm>
          <a:prstGeom prst="rect">
            <a:avLst/>
          </a:prstGeom>
          <a:solidFill>
            <a:srgbClr val="DC262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4" name="TextBox 13"/>
          <p:cNvSpPr txBox="1"/>
          <p:nvPr/>
        </p:nvSpPr>
        <p:spPr>
          <a:xfrm>
            <a:off x="8324086" y="1682494"/>
            <a:ext cx="1253987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Consecuencia</a:t>
            </a:r>
          </a:p>
        </p:txBody>
      </p:sp>
      <p:sp>
        <p:nvSpPr>
          <p:cNvPr id="425" name="TextBox 14"/>
          <p:cNvSpPr txBox="1"/>
          <p:nvPr/>
        </p:nvSpPr>
        <p:spPr>
          <a:xfrm>
            <a:off x="8324086" y="2121407"/>
            <a:ext cx="3019914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"5" + 5 requiere conversión antes de sumar.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640079" y="256032"/>
            <a:ext cx="3152402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Conversiones simples</a:t>
            </a:r>
          </a:p>
        </p:txBody>
      </p:sp>
      <p:sp>
        <p:nvSpPr>
          <p:cNvPr id="429" name="Rounded Rectangle 3"/>
          <p:cNvSpPr/>
          <p:nvPr/>
        </p:nvSpPr>
        <p:spPr>
          <a:xfrm>
            <a:off x="685800" y="1325880"/>
            <a:ext cx="5212080" cy="2756916"/>
          </a:xfrm>
          <a:prstGeom prst="roundRect">
            <a:avLst>
              <a:gd name="adj" fmla="val 24323"/>
            </a:avLst>
          </a:prstGeom>
          <a:solidFill>
            <a:srgbClr val="0F172A"/>
          </a:solidFill>
          <a:ln>
            <a:solidFill>
              <a:srgbClr val="0D948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0" name="TextBox 4"/>
          <p:cNvSpPr txBox="1"/>
          <p:nvPr/>
        </p:nvSpPr>
        <p:spPr>
          <a:xfrm>
            <a:off x="914399" y="1435607"/>
            <a:ext cx="51983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31" name="TextBox 5"/>
          <p:cNvSpPr txBox="1"/>
          <p:nvPr/>
        </p:nvSpPr>
        <p:spPr>
          <a:xfrm>
            <a:off x="932687" y="1801367"/>
            <a:ext cx="3305062" cy="180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texto = "25"</a:t>
            </a: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numero = int(texto)</a:t>
            </a: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precio = 10</a:t>
            </a: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precio_decimal = float(precio)</a:t>
            </a: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edad = 20</a:t>
            </a:r>
          </a:p>
          <a:p>
            <a:pPr>
              <a:spcBef>
                <a:spcPts val="100"/>
              </a:spcBef>
              <a:defRPr sz="14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mensaje = str(edad)</a:t>
            </a:r>
          </a:p>
        </p:txBody>
      </p:sp>
      <p:sp>
        <p:nvSpPr>
          <p:cNvPr id="432" name="Rounded Rectangle 6"/>
          <p:cNvSpPr/>
          <p:nvPr/>
        </p:nvSpPr>
        <p:spPr>
          <a:xfrm>
            <a:off x="640080" y="4686300"/>
            <a:ext cx="10927081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3" name="Rectangle 7"/>
          <p:cNvSpPr/>
          <p:nvPr/>
        </p:nvSpPr>
        <p:spPr>
          <a:xfrm>
            <a:off x="640080" y="4686299"/>
            <a:ext cx="73153" cy="1097282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8"/>
          <p:cNvSpPr txBox="1"/>
          <p:nvPr/>
        </p:nvSpPr>
        <p:spPr>
          <a:xfrm>
            <a:off x="886967" y="4814315"/>
            <a:ext cx="45825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int()</a:t>
            </a:r>
          </a:p>
        </p:txBody>
      </p:sp>
      <p:sp>
        <p:nvSpPr>
          <p:cNvPr id="435" name="TextBox 9"/>
          <p:cNvSpPr txBox="1"/>
          <p:nvPr/>
        </p:nvSpPr>
        <p:spPr>
          <a:xfrm>
            <a:off x="886967" y="5253228"/>
            <a:ext cx="1391485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Convierte a entero.</a:t>
            </a:r>
          </a:p>
        </p:txBody>
      </p:sp>
      <p:sp>
        <p:nvSpPr>
          <p:cNvPr id="436" name="Rounded Rectangle 10"/>
          <p:cNvSpPr/>
          <p:nvPr/>
        </p:nvSpPr>
        <p:spPr>
          <a:xfrm>
            <a:off x="640080" y="7589519"/>
            <a:ext cx="10927081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7" name="Rectangle 11"/>
          <p:cNvSpPr/>
          <p:nvPr/>
        </p:nvSpPr>
        <p:spPr>
          <a:xfrm>
            <a:off x="640080" y="7589519"/>
            <a:ext cx="73153" cy="109728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8" name="TextBox 12"/>
          <p:cNvSpPr txBox="1"/>
          <p:nvPr/>
        </p:nvSpPr>
        <p:spPr>
          <a:xfrm>
            <a:off x="886967" y="7717535"/>
            <a:ext cx="623055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float()</a:t>
            </a:r>
          </a:p>
        </p:txBody>
      </p:sp>
      <p:sp>
        <p:nvSpPr>
          <p:cNvPr id="439" name="TextBox 13"/>
          <p:cNvSpPr txBox="1"/>
          <p:nvPr/>
        </p:nvSpPr>
        <p:spPr>
          <a:xfrm>
            <a:off x="886967" y="8156447"/>
            <a:ext cx="1475083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Convierte a flotante.</a:t>
            </a:r>
          </a:p>
        </p:txBody>
      </p:sp>
      <p:sp>
        <p:nvSpPr>
          <p:cNvPr id="440" name="Rounded Rectangle 14"/>
          <p:cNvSpPr/>
          <p:nvPr/>
        </p:nvSpPr>
        <p:spPr>
          <a:xfrm>
            <a:off x="640080" y="9006840"/>
            <a:ext cx="10927081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1" name="Rectangle 15"/>
          <p:cNvSpPr/>
          <p:nvPr/>
        </p:nvSpPr>
        <p:spPr>
          <a:xfrm>
            <a:off x="640080" y="9006840"/>
            <a:ext cx="73153" cy="1097281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2" name="TextBox 16"/>
          <p:cNvSpPr txBox="1"/>
          <p:nvPr/>
        </p:nvSpPr>
        <p:spPr>
          <a:xfrm>
            <a:off x="886967" y="9134856"/>
            <a:ext cx="45220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str()</a:t>
            </a:r>
          </a:p>
        </p:txBody>
      </p:sp>
      <p:sp>
        <p:nvSpPr>
          <p:cNvPr id="443" name="TextBox 17"/>
          <p:cNvSpPr txBox="1"/>
          <p:nvPr/>
        </p:nvSpPr>
        <p:spPr>
          <a:xfrm>
            <a:off x="886967" y="9573766"/>
            <a:ext cx="1292409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Convierte a texto.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6" name="TextBox 2"/>
          <p:cNvSpPr txBox="1"/>
          <p:nvPr/>
        </p:nvSpPr>
        <p:spPr>
          <a:xfrm>
            <a:off x="640079" y="256032"/>
            <a:ext cx="5003024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Mini-reto: representa una persona</a:t>
            </a:r>
          </a:p>
        </p:txBody>
      </p:sp>
      <p:sp>
        <p:nvSpPr>
          <p:cNvPr id="447" name="TextBox 3"/>
          <p:cNvSpPr txBox="1"/>
          <p:nvPr/>
        </p:nvSpPr>
        <p:spPr>
          <a:xfrm>
            <a:off x="658367" y="859535"/>
            <a:ext cx="2724707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>
                <a:solidFill>
                  <a:srgbClr val="475569"/>
                </a:solidFill>
              </a:defRPr>
            </a:lvl1pPr>
          </a:lstStyle>
          <a:p>
            <a:pPr/>
            <a:r>
              <a:t>Elige nombre de variable y tipo apropiado.</a:t>
            </a:r>
          </a:p>
        </p:txBody>
      </p:sp>
      <p:sp>
        <p:nvSpPr>
          <p:cNvPr id="448" name="Rounded Rectangle 4"/>
          <p:cNvSpPr/>
          <p:nvPr/>
        </p:nvSpPr>
        <p:spPr>
          <a:xfrm>
            <a:off x="640080" y="1417319"/>
            <a:ext cx="5349241" cy="1392060"/>
          </a:xfrm>
          <a:prstGeom prst="roundRect">
            <a:avLst>
              <a:gd name="adj" fmla="val 23538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9" name="Rectangle 5"/>
          <p:cNvSpPr/>
          <p:nvPr/>
        </p:nvSpPr>
        <p:spPr>
          <a:xfrm>
            <a:off x="640080" y="1417319"/>
            <a:ext cx="73153" cy="1392060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TextBox 6"/>
          <p:cNvSpPr txBox="1"/>
          <p:nvPr/>
        </p:nvSpPr>
        <p:spPr>
          <a:xfrm>
            <a:off x="886966" y="1545336"/>
            <a:ext cx="79381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Nombre</a:t>
            </a:r>
          </a:p>
        </p:txBody>
      </p:sp>
      <p:sp>
        <p:nvSpPr>
          <p:cNvPr id="451" name="TextBox 7"/>
          <p:cNvSpPr txBox="1"/>
          <p:nvPr/>
        </p:nvSpPr>
        <p:spPr>
          <a:xfrm>
            <a:off x="886966" y="1984248"/>
            <a:ext cx="432729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¿str?</a:t>
            </a:r>
          </a:p>
        </p:txBody>
      </p:sp>
      <p:sp>
        <p:nvSpPr>
          <p:cNvPr id="452" name="Rounded Rectangle 8"/>
          <p:cNvSpPr/>
          <p:nvPr/>
        </p:nvSpPr>
        <p:spPr>
          <a:xfrm>
            <a:off x="6217920" y="1417319"/>
            <a:ext cx="5349241" cy="1392060"/>
          </a:xfrm>
          <a:prstGeom prst="roundRect">
            <a:avLst>
              <a:gd name="adj" fmla="val 23538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3" name="Rectangle 9"/>
          <p:cNvSpPr/>
          <p:nvPr/>
        </p:nvSpPr>
        <p:spPr>
          <a:xfrm>
            <a:off x="6217920" y="1417319"/>
            <a:ext cx="73153" cy="1392060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4" name="TextBox 10"/>
          <p:cNvSpPr txBox="1"/>
          <p:nvPr/>
        </p:nvSpPr>
        <p:spPr>
          <a:xfrm>
            <a:off x="6464807" y="1545336"/>
            <a:ext cx="518677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Edad</a:t>
            </a:r>
          </a:p>
        </p:txBody>
      </p:sp>
      <p:sp>
        <p:nvSpPr>
          <p:cNvPr id="455" name="TextBox 11"/>
          <p:cNvSpPr txBox="1"/>
          <p:nvPr/>
        </p:nvSpPr>
        <p:spPr>
          <a:xfrm>
            <a:off x="6464807" y="1984248"/>
            <a:ext cx="43555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¿int?</a:t>
            </a:r>
          </a:p>
        </p:txBody>
      </p:sp>
      <p:sp>
        <p:nvSpPr>
          <p:cNvPr id="456" name="Rounded Rectangle 12"/>
          <p:cNvSpPr/>
          <p:nvPr/>
        </p:nvSpPr>
        <p:spPr>
          <a:xfrm>
            <a:off x="640080" y="3703320"/>
            <a:ext cx="5349241" cy="1392058"/>
          </a:xfrm>
          <a:prstGeom prst="roundRect">
            <a:avLst>
              <a:gd name="adj" fmla="val 23538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7" name="Rectangle 13"/>
          <p:cNvSpPr/>
          <p:nvPr/>
        </p:nvSpPr>
        <p:spPr>
          <a:xfrm>
            <a:off x="640080" y="3703320"/>
            <a:ext cx="73153" cy="1392058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8" name="TextBox 14"/>
          <p:cNvSpPr txBox="1"/>
          <p:nvPr/>
        </p:nvSpPr>
        <p:spPr>
          <a:xfrm>
            <a:off x="886966" y="3831335"/>
            <a:ext cx="79649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Estatura</a:t>
            </a:r>
          </a:p>
        </p:txBody>
      </p:sp>
      <p:sp>
        <p:nvSpPr>
          <p:cNvPr id="459" name="TextBox 15"/>
          <p:cNvSpPr txBox="1"/>
          <p:nvPr/>
        </p:nvSpPr>
        <p:spPr>
          <a:xfrm>
            <a:off x="886966" y="4270247"/>
            <a:ext cx="56147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¿float?</a:t>
            </a:r>
          </a:p>
        </p:txBody>
      </p:sp>
      <p:sp>
        <p:nvSpPr>
          <p:cNvPr id="460" name="Rounded Rectangle 16"/>
          <p:cNvSpPr/>
          <p:nvPr/>
        </p:nvSpPr>
        <p:spPr>
          <a:xfrm>
            <a:off x="6217920" y="3703320"/>
            <a:ext cx="5349241" cy="1392058"/>
          </a:xfrm>
          <a:prstGeom prst="roundRect">
            <a:avLst>
              <a:gd name="adj" fmla="val 23538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1" name="Rectangle 17"/>
          <p:cNvSpPr/>
          <p:nvPr/>
        </p:nvSpPr>
        <p:spPr>
          <a:xfrm>
            <a:off x="6217920" y="3703320"/>
            <a:ext cx="73153" cy="1392058"/>
          </a:xfrm>
          <a:prstGeom prst="rect">
            <a:avLst/>
          </a:prstGeom>
          <a:solidFill>
            <a:srgbClr val="EA580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2" name="TextBox 18"/>
          <p:cNvSpPr txBox="1"/>
          <p:nvPr/>
        </p:nvSpPr>
        <p:spPr>
          <a:xfrm>
            <a:off x="6464807" y="3831335"/>
            <a:ext cx="1415813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¿Es estudiante?</a:t>
            </a:r>
          </a:p>
        </p:txBody>
      </p:sp>
      <p:sp>
        <p:nvSpPr>
          <p:cNvPr id="463" name="TextBox 19"/>
          <p:cNvSpPr txBox="1"/>
          <p:nvPr/>
        </p:nvSpPr>
        <p:spPr>
          <a:xfrm>
            <a:off x="6464807" y="4270247"/>
            <a:ext cx="555909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¿bool?</a:t>
            </a:r>
          </a:p>
        </p:txBody>
      </p:sp>
      <p:sp>
        <p:nvSpPr>
          <p:cNvPr id="464" name="Rounded Rectangle 20"/>
          <p:cNvSpPr/>
          <p:nvPr/>
        </p:nvSpPr>
        <p:spPr>
          <a:xfrm>
            <a:off x="2926079" y="5486400"/>
            <a:ext cx="6309361" cy="777241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solidFill>
              <a:srgbClr val="16A34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5" name="TextBox 21"/>
          <p:cNvSpPr txBox="1"/>
          <p:nvPr/>
        </p:nvSpPr>
        <p:spPr>
          <a:xfrm>
            <a:off x="3154680" y="5596128"/>
            <a:ext cx="1035519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100">
                <a:solidFill>
                  <a:srgbClr val="93C5FD"/>
                </a:solidFill>
              </a:defRPr>
            </a:lvl1pPr>
          </a:lstStyle>
          <a:p>
            <a:pPr/>
            <a:r>
              <a:t>Posible solución</a:t>
            </a:r>
          </a:p>
        </p:txBody>
      </p:sp>
      <p:sp>
        <p:nvSpPr>
          <p:cNvPr id="466" name="TextBox 22"/>
          <p:cNvSpPr txBox="1"/>
          <p:nvPr/>
        </p:nvSpPr>
        <p:spPr>
          <a:xfrm>
            <a:off x="3172968" y="5961888"/>
            <a:ext cx="5949632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nombre="Ana"   edad=19   estatura=1.68   es_estudiante=True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9" name="TextBox 2"/>
          <p:cNvSpPr txBox="1"/>
          <p:nvPr/>
        </p:nvSpPr>
        <p:spPr>
          <a:xfrm>
            <a:off x="640079" y="256032"/>
            <a:ext cx="4362263" cy="434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700">
                <a:solidFill>
                  <a:srgbClr val="122238"/>
                </a:solidFill>
              </a:defRPr>
            </a:lvl1pPr>
          </a:lstStyle>
          <a:p>
            <a:pPr/>
            <a:r>
              <a:t>Actividad evaluada · pytest #1</a:t>
            </a:r>
          </a:p>
        </p:txBody>
      </p:sp>
      <p:sp>
        <p:nvSpPr>
          <p:cNvPr id="470" name="TextBox 3"/>
          <p:cNvSpPr txBox="1"/>
          <p:nvPr/>
        </p:nvSpPr>
        <p:spPr>
          <a:xfrm>
            <a:off x="658367" y="859535"/>
            <a:ext cx="3191134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>
                <a:solidFill>
                  <a:srgbClr val="475569"/>
                </a:solidFill>
              </a:defRPr>
            </a:lvl1pPr>
          </a:lstStyle>
          <a:p>
            <a:pPr/>
            <a:r>
              <a:t>Declaración y tipos de datos — 5% de actividades.</a:t>
            </a:r>
          </a:p>
        </p:txBody>
      </p:sp>
      <p:sp>
        <p:nvSpPr>
          <p:cNvPr id="471" name="Rounded Rectangle 4"/>
          <p:cNvSpPr/>
          <p:nvPr/>
        </p:nvSpPr>
        <p:spPr>
          <a:xfrm>
            <a:off x="640080" y="1508760"/>
            <a:ext cx="3489960" cy="2194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2" name="Rectangle 5"/>
          <p:cNvSpPr/>
          <p:nvPr/>
        </p:nvSpPr>
        <p:spPr>
          <a:xfrm>
            <a:off x="640080" y="1508760"/>
            <a:ext cx="73153" cy="2194561"/>
          </a:xfrm>
          <a:prstGeom prst="rect">
            <a:avLst/>
          </a:prstGeom>
          <a:solidFill>
            <a:srgbClr val="2563E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3" name="TextBox 6"/>
          <p:cNvSpPr txBox="1"/>
          <p:nvPr/>
        </p:nvSpPr>
        <p:spPr>
          <a:xfrm>
            <a:off x="886967" y="1636776"/>
            <a:ext cx="8100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Declarar</a:t>
            </a:r>
          </a:p>
        </p:txBody>
      </p:sp>
      <p:sp>
        <p:nvSpPr>
          <p:cNvPr id="474" name="TextBox 7"/>
          <p:cNvSpPr txBox="1"/>
          <p:nvPr/>
        </p:nvSpPr>
        <p:spPr>
          <a:xfrm>
            <a:off x="886967" y="2075688"/>
            <a:ext cx="2813215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Crear variables con nombres adecuados.</a:t>
            </a:r>
          </a:p>
        </p:txBody>
      </p:sp>
      <p:sp>
        <p:nvSpPr>
          <p:cNvPr id="475" name="Rounded Rectangle 8"/>
          <p:cNvSpPr/>
          <p:nvPr/>
        </p:nvSpPr>
        <p:spPr>
          <a:xfrm>
            <a:off x="4358640" y="1508760"/>
            <a:ext cx="3489960" cy="2194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6" name="Rectangle 9"/>
          <p:cNvSpPr/>
          <p:nvPr/>
        </p:nvSpPr>
        <p:spPr>
          <a:xfrm>
            <a:off x="4358640" y="1508760"/>
            <a:ext cx="73153" cy="2194561"/>
          </a:xfrm>
          <a:prstGeom prst="rect">
            <a:avLst/>
          </a:prstGeom>
          <a:solidFill>
            <a:srgbClr val="0D94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7" name="TextBox 10"/>
          <p:cNvSpPr txBox="1"/>
          <p:nvPr/>
        </p:nvSpPr>
        <p:spPr>
          <a:xfrm>
            <a:off x="4605528" y="1636776"/>
            <a:ext cx="8634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Clasificar</a:t>
            </a:r>
          </a:p>
        </p:txBody>
      </p:sp>
      <p:sp>
        <p:nvSpPr>
          <p:cNvPr id="478" name="TextBox 11"/>
          <p:cNvSpPr txBox="1"/>
          <p:nvPr/>
        </p:nvSpPr>
        <p:spPr>
          <a:xfrm>
            <a:off x="4605528" y="2075688"/>
            <a:ext cx="27826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Usar int, float, str y bool correctamente.</a:t>
            </a:r>
          </a:p>
        </p:txBody>
      </p:sp>
      <p:sp>
        <p:nvSpPr>
          <p:cNvPr id="479" name="Rounded Rectangle 12"/>
          <p:cNvSpPr/>
          <p:nvPr/>
        </p:nvSpPr>
        <p:spPr>
          <a:xfrm>
            <a:off x="8077199" y="1508760"/>
            <a:ext cx="3489961" cy="2194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0" name="Rectangle 13"/>
          <p:cNvSpPr/>
          <p:nvPr/>
        </p:nvSpPr>
        <p:spPr>
          <a:xfrm>
            <a:off x="8077199" y="1508760"/>
            <a:ext cx="73153" cy="2194561"/>
          </a:xfrm>
          <a:prstGeom prst="rect">
            <a:avLst/>
          </a:prstGeom>
          <a:solidFill>
            <a:srgbClr val="7C3AE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1" name="TextBox 14"/>
          <p:cNvSpPr txBox="1"/>
          <p:nvPr/>
        </p:nvSpPr>
        <p:spPr>
          <a:xfrm>
            <a:off x="8324086" y="1636776"/>
            <a:ext cx="888466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22238"/>
                </a:solidFill>
              </a:defRPr>
            </a:lvl1pPr>
          </a:lstStyle>
          <a:p>
            <a:pPr/>
            <a:r>
              <a:t>Convertir</a:t>
            </a:r>
          </a:p>
        </p:txBody>
      </p:sp>
      <p:sp>
        <p:nvSpPr>
          <p:cNvPr id="482" name="TextBox 15"/>
          <p:cNvSpPr txBox="1"/>
          <p:nvPr/>
        </p:nvSpPr>
        <p:spPr>
          <a:xfrm>
            <a:off x="8324086" y="2075688"/>
            <a:ext cx="1960226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475569"/>
                </a:solidFill>
              </a:defRPr>
            </a:lvl1pPr>
          </a:lstStyle>
          <a:p>
            <a:pPr/>
            <a:r>
              <a:t>Practicar int(), float() y str().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