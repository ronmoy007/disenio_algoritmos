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4780" y="769937"/>
            <a:ext cx="974344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797994" y="2438400"/>
            <a:ext cx="4770227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tif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tif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2223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777238" y="1051559"/>
            <a:ext cx="5818147" cy="1223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4000">
                <a:solidFill>
                  <a:srgbClr val="FFFFFF"/>
                </a:solidFill>
              </a:defRPr>
            </a:pPr>
            <a:r>
              <a:t>Big O + variables,</a:t>
            </a:r>
          </a:p>
          <a:p>
            <a:pPr>
              <a:defRPr b="1" sz="4000">
                <a:solidFill>
                  <a:srgbClr val="FFFFFF"/>
                </a:solidFill>
              </a:defRPr>
            </a:pPr>
            <a:r>
              <a:t>constantes y tipos de datos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95526" y="3383280"/>
            <a:ext cx="5082688" cy="340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000">
                <a:solidFill>
                  <a:srgbClr val="BFDBFE"/>
                </a:solidFill>
              </a:defRPr>
            </a:lvl1pPr>
          </a:lstStyle>
          <a:p>
            <a:pPr/>
            <a:r>
              <a:t>Clase 6 · 29 de septiembre de 2026 · Laboratorio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2"/>
          <p:cNvSpPr txBox="1"/>
          <p:nvPr/>
        </p:nvSpPr>
        <p:spPr>
          <a:xfrm>
            <a:off x="640078" y="256032"/>
            <a:ext cx="1806752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Noticia tech</a:t>
            </a:r>
          </a:p>
        </p:txBody>
      </p:sp>
      <p:pic>
        <p:nvPicPr>
          <p:cNvPr id="10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89087" y="715224"/>
            <a:ext cx="7689812" cy="585067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" name="TextBox 2"/>
          <p:cNvSpPr txBox="1"/>
          <p:nvPr/>
        </p:nvSpPr>
        <p:spPr>
          <a:xfrm>
            <a:off x="640079" y="256031"/>
            <a:ext cx="3614678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Vistazo al mundo laboral</a:t>
            </a:r>
          </a:p>
        </p:txBody>
      </p:sp>
      <p:pic>
        <p:nvPicPr>
          <p:cNvPr id="104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0" t="0" r="0" b="9470"/>
          <a:stretch>
            <a:fillRect/>
          </a:stretch>
        </p:blipFill>
        <p:spPr>
          <a:xfrm>
            <a:off x="3308922" y="890633"/>
            <a:ext cx="6185944" cy="56000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" name="TextBox 2"/>
          <p:cNvSpPr txBox="1"/>
          <p:nvPr/>
        </p:nvSpPr>
        <p:spPr>
          <a:xfrm>
            <a:off x="640079" y="256031"/>
            <a:ext cx="3666582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Big O: ¿por qué importa?</a:t>
            </a:r>
          </a:p>
        </p:txBody>
      </p:sp>
      <p:sp>
        <p:nvSpPr>
          <p:cNvPr id="108" name="TextBox 3"/>
          <p:cNvSpPr txBox="1"/>
          <p:nvPr/>
        </p:nvSpPr>
        <p:spPr>
          <a:xfrm>
            <a:off x="658366" y="859536"/>
            <a:ext cx="4004255" cy="248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Dos algoritmos correctos pueden crecer de forma muy distinta.</a:t>
            </a:r>
          </a:p>
        </p:txBody>
      </p:sp>
      <p:sp>
        <p:nvSpPr>
          <p:cNvPr id="109" name="Rounded Rectangle 4"/>
          <p:cNvSpPr/>
          <p:nvPr/>
        </p:nvSpPr>
        <p:spPr>
          <a:xfrm>
            <a:off x="731519" y="1371600"/>
            <a:ext cx="5120643" cy="320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Rectangle 5"/>
          <p:cNvSpPr/>
          <p:nvPr/>
        </p:nvSpPr>
        <p:spPr>
          <a:xfrm>
            <a:off x="731519" y="1371600"/>
            <a:ext cx="73154" cy="3200400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6"/>
          <p:cNvSpPr txBox="1"/>
          <p:nvPr/>
        </p:nvSpPr>
        <p:spPr>
          <a:xfrm>
            <a:off x="978407" y="1499616"/>
            <a:ext cx="1370170" cy="340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000">
                <a:solidFill>
                  <a:srgbClr val="122238"/>
                </a:solidFill>
              </a:defRPr>
            </a:lvl1pPr>
          </a:lstStyle>
          <a:p>
            <a:pPr/>
            <a:r>
              <a:t>Algoritmo A</a:t>
            </a:r>
          </a:p>
        </p:txBody>
      </p:sp>
      <p:sp>
        <p:nvSpPr>
          <p:cNvPr id="112" name="TextBox 7"/>
          <p:cNvSpPr txBox="1"/>
          <p:nvPr/>
        </p:nvSpPr>
        <p:spPr>
          <a:xfrm>
            <a:off x="978406" y="1938527"/>
            <a:ext cx="2281166" cy="577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700">
                <a:solidFill>
                  <a:srgbClr val="475569"/>
                </a:solidFill>
              </a:defRPr>
            </a:pPr>
            <a:r>
              <a:t>n=10 → ~10 operaciones</a:t>
            </a:r>
            <a:br/>
            <a:r>
              <a:t>n=1,000 → ~1,000</a:t>
            </a:r>
          </a:p>
        </p:txBody>
      </p:sp>
      <p:sp>
        <p:nvSpPr>
          <p:cNvPr id="113" name="Rounded Rectangle 8"/>
          <p:cNvSpPr/>
          <p:nvPr/>
        </p:nvSpPr>
        <p:spPr>
          <a:xfrm>
            <a:off x="6309359" y="1371600"/>
            <a:ext cx="5120641" cy="3200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Rectangle 9"/>
          <p:cNvSpPr/>
          <p:nvPr/>
        </p:nvSpPr>
        <p:spPr>
          <a:xfrm>
            <a:off x="6309359" y="1371600"/>
            <a:ext cx="73154" cy="3200400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10"/>
          <p:cNvSpPr txBox="1"/>
          <p:nvPr/>
        </p:nvSpPr>
        <p:spPr>
          <a:xfrm>
            <a:off x="6556247" y="1499616"/>
            <a:ext cx="1358636" cy="340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000">
                <a:solidFill>
                  <a:srgbClr val="122238"/>
                </a:solidFill>
              </a:defRPr>
            </a:lvl1pPr>
          </a:lstStyle>
          <a:p>
            <a:pPr/>
            <a:r>
              <a:t>Algoritmo B</a:t>
            </a:r>
          </a:p>
        </p:txBody>
      </p:sp>
      <p:sp>
        <p:nvSpPr>
          <p:cNvPr id="116" name="TextBox 11"/>
          <p:cNvSpPr txBox="1"/>
          <p:nvPr/>
        </p:nvSpPr>
        <p:spPr>
          <a:xfrm>
            <a:off x="6556247" y="1938527"/>
            <a:ext cx="2390591" cy="577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700">
                <a:solidFill>
                  <a:srgbClr val="475569"/>
                </a:solidFill>
              </a:defRPr>
            </a:pPr>
            <a:r>
              <a:t>n=10 → ~100 operaciones</a:t>
            </a:r>
            <a:br/>
            <a:r>
              <a:t>n=1,000 → ~1,000,000</a:t>
            </a:r>
          </a:p>
        </p:txBody>
      </p:sp>
      <p:sp>
        <p:nvSpPr>
          <p:cNvPr id="117" name="Rounded Rectangle 12"/>
          <p:cNvSpPr/>
          <p:nvPr/>
        </p:nvSpPr>
        <p:spPr>
          <a:xfrm>
            <a:off x="1645920" y="4937759"/>
            <a:ext cx="8961120" cy="9144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Rectangle 13"/>
          <p:cNvSpPr/>
          <p:nvPr/>
        </p:nvSpPr>
        <p:spPr>
          <a:xfrm>
            <a:off x="1645920" y="4937759"/>
            <a:ext cx="73154" cy="91440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TextBox 14"/>
          <p:cNvSpPr txBox="1"/>
          <p:nvPr/>
        </p:nvSpPr>
        <p:spPr>
          <a:xfrm>
            <a:off x="1892807" y="5065777"/>
            <a:ext cx="913448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Pregunta</a:t>
            </a:r>
          </a:p>
        </p:txBody>
      </p:sp>
      <p:sp>
        <p:nvSpPr>
          <p:cNvPr id="120" name="TextBox 15"/>
          <p:cNvSpPr txBox="1"/>
          <p:nvPr/>
        </p:nvSpPr>
        <p:spPr>
          <a:xfrm>
            <a:off x="1892807" y="5504689"/>
            <a:ext cx="2218379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¿Qué ocurre cuando n crece?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TextBox 2"/>
          <p:cNvSpPr txBox="1"/>
          <p:nvPr/>
        </p:nvSpPr>
        <p:spPr>
          <a:xfrm>
            <a:off x="640079" y="256032"/>
            <a:ext cx="5837500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Big O describe crecimiento, no segundos</a:t>
            </a:r>
          </a:p>
        </p:txBody>
      </p:sp>
      <p:sp>
        <p:nvSpPr>
          <p:cNvPr id="124" name="Rounded Rectangle 3"/>
          <p:cNvSpPr/>
          <p:nvPr/>
        </p:nvSpPr>
        <p:spPr>
          <a:xfrm>
            <a:off x="640080" y="1417319"/>
            <a:ext cx="3489960" cy="21031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Rectangle 4"/>
          <p:cNvSpPr/>
          <p:nvPr/>
        </p:nvSpPr>
        <p:spPr>
          <a:xfrm>
            <a:off x="640080" y="1417319"/>
            <a:ext cx="73154" cy="2103123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TextBox 5"/>
          <p:cNvSpPr txBox="1"/>
          <p:nvPr/>
        </p:nvSpPr>
        <p:spPr>
          <a:xfrm>
            <a:off x="886966" y="1545336"/>
            <a:ext cx="213181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27" name="TextBox 6"/>
          <p:cNvSpPr txBox="1"/>
          <p:nvPr/>
        </p:nvSpPr>
        <p:spPr>
          <a:xfrm>
            <a:off x="886966" y="1984249"/>
            <a:ext cx="1596811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Tamaño de la entrada.</a:t>
            </a:r>
          </a:p>
        </p:txBody>
      </p:sp>
      <p:sp>
        <p:nvSpPr>
          <p:cNvPr id="128" name="Rounded Rectangle 7"/>
          <p:cNvSpPr/>
          <p:nvPr/>
        </p:nvSpPr>
        <p:spPr>
          <a:xfrm>
            <a:off x="4358640" y="1417319"/>
            <a:ext cx="3489960" cy="21031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Rectangle 8"/>
          <p:cNvSpPr/>
          <p:nvPr/>
        </p:nvSpPr>
        <p:spPr>
          <a:xfrm>
            <a:off x="4358640" y="1417319"/>
            <a:ext cx="73154" cy="2103123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TextBox 9"/>
          <p:cNvSpPr txBox="1"/>
          <p:nvPr/>
        </p:nvSpPr>
        <p:spPr>
          <a:xfrm>
            <a:off x="4605528" y="1545336"/>
            <a:ext cx="732888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Trabajo</a:t>
            </a:r>
          </a:p>
        </p:txBody>
      </p:sp>
      <p:sp>
        <p:nvSpPr>
          <p:cNvPr id="131" name="TextBox 10"/>
          <p:cNvSpPr txBox="1"/>
          <p:nvPr/>
        </p:nvSpPr>
        <p:spPr>
          <a:xfrm>
            <a:off x="4605528" y="1984249"/>
            <a:ext cx="259418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Iteraciones u operaciones relevantes.</a:t>
            </a:r>
          </a:p>
        </p:txBody>
      </p:sp>
      <p:sp>
        <p:nvSpPr>
          <p:cNvPr id="132" name="Rounded Rectangle 11"/>
          <p:cNvSpPr/>
          <p:nvPr/>
        </p:nvSpPr>
        <p:spPr>
          <a:xfrm>
            <a:off x="8077199" y="1417319"/>
            <a:ext cx="3489962" cy="21031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Rectangle 12"/>
          <p:cNvSpPr/>
          <p:nvPr/>
        </p:nvSpPr>
        <p:spPr>
          <a:xfrm>
            <a:off x="8077199" y="1417319"/>
            <a:ext cx="73154" cy="2103123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TextBox 13"/>
          <p:cNvSpPr txBox="1"/>
          <p:nvPr/>
        </p:nvSpPr>
        <p:spPr>
          <a:xfrm>
            <a:off x="8324085" y="1545336"/>
            <a:ext cx="547647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Big O</a:t>
            </a:r>
          </a:p>
        </p:txBody>
      </p:sp>
      <p:sp>
        <p:nvSpPr>
          <p:cNvPr id="135" name="TextBox 14"/>
          <p:cNvSpPr txBox="1"/>
          <p:nvPr/>
        </p:nvSpPr>
        <p:spPr>
          <a:xfrm>
            <a:off x="8324085" y="1984249"/>
            <a:ext cx="2379101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Forma dominante de crecimiento.</a:t>
            </a:r>
          </a:p>
        </p:txBody>
      </p:sp>
      <p:sp>
        <p:nvSpPr>
          <p:cNvPr id="136" name="Rounded Rectangle 15"/>
          <p:cNvSpPr/>
          <p:nvPr/>
        </p:nvSpPr>
        <p:spPr>
          <a:xfrm>
            <a:off x="1280160" y="4297679"/>
            <a:ext cx="9601201" cy="109728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Rectangle 16"/>
          <p:cNvSpPr/>
          <p:nvPr/>
        </p:nvSpPr>
        <p:spPr>
          <a:xfrm>
            <a:off x="1280160" y="4297679"/>
            <a:ext cx="73154" cy="1097282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TextBox 17"/>
          <p:cNvSpPr txBox="1"/>
          <p:nvPr/>
        </p:nvSpPr>
        <p:spPr>
          <a:xfrm>
            <a:off x="1527047" y="4425697"/>
            <a:ext cx="1060310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Importante</a:t>
            </a:r>
          </a:p>
        </p:txBody>
      </p:sp>
      <p:sp>
        <p:nvSpPr>
          <p:cNvPr id="139" name="TextBox 18"/>
          <p:cNvSpPr txBox="1"/>
          <p:nvPr/>
        </p:nvSpPr>
        <p:spPr>
          <a:xfrm>
            <a:off x="1527047" y="4864609"/>
            <a:ext cx="4337083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O(n²) no significa n² segundos. Describe cómo escala el trabajo.</a:t>
            </a:r>
          </a:p>
        </p:txBody>
      </p:sp>
      <p:pic>
        <p:nvPicPr>
          <p:cNvPr id="14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TextBox 2"/>
          <p:cNvSpPr txBox="1"/>
          <p:nvPr/>
        </p:nvSpPr>
        <p:spPr>
          <a:xfrm>
            <a:off x="640078" y="256032"/>
            <a:ext cx="4754386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Complejidades de tus programas</a:t>
            </a:r>
          </a:p>
        </p:txBody>
      </p:sp>
      <p:sp>
        <p:nvSpPr>
          <p:cNvPr id="144" name="Rounded Rectangle 3"/>
          <p:cNvSpPr/>
          <p:nvPr/>
        </p:nvSpPr>
        <p:spPr>
          <a:xfrm>
            <a:off x="640080" y="1645920"/>
            <a:ext cx="2002536" cy="18288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Rectangle 4"/>
          <p:cNvSpPr/>
          <p:nvPr/>
        </p:nvSpPr>
        <p:spPr>
          <a:xfrm>
            <a:off x="640080" y="1645920"/>
            <a:ext cx="73154" cy="1828802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TextBox 5"/>
          <p:cNvSpPr txBox="1"/>
          <p:nvPr/>
        </p:nvSpPr>
        <p:spPr>
          <a:xfrm>
            <a:off x="886966" y="1773935"/>
            <a:ext cx="471149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O(1)</a:t>
            </a:r>
          </a:p>
        </p:txBody>
      </p:sp>
      <p:sp>
        <p:nvSpPr>
          <p:cNvPr id="147" name="TextBox 6"/>
          <p:cNvSpPr txBox="1"/>
          <p:nvPr/>
        </p:nvSpPr>
        <p:spPr>
          <a:xfrm>
            <a:off x="886966" y="2212849"/>
            <a:ext cx="1280315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Acceso por índice</a:t>
            </a:r>
          </a:p>
        </p:txBody>
      </p:sp>
      <p:sp>
        <p:nvSpPr>
          <p:cNvPr id="148" name="Rounded Rectangle 7"/>
          <p:cNvSpPr/>
          <p:nvPr/>
        </p:nvSpPr>
        <p:spPr>
          <a:xfrm>
            <a:off x="2871215" y="1645920"/>
            <a:ext cx="2002536" cy="18288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" name="Rectangle 8"/>
          <p:cNvSpPr/>
          <p:nvPr/>
        </p:nvSpPr>
        <p:spPr>
          <a:xfrm>
            <a:off x="2871215" y="1645920"/>
            <a:ext cx="73154" cy="182880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TextBox 9"/>
          <p:cNvSpPr txBox="1"/>
          <p:nvPr/>
        </p:nvSpPr>
        <p:spPr>
          <a:xfrm>
            <a:off x="3118103" y="1773935"/>
            <a:ext cx="778628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O(log n)</a:t>
            </a:r>
          </a:p>
        </p:txBody>
      </p:sp>
      <p:sp>
        <p:nvSpPr>
          <p:cNvPr id="151" name="TextBox 10"/>
          <p:cNvSpPr txBox="1"/>
          <p:nvPr/>
        </p:nvSpPr>
        <p:spPr>
          <a:xfrm>
            <a:off x="3118103" y="2212849"/>
            <a:ext cx="1269029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Búsqueda binaria</a:t>
            </a:r>
          </a:p>
        </p:txBody>
      </p:sp>
      <p:sp>
        <p:nvSpPr>
          <p:cNvPr id="152" name="Rounded Rectangle 11"/>
          <p:cNvSpPr/>
          <p:nvPr/>
        </p:nvSpPr>
        <p:spPr>
          <a:xfrm>
            <a:off x="5102352" y="1645920"/>
            <a:ext cx="2002538" cy="18288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Rectangle 12"/>
          <p:cNvSpPr/>
          <p:nvPr/>
        </p:nvSpPr>
        <p:spPr>
          <a:xfrm>
            <a:off x="5102352" y="1645920"/>
            <a:ext cx="73154" cy="182880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TextBox 13"/>
          <p:cNvSpPr txBox="1"/>
          <p:nvPr/>
        </p:nvSpPr>
        <p:spPr>
          <a:xfrm>
            <a:off x="5349240" y="1773935"/>
            <a:ext cx="477201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O(n)</a:t>
            </a:r>
          </a:p>
        </p:txBody>
      </p:sp>
      <p:sp>
        <p:nvSpPr>
          <p:cNvPr id="155" name="TextBox 14"/>
          <p:cNvSpPr txBox="1"/>
          <p:nvPr/>
        </p:nvSpPr>
        <p:spPr>
          <a:xfrm>
            <a:off x="5349240" y="2212849"/>
            <a:ext cx="1378343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Encontrar el mayor</a:t>
            </a:r>
          </a:p>
        </p:txBody>
      </p:sp>
      <p:sp>
        <p:nvSpPr>
          <p:cNvPr id="156" name="Rounded Rectangle 15"/>
          <p:cNvSpPr/>
          <p:nvPr/>
        </p:nvSpPr>
        <p:spPr>
          <a:xfrm>
            <a:off x="7333488" y="1645920"/>
            <a:ext cx="2002536" cy="18288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Rectangle 16"/>
          <p:cNvSpPr/>
          <p:nvPr/>
        </p:nvSpPr>
        <p:spPr>
          <a:xfrm>
            <a:off x="7333488" y="1645920"/>
            <a:ext cx="73154" cy="182880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extBox 17"/>
          <p:cNvSpPr txBox="1"/>
          <p:nvPr/>
        </p:nvSpPr>
        <p:spPr>
          <a:xfrm>
            <a:off x="7580376" y="1773935"/>
            <a:ext cx="933607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O(n log n)</a:t>
            </a:r>
          </a:p>
        </p:txBody>
      </p:sp>
      <p:sp>
        <p:nvSpPr>
          <p:cNvPr id="159" name="TextBox 18"/>
          <p:cNvSpPr txBox="1"/>
          <p:nvPr/>
        </p:nvSpPr>
        <p:spPr>
          <a:xfrm>
            <a:off x="7580376" y="2212849"/>
            <a:ext cx="854344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Merge Sort</a:t>
            </a:r>
          </a:p>
        </p:txBody>
      </p:sp>
      <p:sp>
        <p:nvSpPr>
          <p:cNvPr id="160" name="Rounded Rectangle 19"/>
          <p:cNvSpPr/>
          <p:nvPr/>
        </p:nvSpPr>
        <p:spPr>
          <a:xfrm>
            <a:off x="9564623" y="1645920"/>
            <a:ext cx="2002538" cy="18288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Rectangle 20"/>
          <p:cNvSpPr/>
          <p:nvPr/>
        </p:nvSpPr>
        <p:spPr>
          <a:xfrm>
            <a:off x="9564623" y="1645920"/>
            <a:ext cx="73154" cy="1828802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TextBox 21"/>
          <p:cNvSpPr txBox="1"/>
          <p:nvPr/>
        </p:nvSpPr>
        <p:spPr>
          <a:xfrm>
            <a:off x="9811511" y="1773935"/>
            <a:ext cx="545861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O(n²)</a:t>
            </a:r>
          </a:p>
        </p:txBody>
      </p:sp>
      <p:sp>
        <p:nvSpPr>
          <p:cNvPr id="163" name="TextBox 22"/>
          <p:cNvSpPr txBox="1"/>
          <p:nvPr/>
        </p:nvSpPr>
        <p:spPr>
          <a:xfrm>
            <a:off x="9811511" y="2212849"/>
            <a:ext cx="1399062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Rutas / Bubble Sort</a:t>
            </a:r>
          </a:p>
        </p:txBody>
      </p:sp>
      <p:pic>
        <p:nvPicPr>
          <p:cNvPr id="16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7" name="TextBox 2"/>
          <p:cNvSpPr txBox="1"/>
          <p:nvPr/>
        </p:nvSpPr>
        <p:spPr>
          <a:xfrm>
            <a:off x="640079" y="256032"/>
            <a:ext cx="3247835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Curvas de crecimiento</a:t>
            </a:r>
          </a:p>
        </p:txBody>
      </p:sp>
      <p:pic>
        <p:nvPicPr>
          <p:cNvPr id="16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80160" y="1143000"/>
            <a:ext cx="9601201" cy="52120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TextBox 2"/>
          <p:cNvSpPr txBox="1"/>
          <p:nvPr/>
        </p:nvSpPr>
        <p:spPr>
          <a:xfrm>
            <a:off x="640078" y="256032"/>
            <a:ext cx="3456623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O(1) · Acceso por índice</a:t>
            </a:r>
          </a:p>
        </p:txBody>
      </p:sp>
      <p:sp>
        <p:nvSpPr>
          <p:cNvPr id="172" name="Rounded Rectangle 4"/>
          <p:cNvSpPr/>
          <p:nvPr/>
        </p:nvSpPr>
        <p:spPr>
          <a:xfrm>
            <a:off x="594359" y="1325880"/>
            <a:ext cx="5212082" cy="35661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16A3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5"/>
          <p:cNvSpPr txBox="1"/>
          <p:nvPr/>
        </p:nvSpPr>
        <p:spPr>
          <a:xfrm>
            <a:off x="822958" y="1435608"/>
            <a:ext cx="1673923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0_encontrar_por_indice.py</a:t>
            </a:r>
          </a:p>
        </p:txBody>
      </p:sp>
      <p:sp>
        <p:nvSpPr>
          <p:cNvPr id="174" name="TextBox 6"/>
          <p:cNvSpPr txBox="1"/>
          <p:nvPr/>
        </p:nvSpPr>
        <p:spPr>
          <a:xfrm>
            <a:off x="841247" y="1801367"/>
            <a:ext cx="2481965" cy="48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elemento = lista[indice]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iteraciones += 1</a:t>
            </a:r>
          </a:p>
        </p:txBody>
      </p:sp>
      <p:sp>
        <p:nvSpPr>
          <p:cNvPr id="175" name="Rounded Rectangle 7"/>
          <p:cNvSpPr/>
          <p:nvPr/>
        </p:nvSpPr>
        <p:spPr>
          <a:xfrm>
            <a:off x="6126479" y="1325880"/>
            <a:ext cx="5212082" cy="1051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6" name="Rectangle 8"/>
          <p:cNvSpPr/>
          <p:nvPr/>
        </p:nvSpPr>
        <p:spPr>
          <a:xfrm>
            <a:off x="6126479" y="1325878"/>
            <a:ext cx="73154" cy="1051563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9"/>
          <p:cNvSpPr txBox="1"/>
          <p:nvPr/>
        </p:nvSpPr>
        <p:spPr>
          <a:xfrm>
            <a:off x="6373367" y="1453894"/>
            <a:ext cx="436949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n=6</a:t>
            </a:r>
          </a:p>
        </p:txBody>
      </p:sp>
      <p:sp>
        <p:nvSpPr>
          <p:cNvPr id="178" name="TextBox 10"/>
          <p:cNvSpPr txBox="1"/>
          <p:nvPr/>
        </p:nvSpPr>
        <p:spPr>
          <a:xfrm>
            <a:off x="6373367" y="1892806"/>
            <a:ext cx="200691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9" name="Rounded Rectangle 11"/>
          <p:cNvSpPr/>
          <p:nvPr/>
        </p:nvSpPr>
        <p:spPr>
          <a:xfrm>
            <a:off x="6126479" y="2651760"/>
            <a:ext cx="5212082" cy="1051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Rectangle 12"/>
          <p:cNvSpPr/>
          <p:nvPr/>
        </p:nvSpPr>
        <p:spPr>
          <a:xfrm>
            <a:off x="6126479" y="2651760"/>
            <a:ext cx="73154" cy="105156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TextBox 13"/>
          <p:cNvSpPr txBox="1"/>
          <p:nvPr/>
        </p:nvSpPr>
        <p:spPr>
          <a:xfrm>
            <a:off x="6373367" y="2779777"/>
            <a:ext cx="436949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n=7</a:t>
            </a:r>
          </a:p>
        </p:txBody>
      </p:sp>
      <p:sp>
        <p:nvSpPr>
          <p:cNvPr id="182" name="TextBox 14"/>
          <p:cNvSpPr txBox="1"/>
          <p:nvPr/>
        </p:nvSpPr>
        <p:spPr>
          <a:xfrm>
            <a:off x="6373367" y="3218688"/>
            <a:ext cx="200691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83" name="Rounded Rectangle 15"/>
          <p:cNvSpPr/>
          <p:nvPr/>
        </p:nvSpPr>
        <p:spPr>
          <a:xfrm>
            <a:off x="6126479" y="3977637"/>
            <a:ext cx="5212082" cy="10515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Rectangle 16"/>
          <p:cNvSpPr/>
          <p:nvPr/>
        </p:nvSpPr>
        <p:spPr>
          <a:xfrm>
            <a:off x="6126479" y="3977637"/>
            <a:ext cx="73154" cy="1051563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extBox 17"/>
          <p:cNvSpPr txBox="1"/>
          <p:nvPr/>
        </p:nvSpPr>
        <p:spPr>
          <a:xfrm>
            <a:off x="6373367" y="4105655"/>
            <a:ext cx="546375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n=11</a:t>
            </a:r>
          </a:p>
        </p:txBody>
      </p:sp>
      <p:sp>
        <p:nvSpPr>
          <p:cNvPr id="186" name="TextBox 18"/>
          <p:cNvSpPr txBox="1"/>
          <p:nvPr/>
        </p:nvSpPr>
        <p:spPr>
          <a:xfrm>
            <a:off x="6373367" y="4544568"/>
            <a:ext cx="200691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1</a:t>
            </a:r>
          </a:p>
        </p:txBody>
      </p:sp>
      <p:pic>
        <p:nvPicPr>
          <p:cNvPr id="18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TextBox 2"/>
          <p:cNvSpPr txBox="1"/>
          <p:nvPr/>
        </p:nvSpPr>
        <p:spPr>
          <a:xfrm>
            <a:off x="640079" y="256032"/>
            <a:ext cx="3681985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O(n) · Encontrar el mayor</a:t>
            </a:r>
          </a:p>
        </p:txBody>
      </p:sp>
      <p:sp>
        <p:nvSpPr>
          <p:cNvPr id="191" name="Rounded Rectangle 4"/>
          <p:cNvSpPr/>
          <p:nvPr/>
        </p:nvSpPr>
        <p:spPr>
          <a:xfrm>
            <a:off x="594359" y="1325880"/>
            <a:ext cx="5212082" cy="35661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" name="TextBox 5"/>
          <p:cNvSpPr txBox="1"/>
          <p:nvPr/>
        </p:nvSpPr>
        <p:spPr>
          <a:xfrm>
            <a:off x="822958" y="1435608"/>
            <a:ext cx="1658711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1_numero_mas_grande.py</a:t>
            </a:r>
          </a:p>
        </p:txBody>
      </p:sp>
      <p:sp>
        <p:nvSpPr>
          <p:cNvPr id="193" name="TextBox 6"/>
          <p:cNvSpPr txBox="1"/>
          <p:nvPr/>
        </p:nvSpPr>
        <p:spPr>
          <a:xfrm>
            <a:off x="841247" y="1801367"/>
            <a:ext cx="2481965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elemento in lista: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iteraciones += 1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elemento &gt; mayor: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mayor = elemento</a:t>
            </a:r>
          </a:p>
        </p:txBody>
      </p:sp>
      <p:sp>
        <p:nvSpPr>
          <p:cNvPr id="194" name="Rounded Rectangle 7"/>
          <p:cNvSpPr/>
          <p:nvPr/>
        </p:nvSpPr>
        <p:spPr>
          <a:xfrm>
            <a:off x="6126479" y="1325880"/>
            <a:ext cx="5212082" cy="1051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5" name="Rectangle 8"/>
          <p:cNvSpPr/>
          <p:nvPr/>
        </p:nvSpPr>
        <p:spPr>
          <a:xfrm>
            <a:off x="6126479" y="1325878"/>
            <a:ext cx="73154" cy="1051563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6" name="TextBox 9"/>
          <p:cNvSpPr txBox="1"/>
          <p:nvPr/>
        </p:nvSpPr>
        <p:spPr>
          <a:xfrm>
            <a:off x="6373367" y="1453894"/>
            <a:ext cx="436949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n=6</a:t>
            </a:r>
          </a:p>
        </p:txBody>
      </p:sp>
      <p:sp>
        <p:nvSpPr>
          <p:cNvPr id="197" name="TextBox 10"/>
          <p:cNvSpPr txBox="1"/>
          <p:nvPr/>
        </p:nvSpPr>
        <p:spPr>
          <a:xfrm>
            <a:off x="6373367" y="1892806"/>
            <a:ext cx="200691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98" name="Rounded Rectangle 11"/>
          <p:cNvSpPr/>
          <p:nvPr/>
        </p:nvSpPr>
        <p:spPr>
          <a:xfrm>
            <a:off x="6126479" y="2651760"/>
            <a:ext cx="5212082" cy="1051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Rectangle 12"/>
          <p:cNvSpPr/>
          <p:nvPr/>
        </p:nvSpPr>
        <p:spPr>
          <a:xfrm>
            <a:off x="6126479" y="2651760"/>
            <a:ext cx="73154" cy="105156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" name="TextBox 13"/>
          <p:cNvSpPr txBox="1"/>
          <p:nvPr/>
        </p:nvSpPr>
        <p:spPr>
          <a:xfrm>
            <a:off x="6373367" y="2779777"/>
            <a:ext cx="436949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n=7</a:t>
            </a:r>
          </a:p>
        </p:txBody>
      </p:sp>
      <p:sp>
        <p:nvSpPr>
          <p:cNvPr id="201" name="TextBox 14"/>
          <p:cNvSpPr txBox="1"/>
          <p:nvPr/>
        </p:nvSpPr>
        <p:spPr>
          <a:xfrm>
            <a:off x="6373367" y="3218688"/>
            <a:ext cx="200691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02" name="Rounded Rectangle 15"/>
          <p:cNvSpPr/>
          <p:nvPr/>
        </p:nvSpPr>
        <p:spPr>
          <a:xfrm>
            <a:off x="6126479" y="3977637"/>
            <a:ext cx="5212082" cy="10515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Rectangle 16"/>
          <p:cNvSpPr/>
          <p:nvPr/>
        </p:nvSpPr>
        <p:spPr>
          <a:xfrm>
            <a:off x="6126479" y="3977637"/>
            <a:ext cx="73154" cy="1051563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" name="TextBox 17"/>
          <p:cNvSpPr txBox="1"/>
          <p:nvPr/>
        </p:nvSpPr>
        <p:spPr>
          <a:xfrm>
            <a:off x="6373367" y="4105655"/>
            <a:ext cx="546375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n=11</a:t>
            </a:r>
          </a:p>
        </p:txBody>
      </p:sp>
      <p:sp>
        <p:nvSpPr>
          <p:cNvPr id="205" name="TextBox 18"/>
          <p:cNvSpPr txBox="1"/>
          <p:nvPr/>
        </p:nvSpPr>
        <p:spPr>
          <a:xfrm>
            <a:off x="6373367" y="4544568"/>
            <a:ext cx="297243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11</a:t>
            </a:r>
          </a:p>
        </p:txBody>
      </p:sp>
      <p:pic>
        <p:nvPicPr>
          <p:cNvPr id="20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" name="TextBox 2"/>
          <p:cNvSpPr txBox="1"/>
          <p:nvPr/>
        </p:nvSpPr>
        <p:spPr>
          <a:xfrm>
            <a:off x="640078" y="256032"/>
            <a:ext cx="3054620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O(n²) · Generar rutas</a:t>
            </a:r>
          </a:p>
        </p:txBody>
      </p:sp>
      <p:sp>
        <p:nvSpPr>
          <p:cNvPr id="210" name="Rounded Rectangle 4"/>
          <p:cNvSpPr/>
          <p:nvPr/>
        </p:nvSpPr>
        <p:spPr>
          <a:xfrm>
            <a:off x="594359" y="1325880"/>
            <a:ext cx="5212082" cy="35661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EA580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" name="TextBox 5"/>
          <p:cNvSpPr txBox="1"/>
          <p:nvPr/>
        </p:nvSpPr>
        <p:spPr>
          <a:xfrm>
            <a:off x="822958" y="1435608"/>
            <a:ext cx="1233745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2_generar_rutas.py</a:t>
            </a:r>
          </a:p>
        </p:txBody>
      </p:sp>
      <p:sp>
        <p:nvSpPr>
          <p:cNvPr id="212" name="TextBox 6"/>
          <p:cNvSpPr txBox="1"/>
          <p:nvPr/>
        </p:nvSpPr>
        <p:spPr>
          <a:xfrm>
            <a:off x="841247" y="1801367"/>
            <a:ext cx="2581042" cy="688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origen in rutas: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for destino in rutas: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iteraciones += 1</a:t>
            </a:r>
          </a:p>
        </p:txBody>
      </p:sp>
      <p:sp>
        <p:nvSpPr>
          <p:cNvPr id="213" name="Rounded Rectangle 7"/>
          <p:cNvSpPr/>
          <p:nvPr/>
        </p:nvSpPr>
        <p:spPr>
          <a:xfrm>
            <a:off x="6126479" y="1325880"/>
            <a:ext cx="5212082" cy="1051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4" name="Rectangle 8"/>
          <p:cNvSpPr/>
          <p:nvPr/>
        </p:nvSpPr>
        <p:spPr>
          <a:xfrm>
            <a:off x="6126479" y="1325878"/>
            <a:ext cx="73154" cy="1051563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5" name="TextBox 9"/>
          <p:cNvSpPr txBox="1"/>
          <p:nvPr/>
        </p:nvSpPr>
        <p:spPr>
          <a:xfrm>
            <a:off x="6373367" y="1453894"/>
            <a:ext cx="436949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n=2</a:t>
            </a:r>
          </a:p>
        </p:txBody>
      </p:sp>
      <p:sp>
        <p:nvSpPr>
          <p:cNvPr id="216" name="TextBox 10"/>
          <p:cNvSpPr txBox="1"/>
          <p:nvPr/>
        </p:nvSpPr>
        <p:spPr>
          <a:xfrm>
            <a:off x="6373367" y="1892806"/>
            <a:ext cx="200691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17" name="Rounded Rectangle 11"/>
          <p:cNvSpPr/>
          <p:nvPr/>
        </p:nvSpPr>
        <p:spPr>
          <a:xfrm>
            <a:off x="6126479" y="2651760"/>
            <a:ext cx="5212082" cy="1051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Rectangle 12"/>
          <p:cNvSpPr/>
          <p:nvPr/>
        </p:nvSpPr>
        <p:spPr>
          <a:xfrm>
            <a:off x="6126479" y="2651760"/>
            <a:ext cx="73154" cy="105156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9" name="TextBox 13"/>
          <p:cNvSpPr txBox="1"/>
          <p:nvPr/>
        </p:nvSpPr>
        <p:spPr>
          <a:xfrm>
            <a:off x="6373367" y="2779777"/>
            <a:ext cx="436949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n=3</a:t>
            </a:r>
          </a:p>
        </p:txBody>
      </p:sp>
      <p:sp>
        <p:nvSpPr>
          <p:cNvPr id="220" name="TextBox 14"/>
          <p:cNvSpPr txBox="1"/>
          <p:nvPr/>
        </p:nvSpPr>
        <p:spPr>
          <a:xfrm>
            <a:off x="6373367" y="3218688"/>
            <a:ext cx="200691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21" name="Rounded Rectangle 15"/>
          <p:cNvSpPr/>
          <p:nvPr/>
        </p:nvSpPr>
        <p:spPr>
          <a:xfrm>
            <a:off x="6126479" y="3977637"/>
            <a:ext cx="5212082" cy="10515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" name="Rectangle 16"/>
          <p:cNvSpPr/>
          <p:nvPr/>
        </p:nvSpPr>
        <p:spPr>
          <a:xfrm>
            <a:off x="6126479" y="3977637"/>
            <a:ext cx="73154" cy="1051563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3" name="TextBox 17"/>
          <p:cNvSpPr txBox="1"/>
          <p:nvPr/>
        </p:nvSpPr>
        <p:spPr>
          <a:xfrm>
            <a:off x="6373367" y="4105655"/>
            <a:ext cx="436949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n=4</a:t>
            </a:r>
          </a:p>
        </p:txBody>
      </p:sp>
      <p:sp>
        <p:nvSpPr>
          <p:cNvPr id="224" name="TextBox 18"/>
          <p:cNvSpPr txBox="1"/>
          <p:nvPr/>
        </p:nvSpPr>
        <p:spPr>
          <a:xfrm>
            <a:off x="6373367" y="4544568"/>
            <a:ext cx="297243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16</a:t>
            </a:r>
          </a:p>
        </p:txBody>
      </p:sp>
      <p:pic>
        <p:nvPicPr>
          <p:cNvPr id="22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8" name="TextBox 2"/>
          <p:cNvSpPr txBox="1"/>
          <p:nvPr/>
        </p:nvSpPr>
        <p:spPr>
          <a:xfrm>
            <a:off x="640079" y="256032"/>
            <a:ext cx="2762116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O(n²) · Bubble Sort</a:t>
            </a:r>
          </a:p>
        </p:txBody>
      </p:sp>
      <p:sp>
        <p:nvSpPr>
          <p:cNvPr id="229" name="Rounded Rectangle 4"/>
          <p:cNvSpPr/>
          <p:nvPr/>
        </p:nvSpPr>
        <p:spPr>
          <a:xfrm>
            <a:off x="594359" y="1325880"/>
            <a:ext cx="5212082" cy="35661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EA580C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0" name="TextBox 5"/>
          <p:cNvSpPr txBox="1"/>
          <p:nvPr/>
        </p:nvSpPr>
        <p:spPr>
          <a:xfrm>
            <a:off x="822958" y="1435608"/>
            <a:ext cx="1125218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3_bubble_sort.py</a:t>
            </a:r>
          </a:p>
        </p:txBody>
      </p:sp>
      <p:sp>
        <p:nvSpPr>
          <p:cNvPr id="231" name="TextBox 6"/>
          <p:cNvSpPr txBox="1"/>
          <p:nvPr/>
        </p:nvSpPr>
        <p:spPr>
          <a:xfrm>
            <a:off x="841246" y="1801367"/>
            <a:ext cx="3373651" cy="688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pasada in range(n):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for posicion in range(n - 1):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iteraciones += 1</a:t>
            </a:r>
          </a:p>
        </p:txBody>
      </p:sp>
      <p:sp>
        <p:nvSpPr>
          <p:cNvPr id="232" name="Rounded Rectangle 7"/>
          <p:cNvSpPr/>
          <p:nvPr/>
        </p:nvSpPr>
        <p:spPr>
          <a:xfrm>
            <a:off x="6126479" y="1325880"/>
            <a:ext cx="5212082" cy="1051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3" name="Rectangle 8"/>
          <p:cNvSpPr/>
          <p:nvPr/>
        </p:nvSpPr>
        <p:spPr>
          <a:xfrm>
            <a:off x="6126479" y="1325878"/>
            <a:ext cx="73154" cy="1051563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9"/>
          <p:cNvSpPr txBox="1"/>
          <p:nvPr/>
        </p:nvSpPr>
        <p:spPr>
          <a:xfrm>
            <a:off x="6373367" y="1453894"/>
            <a:ext cx="436949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n=6</a:t>
            </a:r>
          </a:p>
        </p:txBody>
      </p:sp>
      <p:sp>
        <p:nvSpPr>
          <p:cNvPr id="235" name="TextBox 10"/>
          <p:cNvSpPr txBox="1"/>
          <p:nvPr/>
        </p:nvSpPr>
        <p:spPr>
          <a:xfrm>
            <a:off x="6373367" y="1892806"/>
            <a:ext cx="297243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30</a:t>
            </a:r>
          </a:p>
        </p:txBody>
      </p:sp>
      <p:sp>
        <p:nvSpPr>
          <p:cNvPr id="236" name="Rounded Rectangle 11"/>
          <p:cNvSpPr/>
          <p:nvPr/>
        </p:nvSpPr>
        <p:spPr>
          <a:xfrm>
            <a:off x="6126479" y="2651760"/>
            <a:ext cx="5212082" cy="1051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7" name="Rectangle 12"/>
          <p:cNvSpPr/>
          <p:nvPr/>
        </p:nvSpPr>
        <p:spPr>
          <a:xfrm>
            <a:off x="6126479" y="2651760"/>
            <a:ext cx="73154" cy="105156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8" name="TextBox 13"/>
          <p:cNvSpPr txBox="1"/>
          <p:nvPr/>
        </p:nvSpPr>
        <p:spPr>
          <a:xfrm>
            <a:off x="6373367" y="2779777"/>
            <a:ext cx="436949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n=7</a:t>
            </a:r>
          </a:p>
        </p:txBody>
      </p:sp>
      <p:sp>
        <p:nvSpPr>
          <p:cNvPr id="239" name="TextBox 14"/>
          <p:cNvSpPr txBox="1"/>
          <p:nvPr/>
        </p:nvSpPr>
        <p:spPr>
          <a:xfrm>
            <a:off x="6373367" y="3218688"/>
            <a:ext cx="297243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42</a:t>
            </a:r>
          </a:p>
        </p:txBody>
      </p:sp>
      <p:sp>
        <p:nvSpPr>
          <p:cNvPr id="240" name="Rounded Rectangle 15"/>
          <p:cNvSpPr/>
          <p:nvPr/>
        </p:nvSpPr>
        <p:spPr>
          <a:xfrm>
            <a:off x="6126479" y="3977637"/>
            <a:ext cx="5212082" cy="10515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1" name="Rectangle 16"/>
          <p:cNvSpPr/>
          <p:nvPr/>
        </p:nvSpPr>
        <p:spPr>
          <a:xfrm>
            <a:off x="6126479" y="3977637"/>
            <a:ext cx="73154" cy="1051563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2" name="TextBox 17"/>
          <p:cNvSpPr txBox="1"/>
          <p:nvPr/>
        </p:nvSpPr>
        <p:spPr>
          <a:xfrm>
            <a:off x="6373367" y="4105655"/>
            <a:ext cx="546375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n=11</a:t>
            </a:r>
          </a:p>
        </p:txBody>
      </p:sp>
      <p:sp>
        <p:nvSpPr>
          <p:cNvPr id="243" name="TextBox 18"/>
          <p:cNvSpPr txBox="1"/>
          <p:nvPr/>
        </p:nvSpPr>
        <p:spPr>
          <a:xfrm>
            <a:off x="6373367" y="4544568"/>
            <a:ext cx="393795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110</a:t>
            </a:r>
          </a:p>
        </p:txBody>
      </p:sp>
      <p:pic>
        <p:nvPicPr>
          <p:cNvPr id="24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" name="TextBox 2"/>
          <p:cNvSpPr txBox="1"/>
          <p:nvPr/>
        </p:nvSpPr>
        <p:spPr>
          <a:xfrm>
            <a:off x="640078" y="256032"/>
            <a:ext cx="3970471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O(log n) · Búsqueda binaria</a:t>
            </a:r>
          </a:p>
        </p:txBody>
      </p:sp>
      <p:sp>
        <p:nvSpPr>
          <p:cNvPr id="248" name="Rounded Rectangle 4"/>
          <p:cNvSpPr/>
          <p:nvPr/>
        </p:nvSpPr>
        <p:spPr>
          <a:xfrm>
            <a:off x="594359" y="1325880"/>
            <a:ext cx="5212082" cy="35661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9" name="TextBox 5"/>
          <p:cNvSpPr txBox="1"/>
          <p:nvPr/>
        </p:nvSpPr>
        <p:spPr>
          <a:xfrm>
            <a:off x="822958" y="1435608"/>
            <a:ext cx="1467783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4_busqueda_binaria.py</a:t>
            </a:r>
          </a:p>
        </p:txBody>
      </p:sp>
      <p:sp>
        <p:nvSpPr>
          <p:cNvPr id="250" name="TextBox 6"/>
          <p:cNvSpPr txBox="1"/>
          <p:nvPr/>
        </p:nvSpPr>
        <p:spPr>
          <a:xfrm>
            <a:off x="841247" y="1801367"/>
            <a:ext cx="3869031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while izquierda &lt;= derecha: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iteraciones += 1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mitad = (izquierda + derecha) // 2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descartamos ~la mitad</a:t>
            </a:r>
          </a:p>
        </p:txBody>
      </p:sp>
      <p:sp>
        <p:nvSpPr>
          <p:cNvPr id="251" name="Rounded Rectangle 7"/>
          <p:cNvSpPr/>
          <p:nvPr/>
        </p:nvSpPr>
        <p:spPr>
          <a:xfrm>
            <a:off x="6126479" y="1325880"/>
            <a:ext cx="5212082" cy="1051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2" name="Rectangle 8"/>
          <p:cNvSpPr/>
          <p:nvPr/>
        </p:nvSpPr>
        <p:spPr>
          <a:xfrm>
            <a:off x="6126479" y="1325878"/>
            <a:ext cx="73154" cy="1051563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3" name="TextBox 9"/>
          <p:cNvSpPr txBox="1"/>
          <p:nvPr/>
        </p:nvSpPr>
        <p:spPr>
          <a:xfrm>
            <a:off x="6373367" y="1453894"/>
            <a:ext cx="646419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Visual</a:t>
            </a:r>
          </a:p>
        </p:txBody>
      </p:sp>
      <p:sp>
        <p:nvSpPr>
          <p:cNvPr id="254" name="TextBox 10"/>
          <p:cNvSpPr txBox="1"/>
          <p:nvPr/>
        </p:nvSpPr>
        <p:spPr>
          <a:xfrm>
            <a:off x="6373367" y="1892806"/>
            <a:ext cx="1738830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32→16→8→4→2→1</a:t>
            </a:r>
          </a:p>
        </p:txBody>
      </p:sp>
      <p:sp>
        <p:nvSpPr>
          <p:cNvPr id="255" name="Rounded Rectangle 11"/>
          <p:cNvSpPr/>
          <p:nvPr/>
        </p:nvSpPr>
        <p:spPr>
          <a:xfrm>
            <a:off x="6126479" y="2651760"/>
            <a:ext cx="5212082" cy="1051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6" name="Rectangle 12"/>
          <p:cNvSpPr/>
          <p:nvPr/>
        </p:nvSpPr>
        <p:spPr>
          <a:xfrm>
            <a:off x="6126479" y="2651760"/>
            <a:ext cx="73154" cy="105156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7" name="TextBox 13"/>
          <p:cNvSpPr txBox="1"/>
          <p:nvPr/>
        </p:nvSpPr>
        <p:spPr>
          <a:xfrm>
            <a:off x="6373367" y="2779777"/>
            <a:ext cx="492822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Idea</a:t>
            </a:r>
          </a:p>
        </p:txBody>
      </p:sp>
      <p:sp>
        <p:nvSpPr>
          <p:cNvPr id="258" name="TextBox 14"/>
          <p:cNvSpPr txBox="1"/>
          <p:nvPr/>
        </p:nvSpPr>
        <p:spPr>
          <a:xfrm>
            <a:off x="6373367" y="3218688"/>
            <a:ext cx="2399626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Dividir repetidamente entre 2</a:t>
            </a:r>
          </a:p>
        </p:txBody>
      </p:sp>
      <p:sp>
        <p:nvSpPr>
          <p:cNvPr id="259" name="Rounded Rectangle 15"/>
          <p:cNvSpPr/>
          <p:nvPr/>
        </p:nvSpPr>
        <p:spPr>
          <a:xfrm>
            <a:off x="6126479" y="3977637"/>
            <a:ext cx="5212082" cy="10515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0" name="Rectangle 16"/>
          <p:cNvSpPr/>
          <p:nvPr/>
        </p:nvSpPr>
        <p:spPr>
          <a:xfrm>
            <a:off x="6126479" y="3977637"/>
            <a:ext cx="73154" cy="1051563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1" name="TextBox 17"/>
          <p:cNvSpPr txBox="1"/>
          <p:nvPr/>
        </p:nvSpPr>
        <p:spPr>
          <a:xfrm>
            <a:off x="6373367" y="4105655"/>
            <a:ext cx="943914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Requisito</a:t>
            </a:r>
          </a:p>
        </p:txBody>
      </p:sp>
      <p:sp>
        <p:nvSpPr>
          <p:cNvPr id="262" name="TextBox 18"/>
          <p:cNvSpPr txBox="1"/>
          <p:nvPr/>
        </p:nvSpPr>
        <p:spPr>
          <a:xfrm>
            <a:off x="6373367" y="4544568"/>
            <a:ext cx="1237930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Lista ordenada</a:t>
            </a:r>
          </a:p>
        </p:txBody>
      </p:sp>
      <p:pic>
        <p:nvPicPr>
          <p:cNvPr id="263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6" name="TextBox 2"/>
          <p:cNvSpPr txBox="1"/>
          <p:nvPr/>
        </p:nvSpPr>
        <p:spPr>
          <a:xfrm>
            <a:off x="640078" y="256032"/>
            <a:ext cx="3337077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O(n log n) · Merge Sort</a:t>
            </a:r>
          </a:p>
        </p:txBody>
      </p:sp>
      <p:sp>
        <p:nvSpPr>
          <p:cNvPr id="267" name="Rounded Rectangle 4"/>
          <p:cNvSpPr/>
          <p:nvPr/>
        </p:nvSpPr>
        <p:spPr>
          <a:xfrm>
            <a:off x="594359" y="1325880"/>
            <a:ext cx="5212082" cy="356616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7C3AE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8" name="TextBox 5"/>
          <p:cNvSpPr txBox="1"/>
          <p:nvPr/>
        </p:nvSpPr>
        <p:spPr>
          <a:xfrm>
            <a:off x="822958" y="1435608"/>
            <a:ext cx="1087769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5_merge_sort.py</a:t>
            </a:r>
          </a:p>
        </p:txBody>
      </p:sp>
      <p:sp>
        <p:nvSpPr>
          <p:cNvPr id="269" name="TextBox 6"/>
          <p:cNvSpPr txBox="1"/>
          <p:nvPr/>
        </p:nvSpPr>
        <p:spPr>
          <a:xfrm>
            <a:off x="841247" y="1801367"/>
            <a:ext cx="1887509" cy="1308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dividir a la mitad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ordenar cada mitad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mezclar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niveles ≈ log₂(n)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trabajo/nivel ≈ n</a:t>
            </a:r>
          </a:p>
        </p:txBody>
      </p:sp>
      <p:sp>
        <p:nvSpPr>
          <p:cNvPr id="270" name="Rounded Rectangle 7"/>
          <p:cNvSpPr/>
          <p:nvPr/>
        </p:nvSpPr>
        <p:spPr>
          <a:xfrm>
            <a:off x="6126479" y="1325880"/>
            <a:ext cx="5212082" cy="1051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1" name="Rectangle 8"/>
          <p:cNvSpPr/>
          <p:nvPr/>
        </p:nvSpPr>
        <p:spPr>
          <a:xfrm>
            <a:off x="6126479" y="1325878"/>
            <a:ext cx="73154" cy="1051563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2" name="TextBox 9"/>
          <p:cNvSpPr txBox="1"/>
          <p:nvPr/>
        </p:nvSpPr>
        <p:spPr>
          <a:xfrm>
            <a:off x="6373367" y="1453894"/>
            <a:ext cx="436949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n=4</a:t>
            </a:r>
          </a:p>
        </p:txBody>
      </p:sp>
      <p:sp>
        <p:nvSpPr>
          <p:cNvPr id="273" name="TextBox 10"/>
          <p:cNvSpPr txBox="1"/>
          <p:nvPr/>
        </p:nvSpPr>
        <p:spPr>
          <a:xfrm>
            <a:off x="6373367" y="1892806"/>
            <a:ext cx="200691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74" name="Rounded Rectangle 11"/>
          <p:cNvSpPr/>
          <p:nvPr/>
        </p:nvSpPr>
        <p:spPr>
          <a:xfrm>
            <a:off x="6126479" y="2651760"/>
            <a:ext cx="5212082" cy="1051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5" name="Rectangle 12"/>
          <p:cNvSpPr/>
          <p:nvPr/>
        </p:nvSpPr>
        <p:spPr>
          <a:xfrm>
            <a:off x="6126479" y="2651760"/>
            <a:ext cx="73154" cy="105156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TextBox 13"/>
          <p:cNvSpPr txBox="1"/>
          <p:nvPr/>
        </p:nvSpPr>
        <p:spPr>
          <a:xfrm>
            <a:off x="6373367" y="2779777"/>
            <a:ext cx="436949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n=8</a:t>
            </a:r>
          </a:p>
        </p:txBody>
      </p:sp>
      <p:sp>
        <p:nvSpPr>
          <p:cNvPr id="277" name="TextBox 14"/>
          <p:cNvSpPr txBox="1"/>
          <p:nvPr/>
        </p:nvSpPr>
        <p:spPr>
          <a:xfrm>
            <a:off x="6373367" y="3218688"/>
            <a:ext cx="297243" cy="27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278" name="Rounded Rectangle 15"/>
          <p:cNvSpPr/>
          <p:nvPr/>
        </p:nvSpPr>
        <p:spPr>
          <a:xfrm>
            <a:off x="6126479" y="3977637"/>
            <a:ext cx="5212082" cy="105156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Rectangle 16"/>
          <p:cNvSpPr/>
          <p:nvPr/>
        </p:nvSpPr>
        <p:spPr>
          <a:xfrm>
            <a:off x="6126479" y="3977637"/>
            <a:ext cx="73154" cy="1051563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0" name="TextBox 17"/>
          <p:cNvSpPr txBox="1"/>
          <p:nvPr/>
        </p:nvSpPr>
        <p:spPr>
          <a:xfrm>
            <a:off x="6373367" y="4105655"/>
            <a:ext cx="546375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n=16</a:t>
            </a:r>
          </a:p>
        </p:txBody>
      </p:sp>
      <p:sp>
        <p:nvSpPr>
          <p:cNvPr id="281" name="TextBox 18"/>
          <p:cNvSpPr txBox="1"/>
          <p:nvPr/>
        </p:nvSpPr>
        <p:spPr>
          <a:xfrm>
            <a:off x="6373367" y="4544568"/>
            <a:ext cx="297243" cy="277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500">
                <a:solidFill>
                  <a:srgbClr val="475569"/>
                </a:solidFill>
              </a:defRPr>
            </a:lvl1pPr>
          </a:lstStyle>
          <a:p>
            <a:pPr/>
            <a:r>
              <a:t>64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4" name="TextBox 2"/>
          <p:cNvSpPr txBox="1"/>
          <p:nvPr/>
        </p:nvSpPr>
        <p:spPr>
          <a:xfrm>
            <a:off x="640079" y="256032"/>
            <a:ext cx="3900986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Bubble Sort vs. Merge Sort</a:t>
            </a:r>
          </a:p>
        </p:txBody>
      </p:sp>
      <p:sp>
        <p:nvSpPr>
          <p:cNvPr id="285" name="TextBox 3"/>
          <p:cNvSpPr txBox="1"/>
          <p:nvPr/>
        </p:nvSpPr>
        <p:spPr>
          <a:xfrm>
            <a:off x="658366" y="859536"/>
            <a:ext cx="3251408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Mismo problema; distinta estrategia y crecimiento.</a:t>
            </a:r>
          </a:p>
        </p:txBody>
      </p:sp>
      <p:sp>
        <p:nvSpPr>
          <p:cNvPr id="286" name="Rounded Rectangle 4"/>
          <p:cNvSpPr/>
          <p:nvPr/>
        </p:nvSpPr>
        <p:spPr>
          <a:xfrm>
            <a:off x="640080" y="1417319"/>
            <a:ext cx="3489960" cy="28346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Rectangle 5"/>
          <p:cNvSpPr/>
          <p:nvPr/>
        </p:nvSpPr>
        <p:spPr>
          <a:xfrm>
            <a:off x="640080" y="1417319"/>
            <a:ext cx="73154" cy="2834641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8" name="TextBox 6"/>
          <p:cNvSpPr txBox="1"/>
          <p:nvPr/>
        </p:nvSpPr>
        <p:spPr>
          <a:xfrm>
            <a:off x="886966" y="1545336"/>
            <a:ext cx="1091267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Bubble Sort</a:t>
            </a:r>
          </a:p>
        </p:txBody>
      </p:sp>
      <p:sp>
        <p:nvSpPr>
          <p:cNvPr id="289" name="TextBox 7"/>
          <p:cNvSpPr txBox="1"/>
          <p:nvPr/>
        </p:nvSpPr>
        <p:spPr>
          <a:xfrm>
            <a:off x="886966" y="1984249"/>
            <a:ext cx="2182803" cy="461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O(n²)</a:t>
            </a:r>
            <a:br/>
            <a:r>
              <a:t>n=1,000 → orden de 1,000,000</a:t>
            </a:r>
          </a:p>
        </p:txBody>
      </p:sp>
      <p:sp>
        <p:nvSpPr>
          <p:cNvPr id="290" name="Rounded Rectangle 8"/>
          <p:cNvSpPr/>
          <p:nvPr/>
        </p:nvSpPr>
        <p:spPr>
          <a:xfrm>
            <a:off x="4358640" y="1417319"/>
            <a:ext cx="3489960" cy="28346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1" name="Rectangle 9"/>
          <p:cNvSpPr/>
          <p:nvPr/>
        </p:nvSpPr>
        <p:spPr>
          <a:xfrm>
            <a:off x="4358640" y="1417319"/>
            <a:ext cx="73154" cy="283464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TextBox 10"/>
          <p:cNvSpPr txBox="1"/>
          <p:nvPr/>
        </p:nvSpPr>
        <p:spPr>
          <a:xfrm>
            <a:off x="4605528" y="1545336"/>
            <a:ext cx="1044236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Merge Sort</a:t>
            </a:r>
          </a:p>
        </p:txBody>
      </p:sp>
      <p:sp>
        <p:nvSpPr>
          <p:cNvPr id="293" name="TextBox 11"/>
          <p:cNvSpPr txBox="1"/>
          <p:nvPr/>
        </p:nvSpPr>
        <p:spPr>
          <a:xfrm>
            <a:off x="4605528" y="1984249"/>
            <a:ext cx="2056478" cy="461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O(n log n)</a:t>
            </a:r>
            <a:br/>
            <a:r>
              <a:t>n=1,000 → orden de ~10,000</a:t>
            </a:r>
          </a:p>
        </p:txBody>
      </p:sp>
      <p:sp>
        <p:nvSpPr>
          <p:cNvPr id="294" name="Rounded Rectangle 12"/>
          <p:cNvSpPr/>
          <p:nvPr/>
        </p:nvSpPr>
        <p:spPr>
          <a:xfrm>
            <a:off x="8077199" y="1417319"/>
            <a:ext cx="3489962" cy="283464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5" name="Rectangle 13"/>
          <p:cNvSpPr/>
          <p:nvPr/>
        </p:nvSpPr>
        <p:spPr>
          <a:xfrm>
            <a:off x="8077199" y="1417319"/>
            <a:ext cx="73154" cy="2834641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6" name="TextBox 14"/>
          <p:cNvSpPr txBox="1"/>
          <p:nvPr/>
        </p:nvSpPr>
        <p:spPr>
          <a:xfrm>
            <a:off x="8324085" y="1545336"/>
            <a:ext cx="730606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Lección</a:t>
            </a:r>
          </a:p>
        </p:txBody>
      </p:sp>
      <p:sp>
        <p:nvSpPr>
          <p:cNvPr id="297" name="TextBox 15"/>
          <p:cNvSpPr txBox="1"/>
          <p:nvPr/>
        </p:nvSpPr>
        <p:spPr>
          <a:xfrm>
            <a:off x="8324085" y="1984249"/>
            <a:ext cx="2034149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La diferencia aumenta con 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0" name="TextBox 2"/>
          <p:cNvSpPr txBox="1"/>
          <p:nvPr/>
        </p:nvSpPr>
        <p:spPr>
          <a:xfrm>
            <a:off x="640078" y="256032"/>
            <a:ext cx="4970205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Cómo identificar Big O: guía inicial</a:t>
            </a:r>
          </a:p>
        </p:txBody>
      </p:sp>
      <p:sp>
        <p:nvSpPr>
          <p:cNvPr id="301" name="Rounded Rectangle 3"/>
          <p:cNvSpPr/>
          <p:nvPr/>
        </p:nvSpPr>
        <p:spPr>
          <a:xfrm>
            <a:off x="640080" y="1371600"/>
            <a:ext cx="348996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Rectangle 4"/>
          <p:cNvSpPr/>
          <p:nvPr/>
        </p:nvSpPr>
        <p:spPr>
          <a:xfrm>
            <a:off x="640080" y="1371600"/>
            <a:ext cx="73154" cy="1828800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TextBox 5"/>
          <p:cNvSpPr txBox="1"/>
          <p:nvPr/>
        </p:nvSpPr>
        <p:spPr>
          <a:xfrm>
            <a:off x="886966" y="1499616"/>
            <a:ext cx="207129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04" name="TextBox 6"/>
          <p:cNvSpPr txBox="1"/>
          <p:nvPr/>
        </p:nvSpPr>
        <p:spPr>
          <a:xfrm>
            <a:off x="886966" y="1938527"/>
            <a:ext cx="709318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Define n.</a:t>
            </a:r>
          </a:p>
        </p:txBody>
      </p:sp>
      <p:sp>
        <p:nvSpPr>
          <p:cNvPr id="305" name="Rounded Rectangle 7"/>
          <p:cNvSpPr/>
          <p:nvPr/>
        </p:nvSpPr>
        <p:spPr>
          <a:xfrm>
            <a:off x="4358640" y="1371600"/>
            <a:ext cx="348996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Rectangle 8"/>
          <p:cNvSpPr/>
          <p:nvPr/>
        </p:nvSpPr>
        <p:spPr>
          <a:xfrm>
            <a:off x="4358640" y="1371600"/>
            <a:ext cx="73154" cy="1828800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TextBox 9"/>
          <p:cNvSpPr txBox="1"/>
          <p:nvPr/>
        </p:nvSpPr>
        <p:spPr>
          <a:xfrm>
            <a:off x="4605528" y="1499616"/>
            <a:ext cx="207128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08" name="TextBox 10"/>
          <p:cNvSpPr txBox="1"/>
          <p:nvPr/>
        </p:nvSpPr>
        <p:spPr>
          <a:xfrm>
            <a:off x="4605528" y="1938527"/>
            <a:ext cx="2223191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Busca ciclos dependientes de n.</a:t>
            </a:r>
          </a:p>
        </p:txBody>
      </p:sp>
      <p:sp>
        <p:nvSpPr>
          <p:cNvPr id="309" name="Rounded Rectangle 11"/>
          <p:cNvSpPr/>
          <p:nvPr/>
        </p:nvSpPr>
        <p:spPr>
          <a:xfrm>
            <a:off x="8077199" y="1371600"/>
            <a:ext cx="3489962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Rectangle 12"/>
          <p:cNvSpPr/>
          <p:nvPr/>
        </p:nvSpPr>
        <p:spPr>
          <a:xfrm>
            <a:off x="8077199" y="1371600"/>
            <a:ext cx="73154" cy="1828800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TextBox 13"/>
          <p:cNvSpPr txBox="1"/>
          <p:nvPr/>
        </p:nvSpPr>
        <p:spPr>
          <a:xfrm>
            <a:off x="8324085" y="1499616"/>
            <a:ext cx="207128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12" name="TextBox 14"/>
          <p:cNvSpPr txBox="1"/>
          <p:nvPr/>
        </p:nvSpPr>
        <p:spPr>
          <a:xfrm>
            <a:off x="8324085" y="1938527"/>
            <a:ext cx="2391919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Ciclos anidados suelen multiplicar.</a:t>
            </a:r>
          </a:p>
        </p:txBody>
      </p:sp>
      <p:sp>
        <p:nvSpPr>
          <p:cNvPr id="313" name="Rounded Rectangle 15"/>
          <p:cNvSpPr/>
          <p:nvPr/>
        </p:nvSpPr>
        <p:spPr>
          <a:xfrm>
            <a:off x="640080" y="3520440"/>
            <a:ext cx="3489960" cy="18288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Rectangle 16"/>
          <p:cNvSpPr/>
          <p:nvPr/>
        </p:nvSpPr>
        <p:spPr>
          <a:xfrm>
            <a:off x="640080" y="3520440"/>
            <a:ext cx="73154" cy="182880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5" name="TextBox 17"/>
          <p:cNvSpPr txBox="1"/>
          <p:nvPr/>
        </p:nvSpPr>
        <p:spPr>
          <a:xfrm>
            <a:off x="886966" y="3648455"/>
            <a:ext cx="207129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16" name="TextBox 18"/>
          <p:cNvSpPr txBox="1"/>
          <p:nvPr/>
        </p:nvSpPr>
        <p:spPr>
          <a:xfrm>
            <a:off x="886966" y="4087368"/>
            <a:ext cx="2238347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Reducir a la mitad sugiere log n.</a:t>
            </a:r>
          </a:p>
        </p:txBody>
      </p:sp>
      <p:sp>
        <p:nvSpPr>
          <p:cNvPr id="317" name="Rounded Rectangle 19"/>
          <p:cNvSpPr/>
          <p:nvPr/>
        </p:nvSpPr>
        <p:spPr>
          <a:xfrm>
            <a:off x="4358640" y="3520440"/>
            <a:ext cx="3489960" cy="18288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8" name="Rectangle 20"/>
          <p:cNvSpPr/>
          <p:nvPr/>
        </p:nvSpPr>
        <p:spPr>
          <a:xfrm>
            <a:off x="4358640" y="3520440"/>
            <a:ext cx="73154" cy="1828802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9" name="TextBox 21"/>
          <p:cNvSpPr txBox="1"/>
          <p:nvPr/>
        </p:nvSpPr>
        <p:spPr>
          <a:xfrm>
            <a:off x="4605528" y="3648455"/>
            <a:ext cx="207128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20" name="TextBox 22"/>
          <p:cNvSpPr txBox="1"/>
          <p:nvPr/>
        </p:nvSpPr>
        <p:spPr>
          <a:xfrm>
            <a:off x="4605528" y="4087368"/>
            <a:ext cx="2263821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Conserva el término dominante.</a:t>
            </a:r>
          </a:p>
        </p:txBody>
      </p:sp>
      <p:pic>
        <p:nvPicPr>
          <p:cNvPr id="32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TextBox 2"/>
          <p:cNvSpPr txBox="1"/>
          <p:nvPr/>
        </p:nvSpPr>
        <p:spPr>
          <a:xfrm>
            <a:off x="640079" y="256032"/>
            <a:ext cx="2081339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Simplificación</a:t>
            </a:r>
          </a:p>
        </p:txBody>
      </p:sp>
      <p:sp>
        <p:nvSpPr>
          <p:cNvPr id="325" name="Rounded Rectangle 3"/>
          <p:cNvSpPr/>
          <p:nvPr/>
        </p:nvSpPr>
        <p:spPr>
          <a:xfrm>
            <a:off x="640080" y="1417319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Rectangle 4"/>
          <p:cNvSpPr/>
          <p:nvPr/>
        </p:nvSpPr>
        <p:spPr>
          <a:xfrm>
            <a:off x="640080" y="1417319"/>
            <a:ext cx="73154" cy="196596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7" name="TextBox 5"/>
          <p:cNvSpPr txBox="1"/>
          <p:nvPr/>
        </p:nvSpPr>
        <p:spPr>
          <a:xfrm>
            <a:off x="886966" y="1545336"/>
            <a:ext cx="612238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3n + 5</a:t>
            </a:r>
          </a:p>
        </p:txBody>
      </p:sp>
      <p:sp>
        <p:nvSpPr>
          <p:cNvPr id="328" name="TextBox 6"/>
          <p:cNvSpPr txBox="1"/>
          <p:nvPr/>
        </p:nvSpPr>
        <p:spPr>
          <a:xfrm>
            <a:off x="886966" y="1984249"/>
            <a:ext cx="400319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O(n)</a:t>
            </a:r>
          </a:p>
        </p:txBody>
      </p:sp>
      <p:sp>
        <p:nvSpPr>
          <p:cNvPr id="329" name="Rounded Rectangle 7"/>
          <p:cNvSpPr/>
          <p:nvPr/>
        </p:nvSpPr>
        <p:spPr>
          <a:xfrm>
            <a:off x="6217920" y="1417319"/>
            <a:ext cx="5349242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Rectangle 8"/>
          <p:cNvSpPr/>
          <p:nvPr/>
        </p:nvSpPr>
        <p:spPr>
          <a:xfrm>
            <a:off x="6217920" y="1417319"/>
            <a:ext cx="73154" cy="1965962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1" name="TextBox 9"/>
          <p:cNvSpPr txBox="1"/>
          <p:nvPr/>
        </p:nvSpPr>
        <p:spPr>
          <a:xfrm>
            <a:off x="6464806" y="1545336"/>
            <a:ext cx="1188997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2n² + 7n + 10</a:t>
            </a:r>
          </a:p>
        </p:txBody>
      </p:sp>
      <p:sp>
        <p:nvSpPr>
          <p:cNvPr id="332" name="TextBox 10"/>
          <p:cNvSpPr txBox="1"/>
          <p:nvPr/>
        </p:nvSpPr>
        <p:spPr>
          <a:xfrm>
            <a:off x="6464806" y="1984249"/>
            <a:ext cx="455783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O(n²)</a:t>
            </a:r>
          </a:p>
        </p:txBody>
      </p:sp>
      <p:sp>
        <p:nvSpPr>
          <p:cNvPr id="333" name="Rounded Rectangle 11"/>
          <p:cNvSpPr/>
          <p:nvPr/>
        </p:nvSpPr>
        <p:spPr>
          <a:xfrm>
            <a:off x="640080" y="3703320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Rectangle 12"/>
          <p:cNvSpPr/>
          <p:nvPr/>
        </p:nvSpPr>
        <p:spPr>
          <a:xfrm>
            <a:off x="640080" y="3703320"/>
            <a:ext cx="73154" cy="1965962"/>
          </a:xfrm>
          <a:prstGeom prst="rect">
            <a:avLst/>
          </a:prstGeom>
          <a:solidFill>
            <a:srgbClr val="16A34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5" name="TextBox 13"/>
          <p:cNvSpPr txBox="1"/>
          <p:nvPr/>
        </p:nvSpPr>
        <p:spPr>
          <a:xfrm>
            <a:off x="886966" y="3831336"/>
            <a:ext cx="207128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36" name="TextBox 14"/>
          <p:cNvSpPr txBox="1"/>
          <p:nvPr/>
        </p:nvSpPr>
        <p:spPr>
          <a:xfrm>
            <a:off x="886966" y="4270248"/>
            <a:ext cx="397256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O(1)</a:t>
            </a:r>
          </a:p>
        </p:txBody>
      </p:sp>
      <p:sp>
        <p:nvSpPr>
          <p:cNvPr id="337" name="Rounded Rectangle 15"/>
          <p:cNvSpPr/>
          <p:nvPr/>
        </p:nvSpPr>
        <p:spPr>
          <a:xfrm>
            <a:off x="6217920" y="3703320"/>
            <a:ext cx="5349242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Rectangle 16"/>
          <p:cNvSpPr/>
          <p:nvPr/>
        </p:nvSpPr>
        <p:spPr>
          <a:xfrm>
            <a:off x="6217920" y="3703320"/>
            <a:ext cx="73154" cy="196596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9" name="TextBox 17"/>
          <p:cNvSpPr txBox="1"/>
          <p:nvPr/>
        </p:nvSpPr>
        <p:spPr>
          <a:xfrm>
            <a:off x="6464806" y="3831336"/>
            <a:ext cx="971708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n log n + n</a:t>
            </a:r>
          </a:p>
        </p:txBody>
      </p:sp>
      <p:sp>
        <p:nvSpPr>
          <p:cNvPr id="340" name="TextBox 18"/>
          <p:cNvSpPr txBox="1"/>
          <p:nvPr/>
        </p:nvSpPr>
        <p:spPr>
          <a:xfrm>
            <a:off x="6464806" y="4270248"/>
            <a:ext cx="764378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O(n log n)</a:t>
            </a:r>
          </a:p>
        </p:txBody>
      </p:sp>
      <p:pic>
        <p:nvPicPr>
          <p:cNvPr id="34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4" name="TextBox 2"/>
          <p:cNvSpPr txBox="1"/>
          <p:nvPr/>
        </p:nvSpPr>
        <p:spPr>
          <a:xfrm>
            <a:off x="640079" y="256032"/>
            <a:ext cx="3581694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Puente al temario oficial</a:t>
            </a:r>
          </a:p>
        </p:txBody>
      </p:sp>
      <p:sp>
        <p:nvSpPr>
          <p:cNvPr id="345" name="TextBox 3"/>
          <p:cNvSpPr txBox="1"/>
          <p:nvPr/>
        </p:nvSpPr>
        <p:spPr>
          <a:xfrm>
            <a:off x="658366" y="859536"/>
            <a:ext cx="5423778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Los algoritmos procesan datos. Ahora veremos cómo esos datos viven en el programa.</a:t>
            </a:r>
          </a:p>
        </p:txBody>
      </p:sp>
      <p:sp>
        <p:nvSpPr>
          <p:cNvPr id="346" name="Rounded Rectangle 4"/>
          <p:cNvSpPr/>
          <p:nvPr/>
        </p:nvSpPr>
        <p:spPr>
          <a:xfrm>
            <a:off x="640080" y="1508760"/>
            <a:ext cx="3489960" cy="2194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7" name="Rectangle 5"/>
          <p:cNvSpPr/>
          <p:nvPr/>
        </p:nvSpPr>
        <p:spPr>
          <a:xfrm>
            <a:off x="640080" y="1508760"/>
            <a:ext cx="73154" cy="219456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TextBox 6"/>
          <p:cNvSpPr txBox="1"/>
          <p:nvPr/>
        </p:nvSpPr>
        <p:spPr>
          <a:xfrm>
            <a:off x="886966" y="1636777"/>
            <a:ext cx="881022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Memoria</a:t>
            </a:r>
          </a:p>
        </p:txBody>
      </p:sp>
      <p:sp>
        <p:nvSpPr>
          <p:cNvPr id="349" name="TextBox 7"/>
          <p:cNvSpPr txBox="1"/>
          <p:nvPr/>
        </p:nvSpPr>
        <p:spPr>
          <a:xfrm>
            <a:off x="886966" y="2075688"/>
            <a:ext cx="2413524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¿Dónde se almacena información?</a:t>
            </a:r>
          </a:p>
        </p:txBody>
      </p:sp>
      <p:sp>
        <p:nvSpPr>
          <p:cNvPr id="350" name="Rounded Rectangle 8"/>
          <p:cNvSpPr/>
          <p:nvPr/>
        </p:nvSpPr>
        <p:spPr>
          <a:xfrm>
            <a:off x="4358640" y="1508760"/>
            <a:ext cx="3489960" cy="2194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1" name="Rectangle 9"/>
          <p:cNvSpPr/>
          <p:nvPr/>
        </p:nvSpPr>
        <p:spPr>
          <a:xfrm>
            <a:off x="4358640" y="1508760"/>
            <a:ext cx="73154" cy="219456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TextBox 10"/>
          <p:cNvSpPr txBox="1"/>
          <p:nvPr/>
        </p:nvSpPr>
        <p:spPr>
          <a:xfrm>
            <a:off x="4605528" y="1636777"/>
            <a:ext cx="1965681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Variables / constantes</a:t>
            </a:r>
          </a:p>
        </p:txBody>
      </p:sp>
      <p:sp>
        <p:nvSpPr>
          <p:cNvPr id="353" name="TextBox 11"/>
          <p:cNvSpPr txBox="1"/>
          <p:nvPr/>
        </p:nvSpPr>
        <p:spPr>
          <a:xfrm>
            <a:off x="4605528" y="2075688"/>
            <a:ext cx="165203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¿Cómo la nombramos?</a:t>
            </a:r>
          </a:p>
        </p:txBody>
      </p:sp>
      <p:sp>
        <p:nvSpPr>
          <p:cNvPr id="354" name="Rounded Rectangle 12"/>
          <p:cNvSpPr/>
          <p:nvPr/>
        </p:nvSpPr>
        <p:spPr>
          <a:xfrm>
            <a:off x="8077199" y="1508760"/>
            <a:ext cx="3489962" cy="2194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5" name="Rectangle 13"/>
          <p:cNvSpPr/>
          <p:nvPr/>
        </p:nvSpPr>
        <p:spPr>
          <a:xfrm>
            <a:off x="8077199" y="1508760"/>
            <a:ext cx="73154" cy="219456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TextBox 14"/>
          <p:cNvSpPr txBox="1"/>
          <p:nvPr/>
        </p:nvSpPr>
        <p:spPr>
          <a:xfrm>
            <a:off x="8324085" y="1636777"/>
            <a:ext cx="553997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Tipos</a:t>
            </a:r>
          </a:p>
        </p:txBody>
      </p:sp>
      <p:sp>
        <p:nvSpPr>
          <p:cNvPr id="357" name="TextBox 15"/>
          <p:cNvSpPr txBox="1"/>
          <p:nvPr/>
        </p:nvSpPr>
        <p:spPr>
          <a:xfrm>
            <a:off x="8324085" y="2075688"/>
            <a:ext cx="1669284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¿Qué clase de valor es?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TextBox 2"/>
          <p:cNvSpPr txBox="1"/>
          <p:nvPr/>
        </p:nvSpPr>
        <p:spPr>
          <a:xfrm>
            <a:off x="640079" y="256032"/>
            <a:ext cx="4073943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Variables: cajas con nombre</a:t>
            </a:r>
          </a:p>
        </p:txBody>
      </p:sp>
      <p:sp>
        <p:nvSpPr>
          <p:cNvPr id="361" name="Rounded Rectangle 3"/>
          <p:cNvSpPr/>
          <p:nvPr/>
        </p:nvSpPr>
        <p:spPr>
          <a:xfrm>
            <a:off x="685800" y="1325880"/>
            <a:ext cx="5212080" cy="2537981"/>
          </a:xfrm>
          <a:prstGeom prst="roundRect">
            <a:avLst>
              <a:gd name="adj" fmla="val 22819"/>
            </a:avLst>
          </a:prstGeom>
          <a:solidFill>
            <a:srgbClr val="0F172A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TextBox 4"/>
          <p:cNvSpPr txBox="1"/>
          <p:nvPr/>
        </p:nvSpPr>
        <p:spPr>
          <a:xfrm>
            <a:off x="914399" y="1435608"/>
            <a:ext cx="519828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363" name="TextBox 5"/>
          <p:cNvSpPr txBox="1"/>
          <p:nvPr/>
        </p:nvSpPr>
        <p:spPr>
          <a:xfrm>
            <a:off x="932686" y="1801367"/>
            <a:ext cx="2299057" cy="128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saldo = 100</a:t>
            </a:r>
          </a:p>
          <a:p>
            <a:pPr>
              <a:spcBef>
                <a:spcPts val="100"/>
              </a:spcBef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print(saldo)</a:t>
            </a:r>
          </a:p>
          <a:p>
            <a:pPr>
              <a:spcBef>
                <a:spcPts val="100"/>
              </a:spcBef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saldo = saldo - 20</a:t>
            </a:r>
          </a:p>
          <a:p>
            <a:pPr>
              <a:spcBef>
                <a:spcPts val="100"/>
              </a:spcBef>
              <a:defRPr sz="16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print(saldo)</a:t>
            </a:r>
          </a:p>
        </p:txBody>
      </p:sp>
      <p:sp>
        <p:nvSpPr>
          <p:cNvPr id="364" name="Rounded Rectangle 6"/>
          <p:cNvSpPr/>
          <p:nvPr/>
        </p:nvSpPr>
        <p:spPr>
          <a:xfrm>
            <a:off x="640080" y="3931920"/>
            <a:ext cx="3489960" cy="146304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5" name="Rectangle 7"/>
          <p:cNvSpPr/>
          <p:nvPr/>
        </p:nvSpPr>
        <p:spPr>
          <a:xfrm>
            <a:off x="640080" y="3931920"/>
            <a:ext cx="73154" cy="146304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6" name="TextBox 8"/>
          <p:cNvSpPr txBox="1"/>
          <p:nvPr/>
        </p:nvSpPr>
        <p:spPr>
          <a:xfrm>
            <a:off x="886966" y="4059936"/>
            <a:ext cx="793809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Nombre</a:t>
            </a:r>
          </a:p>
        </p:txBody>
      </p:sp>
      <p:sp>
        <p:nvSpPr>
          <p:cNvPr id="367" name="TextBox 9"/>
          <p:cNvSpPr txBox="1"/>
          <p:nvPr/>
        </p:nvSpPr>
        <p:spPr>
          <a:xfrm>
            <a:off x="886966" y="4498848"/>
            <a:ext cx="459491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saldo</a:t>
            </a:r>
          </a:p>
        </p:txBody>
      </p:sp>
      <p:sp>
        <p:nvSpPr>
          <p:cNvPr id="368" name="Rounded Rectangle 10"/>
          <p:cNvSpPr/>
          <p:nvPr/>
        </p:nvSpPr>
        <p:spPr>
          <a:xfrm>
            <a:off x="4358640" y="3931920"/>
            <a:ext cx="3489960" cy="146304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9" name="Rectangle 11"/>
          <p:cNvSpPr/>
          <p:nvPr/>
        </p:nvSpPr>
        <p:spPr>
          <a:xfrm>
            <a:off x="4358640" y="3931920"/>
            <a:ext cx="73154" cy="146304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0" name="TextBox 12"/>
          <p:cNvSpPr txBox="1"/>
          <p:nvPr/>
        </p:nvSpPr>
        <p:spPr>
          <a:xfrm>
            <a:off x="4605528" y="4059936"/>
            <a:ext cx="602415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Inicial</a:t>
            </a:r>
          </a:p>
        </p:txBody>
      </p:sp>
      <p:sp>
        <p:nvSpPr>
          <p:cNvPr id="371" name="TextBox 13"/>
          <p:cNvSpPr txBox="1"/>
          <p:nvPr/>
        </p:nvSpPr>
        <p:spPr>
          <a:xfrm>
            <a:off x="4605528" y="4498848"/>
            <a:ext cx="355175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100</a:t>
            </a:r>
          </a:p>
        </p:txBody>
      </p:sp>
      <p:sp>
        <p:nvSpPr>
          <p:cNvPr id="372" name="Rounded Rectangle 14"/>
          <p:cNvSpPr/>
          <p:nvPr/>
        </p:nvSpPr>
        <p:spPr>
          <a:xfrm>
            <a:off x="8077199" y="3931920"/>
            <a:ext cx="3489962" cy="146304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3" name="Rectangle 15"/>
          <p:cNvSpPr/>
          <p:nvPr/>
        </p:nvSpPr>
        <p:spPr>
          <a:xfrm>
            <a:off x="8077199" y="3931920"/>
            <a:ext cx="73154" cy="1463042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TextBox 16"/>
          <p:cNvSpPr txBox="1"/>
          <p:nvPr/>
        </p:nvSpPr>
        <p:spPr>
          <a:xfrm>
            <a:off x="8324085" y="4059936"/>
            <a:ext cx="817026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Después</a:t>
            </a:r>
          </a:p>
        </p:txBody>
      </p:sp>
      <p:sp>
        <p:nvSpPr>
          <p:cNvPr id="375" name="TextBox 17"/>
          <p:cNvSpPr txBox="1"/>
          <p:nvPr/>
        </p:nvSpPr>
        <p:spPr>
          <a:xfrm>
            <a:off x="8324085" y="4498848"/>
            <a:ext cx="271496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80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8" name="TextBox 2"/>
          <p:cNvSpPr txBox="1"/>
          <p:nvPr/>
        </p:nvSpPr>
        <p:spPr>
          <a:xfrm>
            <a:off x="640078" y="256032"/>
            <a:ext cx="1676657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Constantes</a:t>
            </a:r>
          </a:p>
        </p:txBody>
      </p:sp>
      <p:sp>
        <p:nvSpPr>
          <p:cNvPr id="379" name="TextBox 3"/>
          <p:cNvSpPr txBox="1"/>
          <p:nvPr/>
        </p:nvSpPr>
        <p:spPr>
          <a:xfrm>
            <a:off x="658366" y="859536"/>
            <a:ext cx="2859841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Valores que por diseño no deberían cambiar.</a:t>
            </a:r>
          </a:p>
        </p:txBody>
      </p:sp>
      <p:sp>
        <p:nvSpPr>
          <p:cNvPr id="380" name="Rounded Rectangle 4"/>
          <p:cNvSpPr/>
          <p:nvPr/>
        </p:nvSpPr>
        <p:spPr>
          <a:xfrm>
            <a:off x="731519" y="1371600"/>
            <a:ext cx="5120643" cy="320040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7C3AED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1" name="TextBox 5"/>
          <p:cNvSpPr txBox="1"/>
          <p:nvPr/>
        </p:nvSpPr>
        <p:spPr>
          <a:xfrm>
            <a:off x="960119" y="1481327"/>
            <a:ext cx="779105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Convención</a:t>
            </a:r>
          </a:p>
        </p:txBody>
      </p:sp>
      <p:sp>
        <p:nvSpPr>
          <p:cNvPr id="382" name="TextBox 6"/>
          <p:cNvSpPr txBox="1"/>
          <p:nvPr/>
        </p:nvSpPr>
        <p:spPr>
          <a:xfrm>
            <a:off x="978407" y="1847088"/>
            <a:ext cx="1613144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PI = 3.1416</a:t>
            </a:r>
          </a:p>
          <a:p>
            <a:pPr>
              <a:spcBef>
                <a:spcPts val="100"/>
              </a:spcBef>
              <a:defRPr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IVA = 0.16</a:t>
            </a:r>
          </a:p>
        </p:txBody>
      </p:sp>
      <p:sp>
        <p:nvSpPr>
          <p:cNvPr id="383" name="Rounded Rectangle 7"/>
          <p:cNvSpPr/>
          <p:nvPr/>
        </p:nvSpPr>
        <p:spPr>
          <a:xfrm>
            <a:off x="6217920" y="1371600"/>
            <a:ext cx="5212080" cy="15544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4" name="Rectangle 8"/>
          <p:cNvSpPr/>
          <p:nvPr/>
        </p:nvSpPr>
        <p:spPr>
          <a:xfrm>
            <a:off x="6217920" y="1371599"/>
            <a:ext cx="73154" cy="1554483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5" name="TextBox 9"/>
          <p:cNvSpPr txBox="1"/>
          <p:nvPr/>
        </p:nvSpPr>
        <p:spPr>
          <a:xfrm>
            <a:off x="6464806" y="1499616"/>
            <a:ext cx="1340610" cy="310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MAYÚSCULAS</a:t>
            </a:r>
          </a:p>
        </p:txBody>
      </p:sp>
      <p:sp>
        <p:nvSpPr>
          <p:cNvPr id="386" name="TextBox 10"/>
          <p:cNvSpPr txBox="1"/>
          <p:nvPr/>
        </p:nvSpPr>
        <p:spPr>
          <a:xfrm>
            <a:off x="6464806" y="1938528"/>
            <a:ext cx="4041698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Comunican que el valor debe tratarse como constante.</a:t>
            </a:r>
          </a:p>
        </p:txBody>
      </p:sp>
      <p:sp>
        <p:nvSpPr>
          <p:cNvPr id="387" name="Rounded Rectangle 11"/>
          <p:cNvSpPr/>
          <p:nvPr/>
        </p:nvSpPr>
        <p:spPr>
          <a:xfrm>
            <a:off x="6217920" y="3200400"/>
            <a:ext cx="5212080" cy="17373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8" name="Rectangle 12"/>
          <p:cNvSpPr/>
          <p:nvPr/>
        </p:nvSpPr>
        <p:spPr>
          <a:xfrm>
            <a:off x="6217920" y="3200399"/>
            <a:ext cx="73154" cy="1737363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89" name="TextBox 13"/>
          <p:cNvSpPr txBox="1"/>
          <p:nvPr/>
        </p:nvSpPr>
        <p:spPr>
          <a:xfrm>
            <a:off x="6464806" y="3328416"/>
            <a:ext cx="746568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700">
                <a:solidFill>
                  <a:srgbClr val="122238"/>
                </a:solidFill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390" name="TextBox 14"/>
          <p:cNvSpPr txBox="1"/>
          <p:nvPr/>
        </p:nvSpPr>
        <p:spPr>
          <a:xfrm>
            <a:off x="6464806" y="3767329"/>
            <a:ext cx="4984611" cy="2807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400">
                <a:solidFill>
                  <a:srgbClr val="475569"/>
                </a:solidFill>
              </a:defRPr>
            </a:lvl1pPr>
          </a:lstStyle>
          <a:p>
            <a:pPr/>
            <a:r>
              <a:t>Es una convención: el lenguaje no impide técnicamente reasignarlo.</a:t>
            </a:r>
          </a:p>
        </p:txBody>
      </p:sp>
      <p:pic>
        <p:nvPicPr>
          <p:cNvPr id="39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4" name="TextBox 2"/>
          <p:cNvSpPr txBox="1"/>
          <p:nvPr/>
        </p:nvSpPr>
        <p:spPr>
          <a:xfrm>
            <a:off x="640079" y="256032"/>
            <a:ext cx="2161706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Tipos de datos</a:t>
            </a:r>
          </a:p>
        </p:txBody>
      </p:sp>
      <p:sp>
        <p:nvSpPr>
          <p:cNvPr id="395" name="Rounded Rectangle 3"/>
          <p:cNvSpPr/>
          <p:nvPr/>
        </p:nvSpPr>
        <p:spPr>
          <a:xfrm>
            <a:off x="640080" y="1417319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6" name="Rectangle 4"/>
          <p:cNvSpPr/>
          <p:nvPr/>
        </p:nvSpPr>
        <p:spPr>
          <a:xfrm>
            <a:off x="640080" y="1417319"/>
            <a:ext cx="73154" cy="196596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7" name="TextBox 5"/>
          <p:cNvSpPr txBox="1"/>
          <p:nvPr/>
        </p:nvSpPr>
        <p:spPr>
          <a:xfrm>
            <a:off x="886966" y="1545336"/>
            <a:ext cx="331647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int</a:t>
            </a:r>
          </a:p>
        </p:txBody>
      </p:sp>
      <p:sp>
        <p:nvSpPr>
          <p:cNvPr id="398" name="TextBox 6"/>
          <p:cNvSpPr txBox="1"/>
          <p:nvPr/>
        </p:nvSpPr>
        <p:spPr>
          <a:xfrm>
            <a:off x="886966" y="1984249"/>
            <a:ext cx="646437" cy="461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Enteros</a:t>
            </a:r>
            <a:br/>
            <a:r>
              <a:t>-5, 0, 42</a:t>
            </a:r>
          </a:p>
        </p:txBody>
      </p:sp>
      <p:sp>
        <p:nvSpPr>
          <p:cNvPr id="399" name="Rounded Rectangle 7"/>
          <p:cNvSpPr/>
          <p:nvPr/>
        </p:nvSpPr>
        <p:spPr>
          <a:xfrm>
            <a:off x="6217920" y="1417319"/>
            <a:ext cx="5349242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0" name="Rectangle 8"/>
          <p:cNvSpPr/>
          <p:nvPr/>
        </p:nvSpPr>
        <p:spPr>
          <a:xfrm>
            <a:off x="6217920" y="1417319"/>
            <a:ext cx="73154" cy="196596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1" name="TextBox 9"/>
          <p:cNvSpPr txBox="1"/>
          <p:nvPr/>
        </p:nvSpPr>
        <p:spPr>
          <a:xfrm>
            <a:off x="6464806" y="1545336"/>
            <a:ext cx="496450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float</a:t>
            </a:r>
          </a:p>
        </p:txBody>
      </p:sp>
      <p:sp>
        <p:nvSpPr>
          <p:cNvPr id="402" name="TextBox 10"/>
          <p:cNvSpPr txBox="1"/>
          <p:nvPr/>
        </p:nvSpPr>
        <p:spPr>
          <a:xfrm>
            <a:off x="6464806" y="1984249"/>
            <a:ext cx="1106187" cy="461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Decimales</a:t>
            </a:r>
            <a:br/>
            <a:r>
              <a:t>3.14, -0.5, 10.0</a:t>
            </a:r>
          </a:p>
        </p:txBody>
      </p:sp>
      <p:sp>
        <p:nvSpPr>
          <p:cNvPr id="403" name="Rounded Rectangle 11"/>
          <p:cNvSpPr/>
          <p:nvPr/>
        </p:nvSpPr>
        <p:spPr>
          <a:xfrm>
            <a:off x="640080" y="3703320"/>
            <a:ext cx="5349241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4" name="Rectangle 12"/>
          <p:cNvSpPr/>
          <p:nvPr/>
        </p:nvSpPr>
        <p:spPr>
          <a:xfrm>
            <a:off x="640080" y="3703320"/>
            <a:ext cx="73154" cy="196596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5" name="TextBox 13"/>
          <p:cNvSpPr txBox="1"/>
          <p:nvPr/>
        </p:nvSpPr>
        <p:spPr>
          <a:xfrm>
            <a:off x="886966" y="3831336"/>
            <a:ext cx="325595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str</a:t>
            </a:r>
          </a:p>
        </p:txBody>
      </p:sp>
      <p:sp>
        <p:nvSpPr>
          <p:cNvPr id="406" name="TextBox 14"/>
          <p:cNvSpPr txBox="1"/>
          <p:nvPr/>
        </p:nvSpPr>
        <p:spPr>
          <a:xfrm>
            <a:off x="886966" y="4270248"/>
            <a:ext cx="1092401" cy="46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Texto</a:t>
            </a:r>
            <a:br/>
            <a:r>
              <a:t>"Python", "10"</a:t>
            </a:r>
          </a:p>
        </p:txBody>
      </p:sp>
      <p:sp>
        <p:nvSpPr>
          <p:cNvPr id="407" name="Rounded Rectangle 15"/>
          <p:cNvSpPr/>
          <p:nvPr/>
        </p:nvSpPr>
        <p:spPr>
          <a:xfrm>
            <a:off x="6217920" y="3703320"/>
            <a:ext cx="5349242" cy="1965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8" name="Rectangle 16"/>
          <p:cNvSpPr/>
          <p:nvPr/>
        </p:nvSpPr>
        <p:spPr>
          <a:xfrm>
            <a:off x="6217920" y="3703320"/>
            <a:ext cx="73154" cy="1965962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9" name="TextBox 17"/>
          <p:cNvSpPr txBox="1"/>
          <p:nvPr/>
        </p:nvSpPr>
        <p:spPr>
          <a:xfrm>
            <a:off x="6464806" y="3831336"/>
            <a:ext cx="481568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bool</a:t>
            </a:r>
          </a:p>
        </p:txBody>
      </p:sp>
      <p:sp>
        <p:nvSpPr>
          <p:cNvPr id="410" name="TextBox 18"/>
          <p:cNvSpPr txBox="1"/>
          <p:nvPr/>
        </p:nvSpPr>
        <p:spPr>
          <a:xfrm>
            <a:off x="6464806" y="4270248"/>
            <a:ext cx="874337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True / False</a:t>
            </a:r>
          </a:p>
        </p:txBody>
      </p:sp>
      <p:pic>
        <p:nvPicPr>
          <p:cNvPr id="41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4" name="TextBox 2"/>
          <p:cNvSpPr txBox="1"/>
          <p:nvPr/>
        </p:nvSpPr>
        <p:spPr>
          <a:xfrm>
            <a:off x="640079" y="256032"/>
            <a:ext cx="7455057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type(): preguntarle a Python qué tipo tiene un valor</a:t>
            </a:r>
          </a:p>
        </p:txBody>
      </p:sp>
      <p:sp>
        <p:nvSpPr>
          <p:cNvPr id="415" name="Rounded Rectangle 3"/>
          <p:cNvSpPr/>
          <p:nvPr/>
        </p:nvSpPr>
        <p:spPr>
          <a:xfrm>
            <a:off x="685800" y="1325880"/>
            <a:ext cx="5486400" cy="384048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6" name="TextBox 4"/>
          <p:cNvSpPr txBox="1"/>
          <p:nvPr/>
        </p:nvSpPr>
        <p:spPr>
          <a:xfrm>
            <a:off x="914399" y="1435608"/>
            <a:ext cx="519828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417" name="TextBox 5"/>
          <p:cNvSpPr txBox="1"/>
          <p:nvPr/>
        </p:nvSpPr>
        <p:spPr>
          <a:xfrm>
            <a:off x="932687" y="1801367"/>
            <a:ext cx="2680118" cy="1907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edad = 20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altura = 1.75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nombre = "Ana"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es_estudiante = True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print(type(edad))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print(type(altura))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print(type(nombre))</a:t>
            </a:r>
          </a:p>
          <a:p>
            <a: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print(type(es_estudiante))</a:t>
            </a:r>
          </a:p>
        </p:txBody>
      </p:sp>
      <p:sp>
        <p:nvSpPr>
          <p:cNvPr id="418" name="Rounded Rectangle 6"/>
          <p:cNvSpPr/>
          <p:nvPr/>
        </p:nvSpPr>
        <p:spPr>
          <a:xfrm>
            <a:off x="6446520" y="1325880"/>
            <a:ext cx="4846321" cy="31089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9" name="Rectangle 7"/>
          <p:cNvSpPr/>
          <p:nvPr/>
        </p:nvSpPr>
        <p:spPr>
          <a:xfrm>
            <a:off x="6446520" y="1325878"/>
            <a:ext cx="73154" cy="3108963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0" name="TextBox 8"/>
          <p:cNvSpPr txBox="1"/>
          <p:nvPr/>
        </p:nvSpPr>
        <p:spPr>
          <a:xfrm>
            <a:off x="6693406" y="1453894"/>
            <a:ext cx="1050017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>
                <a:solidFill>
                  <a:srgbClr val="122238"/>
                </a:solidFill>
              </a:defRPr>
            </a:lvl1pPr>
          </a:lstStyle>
          <a:p>
            <a:pPr/>
            <a:r>
              <a:t>Resultado</a:t>
            </a:r>
          </a:p>
        </p:txBody>
      </p:sp>
      <p:sp>
        <p:nvSpPr>
          <p:cNvPr id="421" name="TextBox 9"/>
          <p:cNvSpPr txBox="1"/>
          <p:nvPr/>
        </p:nvSpPr>
        <p:spPr>
          <a:xfrm>
            <a:off x="6693406" y="1892807"/>
            <a:ext cx="530867" cy="120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>
                <a:solidFill>
                  <a:srgbClr val="475569"/>
                </a:solidFill>
              </a:defRPr>
            </a:pPr>
            <a:r>
              <a:t>int</a:t>
            </a:r>
            <a:br/>
            <a:r>
              <a:t>float</a:t>
            </a:r>
            <a:br/>
            <a:r>
              <a:t>str</a:t>
            </a:r>
            <a:br/>
            <a:r>
              <a:t>bool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4" name="TextBox 2"/>
          <p:cNvSpPr txBox="1"/>
          <p:nvPr/>
        </p:nvSpPr>
        <p:spPr>
          <a:xfrm>
            <a:off x="640078" y="256032"/>
            <a:ext cx="4015343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10 no es lo mismo que "10"</a:t>
            </a:r>
          </a:p>
        </p:txBody>
      </p:sp>
      <p:sp>
        <p:nvSpPr>
          <p:cNvPr id="425" name="Rounded Rectangle 3"/>
          <p:cNvSpPr/>
          <p:nvPr/>
        </p:nvSpPr>
        <p:spPr>
          <a:xfrm>
            <a:off x="640080" y="1554480"/>
            <a:ext cx="3489960" cy="2286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6" name="Rectangle 4"/>
          <p:cNvSpPr/>
          <p:nvPr/>
        </p:nvSpPr>
        <p:spPr>
          <a:xfrm>
            <a:off x="640080" y="1554480"/>
            <a:ext cx="73154" cy="228600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7" name="TextBox 5"/>
          <p:cNvSpPr txBox="1"/>
          <p:nvPr/>
        </p:nvSpPr>
        <p:spPr>
          <a:xfrm>
            <a:off x="886966" y="1682494"/>
            <a:ext cx="310118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428" name="TextBox 6"/>
          <p:cNvSpPr txBox="1"/>
          <p:nvPr/>
        </p:nvSpPr>
        <p:spPr>
          <a:xfrm>
            <a:off x="886966" y="2121407"/>
            <a:ext cx="1645180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int · cantidad numérica</a:t>
            </a:r>
          </a:p>
        </p:txBody>
      </p:sp>
      <p:sp>
        <p:nvSpPr>
          <p:cNvPr id="429" name="Rounded Rectangle 7"/>
          <p:cNvSpPr/>
          <p:nvPr/>
        </p:nvSpPr>
        <p:spPr>
          <a:xfrm>
            <a:off x="4358640" y="1554480"/>
            <a:ext cx="3489960" cy="2286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0" name="Rectangle 8"/>
          <p:cNvSpPr/>
          <p:nvPr/>
        </p:nvSpPr>
        <p:spPr>
          <a:xfrm>
            <a:off x="4358640" y="1554480"/>
            <a:ext cx="73154" cy="228600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1" name="TextBox 9"/>
          <p:cNvSpPr txBox="1"/>
          <p:nvPr/>
        </p:nvSpPr>
        <p:spPr>
          <a:xfrm>
            <a:off x="4605528" y="1682494"/>
            <a:ext cx="488314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"10"</a:t>
            </a:r>
          </a:p>
        </p:txBody>
      </p:sp>
      <p:sp>
        <p:nvSpPr>
          <p:cNvPr id="432" name="TextBox 10"/>
          <p:cNvSpPr txBox="1"/>
          <p:nvPr/>
        </p:nvSpPr>
        <p:spPr>
          <a:xfrm>
            <a:off x="4605528" y="2121407"/>
            <a:ext cx="2349998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str · texto formado por caracteres</a:t>
            </a:r>
          </a:p>
        </p:txBody>
      </p:sp>
      <p:sp>
        <p:nvSpPr>
          <p:cNvPr id="433" name="Rounded Rectangle 11"/>
          <p:cNvSpPr/>
          <p:nvPr/>
        </p:nvSpPr>
        <p:spPr>
          <a:xfrm>
            <a:off x="8077199" y="1554480"/>
            <a:ext cx="3489962" cy="22860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4" name="Rectangle 12"/>
          <p:cNvSpPr/>
          <p:nvPr/>
        </p:nvSpPr>
        <p:spPr>
          <a:xfrm>
            <a:off x="8077199" y="1554480"/>
            <a:ext cx="73154" cy="2286001"/>
          </a:xfrm>
          <a:prstGeom prst="rect">
            <a:avLst/>
          </a:prstGeom>
          <a:solidFill>
            <a:srgbClr val="DC262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5" name="TextBox 13"/>
          <p:cNvSpPr txBox="1"/>
          <p:nvPr/>
        </p:nvSpPr>
        <p:spPr>
          <a:xfrm>
            <a:off x="8324085" y="1682494"/>
            <a:ext cx="1253985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Consecuencia</a:t>
            </a:r>
          </a:p>
        </p:txBody>
      </p:sp>
      <p:sp>
        <p:nvSpPr>
          <p:cNvPr id="436" name="TextBox 14"/>
          <p:cNvSpPr txBox="1"/>
          <p:nvPr/>
        </p:nvSpPr>
        <p:spPr>
          <a:xfrm>
            <a:off x="8324085" y="2121407"/>
            <a:ext cx="301991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"5" + 5 requiere conversión antes de sumar.</a:t>
            </a:r>
          </a:p>
        </p:txBody>
      </p:sp>
      <p:pic>
        <p:nvPicPr>
          <p:cNvPr id="43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" name="TextBox 2"/>
          <p:cNvSpPr txBox="1"/>
          <p:nvPr/>
        </p:nvSpPr>
        <p:spPr>
          <a:xfrm>
            <a:off x="640079" y="256032"/>
            <a:ext cx="3152399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Conversiones simples</a:t>
            </a:r>
          </a:p>
        </p:txBody>
      </p:sp>
      <p:sp>
        <p:nvSpPr>
          <p:cNvPr id="441" name="Rounded Rectangle 3"/>
          <p:cNvSpPr/>
          <p:nvPr/>
        </p:nvSpPr>
        <p:spPr>
          <a:xfrm>
            <a:off x="685800" y="1325880"/>
            <a:ext cx="5212080" cy="2756917"/>
          </a:xfrm>
          <a:prstGeom prst="roundRect">
            <a:avLst>
              <a:gd name="adj" fmla="val 24323"/>
            </a:avLst>
          </a:prstGeom>
          <a:solidFill>
            <a:srgbClr val="0F172A"/>
          </a:solidFill>
          <a:ln>
            <a:solidFill>
              <a:srgbClr val="0D948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2" name="TextBox 4"/>
          <p:cNvSpPr txBox="1"/>
          <p:nvPr/>
        </p:nvSpPr>
        <p:spPr>
          <a:xfrm>
            <a:off x="914399" y="1435608"/>
            <a:ext cx="519828" cy="2257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Python</a:t>
            </a:r>
          </a:p>
        </p:txBody>
      </p:sp>
      <p:sp>
        <p:nvSpPr>
          <p:cNvPr id="443" name="TextBox 5"/>
          <p:cNvSpPr txBox="1"/>
          <p:nvPr/>
        </p:nvSpPr>
        <p:spPr>
          <a:xfrm>
            <a:off x="932686" y="1801367"/>
            <a:ext cx="3305060" cy="1805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texto = "25"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numero = int(texto)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precio = 10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precio_decimal = float(precio)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edad = 20</a:t>
            </a:r>
          </a:p>
          <a:p>
            <a:pPr>
              <a:spcBef>
                <a:spcPts val="100"/>
              </a:spcBef>
              <a:defRPr sz="14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mensaje = str(edad)</a:t>
            </a:r>
          </a:p>
        </p:txBody>
      </p:sp>
      <p:sp>
        <p:nvSpPr>
          <p:cNvPr id="444" name="Rounded Rectangle 6"/>
          <p:cNvSpPr/>
          <p:nvPr/>
        </p:nvSpPr>
        <p:spPr>
          <a:xfrm>
            <a:off x="640080" y="4686300"/>
            <a:ext cx="10927082" cy="10972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5" name="Rectangle 7"/>
          <p:cNvSpPr/>
          <p:nvPr/>
        </p:nvSpPr>
        <p:spPr>
          <a:xfrm>
            <a:off x="640080" y="4686298"/>
            <a:ext cx="73154" cy="1097283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6" name="TextBox 8"/>
          <p:cNvSpPr txBox="1"/>
          <p:nvPr/>
        </p:nvSpPr>
        <p:spPr>
          <a:xfrm>
            <a:off x="886966" y="4814316"/>
            <a:ext cx="458251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int()</a:t>
            </a:r>
          </a:p>
        </p:txBody>
      </p:sp>
      <p:sp>
        <p:nvSpPr>
          <p:cNvPr id="447" name="TextBox 9"/>
          <p:cNvSpPr txBox="1"/>
          <p:nvPr/>
        </p:nvSpPr>
        <p:spPr>
          <a:xfrm>
            <a:off x="886966" y="5253229"/>
            <a:ext cx="1391484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Convierte a entero.</a:t>
            </a:r>
          </a:p>
        </p:txBody>
      </p:sp>
      <p:sp>
        <p:nvSpPr>
          <p:cNvPr id="448" name="Rounded Rectangle 10"/>
          <p:cNvSpPr/>
          <p:nvPr/>
        </p:nvSpPr>
        <p:spPr>
          <a:xfrm>
            <a:off x="640080" y="7589518"/>
            <a:ext cx="10927082" cy="109728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9" name="Rectangle 11"/>
          <p:cNvSpPr/>
          <p:nvPr/>
        </p:nvSpPr>
        <p:spPr>
          <a:xfrm>
            <a:off x="640080" y="7589518"/>
            <a:ext cx="73154" cy="109728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0" name="TextBox 12"/>
          <p:cNvSpPr txBox="1"/>
          <p:nvPr/>
        </p:nvSpPr>
        <p:spPr>
          <a:xfrm>
            <a:off x="886966" y="7717535"/>
            <a:ext cx="623054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float()</a:t>
            </a:r>
          </a:p>
        </p:txBody>
      </p:sp>
      <p:sp>
        <p:nvSpPr>
          <p:cNvPr id="451" name="TextBox 13"/>
          <p:cNvSpPr txBox="1"/>
          <p:nvPr/>
        </p:nvSpPr>
        <p:spPr>
          <a:xfrm>
            <a:off x="886966" y="8156447"/>
            <a:ext cx="1475082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Convierte a flotante.</a:t>
            </a:r>
          </a:p>
        </p:txBody>
      </p:sp>
      <p:sp>
        <p:nvSpPr>
          <p:cNvPr id="452" name="Rounded Rectangle 14"/>
          <p:cNvSpPr/>
          <p:nvPr/>
        </p:nvSpPr>
        <p:spPr>
          <a:xfrm>
            <a:off x="640080" y="9006840"/>
            <a:ext cx="10927082" cy="109728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3" name="Rectangle 15"/>
          <p:cNvSpPr/>
          <p:nvPr/>
        </p:nvSpPr>
        <p:spPr>
          <a:xfrm>
            <a:off x="640080" y="9006840"/>
            <a:ext cx="73154" cy="1097282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4" name="TextBox 16"/>
          <p:cNvSpPr txBox="1"/>
          <p:nvPr/>
        </p:nvSpPr>
        <p:spPr>
          <a:xfrm>
            <a:off x="886966" y="9134857"/>
            <a:ext cx="452199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str()</a:t>
            </a:r>
          </a:p>
        </p:txBody>
      </p:sp>
      <p:sp>
        <p:nvSpPr>
          <p:cNvPr id="455" name="TextBox 17"/>
          <p:cNvSpPr txBox="1"/>
          <p:nvPr/>
        </p:nvSpPr>
        <p:spPr>
          <a:xfrm>
            <a:off x="886966" y="9573766"/>
            <a:ext cx="1292408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Convierte a texto.</a:t>
            </a:r>
          </a:p>
        </p:txBody>
      </p:sp>
      <p:pic>
        <p:nvPicPr>
          <p:cNvPr id="45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41683" y="1154"/>
            <a:ext cx="1334652" cy="9446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9" name="TextBox 2"/>
          <p:cNvSpPr txBox="1"/>
          <p:nvPr/>
        </p:nvSpPr>
        <p:spPr>
          <a:xfrm>
            <a:off x="640078" y="256032"/>
            <a:ext cx="5003022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Mini-reto: representa una persona</a:t>
            </a:r>
          </a:p>
        </p:txBody>
      </p:sp>
      <p:sp>
        <p:nvSpPr>
          <p:cNvPr id="460" name="TextBox 3"/>
          <p:cNvSpPr txBox="1"/>
          <p:nvPr/>
        </p:nvSpPr>
        <p:spPr>
          <a:xfrm>
            <a:off x="658366" y="859536"/>
            <a:ext cx="2724705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Elige nombre de variable y tipo apropiado.</a:t>
            </a:r>
          </a:p>
        </p:txBody>
      </p:sp>
      <p:sp>
        <p:nvSpPr>
          <p:cNvPr id="461" name="Rounded Rectangle 4"/>
          <p:cNvSpPr/>
          <p:nvPr/>
        </p:nvSpPr>
        <p:spPr>
          <a:xfrm>
            <a:off x="640080" y="1417319"/>
            <a:ext cx="5349241" cy="1392061"/>
          </a:xfrm>
          <a:prstGeom prst="roundRect">
            <a:avLst>
              <a:gd name="adj" fmla="val 23538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2" name="Rectangle 5"/>
          <p:cNvSpPr/>
          <p:nvPr/>
        </p:nvSpPr>
        <p:spPr>
          <a:xfrm>
            <a:off x="640080" y="1417319"/>
            <a:ext cx="73154" cy="1392061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3" name="TextBox 6"/>
          <p:cNvSpPr txBox="1"/>
          <p:nvPr/>
        </p:nvSpPr>
        <p:spPr>
          <a:xfrm>
            <a:off x="886966" y="1545336"/>
            <a:ext cx="793808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Nombre</a:t>
            </a:r>
          </a:p>
        </p:txBody>
      </p:sp>
      <p:sp>
        <p:nvSpPr>
          <p:cNvPr id="464" name="TextBox 7"/>
          <p:cNvSpPr txBox="1"/>
          <p:nvPr/>
        </p:nvSpPr>
        <p:spPr>
          <a:xfrm>
            <a:off x="886966" y="1984249"/>
            <a:ext cx="432726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¿str?</a:t>
            </a:r>
          </a:p>
        </p:txBody>
      </p:sp>
      <p:sp>
        <p:nvSpPr>
          <p:cNvPr id="465" name="Rounded Rectangle 8"/>
          <p:cNvSpPr/>
          <p:nvPr/>
        </p:nvSpPr>
        <p:spPr>
          <a:xfrm>
            <a:off x="6217920" y="1417319"/>
            <a:ext cx="5349242" cy="1392061"/>
          </a:xfrm>
          <a:prstGeom prst="roundRect">
            <a:avLst>
              <a:gd name="adj" fmla="val 23538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6" name="Rectangle 9"/>
          <p:cNvSpPr/>
          <p:nvPr/>
        </p:nvSpPr>
        <p:spPr>
          <a:xfrm>
            <a:off x="6217920" y="1417319"/>
            <a:ext cx="73154" cy="1392061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7" name="TextBox 10"/>
          <p:cNvSpPr txBox="1"/>
          <p:nvPr/>
        </p:nvSpPr>
        <p:spPr>
          <a:xfrm>
            <a:off x="6464806" y="1545336"/>
            <a:ext cx="518675" cy="300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Edad</a:t>
            </a:r>
          </a:p>
        </p:txBody>
      </p:sp>
      <p:sp>
        <p:nvSpPr>
          <p:cNvPr id="468" name="TextBox 11"/>
          <p:cNvSpPr txBox="1"/>
          <p:nvPr/>
        </p:nvSpPr>
        <p:spPr>
          <a:xfrm>
            <a:off x="6464806" y="1984249"/>
            <a:ext cx="435549" cy="25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¿int?</a:t>
            </a:r>
          </a:p>
        </p:txBody>
      </p:sp>
      <p:sp>
        <p:nvSpPr>
          <p:cNvPr id="469" name="Rounded Rectangle 12"/>
          <p:cNvSpPr/>
          <p:nvPr/>
        </p:nvSpPr>
        <p:spPr>
          <a:xfrm>
            <a:off x="640080" y="3703320"/>
            <a:ext cx="5349241" cy="1392059"/>
          </a:xfrm>
          <a:prstGeom prst="roundRect">
            <a:avLst>
              <a:gd name="adj" fmla="val 23538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0" name="Rectangle 13"/>
          <p:cNvSpPr/>
          <p:nvPr/>
        </p:nvSpPr>
        <p:spPr>
          <a:xfrm>
            <a:off x="640080" y="3703320"/>
            <a:ext cx="73154" cy="1392059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1" name="TextBox 14"/>
          <p:cNvSpPr txBox="1"/>
          <p:nvPr/>
        </p:nvSpPr>
        <p:spPr>
          <a:xfrm>
            <a:off x="886966" y="3831336"/>
            <a:ext cx="796487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Estatura</a:t>
            </a:r>
          </a:p>
        </p:txBody>
      </p:sp>
      <p:sp>
        <p:nvSpPr>
          <p:cNvPr id="472" name="TextBox 15"/>
          <p:cNvSpPr txBox="1"/>
          <p:nvPr/>
        </p:nvSpPr>
        <p:spPr>
          <a:xfrm>
            <a:off x="886966" y="4270248"/>
            <a:ext cx="561469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¿float?</a:t>
            </a:r>
          </a:p>
        </p:txBody>
      </p:sp>
      <p:sp>
        <p:nvSpPr>
          <p:cNvPr id="473" name="Rounded Rectangle 16"/>
          <p:cNvSpPr/>
          <p:nvPr/>
        </p:nvSpPr>
        <p:spPr>
          <a:xfrm>
            <a:off x="6217920" y="3703320"/>
            <a:ext cx="5349242" cy="1392059"/>
          </a:xfrm>
          <a:prstGeom prst="roundRect">
            <a:avLst>
              <a:gd name="adj" fmla="val 23538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4" name="Rectangle 17"/>
          <p:cNvSpPr/>
          <p:nvPr/>
        </p:nvSpPr>
        <p:spPr>
          <a:xfrm>
            <a:off x="6217920" y="3703320"/>
            <a:ext cx="73154" cy="1392059"/>
          </a:xfrm>
          <a:prstGeom prst="rect">
            <a:avLst/>
          </a:prstGeom>
          <a:solidFill>
            <a:srgbClr val="EA580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5" name="TextBox 18"/>
          <p:cNvSpPr txBox="1"/>
          <p:nvPr/>
        </p:nvSpPr>
        <p:spPr>
          <a:xfrm>
            <a:off x="6464806" y="3831336"/>
            <a:ext cx="1415811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¿Es estudiante?</a:t>
            </a:r>
          </a:p>
        </p:txBody>
      </p:sp>
      <p:sp>
        <p:nvSpPr>
          <p:cNvPr id="476" name="TextBox 19"/>
          <p:cNvSpPr txBox="1"/>
          <p:nvPr/>
        </p:nvSpPr>
        <p:spPr>
          <a:xfrm>
            <a:off x="6464806" y="4270248"/>
            <a:ext cx="555907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¿bool?</a:t>
            </a:r>
          </a:p>
        </p:txBody>
      </p:sp>
      <p:sp>
        <p:nvSpPr>
          <p:cNvPr id="477" name="Rounded Rectangle 20"/>
          <p:cNvSpPr/>
          <p:nvPr/>
        </p:nvSpPr>
        <p:spPr>
          <a:xfrm>
            <a:off x="2926078" y="5486400"/>
            <a:ext cx="6309362" cy="777241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>
            <a:solidFill>
              <a:srgbClr val="16A34A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8" name="TextBox 21"/>
          <p:cNvSpPr txBox="1"/>
          <p:nvPr/>
        </p:nvSpPr>
        <p:spPr>
          <a:xfrm>
            <a:off x="3154679" y="5596129"/>
            <a:ext cx="1035518" cy="225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100">
                <a:solidFill>
                  <a:srgbClr val="93C5FD"/>
                </a:solidFill>
              </a:defRPr>
            </a:lvl1pPr>
          </a:lstStyle>
          <a:p>
            <a:pPr/>
            <a:r>
              <a:t>Posible solución</a:t>
            </a:r>
          </a:p>
        </p:txBody>
      </p:sp>
      <p:sp>
        <p:nvSpPr>
          <p:cNvPr id="479" name="TextBox 22"/>
          <p:cNvSpPr txBox="1"/>
          <p:nvPr/>
        </p:nvSpPr>
        <p:spPr>
          <a:xfrm>
            <a:off x="3172967" y="5961889"/>
            <a:ext cx="5949631" cy="28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spcBef>
                <a:spcPts val="100"/>
              </a:spcBef>
              <a:defRPr sz="1300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nombre="Ana"   edad=19   estatura=1.68   es_estudiante=True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2" name="TextBox 2"/>
          <p:cNvSpPr txBox="1"/>
          <p:nvPr/>
        </p:nvSpPr>
        <p:spPr>
          <a:xfrm>
            <a:off x="640078" y="256032"/>
            <a:ext cx="4362261" cy="434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700">
                <a:solidFill>
                  <a:srgbClr val="122238"/>
                </a:solidFill>
              </a:defRPr>
            </a:lvl1pPr>
          </a:lstStyle>
          <a:p>
            <a:pPr/>
            <a:r>
              <a:t>Actividad evaluada · pytest #1</a:t>
            </a:r>
          </a:p>
        </p:txBody>
      </p:sp>
      <p:sp>
        <p:nvSpPr>
          <p:cNvPr id="483" name="TextBox 3"/>
          <p:cNvSpPr txBox="1"/>
          <p:nvPr/>
        </p:nvSpPr>
        <p:spPr>
          <a:xfrm>
            <a:off x="658366" y="859536"/>
            <a:ext cx="3191132" cy="248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200">
                <a:solidFill>
                  <a:srgbClr val="475569"/>
                </a:solidFill>
              </a:defRPr>
            </a:lvl1pPr>
          </a:lstStyle>
          <a:p>
            <a:pPr/>
            <a:r>
              <a:t>Declaración y tipos de datos — 5% de actividades.</a:t>
            </a:r>
          </a:p>
        </p:txBody>
      </p:sp>
      <p:sp>
        <p:nvSpPr>
          <p:cNvPr id="484" name="Rounded Rectangle 4"/>
          <p:cNvSpPr/>
          <p:nvPr/>
        </p:nvSpPr>
        <p:spPr>
          <a:xfrm>
            <a:off x="640080" y="1508760"/>
            <a:ext cx="3489960" cy="2194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5" name="Rectangle 5"/>
          <p:cNvSpPr/>
          <p:nvPr/>
        </p:nvSpPr>
        <p:spPr>
          <a:xfrm>
            <a:off x="640080" y="1508760"/>
            <a:ext cx="73154" cy="2194562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6" name="TextBox 6"/>
          <p:cNvSpPr txBox="1"/>
          <p:nvPr/>
        </p:nvSpPr>
        <p:spPr>
          <a:xfrm>
            <a:off x="886966" y="1636777"/>
            <a:ext cx="810081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Declarar</a:t>
            </a:r>
          </a:p>
        </p:txBody>
      </p:sp>
      <p:sp>
        <p:nvSpPr>
          <p:cNvPr id="487" name="TextBox 7"/>
          <p:cNvSpPr txBox="1"/>
          <p:nvPr/>
        </p:nvSpPr>
        <p:spPr>
          <a:xfrm>
            <a:off x="886966" y="2075688"/>
            <a:ext cx="2813214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Crear variables con nombres adecuados.</a:t>
            </a:r>
          </a:p>
        </p:txBody>
      </p:sp>
      <p:sp>
        <p:nvSpPr>
          <p:cNvPr id="488" name="Rounded Rectangle 8"/>
          <p:cNvSpPr/>
          <p:nvPr/>
        </p:nvSpPr>
        <p:spPr>
          <a:xfrm>
            <a:off x="4358640" y="1508760"/>
            <a:ext cx="3489960" cy="2194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9" name="Rectangle 9"/>
          <p:cNvSpPr/>
          <p:nvPr/>
        </p:nvSpPr>
        <p:spPr>
          <a:xfrm>
            <a:off x="4358640" y="1508760"/>
            <a:ext cx="73154" cy="2194562"/>
          </a:xfrm>
          <a:prstGeom prst="rect">
            <a:avLst/>
          </a:prstGeom>
          <a:solidFill>
            <a:srgbClr val="0D9488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0" name="TextBox 10"/>
          <p:cNvSpPr txBox="1"/>
          <p:nvPr/>
        </p:nvSpPr>
        <p:spPr>
          <a:xfrm>
            <a:off x="4605528" y="1636777"/>
            <a:ext cx="863460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Clasificar</a:t>
            </a:r>
          </a:p>
        </p:txBody>
      </p:sp>
      <p:sp>
        <p:nvSpPr>
          <p:cNvPr id="491" name="TextBox 11"/>
          <p:cNvSpPr txBox="1"/>
          <p:nvPr/>
        </p:nvSpPr>
        <p:spPr>
          <a:xfrm>
            <a:off x="4605528" y="2075688"/>
            <a:ext cx="2782660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Usar int, float, str y bool correctamente.</a:t>
            </a:r>
          </a:p>
        </p:txBody>
      </p:sp>
      <p:sp>
        <p:nvSpPr>
          <p:cNvPr id="492" name="Rounded Rectangle 12"/>
          <p:cNvSpPr/>
          <p:nvPr/>
        </p:nvSpPr>
        <p:spPr>
          <a:xfrm>
            <a:off x="8077199" y="1508760"/>
            <a:ext cx="3489962" cy="219456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3" name="Rectangle 13"/>
          <p:cNvSpPr/>
          <p:nvPr/>
        </p:nvSpPr>
        <p:spPr>
          <a:xfrm>
            <a:off x="8077199" y="1508760"/>
            <a:ext cx="73154" cy="2194562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4" name="TextBox 14"/>
          <p:cNvSpPr txBox="1"/>
          <p:nvPr/>
        </p:nvSpPr>
        <p:spPr>
          <a:xfrm>
            <a:off x="8324085" y="1636777"/>
            <a:ext cx="888463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600">
                <a:solidFill>
                  <a:srgbClr val="122238"/>
                </a:solidFill>
              </a:defRPr>
            </a:lvl1pPr>
          </a:lstStyle>
          <a:p>
            <a:pPr/>
            <a:r>
              <a:t>Convertir</a:t>
            </a:r>
          </a:p>
        </p:txBody>
      </p:sp>
      <p:sp>
        <p:nvSpPr>
          <p:cNvPr id="495" name="TextBox 15"/>
          <p:cNvSpPr txBox="1"/>
          <p:nvPr/>
        </p:nvSpPr>
        <p:spPr>
          <a:xfrm>
            <a:off x="8324085" y="2075688"/>
            <a:ext cx="1960224" cy="25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1300">
                <a:solidFill>
                  <a:srgbClr val="475569"/>
                </a:solidFill>
              </a:defRPr>
            </a:lvl1pPr>
          </a:lstStyle>
          <a:p>
            <a:pPr/>
            <a:r>
              <a:t>Practicar int(), float() y str().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