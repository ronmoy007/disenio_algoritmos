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1143000"/>
            <a:ext cx="6631799" cy="1810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900">
                <a:solidFill>
                  <a:srgbClr val="FFFFFF"/>
                </a:solidFill>
              </a:defRPr>
            </a:pPr>
            <a:r>
              <a:t>Entorno de Python,</a:t>
            </a:r>
          </a:p>
          <a:p>
            <a:pPr>
              <a:defRPr b="1" sz="3900">
                <a:solidFill>
                  <a:srgbClr val="FFFFFF"/>
                </a:solidFill>
              </a:defRPr>
            </a:pPr>
            <a:r>
              <a:t>conceptos básicos y traductores</a:t>
            </a:r>
          </a:p>
          <a:p>
            <a:pPr>
              <a:defRPr b="1" sz="3900">
                <a:solidFill>
                  <a:srgbClr val="FFFFFF"/>
                </a:solidFill>
              </a:defRPr>
            </a:pPr>
            <a:r>
              <a:t>(compiladores e intérpretes)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7" y="3429000"/>
            <a:ext cx="5875572" cy="582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Clase 4 · Martes 22 de septiembre de 2026 · Laboratorio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Unidad 2 · Fundamentos de programación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9" y="256031"/>
            <a:ext cx="1943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Noticias tech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4023" y="671580"/>
            <a:ext cx="6431254" cy="55148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640079" y="256031"/>
            <a:ext cx="31691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real</a:t>
            </a:r>
          </a:p>
        </p:txBody>
      </p:sp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909" y="653826"/>
            <a:ext cx="7097482" cy="55503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640079" y="256031"/>
            <a:ext cx="314068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es un lenguaje?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658368" y="859536"/>
            <a:ext cx="4588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Reglas formales para expresar ideas que las personas puedan interpretar</a:t>
            </a:r>
          </a:p>
        </p:txBody>
      </p:sp>
      <p:sp>
        <p:nvSpPr>
          <p:cNvPr id="109" name="Rounded Rectangle 4"/>
          <p:cNvSpPr/>
          <p:nvPr/>
        </p:nvSpPr>
        <p:spPr>
          <a:xfrm>
            <a:off x="685800" y="1325880"/>
            <a:ext cx="1078992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5"/>
          <p:cNvSpPr/>
          <p:nvPr/>
        </p:nvSpPr>
        <p:spPr>
          <a:xfrm>
            <a:off x="685800" y="1325880"/>
            <a:ext cx="73153" cy="12344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6"/>
          <p:cNvSpPr txBox="1"/>
          <p:nvPr/>
        </p:nvSpPr>
        <p:spPr>
          <a:xfrm>
            <a:off x="932688" y="1463038"/>
            <a:ext cx="106631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Definición</a:t>
            </a:r>
          </a:p>
        </p:txBody>
      </p:sp>
      <p:sp>
        <p:nvSpPr>
          <p:cNvPr id="112" name="TextBox 7"/>
          <p:cNvSpPr txBox="1"/>
          <p:nvPr/>
        </p:nvSpPr>
        <p:spPr>
          <a:xfrm>
            <a:off x="932688" y="1920239"/>
            <a:ext cx="9460314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Conjunto formal de reglas sintácticas y semánticas que permite transmitir ideas (de manera oral o escrita) entre personas</a:t>
            </a:r>
          </a:p>
        </p:txBody>
      </p:sp>
      <p:sp>
        <p:nvSpPr>
          <p:cNvPr id="113" name="Rounded Rectangle 8"/>
          <p:cNvSpPr/>
          <p:nvPr/>
        </p:nvSpPr>
        <p:spPr>
          <a:xfrm>
            <a:off x="640080" y="288036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9"/>
          <p:cNvSpPr/>
          <p:nvPr/>
        </p:nvSpPr>
        <p:spPr>
          <a:xfrm>
            <a:off x="640080" y="2880360"/>
            <a:ext cx="73153" cy="1874518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886966" y="3017520"/>
            <a:ext cx="74846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Sintaxis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886966" y="3474720"/>
            <a:ext cx="2173131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Reglas sobre CÓMO se escribe.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Ej. El perro está comiendo</a:t>
            </a:r>
          </a:p>
        </p:txBody>
      </p:sp>
      <p:sp>
        <p:nvSpPr>
          <p:cNvPr id="117" name="Rounded Rectangle 12"/>
          <p:cNvSpPr/>
          <p:nvPr/>
        </p:nvSpPr>
        <p:spPr>
          <a:xfrm>
            <a:off x="4358640" y="288036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3"/>
          <p:cNvSpPr/>
          <p:nvPr/>
        </p:nvSpPr>
        <p:spPr>
          <a:xfrm>
            <a:off x="4358640" y="2880360"/>
            <a:ext cx="73153" cy="1874518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4"/>
          <p:cNvSpPr txBox="1"/>
          <p:nvPr/>
        </p:nvSpPr>
        <p:spPr>
          <a:xfrm>
            <a:off x="4605528" y="3017520"/>
            <a:ext cx="97974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Semántica</a:t>
            </a:r>
          </a:p>
        </p:txBody>
      </p:sp>
      <p:sp>
        <p:nvSpPr>
          <p:cNvPr id="120" name="TextBox 15"/>
          <p:cNvSpPr txBox="1"/>
          <p:nvPr/>
        </p:nvSpPr>
        <p:spPr>
          <a:xfrm>
            <a:off x="4605528" y="3474720"/>
            <a:ext cx="2169664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QUÉ significa.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Un animal se está alimentando</a:t>
            </a:r>
          </a:p>
        </p:txBody>
      </p:sp>
      <p:sp>
        <p:nvSpPr>
          <p:cNvPr id="121" name="Rounded Rectangle 16"/>
          <p:cNvSpPr/>
          <p:nvPr/>
        </p:nvSpPr>
        <p:spPr>
          <a:xfrm>
            <a:off x="8077199" y="2880360"/>
            <a:ext cx="3489961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17"/>
          <p:cNvSpPr/>
          <p:nvPr/>
        </p:nvSpPr>
        <p:spPr>
          <a:xfrm>
            <a:off x="8077199" y="2880360"/>
            <a:ext cx="73153" cy="1874518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18"/>
          <p:cNvSpPr txBox="1"/>
          <p:nvPr/>
        </p:nvSpPr>
        <p:spPr>
          <a:xfrm>
            <a:off x="8324086" y="3017520"/>
            <a:ext cx="149985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Contra-ejemplos</a:t>
            </a:r>
          </a:p>
        </p:txBody>
      </p:sp>
      <p:sp>
        <p:nvSpPr>
          <p:cNvPr id="124" name="TextBox 11"/>
          <p:cNvSpPr txBox="1"/>
          <p:nvPr/>
        </p:nvSpPr>
        <p:spPr>
          <a:xfrm>
            <a:off x="8285288" y="3429000"/>
            <a:ext cx="3246603" cy="107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Sintaxis: El está perro comiendo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Semántica: El perro está comiendo con los ojos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640079" y="256031"/>
            <a:ext cx="562888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es un lenguaje de programación?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658368" y="859536"/>
            <a:ext cx="582159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Reglas formales para expresar instrucciones que una computadora pueda traducir y ejecutar.</a:t>
            </a:r>
          </a:p>
        </p:txBody>
      </p:sp>
      <p:sp>
        <p:nvSpPr>
          <p:cNvPr id="129" name="Rounded Rectangle 4"/>
          <p:cNvSpPr/>
          <p:nvPr/>
        </p:nvSpPr>
        <p:spPr>
          <a:xfrm>
            <a:off x="685800" y="1325880"/>
            <a:ext cx="1078992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5"/>
          <p:cNvSpPr/>
          <p:nvPr/>
        </p:nvSpPr>
        <p:spPr>
          <a:xfrm>
            <a:off x="685800" y="1325880"/>
            <a:ext cx="73153" cy="12344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6"/>
          <p:cNvSpPr txBox="1"/>
          <p:nvPr/>
        </p:nvSpPr>
        <p:spPr>
          <a:xfrm>
            <a:off x="932688" y="1463038"/>
            <a:ext cx="106631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Definición</a:t>
            </a:r>
          </a:p>
        </p:txBody>
      </p:sp>
      <p:sp>
        <p:nvSpPr>
          <p:cNvPr id="132" name="TextBox 7"/>
          <p:cNvSpPr txBox="1"/>
          <p:nvPr/>
        </p:nvSpPr>
        <p:spPr>
          <a:xfrm>
            <a:off x="932688" y="1920239"/>
            <a:ext cx="9871172" cy="735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Conjunto formal de reglas sintácticas y semánticas que permite escribir instrucciones que una computadora puede interpretar 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o compilar para ejecutar tareas. Ej: Python, Java, C,</a:t>
            </a:r>
          </a:p>
        </p:txBody>
      </p:sp>
      <p:sp>
        <p:nvSpPr>
          <p:cNvPr id="133" name="Rounded Rectangle 8"/>
          <p:cNvSpPr/>
          <p:nvPr/>
        </p:nvSpPr>
        <p:spPr>
          <a:xfrm>
            <a:off x="640080" y="288036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9"/>
          <p:cNvSpPr/>
          <p:nvPr/>
        </p:nvSpPr>
        <p:spPr>
          <a:xfrm>
            <a:off x="640080" y="2880360"/>
            <a:ext cx="73153" cy="1874518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0"/>
          <p:cNvSpPr txBox="1"/>
          <p:nvPr/>
        </p:nvSpPr>
        <p:spPr>
          <a:xfrm>
            <a:off x="886966" y="3017520"/>
            <a:ext cx="748468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Sintaxis</a:t>
            </a:r>
          </a:p>
        </p:txBody>
      </p:sp>
      <p:sp>
        <p:nvSpPr>
          <p:cNvPr id="136" name="TextBox 11"/>
          <p:cNvSpPr txBox="1"/>
          <p:nvPr/>
        </p:nvSpPr>
        <p:spPr>
          <a:xfrm>
            <a:off x="886966" y="3474720"/>
            <a:ext cx="2173131" cy="1071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Reglas sobre CÓMO se escribe.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X = 1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Y = 2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Suma = X+Y</a:t>
            </a:r>
          </a:p>
        </p:txBody>
      </p:sp>
      <p:sp>
        <p:nvSpPr>
          <p:cNvPr id="137" name="Rounded Rectangle 12"/>
          <p:cNvSpPr/>
          <p:nvPr/>
        </p:nvSpPr>
        <p:spPr>
          <a:xfrm>
            <a:off x="4358640" y="2880360"/>
            <a:ext cx="3489960" cy="187451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Rectangle 13"/>
          <p:cNvSpPr/>
          <p:nvPr/>
        </p:nvSpPr>
        <p:spPr>
          <a:xfrm>
            <a:off x="4358640" y="2880360"/>
            <a:ext cx="73153" cy="1874518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14"/>
          <p:cNvSpPr txBox="1"/>
          <p:nvPr/>
        </p:nvSpPr>
        <p:spPr>
          <a:xfrm>
            <a:off x="4605528" y="3017520"/>
            <a:ext cx="97974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Semántica</a:t>
            </a:r>
          </a:p>
        </p:txBody>
      </p:sp>
      <p:sp>
        <p:nvSpPr>
          <p:cNvPr id="140" name="TextBox 15"/>
          <p:cNvSpPr txBox="1"/>
          <p:nvPr/>
        </p:nvSpPr>
        <p:spPr>
          <a:xfrm>
            <a:off x="4605528" y="3474720"/>
            <a:ext cx="1900087" cy="86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Reglas sobre QUÉ significa.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Declarar 2 variables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Sumar ambas variables</a:t>
            </a:r>
          </a:p>
        </p:txBody>
      </p:sp>
      <p:sp>
        <p:nvSpPr>
          <p:cNvPr id="141" name="Rounded Rectangle 16"/>
          <p:cNvSpPr/>
          <p:nvPr/>
        </p:nvSpPr>
        <p:spPr>
          <a:xfrm>
            <a:off x="8077199" y="2880360"/>
            <a:ext cx="3489961" cy="2152791"/>
          </a:xfrm>
          <a:prstGeom prst="roundRect">
            <a:avLst>
              <a:gd name="adj" fmla="val 14513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ectangle 17"/>
          <p:cNvSpPr/>
          <p:nvPr/>
        </p:nvSpPr>
        <p:spPr>
          <a:xfrm>
            <a:off x="8077199" y="2880360"/>
            <a:ext cx="73153" cy="205652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18"/>
          <p:cNvSpPr txBox="1"/>
          <p:nvPr/>
        </p:nvSpPr>
        <p:spPr>
          <a:xfrm>
            <a:off x="8324086" y="3017520"/>
            <a:ext cx="149985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Contra-ejemplos</a:t>
            </a:r>
          </a:p>
        </p:txBody>
      </p:sp>
      <p:sp>
        <p:nvSpPr>
          <p:cNvPr id="144" name="TextBox 19"/>
          <p:cNvSpPr txBox="1"/>
          <p:nvPr/>
        </p:nvSpPr>
        <p:spPr>
          <a:xfrm>
            <a:off x="8324086" y="3474720"/>
            <a:ext cx="957614" cy="1477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# Sintaxis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X === 1</a:t>
            </a:r>
          </a:p>
          <a:p>
            <a:pPr>
              <a:defRPr sz="13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# Semantica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Suma = X + 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X = 1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Y = 2</a:t>
            </a:r>
          </a:p>
        </p:txBody>
      </p:sp>
      <p:sp>
        <p:nvSpPr>
          <p:cNvPr id="145" name="Rounded Rectangle 20"/>
          <p:cNvSpPr/>
          <p:nvPr/>
        </p:nvSpPr>
        <p:spPr>
          <a:xfrm>
            <a:off x="1554480" y="5166359"/>
            <a:ext cx="9052560" cy="1109774"/>
          </a:xfrm>
          <a:prstGeom prst="roundRect">
            <a:avLst>
              <a:gd name="adj" fmla="val 10986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21"/>
          <p:cNvSpPr/>
          <p:nvPr/>
        </p:nvSpPr>
        <p:spPr>
          <a:xfrm>
            <a:off x="1554480" y="5166359"/>
            <a:ext cx="73153" cy="1109774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22"/>
          <p:cNvSpPr txBox="1"/>
          <p:nvPr/>
        </p:nvSpPr>
        <p:spPr>
          <a:xfrm>
            <a:off x="1801368" y="5303520"/>
            <a:ext cx="342625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Lenguaje natural ≠ lenguaje de programación</a:t>
            </a:r>
          </a:p>
        </p:txBody>
      </p:sp>
      <p:sp>
        <p:nvSpPr>
          <p:cNvPr id="148" name="TextBox 23"/>
          <p:cNvSpPr txBox="1"/>
          <p:nvPr/>
        </p:nvSpPr>
        <p:spPr>
          <a:xfrm>
            <a:off x="1801368" y="5760720"/>
            <a:ext cx="460485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Español e inglés admiten ambigüedad; el código requiere reglas precisas.</a:t>
            </a:r>
          </a:p>
        </p:txBody>
      </p:sp>
      <p:pic>
        <p:nvPicPr>
          <p:cNvPr id="14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"/>
          <p:cNvSpPr txBox="1"/>
          <p:nvPr/>
        </p:nvSpPr>
        <p:spPr>
          <a:xfrm>
            <a:off x="640079" y="256031"/>
            <a:ext cx="382648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significa programar?</a:t>
            </a:r>
          </a:p>
        </p:txBody>
      </p:sp>
      <p:sp>
        <p:nvSpPr>
          <p:cNvPr id="153" name="TextBox 3"/>
          <p:cNvSpPr txBox="1"/>
          <p:nvPr/>
        </p:nvSpPr>
        <p:spPr>
          <a:xfrm>
            <a:off x="658368" y="859536"/>
            <a:ext cx="292175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No es simplemente utilizar una computadora.</a:t>
            </a:r>
          </a:p>
        </p:txBody>
      </p:sp>
      <p:sp>
        <p:nvSpPr>
          <p:cNvPr id="154" name="Rounded Rectangle 4"/>
          <p:cNvSpPr/>
          <p:nvPr/>
        </p:nvSpPr>
        <p:spPr>
          <a:xfrm>
            <a:off x="731519" y="1325880"/>
            <a:ext cx="5166361" cy="33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Rectangle 5"/>
          <p:cNvSpPr/>
          <p:nvPr/>
        </p:nvSpPr>
        <p:spPr>
          <a:xfrm>
            <a:off x="731519" y="1325880"/>
            <a:ext cx="73153" cy="338328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6"/>
          <p:cNvSpPr txBox="1"/>
          <p:nvPr/>
        </p:nvSpPr>
        <p:spPr>
          <a:xfrm>
            <a:off x="978408" y="1463038"/>
            <a:ext cx="1493972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Programación</a:t>
            </a:r>
          </a:p>
        </p:txBody>
      </p:sp>
      <p:sp>
        <p:nvSpPr>
          <p:cNvPr id="157" name="TextBox 7"/>
          <p:cNvSpPr txBox="1"/>
          <p:nvPr/>
        </p:nvSpPr>
        <p:spPr>
          <a:xfrm>
            <a:off x="978408" y="1920239"/>
            <a:ext cx="4937427" cy="735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Proceso de diseñar, escribir, probar y mantener código fuente, 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aplicando lógica, sintaxis y semántica de un 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lenguaje de programación.</a:t>
            </a:r>
          </a:p>
        </p:txBody>
      </p:sp>
      <p:sp>
        <p:nvSpPr>
          <p:cNvPr id="158" name="Rounded Rectangle 8"/>
          <p:cNvSpPr/>
          <p:nvPr/>
        </p:nvSpPr>
        <p:spPr>
          <a:xfrm>
            <a:off x="6263640" y="1325880"/>
            <a:ext cx="5166360" cy="15544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Rectangle 9"/>
          <p:cNvSpPr/>
          <p:nvPr/>
        </p:nvSpPr>
        <p:spPr>
          <a:xfrm>
            <a:off x="6263640" y="1325880"/>
            <a:ext cx="73153" cy="155448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10"/>
          <p:cNvSpPr txBox="1"/>
          <p:nvPr/>
        </p:nvSpPr>
        <p:spPr>
          <a:xfrm>
            <a:off x="6510526" y="1463038"/>
            <a:ext cx="1058824" cy="35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Ejemplo</a:t>
            </a:r>
          </a:p>
        </p:txBody>
      </p:sp>
      <p:sp>
        <p:nvSpPr>
          <p:cNvPr id="161" name="TextBox 11"/>
          <p:cNvSpPr txBox="1"/>
          <p:nvPr/>
        </p:nvSpPr>
        <p:spPr>
          <a:xfrm>
            <a:off x="6510526" y="1920239"/>
            <a:ext cx="447230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Escribir un script en Python que calcule el área de un círculo.</a:t>
            </a:r>
          </a:p>
        </p:txBody>
      </p:sp>
      <p:sp>
        <p:nvSpPr>
          <p:cNvPr id="162" name="Rounded Rectangle 12"/>
          <p:cNvSpPr/>
          <p:nvPr/>
        </p:nvSpPr>
        <p:spPr>
          <a:xfrm>
            <a:off x="6263640" y="3108960"/>
            <a:ext cx="5166360" cy="16002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13"/>
          <p:cNvSpPr/>
          <p:nvPr/>
        </p:nvSpPr>
        <p:spPr>
          <a:xfrm>
            <a:off x="6263640" y="3108960"/>
            <a:ext cx="73153" cy="16002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4"/>
          <p:cNvSpPr txBox="1"/>
          <p:nvPr/>
        </p:nvSpPr>
        <p:spPr>
          <a:xfrm>
            <a:off x="6510526" y="3246120"/>
            <a:ext cx="1784008" cy="34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700">
                <a:solidFill>
                  <a:srgbClr val="122238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✗ </a:t>
            </a:r>
            <a:r>
              <a:t>No es programar</a:t>
            </a:r>
          </a:p>
        </p:txBody>
      </p:sp>
      <p:sp>
        <p:nvSpPr>
          <p:cNvPr id="165" name="TextBox 15"/>
          <p:cNvSpPr txBox="1"/>
          <p:nvPr/>
        </p:nvSpPr>
        <p:spPr>
          <a:xfrm>
            <a:off x="6510526" y="3703320"/>
            <a:ext cx="4062014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Navegar por internet no significa escribir instrucciones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para que la máquina ejecute una tarea.</a:t>
            </a:r>
          </a:p>
        </p:txBody>
      </p:sp>
      <p:sp>
        <p:nvSpPr>
          <p:cNvPr id="166" name="Rounded Rectangle 16"/>
          <p:cNvSpPr/>
          <p:nvPr/>
        </p:nvSpPr>
        <p:spPr>
          <a:xfrm>
            <a:off x="2011679" y="5120640"/>
            <a:ext cx="8138161" cy="822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Rectangle 17"/>
          <p:cNvSpPr/>
          <p:nvPr/>
        </p:nvSpPr>
        <p:spPr>
          <a:xfrm>
            <a:off x="2011679" y="5120640"/>
            <a:ext cx="73153" cy="822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8"/>
          <p:cNvSpPr txBox="1"/>
          <p:nvPr/>
        </p:nvSpPr>
        <p:spPr>
          <a:xfrm>
            <a:off x="2258568" y="5257800"/>
            <a:ext cx="84149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Conexión</a:t>
            </a:r>
          </a:p>
        </p:txBody>
      </p:sp>
      <p:sp>
        <p:nvSpPr>
          <p:cNvPr id="169" name="TextBox 19"/>
          <p:cNvSpPr txBox="1"/>
          <p:nvPr/>
        </p:nvSpPr>
        <p:spPr>
          <a:xfrm>
            <a:off x="2258568" y="5715000"/>
            <a:ext cx="520373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Programar se relaciona con varias etapas del ciclo de vida visto en la clase anterior.</a:t>
            </a:r>
          </a:p>
        </p:txBody>
      </p:sp>
      <p:pic>
        <p:nvPicPr>
          <p:cNvPr id="1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640079" y="256031"/>
            <a:ext cx="427519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La misma idea, tres lenguajes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658368" y="859536"/>
            <a:ext cx="542095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Función que suma dos números y muestra el resultado: misma lógica, distinta sintaxis.</a:t>
            </a:r>
          </a:p>
        </p:txBody>
      </p:sp>
      <p:sp>
        <p:nvSpPr>
          <p:cNvPr id="175" name="Rounded Rectangle 4"/>
          <p:cNvSpPr/>
          <p:nvPr/>
        </p:nvSpPr>
        <p:spPr>
          <a:xfrm>
            <a:off x="411480" y="1325880"/>
            <a:ext cx="3703321" cy="45262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5"/>
          <p:cNvSpPr txBox="1"/>
          <p:nvPr/>
        </p:nvSpPr>
        <p:spPr>
          <a:xfrm>
            <a:off x="621792" y="1435607"/>
            <a:ext cx="37277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Java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658367" y="1828800"/>
            <a:ext cx="3305062" cy="145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public class Main {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static int sumar(int a, int b) {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a + b;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public static void main(String[] args) {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System.out.println(sumar(3, 5));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78" name="Rounded Rectangle 7"/>
          <p:cNvSpPr/>
          <p:nvPr/>
        </p:nvSpPr>
        <p:spPr>
          <a:xfrm>
            <a:off x="4242815" y="1325880"/>
            <a:ext cx="3703321" cy="45262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8"/>
          <p:cNvSpPr txBox="1"/>
          <p:nvPr/>
        </p:nvSpPr>
        <p:spPr>
          <a:xfrm>
            <a:off x="4453127" y="1435607"/>
            <a:ext cx="18480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0" name="TextBox 9"/>
          <p:cNvSpPr txBox="1"/>
          <p:nvPr/>
        </p:nvSpPr>
        <p:spPr>
          <a:xfrm>
            <a:off x="4489703" y="1828800"/>
            <a:ext cx="2466725" cy="160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#include &lt;stdio.h&gt;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sumar(int a, int b) {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a + b;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main(void) {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printf("%d\\n", sumar(3, 5));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return 0;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81" name="Rounded Rectangle 10"/>
          <p:cNvSpPr/>
          <p:nvPr/>
        </p:nvSpPr>
        <p:spPr>
          <a:xfrm>
            <a:off x="8074152" y="1325880"/>
            <a:ext cx="3703321" cy="45262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1"/>
          <p:cNvSpPr txBox="1"/>
          <p:nvPr/>
        </p:nvSpPr>
        <p:spPr>
          <a:xfrm>
            <a:off x="8284463" y="1435607"/>
            <a:ext cx="55762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8321039" y="1828800"/>
            <a:ext cx="2032315" cy="904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sumar(a, b):</a:t>
            </a:r>
          </a:p>
          <a:p>
            <a:pPr>
              <a:spcBef>
                <a:spcPts val="100"/>
              </a:spcBef>
              <a:defRPr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a + b</a:t>
            </a:r>
          </a:p>
          <a:p>
            <a:pPr>
              <a:spcBef>
                <a:spcPts val="100"/>
              </a:spcBef>
              <a:defRPr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resultado = sumar(3, 5)</a:t>
            </a:r>
          </a:p>
          <a:p>
            <a:pPr>
              <a:spcBef>
                <a:spcPts val="100"/>
              </a:spcBef>
              <a:defRPr sz="11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print(resultado)</a:t>
            </a:r>
          </a:p>
        </p:txBody>
      </p:sp>
      <p:sp>
        <p:nvSpPr>
          <p:cNvPr id="184" name="Rounded Rectangle 13"/>
          <p:cNvSpPr/>
          <p:nvPr/>
        </p:nvSpPr>
        <p:spPr>
          <a:xfrm>
            <a:off x="2103120" y="5989320"/>
            <a:ext cx="7955279" cy="676747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14"/>
          <p:cNvSpPr/>
          <p:nvPr/>
        </p:nvSpPr>
        <p:spPr>
          <a:xfrm>
            <a:off x="2103120" y="5989320"/>
            <a:ext cx="68298" cy="676747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5"/>
          <p:cNvSpPr txBox="1"/>
          <p:nvPr/>
        </p:nvSpPr>
        <p:spPr>
          <a:xfrm>
            <a:off x="2350008" y="6126479"/>
            <a:ext cx="15442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122238"/>
                </a:solidFill>
              </a:defRPr>
            </a:lvl1pPr>
          </a:lstStyle>
          <a:p>
            <a:pPr/>
            <a:r>
              <a:t>Salida en los tres casos</a:t>
            </a:r>
          </a:p>
        </p:txBody>
      </p:sp>
      <p:sp>
        <p:nvSpPr>
          <p:cNvPr id="187" name="TextBox 16"/>
          <p:cNvSpPr txBox="1"/>
          <p:nvPr/>
        </p:nvSpPr>
        <p:spPr>
          <a:xfrm>
            <a:off x="2350008" y="6309360"/>
            <a:ext cx="174946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2"/>
          <p:cNvSpPr txBox="1"/>
          <p:nvPr/>
        </p:nvSpPr>
        <p:spPr>
          <a:xfrm>
            <a:off x="640079" y="256031"/>
            <a:ext cx="53725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¿Qué diferencias podemos observar?</a:t>
            </a:r>
          </a:p>
        </p:txBody>
      </p:sp>
      <p:sp>
        <p:nvSpPr>
          <p:cNvPr id="191" name="TextBox 3"/>
          <p:cNvSpPr txBox="1"/>
          <p:nvPr/>
        </p:nvSpPr>
        <p:spPr>
          <a:xfrm>
            <a:off x="658368" y="859536"/>
            <a:ext cx="463030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No hay que aprender Java o C hoy: solo observar estilos y reglas distintas.</a:t>
            </a:r>
          </a:p>
        </p:txBody>
      </p:sp>
      <p:sp>
        <p:nvSpPr>
          <p:cNvPr id="192" name="Rounded Rectangle 4"/>
          <p:cNvSpPr/>
          <p:nvPr/>
        </p:nvSpPr>
        <p:spPr>
          <a:xfrm>
            <a:off x="640080" y="1417319"/>
            <a:ext cx="3489960" cy="2148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Rectangle 5"/>
          <p:cNvSpPr/>
          <p:nvPr/>
        </p:nvSpPr>
        <p:spPr>
          <a:xfrm>
            <a:off x="640080" y="1417319"/>
            <a:ext cx="73153" cy="214884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6"/>
          <p:cNvSpPr txBox="1"/>
          <p:nvPr/>
        </p:nvSpPr>
        <p:spPr>
          <a:xfrm>
            <a:off x="886966" y="1554480"/>
            <a:ext cx="4623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Java</a:t>
            </a:r>
          </a:p>
        </p:txBody>
      </p:sp>
      <p:sp>
        <p:nvSpPr>
          <p:cNvPr id="195" name="TextBox 7"/>
          <p:cNvSpPr txBox="1"/>
          <p:nvPr/>
        </p:nvSpPr>
        <p:spPr>
          <a:xfrm>
            <a:off x="886966" y="2011679"/>
            <a:ext cx="2022623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Clase, tipos explícitos, main,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llaves y punto y coma.</a:t>
            </a:r>
          </a:p>
        </p:txBody>
      </p:sp>
      <p:sp>
        <p:nvSpPr>
          <p:cNvPr id="196" name="Rounded Rectangle 8"/>
          <p:cNvSpPr/>
          <p:nvPr/>
        </p:nvSpPr>
        <p:spPr>
          <a:xfrm>
            <a:off x="4358640" y="1417319"/>
            <a:ext cx="3489960" cy="2148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Rectangle 9"/>
          <p:cNvSpPr/>
          <p:nvPr/>
        </p:nvSpPr>
        <p:spPr>
          <a:xfrm>
            <a:off x="4358640" y="1417319"/>
            <a:ext cx="73153" cy="21488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10"/>
          <p:cNvSpPr txBox="1"/>
          <p:nvPr/>
        </p:nvSpPr>
        <p:spPr>
          <a:xfrm>
            <a:off x="4605528" y="1554480"/>
            <a:ext cx="21169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99" name="TextBox 11"/>
          <p:cNvSpPr txBox="1"/>
          <p:nvPr/>
        </p:nvSpPr>
        <p:spPr>
          <a:xfrm>
            <a:off x="4605528" y="2011679"/>
            <a:ext cx="2665206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Tipos explícitos, main, llaves, ; y printf.</a:t>
            </a:r>
          </a:p>
        </p:txBody>
      </p:sp>
      <p:sp>
        <p:nvSpPr>
          <p:cNvPr id="200" name="Rounded Rectangle 12"/>
          <p:cNvSpPr/>
          <p:nvPr/>
        </p:nvSpPr>
        <p:spPr>
          <a:xfrm>
            <a:off x="8077199" y="1417319"/>
            <a:ext cx="3489961" cy="21488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Rectangle 13"/>
          <p:cNvSpPr/>
          <p:nvPr/>
        </p:nvSpPr>
        <p:spPr>
          <a:xfrm>
            <a:off x="8077199" y="1417319"/>
            <a:ext cx="73153" cy="214884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4"/>
          <p:cNvSpPr txBox="1"/>
          <p:nvPr/>
        </p:nvSpPr>
        <p:spPr>
          <a:xfrm>
            <a:off x="8324086" y="1554480"/>
            <a:ext cx="7087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203" name="TextBox 15"/>
          <p:cNvSpPr txBox="1"/>
          <p:nvPr/>
        </p:nvSpPr>
        <p:spPr>
          <a:xfrm>
            <a:off x="8324086" y="2011679"/>
            <a:ext cx="222432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Menos símbolos; indentación y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sintaxis compacta.</a:t>
            </a:r>
          </a:p>
        </p:txBody>
      </p:sp>
      <p:sp>
        <p:nvSpPr>
          <p:cNvPr id="204" name="Rounded Rectangle 16"/>
          <p:cNvSpPr/>
          <p:nvPr/>
        </p:nvSpPr>
        <p:spPr>
          <a:xfrm>
            <a:off x="1325880" y="4206240"/>
            <a:ext cx="9509760" cy="13258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Rectangle 17"/>
          <p:cNvSpPr/>
          <p:nvPr/>
        </p:nvSpPr>
        <p:spPr>
          <a:xfrm>
            <a:off x="1325880" y="4206240"/>
            <a:ext cx="73153" cy="132588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18"/>
          <p:cNvSpPr txBox="1"/>
          <p:nvPr/>
        </p:nvSpPr>
        <p:spPr>
          <a:xfrm>
            <a:off x="1572767" y="4343400"/>
            <a:ext cx="2631795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Pero el algoritmo no cambió</a:t>
            </a:r>
          </a:p>
        </p:txBody>
      </p:sp>
      <p:sp>
        <p:nvSpPr>
          <p:cNvPr id="207" name="TextBox 19"/>
          <p:cNvSpPr txBox="1"/>
          <p:nvPr/>
        </p:nvSpPr>
        <p:spPr>
          <a:xfrm>
            <a:off x="1572767" y="4800600"/>
            <a:ext cx="8727007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Recibir dos valores → sumarlos → devolver el resultado → mostrarlo. Son tres programas que expresan la misma lógica.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2"/>
          <p:cNvSpPr txBox="1"/>
          <p:nvPr/>
        </p:nvSpPr>
        <p:spPr>
          <a:xfrm>
            <a:off x="640079" y="256031"/>
            <a:ext cx="345310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Algoritmo vs. programa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658368" y="859536"/>
            <a:ext cx="185435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Una distinción fundamental.</a:t>
            </a:r>
          </a:p>
        </p:txBody>
      </p:sp>
      <p:sp>
        <p:nvSpPr>
          <p:cNvPr id="212" name="Rounded Rectangle 4"/>
          <p:cNvSpPr/>
          <p:nvPr/>
        </p:nvSpPr>
        <p:spPr>
          <a:xfrm>
            <a:off x="731519" y="1325880"/>
            <a:ext cx="5120642" cy="33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Rectangle 5"/>
          <p:cNvSpPr/>
          <p:nvPr/>
        </p:nvSpPr>
        <p:spPr>
          <a:xfrm>
            <a:off x="731519" y="1325880"/>
            <a:ext cx="73153" cy="338328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6"/>
          <p:cNvSpPr txBox="1"/>
          <p:nvPr/>
        </p:nvSpPr>
        <p:spPr>
          <a:xfrm>
            <a:off x="978407" y="1463038"/>
            <a:ext cx="1106102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Algoritmo</a:t>
            </a:r>
          </a:p>
        </p:txBody>
      </p:sp>
      <p:sp>
        <p:nvSpPr>
          <p:cNvPr id="215" name="TextBox 7"/>
          <p:cNvSpPr txBox="1"/>
          <p:nvPr/>
        </p:nvSpPr>
        <p:spPr>
          <a:xfrm>
            <a:off x="978407" y="1920239"/>
            <a:ext cx="4835388" cy="1192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La idea o lógica de la solución, independiente de un lenguaje.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(Idealmente los algoritmos son agnósticos)</a:t>
            </a:r>
            <a:br/>
            <a:br/>
            <a:r>
              <a:t>SUMAR(a,b)</a:t>
            </a:r>
            <a:br/>
            <a:r>
              <a:t>  devolver a+b</a:t>
            </a:r>
          </a:p>
        </p:txBody>
      </p:sp>
      <p:sp>
        <p:nvSpPr>
          <p:cNvPr id="216" name="Rounded Rectangle 8"/>
          <p:cNvSpPr/>
          <p:nvPr/>
        </p:nvSpPr>
        <p:spPr>
          <a:xfrm>
            <a:off x="6309359" y="1325880"/>
            <a:ext cx="5120641" cy="338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Rectangle 9"/>
          <p:cNvSpPr/>
          <p:nvPr/>
        </p:nvSpPr>
        <p:spPr>
          <a:xfrm>
            <a:off x="6309359" y="1325880"/>
            <a:ext cx="73153" cy="338328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0"/>
          <p:cNvSpPr txBox="1"/>
          <p:nvPr/>
        </p:nvSpPr>
        <p:spPr>
          <a:xfrm>
            <a:off x="6556247" y="1463038"/>
            <a:ext cx="1074526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22238"/>
                </a:solidFill>
              </a:defRPr>
            </a:lvl1pPr>
          </a:lstStyle>
          <a:p>
            <a:pPr/>
            <a:r>
              <a:t>Programa</a:t>
            </a:r>
          </a:p>
        </p:txBody>
      </p:sp>
      <p:sp>
        <p:nvSpPr>
          <p:cNvPr id="219" name="TextBox 11"/>
          <p:cNvSpPr txBox="1"/>
          <p:nvPr/>
        </p:nvSpPr>
        <p:spPr>
          <a:xfrm>
            <a:off x="6556247" y="1920239"/>
            <a:ext cx="4607308" cy="96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La implementación concreta de esa idea usando un 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lenguaje específico.</a:t>
            </a:r>
            <a:br/>
            <a:br/>
            <a:r>
              <a:t>Python, Java y C pueden implementar el mismo algoritmo.</a:t>
            </a:r>
          </a:p>
        </p:txBody>
      </p:sp>
      <p:sp>
        <p:nvSpPr>
          <p:cNvPr id="220" name="Rounded Rectangle 12"/>
          <p:cNvSpPr/>
          <p:nvPr/>
        </p:nvSpPr>
        <p:spPr>
          <a:xfrm>
            <a:off x="1920239" y="5074920"/>
            <a:ext cx="8412482" cy="868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13"/>
          <p:cNvSpPr/>
          <p:nvPr/>
        </p:nvSpPr>
        <p:spPr>
          <a:xfrm>
            <a:off x="1920239" y="5074920"/>
            <a:ext cx="73153" cy="86868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4"/>
          <p:cNvSpPr txBox="1"/>
          <p:nvPr/>
        </p:nvSpPr>
        <p:spPr>
          <a:xfrm>
            <a:off x="2167127" y="5212079"/>
            <a:ext cx="108398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Error común</a:t>
            </a:r>
          </a:p>
        </p:txBody>
      </p:sp>
      <p:sp>
        <p:nvSpPr>
          <p:cNvPr id="223" name="TextBox 15"/>
          <p:cNvSpPr txBox="1"/>
          <p:nvPr/>
        </p:nvSpPr>
        <p:spPr>
          <a:xfrm>
            <a:off x="2167127" y="5669279"/>
            <a:ext cx="65995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La misma solución escrita en dos lenguajes no se convierte automáticamente en dos algoritmos distintos.</a:t>
            </a:r>
          </a:p>
        </p:txBody>
      </p:sp>
      <p:pic>
        <p:nvPicPr>
          <p:cNvPr id="22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2"/>
          <p:cNvSpPr txBox="1"/>
          <p:nvPr/>
        </p:nvSpPr>
        <p:spPr>
          <a:xfrm>
            <a:off x="640079" y="256031"/>
            <a:ext cx="7104291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¿Cómo entiende la computadora nuestro código?</a:t>
            </a:r>
          </a:p>
        </p:txBody>
      </p:sp>
      <p:sp>
        <p:nvSpPr>
          <p:cNvPr id="228" name="TextBox 3"/>
          <p:cNvSpPr txBox="1"/>
          <p:nvPr/>
        </p:nvSpPr>
        <p:spPr>
          <a:xfrm>
            <a:off x="658368" y="859536"/>
            <a:ext cx="351468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Un traductor conecta el código fuente con la ejecución.</a:t>
            </a:r>
          </a:p>
        </p:txBody>
      </p:sp>
      <p:sp>
        <p:nvSpPr>
          <p:cNvPr id="229" name="Rounded Rectangle 4"/>
          <p:cNvSpPr/>
          <p:nvPr/>
        </p:nvSpPr>
        <p:spPr>
          <a:xfrm>
            <a:off x="640080" y="1508760"/>
            <a:ext cx="3489960" cy="214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Rectangle 5"/>
          <p:cNvSpPr/>
          <p:nvPr/>
        </p:nvSpPr>
        <p:spPr>
          <a:xfrm>
            <a:off x="640080" y="1508760"/>
            <a:ext cx="73153" cy="214884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6"/>
          <p:cNvSpPr txBox="1"/>
          <p:nvPr/>
        </p:nvSpPr>
        <p:spPr>
          <a:xfrm>
            <a:off x="886966" y="1645918"/>
            <a:ext cx="1282463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Código fuente</a:t>
            </a:r>
          </a:p>
        </p:txBody>
      </p:sp>
      <p:sp>
        <p:nvSpPr>
          <p:cNvPr id="232" name="TextBox 7"/>
          <p:cNvSpPr txBox="1"/>
          <p:nvPr/>
        </p:nvSpPr>
        <p:spPr>
          <a:xfrm>
            <a:off x="886966" y="2103120"/>
            <a:ext cx="2997825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Lo que escribe el programador: .py, .c, .java</a:t>
            </a:r>
          </a:p>
        </p:txBody>
      </p:sp>
      <p:sp>
        <p:nvSpPr>
          <p:cNvPr id="233" name="Rounded Rectangle 8"/>
          <p:cNvSpPr/>
          <p:nvPr/>
        </p:nvSpPr>
        <p:spPr>
          <a:xfrm>
            <a:off x="4358640" y="1508760"/>
            <a:ext cx="3489960" cy="214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Rectangle 9"/>
          <p:cNvSpPr/>
          <p:nvPr/>
        </p:nvSpPr>
        <p:spPr>
          <a:xfrm>
            <a:off x="4358640" y="1508760"/>
            <a:ext cx="73153" cy="214884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TextBox 10"/>
          <p:cNvSpPr txBox="1"/>
          <p:nvPr/>
        </p:nvSpPr>
        <p:spPr>
          <a:xfrm>
            <a:off x="4605528" y="1645918"/>
            <a:ext cx="91545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Traductor</a:t>
            </a:r>
          </a:p>
        </p:txBody>
      </p:sp>
      <p:sp>
        <p:nvSpPr>
          <p:cNvPr id="236" name="TextBox 11"/>
          <p:cNvSpPr txBox="1"/>
          <p:nvPr/>
        </p:nvSpPr>
        <p:spPr>
          <a:xfrm>
            <a:off x="4605528" y="2103120"/>
            <a:ext cx="2950465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Analiza y convierte el código a instrucciones que puede ejecutar una computadora.</a:t>
            </a:r>
          </a:p>
        </p:txBody>
      </p:sp>
      <p:sp>
        <p:nvSpPr>
          <p:cNvPr id="237" name="Rounded Rectangle 12"/>
          <p:cNvSpPr/>
          <p:nvPr/>
        </p:nvSpPr>
        <p:spPr>
          <a:xfrm>
            <a:off x="8077199" y="1508760"/>
            <a:ext cx="3489961" cy="2148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Rectangle 13"/>
          <p:cNvSpPr/>
          <p:nvPr/>
        </p:nvSpPr>
        <p:spPr>
          <a:xfrm>
            <a:off x="8077199" y="1508760"/>
            <a:ext cx="73153" cy="214884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4"/>
          <p:cNvSpPr txBox="1"/>
          <p:nvPr/>
        </p:nvSpPr>
        <p:spPr>
          <a:xfrm>
            <a:off x="8324086" y="1645918"/>
            <a:ext cx="904737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Ejecución</a:t>
            </a:r>
          </a:p>
        </p:txBody>
      </p:sp>
      <p:sp>
        <p:nvSpPr>
          <p:cNvPr id="240" name="TextBox 15"/>
          <p:cNvSpPr txBox="1"/>
          <p:nvPr/>
        </p:nvSpPr>
        <p:spPr>
          <a:xfrm>
            <a:off x="8324086" y="2103120"/>
            <a:ext cx="284441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La computadora realiza las instrucciones.</a:t>
            </a:r>
          </a:p>
        </p:txBody>
      </p:sp>
      <p:sp>
        <p:nvSpPr>
          <p:cNvPr id="241" name="Rounded Rectangle 16"/>
          <p:cNvSpPr/>
          <p:nvPr/>
        </p:nvSpPr>
        <p:spPr>
          <a:xfrm>
            <a:off x="1463039" y="3921759"/>
            <a:ext cx="9235442" cy="1143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Rectangle 17"/>
          <p:cNvSpPr/>
          <p:nvPr/>
        </p:nvSpPr>
        <p:spPr>
          <a:xfrm>
            <a:off x="1463039" y="3921759"/>
            <a:ext cx="73153" cy="11430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8"/>
          <p:cNvSpPr txBox="1"/>
          <p:nvPr/>
        </p:nvSpPr>
        <p:spPr>
          <a:xfrm>
            <a:off x="1709927" y="4058920"/>
            <a:ext cx="120795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No confundir</a:t>
            </a:r>
          </a:p>
        </p:txBody>
      </p:sp>
      <p:sp>
        <p:nvSpPr>
          <p:cNvPr id="244" name="TextBox 19"/>
          <p:cNvSpPr txBox="1"/>
          <p:nvPr/>
        </p:nvSpPr>
        <p:spPr>
          <a:xfrm>
            <a:off x="1709927" y="4516120"/>
            <a:ext cx="724915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Un editor permite escribir código, pero no es por sí mismo el traductor que lo convierte en algo ejecutable.</a:t>
            </a:r>
          </a:p>
        </p:txBody>
      </p:sp>
      <p:pic>
        <p:nvPicPr>
          <p:cNvPr id="24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640079" y="256031"/>
            <a:ext cx="7141628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Proceso de traducción (Intérprete vs. compilador)</a:t>
            </a:r>
          </a:p>
        </p:txBody>
      </p:sp>
      <p:sp>
        <p:nvSpPr>
          <p:cNvPr id="249" name="TextBox 3"/>
          <p:cNvSpPr txBox="1"/>
          <p:nvPr/>
        </p:nvSpPr>
        <p:spPr>
          <a:xfrm>
            <a:off x="658368" y="859536"/>
            <a:ext cx="690253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Dos formas generales de traducir programas a instrucciones que una computadora realmente puede entender</a:t>
            </a:r>
          </a:p>
        </p:txBody>
      </p:sp>
      <p:sp>
        <p:nvSpPr>
          <p:cNvPr id="250" name="Rounded Rectangle 4"/>
          <p:cNvSpPr/>
          <p:nvPr/>
        </p:nvSpPr>
        <p:spPr>
          <a:xfrm>
            <a:off x="685800" y="1325880"/>
            <a:ext cx="5257800" cy="4114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Rectangle 5"/>
          <p:cNvSpPr/>
          <p:nvPr/>
        </p:nvSpPr>
        <p:spPr>
          <a:xfrm>
            <a:off x="685800" y="1325880"/>
            <a:ext cx="73153" cy="41148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6"/>
          <p:cNvSpPr txBox="1"/>
          <p:nvPr/>
        </p:nvSpPr>
        <p:spPr>
          <a:xfrm>
            <a:off x="932687" y="1463038"/>
            <a:ext cx="106486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Intérprete</a:t>
            </a:r>
          </a:p>
        </p:txBody>
      </p:sp>
      <p:sp>
        <p:nvSpPr>
          <p:cNvPr id="253" name="TextBox 7"/>
          <p:cNvSpPr txBox="1"/>
          <p:nvPr/>
        </p:nvSpPr>
        <p:spPr>
          <a:xfrm>
            <a:off x="932687" y="1920239"/>
            <a:ext cx="4786411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Analiza y ejecuta el código instrucción por instrucción,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sin generar de antemano un ejecutable completo independiente.</a:t>
            </a:r>
            <a:br/>
            <a:br/>
            <a:r>
              <a:t>Ejemplo: Python</a:t>
            </a:r>
          </a:p>
        </p:txBody>
      </p:sp>
      <p:sp>
        <p:nvSpPr>
          <p:cNvPr id="254" name="Rounded Rectangle 8"/>
          <p:cNvSpPr/>
          <p:nvPr/>
        </p:nvSpPr>
        <p:spPr>
          <a:xfrm>
            <a:off x="6263640" y="1325880"/>
            <a:ext cx="5257801" cy="4114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ectangle 9"/>
          <p:cNvSpPr/>
          <p:nvPr/>
        </p:nvSpPr>
        <p:spPr>
          <a:xfrm>
            <a:off x="6263640" y="1325880"/>
            <a:ext cx="73153" cy="41148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10"/>
          <p:cNvSpPr txBox="1"/>
          <p:nvPr/>
        </p:nvSpPr>
        <p:spPr>
          <a:xfrm>
            <a:off x="6510526" y="1463038"/>
            <a:ext cx="120863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Compilador</a:t>
            </a:r>
          </a:p>
        </p:txBody>
      </p:sp>
      <p:sp>
        <p:nvSpPr>
          <p:cNvPr id="257" name="TextBox 11"/>
          <p:cNvSpPr txBox="1"/>
          <p:nvPr/>
        </p:nvSpPr>
        <p:spPr>
          <a:xfrm>
            <a:off x="6510526" y="1920239"/>
            <a:ext cx="4082590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Convierte el código fuente completo antes de ejecutar,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generando código ejecutable.</a:t>
            </a:r>
            <a:br/>
            <a:br/>
            <a:r>
              <a:t>Ejemplo: C</a:t>
            </a:r>
          </a:p>
        </p:txBody>
      </p:sp>
      <p:sp>
        <p:nvSpPr>
          <p:cNvPr id="258" name="Rounded Rectangle 12"/>
          <p:cNvSpPr/>
          <p:nvPr/>
        </p:nvSpPr>
        <p:spPr>
          <a:xfrm>
            <a:off x="2103120" y="5669279"/>
            <a:ext cx="7955279" cy="799032"/>
          </a:xfrm>
          <a:prstGeom prst="roundRect">
            <a:avLst>
              <a:gd name="adj" fmla="val 11826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13"/>
          <p:cNvSpPr/>
          <p:nvPr/>
        </p:nvSpPr>
        <p:spPr>
          <a:xfrm>
            <a:off x="2103120" y="5669279"/>
            <a:ext cx="73153" cy="79903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14"/>
          <p:cNvSpPr txBox="1"/>
          <p:nvPr/>
        </p:nvSpPr>
        <p:spPr>
          <a:xfrm>
            <a:off x="2350008" y="5806440"/>
            <a:ext cx="1365124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300">
                <a:solidFill>
                  <a:srgbClr val="122238"/>
                </a:solidFill>
              </a:defRPr>
            </a:lvl1pPr>
          </a:lstStyle>
          <a:p>
            <a:pPr/>
            <a:r>
              <a:t>Idea para recordar</a:t>
            </a:r>
          </a:p>
        </p:txBody>
      </p:sp>
      <p:sp>
        <p:nvSpPr>
          <p:cNvPr id="261" name="TextBox 15"/>
          <p:cNvSpPr txBox="1"/>
          <p:nvPr/>
        </p:nvSpPr>
        <p:spPr>
          <a:xfrm>
            <a:off x="2350008" y="6117336"/>
            <a:ext cx="451737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475569"/>
                </a:solidFill>
              </a:defRPr>
            </a:lvl1pPr>
          </a:lstStyle>
          <a:p>
            <a:pPr/>
            <a:r>
              <a:t>Intérprete: ejecutar mientras traduce · Compilador: traducir antes de ejecutar.</a:t>
            </a:r>
          </a:p>
        </p:txBody>
      </p:sp>
      <p:pic>
        <p:nvPicPr>
          <p:cNvPr id="26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2"/>
          <p:cNvSpPr txBox="1"/>
          <p:nvPr/>
        </p:nvSpPr>
        <p:spPr>
          <a:xfrm>
            <a:off x="640079" y="256031"/>
            <a:ext cx="980094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REPL (Read-Eval-Print-Loop) de Python: experimentar línea por línea</a:t>
            </a:r>
          </a:p>
        </p:txBody>
      </p:sp>
      <p:sp>
        <p:nvSpPr>
          <p:cNvPr id="266" name="TextBox 3"/>
          <p:cNvSpPr txBox="1"/>
          <p:nvPr/>
        </p:nvSpPr>
        <p:spPr>
          <a:xfrm>
            <a:off x="658368" y="859536"/>
            <a:ext cx="452850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Escribimos una instrucción y observamos inmediatamente su resultado.</a:t>
            </a:r>
          </a:p>
        </p:txBody>
      </p:sp>
      <p:sp>
        <p:nvSpPr>
          <p:cNvPr id="267" name="Rounded Rectangle 4"/>
          <p:cNvSpPr/>
          <p:nvPr/>
        </p:nvSpPr>
        <p:spPr>
          <a:xfrm>
            <a:off x="777240" y="1325880"/>
            <a:ext cx="5029201" cy="42976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5"/>
          <p:cNvSpPr txBox="1"/>
          <p:nvPr/>
        </p:nvSpPr>
        <p:spPr>
          <a:xfrm>
            <a:off x="987552" y="1435607"/>
            <a:ext cx="84962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Shell / REPL</a:t>
            </a:r>
          </a:p>
        </p:txBody>
      </p:sp>
      <p:sp>
        <p:nvSpPr>
          <p:cNvPr id="269" name="TextBox 6"/>
          <p:cNvSpPr txBox="1"/>
          <p:nvPr/>
        </p:nvSpPr>
        <p:spPr>
          <a:xfrm>
            <a:off x="1024127" y="1828800"/>
            <a:ext cx="2161876" cy="167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&gt;&gt;&gt; 2 + 3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&gt;&gt;&gt; nombre = "Ana"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&gt;&gt;&gt; print(nombre)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Ana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&gt;&gt;&gt; 10 &gt; 4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True</a:t>
            </a:r>
          </a:p>
        </p:txBody>
      </p:sp>
      <p:sp>
        <p:nvSpPr>
          <p:cNvPr id="270" name="Rounded Rectangle 7"/>
          <p:cNvSpPr/>
          <p:nvPr/>
        </p:nvSpPr>
        <p:spPr>
          <a:xfrm>
            <a:off x="6126479" y="1325880"/>
            <a:ext cx="525780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8"/>
          <p:cNvSpPr/>
          <p:nvPr/>
        </p:nvSpPr>
        <p:spPr>
          <a:xfrm>
            <a:off x="6126479" y="1325880"/>
            <a:ext cx="73153" cy="182880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9"/>
          <p:cNvSpPr txBox="1"/>
          <p:nvPr/>
        </p:nvSpPr>
        <p:spPr>
          <a:xfrm>
            <a:off x="6373367" y="1463038"/>
            <a:ext cx="92120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Útil para</a:t>
            </a:r>
          </a:p>
        </p:txBody>
      </p:sp>
      <p:sp>
        <p:nvSpPr>
          <p:cNvPr id="273" name="TextBox 10"/>
          <p:cNvSpPr txBox="1"/>
          <p:nvPr/>
        </p:nvSpPr>
        <p:spPr>
          <a:xfrm>
            <a:off x="6373367" y="1920239"/>
            <a:ext cx="2192336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probar expresiones</a:t>
            </a:r>
            <a:br/>
            <a:r>
              <a:t>• experimentar</a:t>
            </a:r>
            <a:br/>
            <a:r>
              <a:t>• comprobar ideas pequeñas</a:t>
            </a:r>
            <a:br/>
            <a:r>
              <a:t>• observar resultados rápido</a:t>
            </a:r>
          </a:p>
        </p:txBody>
      </p:sp>
      <p:sp>
        <p:nvSpPr>
          <p:cNvPr id="274" name="Rounded Rectangle 11"/>
          <p:cNvSpPr/>
          <p:nvPr/>
        </p:nvSpPr>
        <p:spPr>
          <a:xfrm>
            <a:off x="6126479" y="3429000"/>
            <a:ext cx="5257801" cy="21945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ectangle 12"/>
          <p:cNvSpPr/>
          <p:nvPr/>
        </p:nvSpPr>
        <p:spPr>
          <a:xfrm>
            <a:off x="6126479" y="3429000"/>
            <a:ext cx="73153" cy="21945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3"/>
          <p:cNvSpPr txBox="1"/>
          <p:nvPr/>
        </p:nvSpPr>
        <p:spPr>
          <a:xfrm>
            <a:off x="6373367" y="3566159"/>
            <a:ext cx="145107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REPL vs. script</a:t>
            </a:r>
          </a:p>
        </p:txBody>
      </p:sp>
      <p:sp>
        <p:nvSpPr>
          <p:cNvPr id="277" name="TextBox 14"/>
          <p:cNvSpPr txBox="1"/>
          <p:nvPr/>
        </p:nvSpPr>
        <p:spPr>
          <a:xfrm>
            <a:off x="6373367" y="4023359"/>
            <a:ext cx="4727289" cy="73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El REPL es interactivo.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Un archivo .py conserva varias instrucciones como un programa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que podemos volver a ejecutar.</a:t>
            </a:r>
          </a:p>
        </p:txBody>
      </p:sp>
      <p:pic>
        <p:nvPicPr>
          <p:cNvPr id="27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"/>
          <p:cNvSpPr txBox="1"/>
          <p:nvPr/>
        </p:nvSpPr>
        <p:spPr>
          <a:xfrm>
            <a:off x="640079" y="256031"/>
            <a:ext cx="581272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Fases de traducción: una mirada sencilla</a:t>
            </a:r>
          </a:p>
        </p:txBody>
      </p:sp>
      <p:sp>
        <p:nvSpPr>
          <p:cNvPr id="282" name="TextBox 3"/>
          <p:cNvSpPr txBox="1"/>
          <p:nvPr/>
        </p:nvSpPr>
        <p:spPr>
          <a:xfrm>
            <a:off x="658368" y="859536"/>
            <a:ext cx="48666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 plan distingue análisis léxico, sintáctico, semántico y generación/ejecución.</a:t>
            </a:r>
          </a:p>
        </p:txBody>
      </p:sp>
      <p:sp>
        <p:nvSpPr>
          <p:cNvPr id="283" name="Rounded Rectangle 4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ectangle 5"/>
          <p:cNvSpPr/>
          <p:nvPr/>
        </p:nvSpPr>
        <p:spPr>
          <a:xfrm>
            <a:off x="640080" y="1371600"/>
            <a:ext cx="73153" cy="18288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6"/>
          <p:cNvSpPr txBox="1"/>
          <p:nvPr/>
        </p:nvSpPr>
        <p:spPr>
          <a:xfrm>
            <a:off x="886966" y="1508760"/>
            <a:ext cx="87497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 · Léxico</a:t>
            </a:r>
          </a:p>
        </p:txBody>
      </p:sp>
      <p:sp>
        <p:nvSpPr>
          <p:cNvPr id="286" name="TextBox 7"/>
          <p:cNvSpPr txBox="1"/>
          <p:nvPr/>
        </p:nvSpPr>
        <p:spPr>
          <a:xfrm>
            <a:off x="886966" y="1965960"/>
            <a:ext cx="2662143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Identificar piezas: nombres, números,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operadores, palabras clave.</a:t>
            </a:r>
          </a:p>
        </p:txBody>
      </p:sp>
      <p:sp>
        <p:nvSpPr>
          <p:cNvPr id="287" name="Rounded Rectangle 8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Rectangle 9"/>
          <p:cNvSpPr/>
          <p:nvPr/>
        </p:nvSpPr>
        <p:spPr>
          <a:xfrm>
            <a:off x="4358640" y="1371600"/>
            <a:ext cx="73153" cy="1828800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10"/>
          <p:cNvSpPr txBox="1"/>
          <p:nvPr/>
        </p:nvSpPr>
        <p:spPr>
          <a:xfrm>
            <a:off x="4605528" y="1508760"/>
            <a:ext cx="1173917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 · Sintáctico</a:t>
            </a:r>
          </a:p>
        </p:txBody>
      </p:sp>
      <p:sp>
        <p:nvSpPr>
          <p:cNvPr id="290" name="TextBox 11"/>
          <p:cNvSpPr txBox="1"/>
          <p:nvPr/>
        </p:nvSpPr>
        <p:spPr>
          <a:xfrm>
            <a:off x="4605528" y="1965960"/>
            <a:ext cx="319122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Comprobar que las piezas siguen la gramática.</a:t>
            </a:r>
          </a:p>
        </p:txBody>
      </p:sp>
      <p:sp>
        <p:nvSpPr>
          <p:cNvPr id="291" name="Rounded Rectangle 12"/>
          <p:cNvSpPr/>
          <p:nvPr/>
        </p:nvSpPr>
        <p:spPr>
          <a:xfrm>
            <a:off x="8077199" y="1371600"/>
            <a:ext cx="3489961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13"/>
          <p:cNvSpPr/>
          <p:nvPr/>
        </p:nvSpPr>
        <p:spPr>
          <a:xfrm>
            <a:off x="8077199" y="1371600"/>
            <a:ext cx="73153" cy="18288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14"/>
          <p:cNvSpPr txBox="1"/>
          <p:nvPr/>
        </p:nvSpPr>
        <p:spPr>
          <a:xfrm>
            <a:off x="8324086" y="1508760"/>
            <a:ext cx="12381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 · Semántico</a:t>
            </a:r>
          </a:p>
        </p:txBody>
      </p:sp>
      <p:sp>
        <p:nvSpPr>
          <p:cNvPr id="294" name="TextBox 15"/>
          <p:cNvSpPr txBox="1"/>
          <p:nvPr/>
        </p:nvSpPr>
        <p:spPr>
          <a:xfrm>
            <a:off x="8324086" y="1965960"/>
            <a:ext cx="2537109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Comprobar significado y coherencia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según el lenguaje.</a:t>
            </a:r>
          </a:p>
        </p:txBody>
      </p:sp>
      <p:sp>
        <p:nvSpPr>
          <p:cNvPr id="295" name="Rounded Rectangle 16"/>
          <p:cNvSpPr/>
          <p:nvPr/>
        </p:nvSpPr>
        <p:spPr>
          <a:xfrm>
            <a:off x="64008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17"/>
          <p:cNvSpPr/>
          <p:nvPr/>
        </p:nvSpPr>
        <p:spPr>
          <a:xfrm>
            <a:off x="640080" y="3520440"/>
            <a:ext cx="73153" cy="182880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8"/>
          <p:cNvSpPr txBox="1"/>
          <p:nvPr/>
        </p:nvSpPr>
        <p:spPr>
          <a:xfrm>
            <a:off x="886966" y="3657600"/>
            <a:ext cx="1317785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 · Generación</a:t>
            </a:r>
          </a:p>
        </p:txBody>
      </p:sp>
      <p:sp>
        <p:nvSpPr>
          <p:cNvPr id="298" name="TextBox 19"/>
          <p:cNvSpPr txBox="1"/>
          <p:nvPr/>
        </p:nvSpPr>
        <p:spPr>
          <a:xfrm>
            <a:off x="886966" y="4114800"/>
            <a:ext cx="2807493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Preparar una representación que pueda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ejecutarse.</a:t>
            </a:r>
          </a:p>
        </p:txBody>
      </p:sp>
      <p:sp>
        <p:nvSpPr>
          <p:cNvPr id="299" name="Rounded Rectangle 20"/>
          <p:cNvSpPr/>
          <p:nvPr/>
        </p:nvSpPr>
        <p:spPr>
          <a:xfrm>
            <a:off x="4358640" y="3520440"/>
            <a:ext cx="348996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ectangle 21"/>
          <p:cNvSpPr/>
          <p:nvPr/>
        </p:nvSpPr>
        <p:spPr>
          <a:xfrm>
            <a:off x="4358640" y="3520440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TextBox 22"/>
          <p:cNvSpPr txBox="1"/>
          <p:nvPr/>
        </p:nvSpPr>
        <p:spPr>
          <a:xfrm>
            <a:off x="4605528" y="3657600"/>
            <a:ext cx="115397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5 · Ejecución</a:t>
            </a:r>
          </a:p>
        </p:txBody>
      </p:sp>
      <p:sp>
        <p:nvSpPr>
          <p:cNvPr id="302" name="TextBox 23"/>
          <p:cNvSpPr txBox="1"/>
          <p:nvPr/>
        </p:nvSpPr>
        <p:spPr>
          <a:xfrm>
            <a:off x="4605528" y="4114800"/>
            <a:ext cx="257411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Realizar finalmente las instrucciones.</a:t>
            </a:r>
          </a:p>
        </p:txBody>
      </p:sp>
      <p:sp>
        <p:nvSpPr>
          <p:cNvPr id="303" name="Rounded Rectangle 24"/>
          <p:cNvSpPr/>
          <p:nvPr/>
        </p:nvSpPr>
        <p:spPr>
          <a:xfrm>
            <a:off x="1645920" y="5486400"/>
            <a:ext cx="8869681" cy="906712"/>
          </a:xfrm>
          <a:prstGeom prst="roundRect">
            <a:avLst>
              <a:gd name="adj" fmla="val 12102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Rectangle 25"/>
          <p:cNvSpPr/>
          <p:nvPr/>
        </p:nvSpPr>
        <p:spPr>
          <a:xfrm>
            <a:off x="1645920" y="5486400"/>
            <a:ext cx="73153" cy="906712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26"/>
          <p:cNvSpPr txBox="1"/>
          <p:nvPr/>
        </p:nvSpPr>
        <p:spPr>
          <a:xfrm>
            <a:off x="1892808" y="5623559"/>
            <a:ext cx="133632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400">
                <a:solidFill>
                  <a:srgbClr val="122238"/>
                </a:solidFill>
              </a:defRPr>
            </a:lvl1pPr>
          </a:lstStyle>
          <a:p>
            <a:pPr/>
            <a:r>
              <a:t>Ejemplo del plan</a:t>
            </a:r>
          </a:p>
        </p:txBody>
      </p:sp>
      <p:sp>
        <p:nvSpPr>
          <p:cNvPr id="306" name="TextBox 27"/>
          <p:cNvSpPr txBox="1"/>
          <p:nvPr/>
        </p:nvSpPr>
        <p:spPr>
          <a:xfrm>
            <a:off x="1892808" y="6025895"/>
            <a:ext cx="546574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Si olvidamos los dos puntos de un if en Python, el fallo aparece en el análisis sintáctico.</a:t>
            </a:r>
          </a:p>
        </p:txBody>
      </p:sp>
      <p:pic>
        <p:nvPicPr>
          <p:cNvPr id="30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2"/>
          <p:cNvSpPr txBox="1"/>
          <p:nvPr/>
        </p:nvSpPr>
        <p:spPr>
          <a:xfrm>
            <a:off x="640079" y="256031"/>
            <a:ext cx="6336115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Demostración: provocar un error de sintaxis</a:t>
            </a:r>
          </a:p>
        </p:txBody>
      </p:sp>
      <p:sp>
        <p:nvSpPr>
          <p:cNvPr id="311" name="TextBox 3"/>
          <p:cNvSpPr txBox="1"/>
          <p:nvPr/>
        </p:nvSpPr>
        <p:spPr>
          <a:xfrm>
            <a:off x="658368" y="859536"/>
            <a:ext cx="585433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Un error de sintaxis impide que el traductor entienda correctamente la estructura del código.</a:t>
            </a:r>
          </a:p>
        </p:txBody>
      </p:sp>
      <p:sp>
        <p:nvSpPr>
          <p:cNvPr id="312" name="Rounded Rectangle 4"/>
          <p:cNvSpPr/>
          <p:nvPr/>
        </p:nvSpPr>
        <p:spPr>
          <a:xfrm>
            <a:off x="685800" y="1371600"/>
            <a:ext cx="5120641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DC262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5"/>
          <p:cNvSpPr txBox="1"/>
          <p:nvPr/>
        </p:nvSpPr>
        <p:spPr>
          <a:xfrm>
            <a:off x="896112" y="1481327"/>
            <a:ext cx="121767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Código incorrecto</a:t>
            </a:r>
          </a:p>
        </p:txBody>
      </p:sp>
      <p:sp>
        <p:nvSpPr>
          <p:cNvPr id="314" name="TextBox 6"/>
          <p:cNvSpPr txBox="1"/>
          <p:nvPr/>
        </p:nvSpPr>
        <p:spPr>
          <a:xfrm>
            <a:off x="932687" y="1874518"/>
            <a:ext cx="3076425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edad &gt;= 18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print("Mayor de edad")</a:t>
            </a:r>
          </a:p>
        </p:txBody>
      </p:sp>
      <p:sp>
        <p:nvSpPr>
          <p:cNvPr id="315" name="Rounded Rectangle 7"/>
          <p:cNvSpPr/>
          <p:nvPr/>
        </p:nvSpPr>
        <p:spPr>
          <a:xfrm>
            <a:off x="6263640" y="1371600"/>
            <a:ext cx="5120641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8"/>
          <p:cNvSpPr txBox="1"/>
          <p:nvPr/>
        </p:nvSpPr>
        <p:spPr>
          <a:xfrm>
            <a:off x="6473951" y="1481327"/>
            <a:ext cx="117481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Código corregido</a:t>
            </a:r>
          </a:p>
        </p:txBody>
      </p:sp>
      <p:sp>
        <p:nvSpPr>
          <p:cNvPr id="317" name="TextBox 9"/>
          <p:cNvSpPr txBox="1"/>
          <p:nvPr/>
        </p:nvSpPr>
        <p:spPr>
          <a:xfrm>
            <a:off x="6510526" y="1874518"/>
            <a:ext cx="3076425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edad &gt;= 18: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print("Mayor de edad")</a:t>
            </a:r>
          </a:p>
        </p:txBody>
      </p:sp>
      <p:sp>
        <p:nvSpPr>
          <p:cNvPr id="318" name="Rounded Rectangle 10"/>
          <p:cNvSpPr/>
          <p:nvPr/>
        </p:nvSpPr>
        <p:spPr>
          <a:xfrm>
            <a:off x="1417319" y="5257800"/>
            <a:ext cx="9326882" cy="8686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Rectangle 11"/>
          <p:cNvSpPr/>
          <p:nvPr/>
        </p:nvSpPr>
        <p:spPr>
          <a:xfrm>
            <a:off x="1417319" y="5257800"/>
            <a:ext cx="73153" cy="86868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12"/>
          <p:cNvSpPr txBox="1"/>
          <p:nvPr/>
        </p:nvSpPr>
        <p:spPr>
          <a:xfrm>
            <a:off x="1664208" y="5394959"/>
            <a:ext cx="11701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22238"/>
                </a:solidFill>
              </a:defRPr>
            </a:lvl1pPr>
          </a:lstStyle>
          <a:p>
            <a:pPr/>
            <a:r>
              <a:t>Qué observar</a:t>
            </a:r>
          </a:p>
        </p:txBody>
      </p:sp>
      <p:pic>
        <p:nvPicPr>
          <p:cNvPr id="32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2"/>
          <p:cNvSpPr txBox="1"/>
          <p:nvPr/>
        </p:nvSpPr>
        <p:spPr>
          <a:xfrm>
            <a:off x="640079" y="256031"/>
            <a:ext cx="4064402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Primer contacto con Python</a:t>
            </a:r>
          </a:p>
        </p:txBody>
      </p:sp>
      <p:sp>
        <p:nvSpPr>
          <p:cNvPr id="325" name="TextBox 3"/>
          <p:cNvSpPr txBox="1"/>
          <p:nvPr/>
        </p:nvSpPr>
        <p:spPr>
          <a:xfrm>
            <a:off x="658368" y="859536"/>
            <a:ext cx="377848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Tres elementos suficientes para crear nuestro primer script.</a:t>
            </a:r>
          </a:p>
        </p:txBody>
      </p:sp>
      <p:sp>
        <p:nvSpPr>
          <p:cNvPr id="326" name="Rounded Rectangle 4"/>
          <p:cNvSpPr/>
          <p:nvPr/>
        </p:nvSpPr>
        <p:spPr>
          <a:xfrm>
            <a:off x="640080" y="1371600"/>
            <a:ext cx="4983480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5"/>
          <p:cNvSpPr txBox="1"/>
          <p:nvPr/>
        </p:nvSpPr>
        <p:spPr>
          <a:xfrm>
            <a:off x="850390" y="1481327"/>
            <a:ext cx="141568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primer_programa.py</a:t>
            </a:r>
          </a:p>
        </p:txBody>
      </p:sp>
      <p:sp>
        <p:nvSpPr>
          <p:cNvPr id="328" name="TextBox 6"/>
          <p:cNvSpPr txBox="1"/>
          <p:nvPr/>
        </p:nvSpPr>
        <p:spPr>
          <a:xfrm>
            <a:off x="886966" y="1874518"/>
            <a:ext cx="2390514" cy="122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Mi primer programa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nombre = "Ana"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print("Hola")</a:t>
            </a:r>
          </a:p>
          <a:p>
            <a:pPr>
              <a:spcBef>
                <a:spcPts val="100"/>
              </a:spcBef>
              <a:defRPr sz="15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print(nombre)</a:t>
            </a:r>
          </a:p>
        </p:txBody>
      </p:sp>
      <p:sp>
        <p:nvSpPr>
          <p:cNvPr id="329" name="Rounded Rectangle 7"/>
          <p:cNvSpPr/>
          <p:nvPr/>
        </p:nvSpPr>
        <p:spPr>
          <a:xfrm>
            <a:off x="5897879" y="1371600"/>
            <a:ext cx="5394961" cy="1097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Rectangle 8"/>
          <p:cNvSpPr/>
          <p:nvPr/>
        </p:nvSpPr>
        <p:spPr>
          <a:xfrm>
            <a:off x="5897879" y="1371600"/>
            <a:ext cx="73153" cy="109728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9"/>
          <p:cNvSpPr txBox="1"/>
          <p:nvPr/>
        </p:nvSpPr>
        <p:spPr>
          <a:xfrm>
            <a:off x="6144767" y="1508760"/>
            <a:ext cx="109583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Comentario</a:t>
            </a:r>
          </a:p>
        </p:txBody>
      </p:sp>
      <p:sp>
        <p:nvSpPr>
          <p:cNvPr id="332" name="TextBox 10"/>
          <p:cNvSpPr txBox="1"/>
          <p:nvPr/>
        </p:nvSpPr>
        <p:spPr>
          <a:xfrm>
            <a:off x="6144767" y="1965960"/>
            <a:ext cx="24023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# explica el código y no se ejecuta.</a:t>
            </a:r>
          </a:p>
        </p:txBody>
      </p:sp>
      <p:sp>
        <p:nvSpPr>
          <p:cNvPr id="333" name="Rounded Rectangle 11"/>
          <p:cNvSpPr/>
          <p:nvPr/>
        </p:nvSpPr>
        <p:spPr>
          <a:xfrm>
            <a:off x="5897879" y="2697479"/>
            <a:ext cx="5394961" cy="1097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Rectangle 12"/>
          <p:cNvSpPr/>
          <p:nvPr/>
        </p:nvSpPr>
        <p:spPr>
          <a:xfrm>
            <a:off x="5897879" y="2697479"/>
            <a:ext cx="73153" cy="109728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13"/>
          <p:cNvSpPr txBox="1"/>
          <p:nvPr/>
        </p:nvSpPr>
        <p:spPr>
          <a:xfrm>
            <a:off x="6144767" y="2834639"/>
            <a:ext cx="797085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Variable</a:t>
            </a:r>
          </a:p>
        </p:txBody>
      </p:sp>
      <p:sp>
        <p:nvSpPr>
          <p:cNvPr id="336" name="TextBox 14"/>
          <p:cNvSpPr txBox="1"/>
          <p:nvPr/>
        </p:nvSpPr>
        <p:spPr>
          <a:xfrm>
            <a:off x="6144767" y="3291840"/>
            <a:ext cx="174304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nombre guarda un valor.</a:t>
            </a:r>
          </a:p>
        </p:txBody>
      </p:sp>
      <p:sp>
        <p:nvSpPr>
          <p:cNvPr id="337" name="Rounded Rectangle 15"/>
          <p:cNvSpPr/>
          <p:nvPr/>
        </p:nvSpPr>
        <p:spPr>
          <a:xfrm>
            <a:off x="5897879" y="4023359"/>
            <a:ext cx="5394961" cy="1097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Rectangle 16"/>
          <p:cNvSpPr/>
          <p:nvPr/>
        </p:nvSpPr>
        <p:spPr>
          <a:xfrm>
            <a:off x="5897879" y="4023359"/>
            <a:ext cx="73153" cy="109728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17"/>
          <p:cNvSpPr txBox="1"/>
          <p:nvPr/>
        </p:nvSpPr>
        <p:spPr>
          <a:xfrm>
            <a:off x="6144767" y="4160520"/>
            <a:ext cx="63952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print()</a:t>
            </a:r>
          </a:p>
        </p:txBody>
      </p:sp>
      <p:sp>
        <p:nvSpPr>
          <p:cNvPr id="340" name="TextBox 18"/>
          <p:cNvSpPr txBox="1"/>
          <p:nvPr/>
        </p:nvSpPr>
        <p:spPr>
          <a:xfrm>
            <a:off x="6144767" y="4617720"/>
            <a:ext cx="2333959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Muestra información en pantalla.</a:t>
            </a:r>
          </a:p>
        </p:txBody>
      </p:sp>
      <p:pic>
        <p:nvPicPr>
          <p:cNvPr id="3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"/>
          <p:cNvSpPr txBox="1"/>
          <p:nvPr/>
        </p:nvSpPr>
        <p:spPr>
          <a:xfrm>
            <a:off x="640079" y="256031"/>
            <a:ext cx="4306676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Conectar con la clase anterior</a:t>
            </a:r>
          </a:p>
        </p:txBody>
      </p:sp>
      <p:sp>
        <p:nvSpPr>
          <p:cNvPr id="345" name="TextBox 3"/>
          <p:cNvSpPr txBox="1"/>
          <p:nvPr/>
        </p:nvSpPr>
        <p:spPr>
          <a:xfrm>
            <a:off x="658368" y="859536"/>
            <a:ext cx="560966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Podemos documentar el ciclo de vida como comentarios alrededor de un mini-programa.</a:t>
            </a:r>
          </a:p>
        </p:txBody>
      </p:sp>
      <p:sp>
        <p:nvSpPr>
          <p:cNvPr id="346" name="Rounded Rectangle 4"/>
          <p:cNvSpPr/>
          <p:nvPr/>
        </p:nvSpPr>
        <p:spPr>
          <a:xfrm>
            <a:off x="731519" y="1325880"/>
            <a:ext cx="10698482" cy="45262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5"/>
          <p:cNvSpPr txBox="1"/>
          <p:nvPr/>
        </p:nvSpPr>
        <p:spPr>
          <a:xfrm>
            <a:off x="941831" y="1435607"/>
            <a:ext cx="7169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saludo.py</a:t>
            </a:r>
          </a:p>
        </p:txBody>
      </p:sp>
      <p:sp>
        <p:nvSpPr>
          <p:cNvPr id="348" name="TextBox 6"/>
          <p:cNvSpPr txBox="1"/>
          <p:nvPr/>
        </p:nvSpPr>
        <p:spPr>
          <a:xfrm>
            <a:off x="978408" y="1828800"/>
            <a:ext cx="2024694" cy="331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PROBLEMA: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Mostrar un saludo.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ANÁLISIS: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Entrada: nombre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Salida: saludo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DISEÑO: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1. Guardar nombre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2. Mostrar saludo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CODIFICACIÓN: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nombre = "Ana"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print("Hola", nombre)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PRUEBA:</a:t>
            </a:r>
          </a:p>
          <a:p>
            <a:pPr>
              <a:spcBef>
                <a:spcPts val="100"/>
              </a:spcBef>
              <a:defRPr sz="12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Esperado: Hola Ana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2"/>
          <p:cNvSpPr txBox="1"/>
          <p:nvPr/>
        </p:nvSpPr>
        <p:spPr>
          <a:xfrm>
            <a:off x="640079" y="256031"/>
            <a:ext cx="4772973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Error de sintaxis ≠ error de lógica</a:t>
            </a:r>
          </a:p>
        </p:txBody>
      </p:sp>
      <p:sp>
        <p:nvSpPr>
          <p:cNvPr id="352" name="TextBox 3"/>
          <p:cNvSpPr txBox="1"/>
          <p:nvPr/>
        </p:nvSpPr>
        <p:spPr>
          <a:xfrm>
            <a:off x="658368" y="859536"/>
            <a:ext cx="336623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No todos los errores son detectados por el traductor.</a:t>
            </a:r>
          </a:p>
        </p:txBody>
      </p:sp>
      <p:sp>
        <p:nvSpPr>
          <p:cNvPr id="353" name="Rounded Rectangle 4"/>
          <p:cNvSpPr/>
          <p:nvPr/>
        </p:nvSpPr>
        <p:spPr>
          <a:xfrm>
            <a:off x="685800" y="1325880"/>
            <a:ext cx="5257800" cy="3977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Rectangle 5"/>
          <p:cNvSpPr/>
          <p:nvPr/>
        </p:nvSpPr>
        <p:spPr>
          <a:xfrm>
            <a:off x="685800" y="1325880"/>
            <a:ext cx="73153" cy="3977640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6"/>
          <p:cNvSpPr txBox="1"/>
          <p:nvPr/>
        </p:nvSpPr>
        <p:spPr>
          <a:xfrm>
            <a:off x="932687" y="1463038"/>
            <a:ext cx="82900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Sintaxis</a:t>
            </a:r>
          </a:p>
        </p:txBody>
      </p:sp>
      <p:sp>
        <p:nvSpPr>
          <p:cNvPr id="356" name="TextBox 7"/>
          <p:cNvSpPr txBox="1"/>
          <p:nvPr/>
        </p:nvSpPr>
        <p:spPr>
          <a:xfrm>
            <a:off x="932687" y="1920239"/>
            <a:ext cx="4543325" cy="16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El código viola las reglas del lenguaje.</a:t>
            </a:r>
            <a:br/>
            <a:br/>
            <a:r>
              <a:t>Ejemplo:</a:t>
            </a:r>
            <a:br/>
            <a:r>
              <a:t>if edad &gt;= 18</a:t>
            </a:r>
            <a:br/>
            <a:r>
              <a:t>    print(...)</a:t>
            </a:r>
            <a:br/>
            <a:br/>
            <a:r>
              <a:t>Python puede señalar el problema antes de ejecutar la lógica.</a:t>
            </a:r>
          </a:p>
        </p:txBody>
      </p:sp>
      <p:sp>
        <p:nvSpPr>
          <p:cNvPr id="357" name="Rounded Rectangle 8"/>
          <p:cNvSpPr/>
          <p:nvPr/>
        </p:nvSpPr>
        <p:spPr>
          <a:xfrm>
            <a:off x="6263640" y="1325880"/>
            <a:ext cx="5257801" cy="3977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Rectangle 9"/>
          <p:cNvSpPr/>
          <p:nvPr/>
        </p:nvSpPr>
        <p:spPr>
          <a:xfrm>
            <a:off x="6263640" y="1325880"/>
            <a:ext cx="73153" cy="397764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10"/>
          <p:cNvSpPr txBox="1"/>
          <p:nvPr/>
        </p:nvSpPr>
        <p:spPr>
          <a:xfrm>
            <a:off x="6510526" y="1463038"/>
            <a:ext cx="69539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Lógica</a:t>
            </a:r>
          </a:p>
        </p:txBody>
      </p:sp>
      <p:sp>
        <p:nvSpPr>
          <p:cNvPr id="360" name="TextBox 11"/>
          <p:cNvSpPr txBox="1"/>
          <p:nvPr/>
        </p:nvSpPr>
        <p:spPr>
          <a:xfrm>
            <a:off x="6510526" y="1920239"/>
            <a:ext cx="4885642" cy="142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El código es válido y se ejecuta, pero resuelve mal el problema.</a:t>
            </a:r>
            <a:br/>
            <a:br/>
            <a:r>
              <a:t>Ejemplo:</a:t>
            </a:r>
            <a:br/>
            <a:r>
              <a:t>promedio = suma * cantidad</a:t>
            </a:r>
            <a:br/>
            <a:br/>
            <a:r>
              <a:t>El traductor puede aceptarlo; el algoritmo sigue siendo incorrecto.</a:t>
            </a:r>
          </a:p>
        </p:txBody>
      </p:sp>
      <p:pic>
        <p:nvPicPr>
          <p:cNvPr id="36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2"/>
          <p:cNvSpPr txBox="1"/>
          <p:nvPr/>
        </p:nvSpPr>
        <p:spPr>
          <a:xfrm>
            <a:off x="640079" y="256031"/>
            <a:ext cx="3631926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Práctica dirigida · Parte 1</a:t>
            </a:r>
          </a:p>
        </p:txBody>
      </p:sp>
      <p:sp>
        <p:nvSpPr>
          <p:cNvPr id="365" name="TextBox 3"/>
          <p:cNvSpPr txBox="1"/>
          <p:nvPr/>
        </p:nvSpPr>
        <p:spPr>
          <a:xfrm>
            <a:off x="658368" y="859536"/>
            <a:ext cx="296647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Trabajen primero en el REPL / Shell de Python.</a:t>
            </a:r>
          </a:p>
        </p:txBody>
      </p:sp>
      <p:sp>
        <p:nvSpPr>
          <p:cNvPr id="366" name="Rounded Rectangle 4"/>
          <p:cNvSpPr/>
          <p:nvPr/>
        </p:nvSpPr>
        <p:spPr>
          <a:xfrm>
            <a:off x="685800" y="1325880"/>
            <a:ext cx="5257800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Rectangle 5"/>
          <p:cNvSpPr/>
          <p:nvPr/>
        </p:nvSpPr>
        <p:spPr>
          <a:xfrm>
            <a:off x="685800" y="1325879"/>
            <a:ext cx="73153" cy="42062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6"/>
          <p:cNvSpPr txBox="1"/>
          <p:nvPr/>
        </p:nvSpPr>
        <p:spPr>
          <a:xfrm>
            <a:off x="932687" y="1463038"/>
            <a:ext cx="338223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Escribe y predice antes de ejecutar</a:t>
            </a:r>
          </a:p>
        </p:txBody>
      </p:sp>
      <p:sp>
        <p:nvSpPr>
          <p:cNvPr id="369" name="TextBox 7"/>
          <p:cNvSpPr txBox="1"/>
          <p:nvPr/>
        </p:nvSpPr>
        <p:spPr>
          <a:xfrm>
            <a:off x="932687" y="1920239"/>
            <a:ext cx="4440063" cy="187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1. 5 + 7</a:t>
            </a:r>
            <a:br/>
            <a:r>
              <a:t>2. 10 / 2</a:t>
            </a:r>
            <a:br/>
            <a:r>
              <a:t>3. 4 &gt; 9</a:t>
            </a:r>
            <a:br/>
            <a:r>
              <a:t>4. nombre = "Luis"</a:t>
            </a:r>
            <a:br/>
            <a:r>
              <a:t>5. print(nombre)</a:t>
            </a:r>
            <a:br/>
            <a:r>
              <a:t>6. print("2 + 3")</a:t>
            </a:r>
            <a:br/>
            <a:br/>
            <a:r>
              <a:t>Antes de presionar Enter, anota qué esperas que ocurra.</a:t>
            </a:r>
          </a:p>
        </p:txBody>
      </p:sp>
      <p:sp>
        <p:nvSpPr>
          <p:cNvPr id="370" name="Rounded Rectangle 8"/>
          <p:cNvSpPr/>
          <p:nvPr/>
        </p:nvSpPr>
        <p:spPr>
          <a:xfrm>
            <a:off x="6263640" y="1325880"/>
            <a:ext cx="525780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Rectangle 9"/>
          <p:cNvSpPr/>
          <p:nvPr/>
        </p:nvSpPr>
        <p:spPr>
          <a:xfrm>
            <a:off x="6263640" y="1325879"/>
            <a:ext cx="73153" cy="420624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10"/>
          <p:cNvSpPr txBox="1"/>
          <p:nvPr/>
        </p:nvSpPr>
        <p:spPr>
          <a:xfrm>
            <a:off x="6510526" y="1463038"/>
            <a:ext cx="88749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Observa</a:t>
            </a:r>
          </a:p>
        </p:txBody>
      </p:sp>
      <p:sp>
        <p:nvSpPr>
          <p:cNvPr id="373" name="TextBox 11"/>
          <p:cNvSpPr txBox="1"/>
          <p:nvPr/>
        </p:nvSpPr>
        <p:spPr>
          <a:xfrm>
            <a:off x="6510526" y="1920239"/>
            <a:ext cx="3663701" cy="119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¿Qué instrucciones muestran algo sin print()?</a:t>
            </a:r>
            <a:br/>
            <a:r>
              <a:t>• ¿Qué instrucciones guardan datos?</a:t>
            </a:r>
            <a:br/>
            <a:r>
              <a:t>• ¿Cuál es la diferencia entre 2 + 3 y "2 + 3"?</a:t>
            </a:r>
            <a:br/>
            <a:r>
              <a:t>• ¿Qué cambia entre escribir una expresión en el 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REPL y dentro de un script?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2"/>
          <p:cNvSpPr txBox="1"/>
          <p:nvPr/>
        </p:nvSpPr>
        <p:spPr>
          <a:xfrm>
            <a:off x="640079" y="256031"/>
            <a:ext cx="3631926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Práctica dirigida · Parte 2</a:t>
            </a:r>
          </a:p>
        </p:txBody>
      </p:sp>
      <p:sp>
        <p:nvSpPr>
          <p:cNvPr id="377" name="TextBox 3"/>
          <p:cNvSpPr txBox="1"/>
          <p:nvPr/>
        </p:nvSpPr>
        <p:spPr>
          <a:xfrm>
            <a:off x="658368" y="859536"/>
            <a:ext cx="212879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Ahora crea tu primer archivo .py.</a:t>
            </a:r>
          </a:p>
        </p:txBody>
      </p:sp>
      <p:sp>
        <p:nvSpPr>
          <p:cNvPr id="378" name="Rounded Rectangle 4"/>
          <p:cNvSpPr/>
          <p:nvPr/>
        </p:nvSpPr>
        <p:spPr>
          <a:xfrm>
            <a:off x="685800" y="1325880"/>
            <a:ext cx="5257800" cy="42519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5"/>
          <p:cNvSpPr txBox="1"/>
          <p:nvPr/>
        </p:nvSpPr>
        <p:spPr>
          <a:xfrm>
            <a:off x="896112" y="1435607"/>
            <a:ext cx="1652995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93C5FD"/>
                </a:solidFill>
              </a:defRPr>
            </a:lvl1pPr>
          </a:lstStyle>
          <a:p>
            <a:pPr/>
            <a:r>
              <a:t>mi_primer_programa.py</a:t>
            </a:r>
          </a:p>
        </p:txBody>
      </p:sp>
      <p:sp>
        <p:nvSpPr>
          <p:cNvPr id="380" name="TextBox 6"/>
          <p:cNvSpPr txBox="1"/>
          <p:nvPr/>
        </p:nvSpPr>
        <p:spPr>
          <a:xfrm>
            <a:off x="932687" y="1828800"/>
            <a:ext cx="3305062" cy="159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Mi primer script de Python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nombre = "Tu nombre"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curso = "Diseño de algoritmos"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print("Hola", nombre)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print("Bienvenido a", curso)</a:t>
            </a:r>
          </a:p>
        </p:txBody>
      </p:sp>
      <p:sp>
        <p:nvSpPr>
          <p:cNvPr id="381" name="Rounded Rectangle 7"/>
          <p:cNvSpPr/>
          <p:nvPr/>
        </p:nvSpPr>
        <p:spPr>
          <a:xfrm>
            <a:off x="6263640" y="1325880"/>
            <a:ext cx="521208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Rectangle 8"/>
          <p:cNvSpPr/>
          <p:nvPr/>
        </p:nvSpPr>
        <p:spPr>
          <a:xfrm>
            <a:off x="6263640" y="1325880"/>
            <a:ext cx="73153" cy="18288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9"/>
          <p:cNvSpPr txBox="1"/>
          <p:nvPr/>
        </p:nvSpPr>
        <p:spPr>
          <a:xfrm>
            <a:off x="6510526" y="1463038"/>
            <a:ext cx="681842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Paso 1</a:t>
            </a:r>
          </a:p>
        </p:txBody>
      </p:sp>
      <p:sp>
        <p:nvSpPr>
          <p:cNvPr id="384" name="TextBox 10"/>
          <p:cNvSpPr txBox="1"/>
          <p:nvPr/>
        </p:nvSpPr>
        <p:spPr>
          <a:xfrm>
            <a:off x="6510526" y="1920239"/>
            <a:ext cx="27019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Guarda el archivo con extensión .py.</a:t>
            </a:r>
          </a:p>
        </p:txBody>
      </p:sp>
      <p:sp>
        <p:nvSpPr>
          <p:cNvPr id="385" name="Rounded Rectangle 11"/>
          <p:cNvSpPr/>
          <p:nvPr/>
        </p:nvSpPr>
        <p:spPr>
          <a:xfrm>
            <a:off x="6263640" y="3383279"/>
            <a:ext cx="521208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Rectangle 12"/>
          <p:cNvSpPr/>
          <p:nvPr/>
        </p:nvSpPr>
        <p:spPr>
          <a:xfrm>
            <a:off x="6263640" y="3383279"/>
            <a:ext cx="73153" cy="182880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TextBox 13"/>
          <p:cNvSpPr txBox="1"/>
          <p:nvPr/>
        </p:nvSpPr>
        <p:spPr>
          <a:xfrm>
            <a:off x="6510526" y="3520440"/>
            <a:ext cx="68184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Paso 2</a:t>
            </a:r>
          </a:p>
        </p:txBody>
      </p:sp>
      <p:sp>
        <p:nvSpPr>
          <p:cNvPr id="388" name="TextBox 14"/>
          <p:cNvSpPr txBox="1"/>
          <p:nvPr/>
        </p:nvSpPr>
        <p:spPr>
          <a:xfrm>
            <a:off x="6510526" y="3977640"/>
            <a:ext cx="4759324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Ejecuta el script y verifica que aparecen las dos líneas esperadas.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TextBox 2"/>
          <p:cNvSpPr txBox="1"/>
          <p:nvPr/>
        </p:nvSpPr>
        <p:spPr>
          <a:xfrm>
            <a:off x="640079" y="256031"/>
            <a:ext cx="2638219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REPL vs. script .py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658368" y="859536"/>
            <a:ext cx="419832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Ambos ejecutan Python, pero la experiencia de trabajo es distinta.</a:t>
            </a:r>
          </a:p>
        </p:txBody>
      </p:sp>
      <p:sp>
        <p:nvSpPr>
          <p:cNvPr id="393" name="Rounded Rectangle 4"/>
          <p:cNvSpPr/>
          <p:nvPr/>
        </p:nvSpPr>
        <p:spPr>
          <a:xfrm>
            <a:off x="640080" y="1417319"/>
            <a:ext cx="3489960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Rectangle 5"/>
          <p:cNvSpPr/>
          <p:nvPr/>
        </p:nvSpPr>
        <p:spPr>
          <a:xfrm>
            <a:off x="640080" y="1417319"/>
            <a:ext cx="73153" cy="224028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6"/>
          <p:cNvSpPr txBox="1"/>
          <p:nvPr/>
        </p:nvSpPr>
        <p:spPr>
          <a:xfrm>
            <a:off x="886966" y="1554480"/>
            <a:ext cx="51173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REPL</a:t>
            </a:r>
          </a:p>
        </p:txBody>
      </p:sp>
      <p:sp>
        <p:nvSpPr>
          <p:cNvPr id="396" name="TextBox 7"/>
          <p:cNvSpPr txBox="1"/>
          <p:nvPr/>
        </p:nvSpPr>
        <p:spPr>
          <a:xfrm>
            <a:off x="886966" y="2011679"/>
            <a:ext cx="3236849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Interacción inmediata, una instrucción a la vez.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Bueno para experimentar.</a:t>
            </a:r>
          </a:p>
        </p:txBody>
      </p:sp>
      <p:sp>
        <p:nvSpPr>
          <p:cNvPr id="397" name="Rounded Rectangle 8"/>
          <p:cNvSpPr/>
          <p:nvPr/>
        </p:nvSpPr>
        <p:spPr>
          <a:xfrm>
            <a:off x="4358640" y="1417319"/>
            <a:ext cx="3489960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Rectangle 9"/>
          <p:cNvSpPr/>
          <p:nvPr/>
        </p:nvSpPr>
        <p:spPr>
          <a:xfrm>
            <a:off x="4358640" y="1417319"/>
            <a:ext cx="73153" cy="224028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TextBox 10"/>
          <p:cNvSpPr txBox="1"/>
          <p:nvPr/>
        </p:nvSpPr>
        <p:spPr>
          <a:xfrm>
            <a:off x="4605528" y="1554480"/>
            <a:ext cx="58604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Script</a:t>
            </a:r>
          </a:p>
        </p:txBody>
      </p:sp>
      <p:sp>
        <p:nvSpPr>
          <p:cNvPr id="400" name="TextBox 11"/>
          <p:cNvSpPr txBox="1"/>
          <p:nvPr/>
        </p:nvSpPr>
        <p:spPr>
          <a:xfrm>
            <a:off x="4605528" y="2011679"/>
            <a:ext cx="2669882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Código guardado en un archivo.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Bueno para programas que queremos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conservar y repetir.</a:t>
            </a:r>
          </a:p>
        </p:txBody>
      </p:sp>
      <p:sp>
        <p:nvSpPr>
          <p:cNvPr id="401" name="Rounded Rectangle 12"/>
          <p:cNvSpPr/>
          <p:nvPr/>
        </p:nvSpPr>
        <p:spPr>
          <a:xfrm>
            <a:off x="8077199" y="1417319"/>
            <a:ext cx="3489961" cy="2240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Rectangle 13"/>
          <p:cNvSpPr/>
          <p:nvPr/>
        </p:nvSpPr>
        <p:spPr>
          <a:xfrm>
            <a:off x="8077199" y="1417319"/>
            <a:ext cx="73153" cy="224028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14"/>
          <p:cNvSpPr txBox="1"/>
          <p:nvPr/>
        </p:nvSpPr>
        <p:spPr>
          <a:xfrm>
            <a:off x="8324086" y="1554480"/>
            <a:ext cx="86584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404" name="TextBox 15"/>
          <p:cNvSpPr txBox="1"/>
          <p:nvPr/>
        </p:nvSpPr>
        <p:spPr>
          <a:xfrm>
            <a:off x="8324086" y="2011679"/>
            <a:ext cx="2620626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¿Cuál usarías para probar 2 + 2?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¿Cuál para un programa de 50 líneas?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2"/>
          <p:cNvSpPr txBox="1"/>
          <p:nvPr/>
        </p:nvSpPr>
        <p:spPr>
          <a:xfrm>
            <a:off x="640079" y="256031"/>
            <a:ext cx="4783186" cy="43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Próxima clase · 24 de septiembre</a:t>
            </a:r>
          </a:p>
        </p:txBody>
      </p:sp>
      <p:sp>
        <p:nvSpPr>
          <p:cNvPr id="408" name="TextBox 3"/>
          <p:cNvSpPr txBox="1"/>
          <p:nvPr/>
        </p:nvSpPr>
        <p:spPr>
          <a:xfrm>
            <a:off x="658368" y="859536"/>
            <a:ext cx="415568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Estructura de un programa, identificadores y palabras reservadas.</a:t>
            </a:r>
          </a:p>
        </p:txBody>
      </p:sp>
      <p:sp>
        <p:nvSpPr>
          <p:cNvPr id="409" name="Rounded Rectangle 4"/>
          <p:cNvSpPr/>
          <p:nvPr/>
        </p:nvSpPr>
        <p:spPr>
          <a:xfrm>
            <a:off x="777240" y="1417319"/>
            <a:ext cx="10607041" cy="12344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ectangle 5"/>
          <p:cNvSpPr/>
          <p:nvPr/>
        </p:nvSpPr>
        <p:spPr>
          <a:xfrm>
            <a:off x="777240" y="1417319"/>
            <a:ext cx="73153" cy="123444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6"/>
          <p:cNvSpPr txBox="1"/>
          <p:nvPr/>
        </p:nvSpPr>
        <p:spPr>
          <a:xfrm>
            <a:off x="1024127" y="1554480"/>
            <a:ext cx="190079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Lo que ya llevamos</a:t>
            </a:r>
          </a:p>
        </p:txBody>
      </p:sp>
      <p:sp>
        <p:nvSpPr>
          <p:cNvPr id="412" name="TextBox 7"/>
          <p:cNvSpPr txBox="1"/>
          <p:nvPr/>
        </p:nvSpPr>
        <p:spPr>
          <a:xfrm>
            <a:off x="1024127" y="2011679"/>
            <a:ext cx="803016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Algoritmos → ciclo de vida → programación → lenguajes → traducción → primer contacto con Python.</a:t>
            </a:r>
          </a:p>
        </p:txBody>
      </p:sp>
      <p:sp>
        <p:nvSpPr>
          <p:cNvPr id="413" name="Rounded Rectangle 8"/>
          <p:cNvSpPr/>
          <p:nvPr/>
        </p:nvSpPr>
        <p:spPr>
          <a:xfrm>
            <a:off x="640080" y="3154679"/>
            <a:ext cx="3489960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Rectangle 9"/>
          <p:cNvSpPr/>
          <p:nvPr/>
        </p:nvSpPr>
        <p:spPr>
          <a:xfrm>
            <a:off x="640080" y="3154679"/>
            <a:ext cx="73153" cy="19659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10"/>
          <p:cNvSpPr txBox="1"/>
          <p:nvPr/>
        </p:nvSpPr>
        <p:spPr>
          <a:xfrm>
            <a:off x="886966" y="3291840"/>
            <a:ext cx="96635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Estructura</a:t>
            </a:r>
          </a:p>
        </p:txBody>
      </p:sp>
      <p:sp>
        <p:nvSpPr>
          <p:cNvPr id="416" name="TextBox 11"/>
          <p:cNvSpPr txBox="1"/>
          <p:nvPr/>
        </p:nvSpPr>
        <p:spPr>
          <a:xfrm>
            <a:off x="886966" y="3749040"/>
            <a:ext cx="2848607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¿Cómo se organiza un programa Python?</a:t>
            </a:r>
          </a:p>
        </p:txBody>
      </p:sp>
      <p:sp>
        <p:nvSpPr>
          <p:cNvPr id="417" name="Rounded Rectangle 12"/>
          <p:cNvSpPr/>
          <p:nvPr/>
        </p:nvSpPr>
        <p:spPr>
          <a:xfrm>
            <a:off x="4358640" y="3154679"/>
            <a:ext cx="3489960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Rectangle 13"/>
          <p:cNvSpPr/>
          <p:nvPr/>
        </p:nvSpPr>
        <p:spPr>
          <a:xfrm>
            <a:off x="4358640" y="3154679"/>
            <a:ext cx="73153" cy="196596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4"/>
          <p:cNvSpPr txBox="1"/>
          <p:nvPr/>
        </p:nvSpPr>
        <p:spPr>
          <a:xfrm>
            <a:off x="4605528" y="3291840"/>
            <a:ext cx="1367096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Identificadores</a:t>
            </a:r>
          </a:p>
        </p:txBody>
      </p:sp>
      <p:sp>
        <p:nvSpPr>
          <p:cNvPr id="420" name="TextBox 15"/>
          <p:cNvSpPr txBox="1"/>
          <p:nvPr/>
        </p:nvSpPr>
        <p:spPr>
          <a:xfrm>
            <a:off x="4605528" y="3749040"/>
            <a:ext cx="2642634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¿Cómo podemos nombrar variables y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funciones?</a:t>
            </a:r>
          </a:p>
        </p:txBody>
      </p:sp>
      <p:sp>
        <p:nvSpPr>
          <p:cNvPr id="421" name="Rounded Rectangle 16"/>
          <p:cNvSpPr/>
          <p:nvPr/>
        </p:nvSpPr>
        <p:spPr>
          <a:xfrm>
            <a:off x="8077199" y="3154679"/>
            <a:ext cx="3489961" cy="19659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Rectangle 17"/>
          <p:cNvSpPr/>
          <p:nvPr/>
        </p:nvSpPr>
        <p:spPr>
          <a:xfrm>
            <a:off x="8077199" y="3154679"/>
            <a:ext cx="73153" cy="196596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18"/>
          <p:cNvSpPr txBox="1"/>
          <p:nvPr/>
        </p:nvSpPr>
        <p:spPr>
          <a:xfrm>
            <a:off x="8324086" y="3291840"/>
            <a:ext cx="177647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Palabras reservadas</a:t>
            </a:r>
          </a:p>
        </p:txBody>
      </p:sp>
      <p:sp>
        <p:nvSpPr>
          <p:cNvPr id="424" name="TextBox 19"/>
          <p:cNvSpPr txBox="1"/>
          <p:nvPr/>
        </p:nvSpPr>
        <p:spPr>
          <a:xfrm>
            <a:off x="8324086" y="3749040"/>
            <a:ext cx="2479227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¿Por qué no podemos llamar a una 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variable if o for?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