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notesMasterIdLst>
    <p:notesMasterId r:id="rId4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75c91c3b-1507-c4f0-c8f6-d8ed91b20e5a}">
          <p14:sldIdLst>
            <p14:sldId id="256"/>
            <p14:sldId id="257"/>
            <p14:sldId id="258"/>
          </p14:sldIdLst>
        </p14:section>
        <p14:section name="Decisiones" id="{becd0afe-41eb-edc2-954f-be0ddbb3e5c9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Ciclos y acumuladores" id="{5d771ebc-2e31-1082-dea0-cfe99c75db01}">
          <p14:sldIdLst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Recorridos" id="{a66ae258-8c42-c118-acb9-88bfed4404ba}">
          <p14:sldIdLst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</p14:sldIdLst>
        </p14:section>
        <p14:section name="Estructuras avanzadas" id="{dd30f298-2869-769a-4fc1-35b27663be1c}">
          <p14:sldIdLst>
            <p14:sldId id="288"/>
            <p14:sldId id="289"/>
            <p14:sldId id="290"/>
            <p14:sldId id="291"/>
            <p14:sldId id="292"/>
            <p14:sldId id="293"/>
          </p14:sldIdLst>
        </p14:section>
        <p14:section name="Repaso" id="{beccdc69-952e-0429-62d2-9eb43fe92752}">
          <p14:sldIdLst>
            <p14:sldId id="294"/>
            <p14:sldId id="295"/>
            <p14:sldId id="296"/>
            <p14:sldId id="297"/>
            <p14:sldId id="29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Hoy repasamos todas las estructuras de la guía de estudio (guia_estructuras.pdf). Cada una: esqueleto, ejemplo, cómo reconocerla y error típico.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Respuestas: 1) "no tienes boleto"  2) "maratón de series en casa"  3) False  4) True  5) False  6) 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Respuestas: A) for + if + contador.  B) derecha → izquierda con return temprano (regresa i + 1).  C) if de validación + acumulador mínimo que empieza con el primer elemento.  D) recorrido circular con %.  E) while que se detiene al juntar el dinero (-1 si no alcanza).  F) for dentro de for con j desde i + 1.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12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097280"/>
            <a:ext cx="8686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Estructuras de programación:</a:t>
            </a:r>
            <a:endParaRPr lang="en-US" sz="4100" dirty="0"/>
          </a:p>
          <a:p>
            <a:pPr indent="0" marL="0">
              <a:buNone/>
            </a:pPr>
            <a:r>
              <a:rPr lang="en-US" sz="4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para el Parcial 2</a:t>
            </a:r>
            <a:endParaRPr lang="en-US" sz="4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246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13 · Jueves 22 de octubre de 2026 · Aula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292608"/>
            <a:ext cx="11002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12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de la sesión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41248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un enunciado, reconocer qué estructura pide y escribir su esqueleto sin dudar.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463040"/>
            <a:ext cx="5364328" cy="2057400"/>
          </a:xfrm>
          <a:prstGeom prst="roundRect">
            <a:avLst>
              <a:gd name="adj" fmla="val 622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490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11680"/>
            <a:ext cx="49071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if</a:t>
            </a:r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if</a:t>
            </a:r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else</a:t>
            </a:r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elif</a:t>
            </a:r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if</a:t>
            </a:r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anidados,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and</a:t>
            </a:r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or</a:t>
            </a:r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not</a:t>
            </a:r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33008" y="1463040"/>
            <a:ext cx="5364328" cy="2057400"/>
          </a:xfrm>
          <a:prstGeom prst="roundRect">
            <a:avLst>
              <a:gd name="adj" fmla="val 622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61608" y="1600200"/>
            <a:ext cx="490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Ciclos y acumuladores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61608" y="2011680"/>
            <a:ext cx="49071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for</a:t>
            </a:r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por elementos, suma, contador, producto, mínimo, lista nueva.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3794760"/>
            <a:ext cx="5364328" cy="2057400"/>
          </a:xfrm>
          <a:prstGeom prst="roundRect">
            <a:avLst>
              <a:gd name="adj" fmla="val 622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2960" y="3931920"/>
            <a:ext cx="490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Recorridos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343400"/>
            <a:ext cx="49071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Índices, izquierda ↔ derecha, dos extremos, dos listas,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%</a:t>
            </a:r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while</a:t>
            </a:r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33008" y="3794760"/>
            <a:ext cx="5364328" cy="2057400"/>
          </a:xfrm>
          <a:prstGeom prst="roundRect">
            <a:avLst>
              <a:gd name="adj" fmla="val 622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461608" y="3931920"/>
            <a:ext cx="490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Estructuras avanzadas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461608" y="4343400"/>
            <a:ext cx="49071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for</a:t>
            </a:r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dentro de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for</a:t>
            </a:r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recursividad, lista de diccionarios.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292608"/>
            <a:ext cx="11002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12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estudiar cada estructura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41248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sección de la guía trae las mismas cuatro partes.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463040"/>
            <a:ext cx="2545004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20878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Esqueleto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11680"/>
            <a:ext cx="20878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forma general. Palabras como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condicion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son las piezas que tú cambias.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413684" y="1463040"/>
            <a:ext cx="2545004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642284" y="1600200"/>
            <a:ext cx="20878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642284" y="2011680"/>
            <a:ext cx="20878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caso mínimo que funciona, con su propia lista y su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33008" y="1463040"/>
            <a:ext cx="2545004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61608" y="1600200"/>
            <a:ext cx="20878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reconocerla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61608" y="2011680"/>
            <a:ext cx="20878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pistas en el enunciado del problema.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052331" y="1463040"/>
            <a:ext cx="2545004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280931" y="1600200"/>
            <a:ext cx="20878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Error típico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280931" y="2011680"/>
            <a:ext cx="20878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más se equivoca en los exámenes.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143000" y="3886200"/>
            <a:ext cx="9905695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1371600" y="4023360"/>
            <a:ext cx="9448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Convención de nombres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4434840"/>
            <a:ext cx="94484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variable o parámetro que guarda una </a:t>
            </a:r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</a:t>
            </a:r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empieza con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lista_</a:t>
            </a:r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lista_playlist</a:t>
            </a:r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lista_resultados</a:t>
            </a:r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Con sólo leer el nombre sabes que puedes usar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for</a:t>
            </a:r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len()</a:t>
            </a:r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[i]</a:t>
            </a:r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94360" y="5669280"/>
            <a:ext cx="110029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ejemplos están en </a:t>
            </a:r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ejemplo_estructuras.py</a:t>
            </a:r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ejecútalo y compara cada </a:t>
            </a:r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print</a:t>
            </a:r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su comentario.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292608"/>
            <a:ext cx="11002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12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Función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41248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datos (parámetros), hace algo con ellos y regresa un resultado.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463040"/>
            <a:ext cx="5760720" cy="2468880"/>
          </a:xfrm>
          <a:prstGeom prst="roundRect">
            <a:avLst>
              <a:gd name="adj" fmla="val 6667"/>
            </a:avLst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57276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Esqueleto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5394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69CD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def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nombre_funcion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par_1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par_2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par_n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: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A995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La lógica de la función va aquí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print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nombre_funcion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A995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0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4206240"/>
            <a:ext cx="576072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43434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Error típico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754880"/>
            <a:ext cx="5303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print</a:t>
            </a:r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lugar de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return</a:t>
            </a:r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la función "se ve" bien en la terminal, pero regresa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None</a:t>
            </a:r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629400" y="1463040"/>
            <a:ext cx="4965192" cy="246888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858000" y="1600200"/>
            <a:ext cx="4507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Partes de una función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0" y="2011680"/>
            <a:ext cx="450799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def</a:t>
            </a:r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el nombre, los paréntesis y los dos puntos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: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de adentro lleva 4 espacios de sangría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ejecuta sólo cuando la </a:t>
            </a:r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llamas</a:t>
            </a:r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nombre_funcion(1, 2, 3)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629400" y="4206240"/>
            <a:ext cx="4965192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858000" y="4343400"/>
            <a:ext cx="4507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6A34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return</a:t>
            </a:r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vs </a:t>
            </a:r>
            <a:pPr indent="0" marL="0">
              <a:buNone/>
            </a:pPr>
            <a:r>
              <a:rPr lang="en-US" sz="1500" b="1" dirty="0">
                <a:solidFill>
                  <a:srgbClr val="16A34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print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0" y="4754880"/>
            <a:ext cx="45079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return</a:t>
            </a:r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regresa</a:t>
            </a:r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 valor a quien llamó y </a:t>
            </a:r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</a:t>
            </a:r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función.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print</a:t>
            </a:r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sólo lo muestra en pantalla.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292608"/>
            <a:ext cx="11002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12223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return</a:t>
            </a:r>
            <a:pPr indent="0" marL="0">
              <a:buNone/>
            </a:pPr>
            <a:r>
              <a:rPr lang="en-US" sz="2700" b="1" dirty="0">
                <a:solidFill>
                  <a:srgbClr val="12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vs </a:t>
            </a:r>
            <a:pPr indent="0" marL="0">
              <a:buNone/>
            </a:pPr>
            <a:r>
              <a:rPr lang="en-US" sz="2600" b="1" dirty="0">
                <a:solidFill>
                  <a:srgbClr val="12223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print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41248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 partido, cada victoria vale 3 puntos. ¿Qué guarda la variable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puntos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463040"/>
            <a:ext cx="5364328" cy="2926080"/>
          </a:xfrm>
          <a:prstGeom prst="roundRect">
            <a:avLst>
              <a:gd name="adj" fmla="val 5625"/>
            </a:avLst>
          </a:prstGeom>
          <a:solidFill>
            <a:srgbClr val="0F172A"/>
          </a:solidFill>
          <a:ln w="19050">
            <a:solidFill>
              <a:srgbClr val="DC262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572768"/>
            <a:ext cx="4907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Incorrecto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499856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569CD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def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puntos_por_victoria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:</a:t>
            </a:r>
            <a:endParaRPr lang="en-US" sz="14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print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endParaRPr lang="en-US" sz="14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4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4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puntos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puntos_por_victoria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6A995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muestra 3</a:t>
            </a:r>
            <a:endParaRPr lang="en-US" sz="14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print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puntos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6A995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None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33008" y="1463040"/>
            <a:ext cx="5364328" cy="2926080"/>
          </a:xfrm>
          <a:prstGeom prst="roundRect">
            <a:avLst>
              <a:gd name="adj" fmla="val 5625"/>
            </a:avLst>
          </a:prstGeom>
          <a:solidFill>
            <a:srgbClr val="0F172A"/>
          </a:solidFill>
          <a:ln w="19050">
            <a:solidFill>
              <a:srgbClr val="16A3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61608" y="1572768"/>
            <a:ext cx="4907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Correcto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61608" y="1874520"/>
            <a:ext cx="499856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569CD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def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puntos_por_victoria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:</a:t>
            </a:r>
            <a:endParaRPr lang="en-US" sz="14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</a:t>
            </a:r>
            <a:endParaRPr lang="en-US" sz="14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4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4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puntos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puntos_por_victoria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endParaRPr lang="en-US" sz="14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print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puntos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6A995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3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94360" y="4663440"/>
            <a:ext cx="5364328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2960" y="4800600"/>
            <a:ext cx="490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</a:t>
            </a:r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print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5212080"/>
            <a:ext cx="4907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3 aparece en pantalla, pero la función regresa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None</a:t>
            </a:r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el valor se pierde.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33008" y="4663440"/>
            <a:ext cx="5364328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461608" y="4800600"/>
            <a:ext cx="490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</a:t>
            </a:r>
            <a:pPr indent="0" marL="0">
              <a:buNone/>
            </a:pPr>
            <a:r>
              <a:rPr lang="en-US" sz="1500" b="1" dirty="0">
                <a:solidFill>
                  <a:srgbClr val="16A34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return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461608" y="5212080"/>
            <a:ext cx="4907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3 regresa a quien llamó y queda guardado en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puntos</a:t>
            </a:r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292608"/>
            <a:ext cx="11002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12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Variables y tipos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41248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perfil de un jugador: cada dato en una variable de su tipo; al final, todos en un diccionario.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371600"/>
            <a:ext cx="7498080" cy="4846320"/>
          </a:xfrm>
          <a:prstGeom prst="roundRect">
            <a:avLst>
              <a:gd name="adj" fmla="val 3396"/>
            </a:avLst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48132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783080"/>
            <a:ext cx="71323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69CD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def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crear_perfil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: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usuario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E91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"ana_gamer"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A995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Texto (str)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nivel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42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A995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Entero (int)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horas_jugadas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310.5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A995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Decimal (float)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es_premium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69CD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True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A995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Booleano (bool)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lista_juegos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E91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"Minecraft"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E91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"Fortnite"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E91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"Mario Kart"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]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A995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Lista (list)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perfil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{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A995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Diccionario (dict): junta todos los datos del perfil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E91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"usuario"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: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usuario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E91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"nivel"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: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nivel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E91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"horas_jugadas"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: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horas_jugadas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E91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"es_premium"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: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es_premium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E91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"juegos"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: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lista_juegos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perfil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perfil_ana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crear_perfil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print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perfil_ana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E91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"usuario"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]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A995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ana_gamer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print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perfil_ana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E91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"juegos"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]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A995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['Minecraft', 'Fortnite', 'Mario Kart']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366760" y="1371600"/>
            <a:ext cx="3230575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595360" y="1508760"/>
            <a:ext cx="2773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563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</a:t>
            </a:r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asigna, </a:t>
            </a:r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==</a:t>
            </a:r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compara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595360" y="1920240"/>
            <a:ext cx="27733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nivel = 42</a:t>
            </a:r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guarda;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nivel == 42</a:t>
            </a:r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pregunta.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366760" y="3063240"/>
            <a:ext cx="3230575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595360" y="3200400"/>
            <a:ext cx="2773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Lista: por posición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595360" y="3611880"/>
            <a:ext cx="27733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lista_juegos[0]</a:t>
            </a:r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"Minecraft"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366760" y="4754880"/>
            <a:ext cx="3230575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595360" y="4892040"/>
            <a:ext cx="2773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Diccionario: por llave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595360" y="5303520"/>
            <a:ext cx="27733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perfil_ana["usuario"]</a:t>
            </a:r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"ana_gamer"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292608"/>
            <a:ext cx="11002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12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</a:t>
            </a:r>
            <a:pPr indent="0" marL="0">
              <a:buNone/>
            </a:pPr>
            <a:r>
              <a:rPr lang="en-US" sz="2600" b="1" dirty="0">
                <a:solidFill>
                  <a:srgbClr val="12223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if</a:t>
            </a:r>
            <a:pPr indent="0" marL="0">
              <a:buNone/>
            </a:pPr>
            <a:r>
              <a:rPr lang="en-US" sz="2700" b="1" dirty="0">
                <a:solidFill>
                  <a:srgbClr val="12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sin </a:t>
            </a:r>
            <a:pPr indent="0" marL="0">
              <a:buNone/>
            </a:pPr>
            <a:r>
              <a:rPr lang="en-US" sz="2600" b="1" dirty="0">
                <a:solidFill>
                  <a:srgbClr val="12223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else</a:t>
            </a:r>
            <a:pPr indent="0" marL="0">
              <a:buNone/>
            </a:pPr>
            <a:r>
              <a:rPr lang="en-US" sz="2700" b="1" dirty="0">
                <a:solidFill>
                  <a:srgbClr val="12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Uso 1: valor por defecto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41248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un bloque para cuando la condición se cumple y ninguno para cuando no.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463040"/>
            <a:ext cx="4754880" cy="1828800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57276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Esqueleto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4389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resultado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valor_por_defecto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if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condicion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: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resultado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otro_valor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resultado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623560" y="1463040"/>
            <a:ext cx="5973775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5852160" y="1600200"/>
            <a:ext cx="55165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idea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852160" y="2011680"/>
            <a:ext cx="551657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variable empieza con un </a:t>
            </a:r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por defecto</a:t>
            </a:r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el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if</a:t>
            </a:r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sólo la cambia cuando hace falta. Si no se cumple, el programa sigue con la siguiente línea.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4360" y="3566160"/>
            <a:ext cx="11002975" cy="2651760"/>
          </a:xfrm>
          <a:prstGeom prst="roundRect">
            <a:avLst>
              <a:gd name="adj" fmla="val 6207"/>
            </a:avLst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2960" y="3675888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¿qué canción suena primero en la playlist?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977640"/>
            <a:ext cx="1063721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69CD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def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primera_cancion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lista_playlist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: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cancion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69CD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None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A995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valor por defecto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if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len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lista_playlist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: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cancion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lista_playlist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]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A995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sólo cambia si se cumple la condición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cancion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print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primera_cancion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CE91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"Tusa"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CE91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"La Bachata"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CE91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"Ojitos Lindos"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]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A995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Tusa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292608"/>
            <a:ext cx="11002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12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</a:t>
            </a:r>
            <a:pPr indent="0" marL="0">
              <a:buNone/>
            </a:pPr>
            <a:r>
              <a:rPr lang="en-US" sz="2600" b="1" dirty="0">
                <a:solidFill>
                  <a:srgbClr val="12223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if</a:t>
            </a:r>
            <a:pPr indent="0" marL="0">
              <a:buNone/>
            </a:pPr>
            <a:r>
              <a:rPr lang="en-US" sz="2700" b="1" dirty="0">
                <a:solidFill>
                  <a:srgbClr val="12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sin </a:t>
            </a:r>
            <a:pPr indent="0" marL="0">
              <a:buNone/>
            </a:pPr>
            <a:r>
              <a:rPr lang="en-US" sz="2600" b="1" dirty="0">
                <a:solidFill>
                  <a:srgbClr val="12223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else</a:t>
            </a:r>
            <a:pPr indent="0" marL="0">
              <a:buNone/>
            </a:pPr>
            <a:r>
              <a:rPr lang="en-US" sz="2700" b="1" dirty="0">
                <a:solidFill>
                  <a:srgbClr val="12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Uso 2: validar un edge case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41248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revisa un edge case y, si se cumple, termina la función con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371600"/>
            <a:ext cx="11002975" cy="1600200"/>
          </a:xfrm>
          <a:prstGeom prst="roundRect">
            <a:avLst>
              <a:gd name="adj" fmla="val 10286"/>
            </a:avLst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481328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Esqueleto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783080"/>
            <a:ext cx="106372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if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edge_case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: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valor_para_el_edge_case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A995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la función termina aquí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A995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caso normal: sólo se llega aquí si el edge case no se cumplió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resultado_normal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3154680"/>
            <a:ext cx="11002975" cy="2606040"/>
          </a:xfrm>
          <a:prstGeom prst="roundRect">
            <a:avLst>
              <a:gd name="adj" fmla="val 6316"/>
            </a:avLst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3264408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la misma función, escrita como validación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566160"/>
            <a:ext cx="10637215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69CD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def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primera_cancion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lista_playlist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: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if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len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lista_playlist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: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A995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edge case: la playlist está vacía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69CD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None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A995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la función termina aquí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lista_playlist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]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A995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caso normal: sólo se llega si hay canciones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print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primera_cancion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]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A995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None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print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primera_cancion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CE91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"Tusa"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CE91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"La Bachata"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CE91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"Ojitos Lindos"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]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A995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Tusa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5897880"/>
            <a:ext cx="11002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la condición se cumpla no es "algo extra": es la </a:t>
            </a:r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 de emergencia</a:t>
            </a:r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No hace falta </a:t>
            </a:r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else</a:t>
            </a:r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el </a:t>
            </a:r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return</a:t>
            </a:r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ya terminó la función.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292608"/>
            <a:ext cx="11002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12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</a:t>
            </a:r>
            <a:pPr indent="0" marL="0">
              <a:buNone/>
            </a:pPr>
            <a:r>
              <a:rPr lang="en-US" sz="2600" b="1" dirty="0">
                <a:solidFill>
                  <a:srgbClr val="12223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if</a:t>
            </a:r>
            <a:pPr indent="0" marL="0">
              <a:buNone/>
            </a:pPr>
            <a:r>
              <a:rPr lang="en-US" sz="2700" b="1" dirty="0">
                <a:solidFill>
                  <a:srgbClr val="12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sin </a:t>
            </a:r>
            <a:pPr indent="0" marL="0">
              <a:buNone/>
            </a:pPr>
            <a:r>
              <a:rPr lang="en-US" sz="2600" b="1" dirty="0">
                <a:solidFill>
                  <a:srgbClr val="12223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else</a:t>
            </a:r>
            <a:pPr indent="0" marL="0">
              <a:buNone/>
            </a:pPr>
            <a:r>
              <a:rPr lang="en-US" sz="2700" b="1" dirty="0">
                <a:solidFill>
                  <a:srgbClr val="12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puntos clave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94360" y="1234440"/>
            <a:ext cx="5364328" cy="22402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490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Validaciones al inicio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783080"/>
            <a:ext cx="490712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antes de usar los datos. Aquí protege a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lista_playlist[0]</a:t>
            </a:r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que con una playlist vacía lanzaría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IndexError</a:t>
            </a:r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233008" y="1234440"/>
            <a:ext cx="5364328" cy="22402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461608" y="1371600"/>
            <a:ext cx="490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por cada edge case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61608" y="1783080"/>
            <a:ext cx="490712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función puede tener varias validaciones seguidas: playlist vacía, divisor en cero, dato inválido…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4360" y="3749040"/>
            <a:ext cx="5364328" cy="237744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22960" y="3886200"/>
            <a:ext cx="490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reconocerla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297680"/>
            <a:ext cx="490712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1: "si pasa X, cambia / agrega / cuenta…" y no dice qué hacer en el otro caso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2: "si la lista está vacía regresa…", "si el dato no es válido regresa…"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33008" y="3749040"/>
            <a:ext cx="5364328" cy="237744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461608" y="3886200"/>
            <a:ext cx="490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Error típico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61608" y="4297680"/>
            <a:ext cx="490712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Olvidar el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return</a:t>
            </a:r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dentro del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if</a:t>
            </a:r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la validación "detecta" el edge case, pero la función sigue de largo y truena en la línea de abajo.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292608"/>
            <a:ext cx="11002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12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</a:t>
            </a:r>
            <a:pPr indent="0" marL="0">
              <a:buNone/>
            </a:pPr>
            <a:r>
              <a:rPr lang="en-US" sz="2600" b="1" dirty="0">
                <a:solidFill>
                  <a:srgbClr val="12223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if</a:t>
            </a:r>
            <a:pPr indent="0" marL="0">
              <a:buNone/>
            </a:pPr>
            <a:r>
              <a:rPr lang="en-US" sz="2700" b="1" dirty="0">
                <a:solidFill>
                  <a:srgbClr val="12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pPr indent="0" marL="0">
              <a:buNone/>
            </a:pPr>
            <a:r>
              <a:rPr lang="en-US" sz="2600" b="1" dirty="0">
                <a:solidFill>
                  <a:srgbClr val="12223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else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41248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caminos: si la condición se cumple, un bloque; si no, el otro. Siempre se ejecuta uno.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463040"/>
            <a:ext cx="5364328" cy="27432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572768"/>
            <a:ext cx="4907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Versión 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499856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69CD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def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es_mayor_edad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edad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: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if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edad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18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: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69CD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True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else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: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69CD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False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print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es_mayor_edad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20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A995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True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33008" y="1463040"/>
            <a:ext cx="5364328" cy="27432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61608" y="1572768"/>
            <a:ext cx="4907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Versión 2: la mayoría de edad como parámetro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61608" y="1874520"/>
            <a:ext cx="499856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69CD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def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es_mayor_edad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edad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mayoria_edad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: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if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edad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mayoria_edad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: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69CD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True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else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: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69CD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False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print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es_mayor_edad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20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21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A995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False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4360" y="4480560"/>
            <a:ext cx="3484778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2960" y="4617720"/>
            <a:ext cx="30275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un parámetro?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5029200"/>
            <a:ext cx="30275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mayoría de edad no es igual en todos lados (en EE. UU., para algunas cosas, es 21).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353458" y="4480560"/>
            <a:ext cx="3484778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4582058" y="4617720"/>
            <a:ext cx="30275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reconocerla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582058" y="5029200"/>
            <a:ext cx="30275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"Si … regresa X, si no regresa Y".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112557" y="4480560"/>
            <a:ext cx="3484778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341157" y="4617720"/>
            <a:ext cx="30275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Error típico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341157" y="5029200"/>
            <a:ext cx="30275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&gt;</a:t>
            </a:r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cuando dice "mayor </a:t>
            </a:r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igual</a:t>
            </a:r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":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es_mayor_edad(18)</a:t>
            </a:r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daría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False</a:t>
            </a:r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292608"/>
            <a:ext cx="11002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12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</a:t>
            </a:r>
            <a:pPr indent="0" marL="0">
              <a:buNone/>
            </a:pPr>
            <a:r>
              <a:rPr lang="en-US" sz="2600" b="1" dirty="0">
                <a:solidFill>
                  <a:srgbClr val="12223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if</a:t>
            </a:r>
            <a:pPr indent="0" marL="0">
              <a:buNone/>
            </a:pPr>
            <a:r>
              <a:rPr lang="en-US" sz="2700" b="1" dirty="0">
                <a:solidFill>
                  <a:srgbClr val="12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pPr indent="0" marL="0">
              <a:buNone/>
            </a:pPr>
            <a:r>
              <a:rPr lang="en-US" sz="2600" b="1" dirty="0">
                <a:solidFill>
                  <a:srgbClr val="12223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elif</a:t>
            </a:r>
            <a:pPr indent="0" marL="0">
              <a:buNone/>
            </a:pPr>
            <a:r>
              <a:rPr lang="en-US" sz="2700" b="1" dirty="0">
                <a:solidFill>
                  <a:srgbClr val="12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pPr indent="0" marL="0">
              <a:buNone/>
            </a:pPr>
            <a:r>
              <a:rPr lang="en-US" sz="2600" b="1" dirty="0">
                <a:solidFill>
                  <a:srgbClr val="12223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else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41248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plan del viernes depende de cuántos amigos se apuntan.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371600"/>
            <a:ext cx="11002975" cy="329184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481328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783080"/>
            <a:ext cx="106372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569CD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def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plan_de_viernes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lista_amigos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: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if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len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lista_amigos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: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CE91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"maratón de series en casa"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elif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len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lista_amigos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: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CE91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"ir al cine"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elif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len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lista_amigos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5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: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CE91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"noche de videojuegos"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else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: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CE91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"fiesta"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print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plan_de_viernes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CE91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"Ana"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CE91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"Beto"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CE91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"Caro"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]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6A995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noche de videojuegos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4892040"/>
            <a:ext cx="3484778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5029200"/>
            <a:ext cx="30275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orden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440680"/>
            <a:ext cx="30275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revisa de arriba a abajo y ejecuta </a:t>
            </a:r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sólo el primer</a:t>
            </a:r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bloque que se cumple.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53458" y="4892040"/>
            <a:ext cx="3484778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582058" y="5029200"/>
            <a:ext cx="30275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reconocerla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82058" y="5440680"/>
            <a:ext cx="30275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Rangos o categorías: bronce, plata, oro…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112557" y="4892040"/>
            <a:ext cx="3484778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341157" y="5029200"/>
            <a:ext cx="30275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Error típico: el orden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341157" y="5440680"/>
            <a:ext cx="30275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más específico va primero. Con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&lt;= 5</a:t>
            </a:r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arriba, 0 amigos daría videojuegos.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292608"/>
            <a:ext cx="11002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12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</a:t>
            </a:r>
            <a:pPr indent="0" marL="0">
              <a:buNone/>
            </a:pPr>
            <a:r>
              <a:rPr lang="en-US" sz="2600" b="1" dirty="0">
                <a:solidFill>
                  <a:srgbClr val="12223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if</a:t>
            </a:r>
            <a:pPr indent="0" marL="0">
              <a:buNone/>
            </a:pPr>
            <a:r>
              <a:rPr lang="en-US" sz="2700" b="1" dirty="0">
                <a:solidFill>
                  <a:srgbClr val="12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anidados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41248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entrada a un concierto: sólo si tienes boleto se revisa tu edad para darte la pulsera.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371600"/>
            <a:ext cx="11002975" cy="3108960"/>
          </a:xfrm>
          <a:prstGeom prst="roundRect">
            <a:avLst>
              <a:gd name="adj" fmla="val 5294"/>
            </a:avLst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481328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783080"/>
            <a:ext cx="106372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569CD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def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acceso_concierto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lista_con_boleto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nombre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edad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: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if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nombre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in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lista_con_boleto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: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if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edad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18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: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CE91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"pasa con pulsera de mayor de edad"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else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: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CE91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"pasa sin pulsera"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else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: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CE91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"no tienes boleto"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print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acceso_concierto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CE91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"Ana"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CE91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"Beto"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CE91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"Caro"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]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CE91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"Beto"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17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6A995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pasa sin pulsera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4709160"/>
            <a:ext cx="3484778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4846320"/>
            <a:ext cx="30275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</a:t>
            </a:r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else</a:t>
            </a:r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su </a:t>
            </a:r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if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257800"/>
            <a:ext cx="302757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último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else</a:t>
            </a:r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responde a "¿tienes boleto?": está a su misma altura.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53458" y="4709160"/>
            <a:ext cx="3484778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582058" y="4846320"/>
            <a:ext cx="30275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563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82058" y="5257800"/>
            <a:ext cx="302757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nombre in lista_con_boleto</a:t>
            </a:r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True</a:t>
            </a:r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 el nombre está en la lista.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112557" y="4709160"/>
            <a:ext cx="3484778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341157" y="4846320"/>
            <a:ext cx="30275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reconocerla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341157" y="5257800"/>
            <a:ext cx="302757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"Si pasa X, revisa si también pasa Y" (años bisiestos: 4 → 100 → 400).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292608"/>
            <a:ext cx="11002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12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</a:t>
            </a:r>
            <a:pPr indent="0" marL="0">
              <a:buNone/>
            </a:pPr>
            <a:r>
              <a:rPr lang="en-US" sz="2600" b="1" dirty="0">
                <a:solidFill>
                  <a:srgbClr val="12223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and</a:t>
            </a:r>
            <a:pPr indent="0" marL="0">
              <a:buNone/>
            </a:pPr>
            <a:r>
              <a:rPr lang="en-US" sz="2700" b="1" dirty="0">
                <a:solidFill>
                  <a:srgbClr val="12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2600" b="1" dirty="0">
                <a:solidFill>
                  <a:srgbClr val="12223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or</a:t>
            </a:r>
            <a:pPr indent="0" marL="0">
              <a:buNone/>
            </a:pPr>
            <a:r>
              <a:rPr lang="en-US" sz="2700" b="1" dirty="0">
                <a:solidFill>
                  <a:srgbClr val="12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2600" b="1" dirty="0">
                <a:solidFill>
                  <a:srgbClr val="12223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not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41248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Combinan varias condiciones en una sola.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463040"/>
          <a:ext cx="11002975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017520"/>
                <a:gridCol w="624535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Operador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 True cuando…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Ejemplo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23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a and 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 dos</a:t>
                      </a:r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son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True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edad &gt;= 18 and nacionalidad == "mexicana"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a or 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 menos una</a:t>
                      </a:r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es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True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dia == "miercoles" or es_estudiante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not 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a</a:t>
                      </a:r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es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False</a:t>
                      </a:r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(lo voltea)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not (cancion in lista_playlist)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1143000" y="4206240"/>
            <a:ext cx="9905695" cy="15544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1371600" y="4343400"/>
            <a:ext cx="9448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los mezclas, usa paréntesis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4754880"/>
            <a:ext cx="94484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and</a:t>
            </a:r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 evalúa antes que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or</a:t>
            </a:r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es_estudiante and (dia == "martes" or dia == "miercoles")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292608"/>
            <a:ext cx="11002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12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Ejemplos con </a:t>
            </a:r>
            <a:pPr indent="0" marL="0">
              <a:buNone/>
            </a:pPr>
            <a:r>
              <a:rPr lang="en-US" sz="2600" b="1" dirty="0">
                <a:solidFill>
                  <a:srgbClr val="12223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and</a:t>
            </a:r>
            <a:pPr indent="0" marL="0">
              <a:buNone/>
            </a:pPr>
            <a:r>
              <a:rPr lang="en-US" sz="2700" b="1" dirty="0">
                <a:solidFill>
                  <a:srgbClr val="12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2600" b="1" dirty="0">
                <a:solidFill>
                  <a:srgbClr val="12223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or</a:t>
            </a:r>
            <a:pPr indent="0" marL="0">
              <a:buNone/>
            </a:pPr>
            <a:r>
              <a:rPr lang="en-US" sz="2700" b="1" dirty="0">
                <a:solidFill>
                  <a:srgbClr val="12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2600" b="1" dirty="0">
                <a:solidFill>
                  <a:srgbClr val="12223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not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94360" y="1143000"/>
            <a:ext cx="11002975" cy="1600200"/>
          </a:xfrm>
          <a:prstGeom prst="roundRect">
            <a:avLst>
              <a:gd name="adj" fmla="val 10286"/>
            </a:avLst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252728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· para votar en México: 18 años y nacionalidad mexicana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554480"/>
            <a:ext cx="106372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569CD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def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puede_votar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edad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nacionalidad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: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edad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18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569CD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and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nacionalidad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CE91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"mexicana"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print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puede_votar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18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CE91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"mexicana"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6A995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True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94360" y="2926080"/>
            <a:ext cx="11002975" cy="1600200"/>
          </a:xfrm>
          <a:prstGeom prst="roundRect">
            <a:avLst>
              <a:gd name="adj" fmla="val 10286"/>
            </a:avLst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2960" y="3035808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· descuento en el cine: miércoles o credencial de estudiante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337560"/>
            <a:ext cx="106372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569CD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def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descuento_en_cine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dia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es_estudiante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: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dia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CE91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"miercoles"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569CD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or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es_estudiante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print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descuento_en_cine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CE91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"sabado"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569CD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True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6A995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True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4360" y="4709160"/>
            <a:ext cx="11002975" cy="1600200"/>
          </a:xfrm>
          <a:prstGeom prst="roundRect">
            <a:avLst>
              <a:gd name="adj" fmla="val 10286"/>
            </a:avLst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22960" y="4818888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· ¿la canción no está en tu playlist?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5120640"/>
            <a:ext cx="106372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569CD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def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falta_en_playlist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lista_playlist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cancion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: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569CD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not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cancion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in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lista_playlist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print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falta_en_playlist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CE91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"Tusa"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CE91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"La Bachata"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]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CE91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"Ojitos Lindos"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6A995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True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292608"/>
            <a:ext cx="11002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12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</a:t>
            </a:r>
            <a:pPr indent="0" marL="0">
              <a:buNone/>
            </a:pPr>
            <a:r>
              <a:rPr lang="en-US" sz="2600" b="1" dirty="0">
                <a:solidFill>
                  <a:srgbClr val="12223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and</a:t>
            </a:r>
            <a:pPr indent="0" marL="0">
              <a:buNone/>
            </a:pPr>
            <a:r>
              <a:rPr lang="en-US" sz="2700" b="1" dirty="0">
                <a:solidFill>
                  <a:srgbClr val="12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2600" b="1" dirty="0">
                <a:solidFill>
                  <a:srgbClr val="12223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or</a:t>
            </a:r>
            <a:pPr indent="0" marL="0">
              <a:buNone/>
            </a:pPr>
            <a:r>
              <a:rPr lang="en-US" sz="2700" b="1" dirty="0">
                <a:solidFill>
                  <a:srgbClr val="12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2600" b="1" dirty="0">
                <a:solidFill>
                  <a:srgbClr val="12223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not</a:t>
            </a:r>
            <a:pPr indent="0" marL="0">
              <a:buNone/>
            </a:pPr>
            <a:r>
              <a:rPr lang="en-US" sz="2700" b="1" dirty="0">
                <a:solidFill>
                  <a:srgbClr val="12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puntos clave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94360" y="1234440"/>
            <a:ext cx="5364328" cy="22402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490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Regresa la comparación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783080"/>
            <a:ext cx="490712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comparación ya es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True</a:t>
            </a:r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False</a:t>
            </a:r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return edad &gt;= 18</a:t>
            </a:r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vez de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if</a:t>
            </a:r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…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return True</a:t>
            </a:r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else</a:t>
            </a:r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…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return False</a:t>
            </a:r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233008" y="1234440"/>
            <a:ext cx="5364328" cy="22402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461608" y="1371600"/>
            <a:ext cx="490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6A34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and</a:t>
            </a:r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 detiene en el primer </a:t>
            </a:r>
            <a:pPr indent="0" marL="0">
              <a:buNone/>
            </a:pPr>
            <a:r>
              <a:rPr lang="en-US" sz="1500" b="1" dirty="0">
                <a:solidFill>
                  <a:srgbClr val="16A34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False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61608" y="1783080"/>
            <a:ext cx="490712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len(lista_playlist) &gt; 0 and lista_playlist[0] == "Tusa"</a:t>
            </a:r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con una playlist vacía nunca se llega a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[0]</a:t>
            </a:r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4360" y="3749040"/>
            <a:ext cx="5364328" cy="237744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22960" y="3886200"/>
            <a:ext cx="490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7C3AE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if</a:t>
            </a:r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anidados = </a:t>
            </a:r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and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297680"/>
            <a:ext cx="490712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if</a:t>
            </a:r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anidados en los que </a:t>
            </a:r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dos</a:t>
            </a:r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condiciones deben cumplirse son lo mismo que un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and</a:t>
            </a:r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33008" y="3749040"/>
            <a:ext cx="5364328" cy="237744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461608" y="3886200"/>
            <a:ext cx="490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Error típico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61608" y="4297680"/>
            <a:ext cx="490712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dia == "sabado" or "domingo"</a:t>
            </a:r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✗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dia == "sabado" or dia == "domingo"</a:t>
            </a:r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✓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lado del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or</a:t>
            </a:r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 una comparación completa.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292608"/>
            <a:ext cx="11002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12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Práctica: predice antes de ejecutar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41248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 la respuesta en tu cuaderno; después la comprobamos en la terminal.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5364328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554480"/>
            <a:ext cx="490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965960"/>
            <a:ext cx="4907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acceso_concierto(["Ana"], "Beto", 20)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33008" y="1417320"/>
            <a:ext cx="5364328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61608" y="1554480"/>
            <a:ext cx="490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61608" y="1965960"/>
            <a:ext cx="4907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plan_de_viernes([])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4360" y="3063240"/>
            <a:ext cx="5364328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2960" y="3200400"/>
            <a:ext cx="490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611880"/>
            <a:ext cx="4907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es_mayor_edad(18, 21)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33008" y="3063240"/>
            <a:ext cx="5364328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461608" y="3200400"/>
            <a:ext cx="490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461608" y="3611880"/>
            <a:ext cx="4907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descuento_en_cine("miercoles", False)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94360" y="4709160"/>
            <a:ext cx="5364328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22960" y="4846320"/>
            <a:ext cx="490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257800"/>
            <a:ext cx="4907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puede_votar(25, "argentina")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33008" y="4709160"/>
            <a:ext cx="5364328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461608" y="4846320"/>
            <a:ext cx="490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6461608" y="5257800"/>
            <a:ext cx="4907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primera_cancion([])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292608"/>
            <a:ext cx="11002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12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</a:t>
            </a:r>
            <a:pPr indent="0" marL="0">
              <a:buNone/>
            </a:pPr>
            <a:r>
              <a:rPr lang="en-US" sz="2600" b="1" dirty="0">
                <a:solidFill>
                  <a:srgbClr val="12223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for</a:t>
            </a:r>
            <a:pPr indent="0" marL="0">
              <a:buNone/>
            </a:pPr>
            <a:r>
              <a:rPr lang="en-US" sz="2700" b="1" dirty="0">
                <a:solidFill>
                  <a:srgbClr val="12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por elementos + acumulador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41248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for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visita cada elemento; el acumulador guarda el resultado parcial en cada vuelta.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2545004" cy="1234440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554480"/>
            <a:ext cx="20878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Valor inicial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965960"/>
            <a:ext cx="20878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ciclo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413684" y="1417320"/>
            <a:ext cx="2545004" cy="1234440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642284" y="1554480"/>
            <a:ext cx="20878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Recorrer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642284" y="1965960"/>
            <a:ext cx="20878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for elemento in lista_elementos: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33008" y="1417320"/>
            <a:ext cx="2545004" cy="1234440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61608" y="1554480"/>
            <a:ext cx="20878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Actualizar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61608" y="1965960"/>
            <a:ext cx="20878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ciclo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052331" y="1417320"/>
            <a:ext cx="2545004" cy="1234440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280931" y="1554480"/>
            <a:ext cx="20878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Regresar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280931" y="1965960"/>
            <a:ext cx="20878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ciclo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94360" y="2926080"/>
            <a:ext cx="6583680" cy="329184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22960" y="3035808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¿cuántos minutos dura tu playlist?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3337560"/>
            <a:ext cx="6217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69CD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def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duracion_playlist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lista_minutos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: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total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A995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1. valor inicial del acumulador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for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minutos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in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lista_minutos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: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A995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2. recorrer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total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total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+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minutos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A995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3. actualizar el acumulador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total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A995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4. regresar, FUERA del ciclo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print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duracion_playlist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4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5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]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A995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14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7452360" y="2926080"/>
            <a:ext cx="4142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de escritorio</a:t>
            </a:r>
            <a:endParaRPr lang="en-US" sz="15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52360" y="3337560"/>
          <a:ext cx="4142232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99032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vuelta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minutos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23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5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292608"/>
            <a:ext cx="11002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12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Errores típicos del acumulador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41248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[3, 4, 2, 5]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respuesta correcta es 14. ¿Qué regresan estas versiones?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463040"/>
            <a:ext cx="5364328" cy="2560320"/>
          </a:xfrm>
          <a:prstGeom prst="roundRect">
            <a:avLst>
              <a:gd name="adj" fmla="val 6429"/>
            </a:avLst>
          </a:prstGeom>
          <a:solidFill>
            <a:srgbClr val="0F172A"/>
          </a:solidFill>
          <a:ln w="19050">
            <a:solidFill>
              <a:srgbClr val="DC262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572768"/>
            <a:ext cx="4907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Incorrecto: el acumulador dentro del ciclo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499856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569CD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def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duracion_playlist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lista_minutos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: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for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minutos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in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lista_minutos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: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total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6A995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se reinicia en cada vuelta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total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total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+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minutos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total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33008" y="1463040"/>
            <a:ext cx="5364328" cy="2560320"/>
          </a:xfrm>
          <a:prstGeom prst="roundRect">
            <a:avLst>
              <a:gd name="adj" fmla="val 6429"/>
            </a:avLst>
          </a:prstGeom>
          <a:solidFill>
            <a:srgbClr val="0F172A"/>
          </a:solidFill>
          <a:ln w="19050">
            <a:solidFill>
              <a:srgbClr val="DC262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61608" y="1572768"/>
            <a:ext cx="4907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Incorrecto: el return dentro del ciclo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61608" y="1874520"/>
            <a:ext cx="499856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569CD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def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duracion_playlist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lista_minutos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: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total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for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minutos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in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lista_minutos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: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total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total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+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minutos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total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6A995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sangría de más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94360" y="4297680"/>
            <a:ext cx="5364328" cy="173736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2960" y="4434840"/>
            <a:ext cx="490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Regresa 5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846320"/>
            <a:ext cx="49071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total</a:t>
            </a:r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vuelve a 0 en cada vuelta: sólo queda la última canción.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33008" y="4297680"/>
            <a:ext cx="5364328" cy="173736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461608" y="4434840"/>
            <a:ext cx="490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Regresa 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461608" y="4846320"/>
            <a:ext cx="49071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función termina en la primera vuelta: sólo suma la primera canción.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292608"/>
            <a:ext cx="11002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12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· Tipos de acumuladores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41248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tienen los mismos 4 pasos. Cambia el valor inicial y cómo se actualiza.</a:t>
            </a:r>
            <a:endParaRPr lang="en-US" sz="14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463040"/>
          <a:ext cx="1100297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  <a:gridCol w="4142232"/>
                <a:gridCol w="28346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Acumulador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inicial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Actualización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Ejemplo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23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total = total + 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duracion_playlist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Contador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contador = contador + 1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(dentro de un 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if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contar_victorias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producto = producto * 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combinaciones_outfit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Mínimo / máximo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primer elemento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if x &lt; mejor: mejor = 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mejor_vuelta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Lista nueva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[]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lista_nueva.append(x)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precios_al_alcance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Varios a la vez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uno por cada dato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cada uno con su regla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promedio_goles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292608"/>
            <a:ext cx="11002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12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· Contador y producto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94360" y="1143000"/>
            <a:ext cx="7589520" cy="2514600"/>
          </a:xfrm>
          <a:prstGeom prst="roundRect">
            <a:avLst>
              <a:gd name="adj" fmla="val 6545"/>
            </a:avLst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25272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Contador: ¿cuántos partidos ganaste? (G ganado, P perdido, E empate)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554480"/>
            <a:ext cx="72237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69CD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def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contar_victorias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lista_resultados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: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victorias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for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resultado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in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lista_resultados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: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if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resultado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E91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"G"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: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victorias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victorias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+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victorias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print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contar_victorias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E91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"G"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E91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"P"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E91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"G"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E91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"E"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E91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"G"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]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6A995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3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3931920"/>
            <a:ext cx="7589520" cy="2286000"/>
          </a:xfrm>
          <a:prstGeom prst="roundRect">
            <a:avLst>
              <a:gd name="adj" fmla="val 7200"/>
            </a:avLst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2960" y="404164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Producto: 3 playeras, 2 pantalones y 4 tenis, ¿cuántos outfits?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343400"/>
            <a:ext cx="7223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69CD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def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combinaciones_outfit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lista_opciones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: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combinaciones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for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opciones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in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lista_opciones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: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combinaciones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combinaciones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*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opciones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combinaciones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print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combinaciones_outfit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4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]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6A995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24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458200" y="1143000"/>
            <a:ext cx="3139135" cy="2514600"/>
          </a:xfrm>
          <a:prstGeom prst="roundRect">
            <a:avLst>
              <a:gd name="adj" fmla="val 509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686800" y="1280160"/>
            <a:ext cx="26819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Contador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686800" y="1691640"/>
            <a:ext cx="26819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Empieza en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</a:t>
            </a:r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suma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</a:t>
            </a:r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de un</a:t>
            </a:r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if</a:t>
            </a:r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Sin el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if</a:t>
            </a:r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cuenta todos los partidos.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458200" y="3931920"/>
            <a:ext cx="3139135" cy="2286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686800" y="4069080"/>
            <a:ext cx="26819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0" y="4480560"/>
            <a:ext cx="268193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Empieza en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</a:t>
            </a:r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Si empezara en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</a:t>
            </a:r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todo daría 0 (cero outfits).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292608"/>
            <a:ext cx="11002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12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· Mínimo y lista nueva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94360" y="1143000"/>
            <a:ext cx="7589520" cy="2514600"/>
          </a:xfrm>
          <a:prstGeom prst="roundRect">
            <a:avLst>
              <a:gd name="adj" fmla="val 6545"/>
            </a:avLst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25272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Mínimo: tu mejor vuelta en Mario Kart es la que tardó menos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554480"/>
            <a:ext cx="72237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569CD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def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mejor_vuelta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lista_segundos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: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mejor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lista_segundos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]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for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segundos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in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lista_segundos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: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if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segundos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mejor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: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mejor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segundos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mejor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print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mejor_vuelta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92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87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95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]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6A995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87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94360" y="3886200"/>
            <a:ext cx="7589520" cy="2514600"/>
          </a:xfrm>
          <a:prstGeom prst="roundRect">
            <a:avLst>
              <a:gd name="adj" fmla="val 6545"/>
            </a:avLst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2960" y="399592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nueva: ¿qué tenis te alcanzan con tu presupuesto?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297680"/>
            <a:ext cx="72237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569CD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def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precios_al_alcance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lista_precios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presupuesto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: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lista_alcanzables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]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for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precio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in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lista_precios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: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if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precio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presupuesto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: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lista_alcanzables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append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precio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lista_alcanzables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print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precios_al_alcance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1200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499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899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1500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]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900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6A995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[499, 899]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458200" y="1143000"/>
            <a:ext cx="3139135" cy="2514600"/>
          </a:xfrm>
          <a:prstGeom prst="roundRect">
            <a:avLst>
              <a:gd name="adj" fmla="val 509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686800" y="1280160"/>
            <a:ext cx="26819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686800" y="1691640"/>
            <a:ext cx="26819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Empieza con el </a:t>
            </a:r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elemento</a:t>
            </a:r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Con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</a:t>
            </a:r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regresaría 0, que ni está en la lista.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458200" y="3886200"/>
            <a:ext cx="3139135" cy="2514600"/>
          </a:xfrm>
          <a:prstGeom prst="roundRect">
            <a:avLst>
              <a:gd name="adj" fmla="val 509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686800" y="4023360"/>
            <a:ext cx="26819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nueva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0" y="4434840"/>
            <a:ext cx="26819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Empieza en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[]</a:t>
            </a:r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agrega con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append</a:t>
            </a:r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sólo los que cumplen.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292608"/>
            <a:ext cx="11002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12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· Varios acumuladores a la vez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41248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promedio de goles por partido necesita la suma y cuántos partidos hubo.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463040"/>
            <a:ext cx="6583680" cy="329184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572768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6217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69CD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def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promedio_goles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lista_goles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: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total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partidos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for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goles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in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lista_goles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: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total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total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+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goles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partidos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partidos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+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total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partidos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print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promedio_goles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]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A995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1.5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452360" y="1463040"/>
            <a:ext cx="4142232" cy="1508760"/>
          </a:xfrm>
          <a:prstGeom prst="roundRect">
            <a:avLst>
              <a:gd name="adj" fmla="val 848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680960" y="1600200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acumuladores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680960" y="2011680"/>
            <a:ext cx="3685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total</a:t>
            </a:r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suma los goles;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partidos</a:t>
            </a:r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cuenta cuántos hubo.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452360" y="3246120"/>
            <a:ext cx="4142232" cy="1508760"/>
          </a:xfrm>
          <a:prstGeom prst="roundRect">
            <a:avLst>
              <a:gd name="adj" fmla="val 848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680960" y="3383280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680960" y="3794760"/>
            <a:ext cx="3685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6 / 4</a:t>
            </a:r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1.5</a:t>
            </a:r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goles por partido.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94360" y="5029200"/>
            <a:ext cx="11002975" cy="1143000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22960" y="516636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reconocer un acumulador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57784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"suma", "cuenta", "total", "cuántos", "promedio", "el mejor", "regresa una lista con los que…"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292608"/>
            <a:ext cx="11002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12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</a:t>
            </a:r>
            <a:pPr indent="0" marL="0">
              <a:buNone/>
            </a:pPr>
            <a:r>
              <a:rPr lang="en-US" sz="2600" b="1" dirty="0">
                <a:solidFill>
                  <a:srgbClr val="12223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for</a:t>
            </a:r>
            <a:pPr indent="0" marL="0">
              <a:buNone/>
            </a:pPr>
            <a:r>
              <a:rPr lang="en-US" sz="2700" b="1" dirty="0">
                <a:solidFill>
                  <a:srgbClr val="12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índices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41248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importa la posición del elemento: dónde está, su vecino, dos listas a la vez.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463040"/>
            <a:ext cx="11002975" cy="2651760"/>
          </a:xfrm>
          <a:prstGeom prst="roundRect">
            <a:avLst>
              <a:gd name="adj" fmla="val 6207"/>
            </a:avLst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572768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¿en qué posición de la playlist está una canción?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1063721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69CD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def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posicion_de_cancion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lista_playlist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cancion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: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for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in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range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len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lista_playlist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: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A995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i = 0, 1, 2, ..., len - 1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if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lista_playlist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]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cancion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: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A995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termina la función en cuanto la encuentra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A995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sólo llega aquí si revisó todo y no la encontró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print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posicion_de_cancion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CE91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"Tusa"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CE91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"La Bachata"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CE91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"Ojitos Lindos"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]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CE91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"La Bachata"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A995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4389120"/>
            <a:ext cx="3484778" cy="173736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4526280"/>
            <a:ext cx="30275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vs posiciones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937760"/>
            <a:ext cx="302757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for cancion in lista_playlist</a:t>
            </a:r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 valores;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for i in range(…)</a:t>
            </a:r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 posiciones.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353458" y="4389120"/>
            <a:ext cx="3484778" cy="173736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582058" y="4526280"/>
            <a:ext cx="30275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6A34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return</a:t>
            </a:r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temprano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82058" y="4937760"/>
            <a:ext cx="302757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 en cuanto la encuentra. El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return -1</a:t>
            </a:r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 </a:t>
            </a:r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</a:t>
            </a:r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ciclo.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112557" y="4389120"/>
            <a:ext cx="3484778" cy="173736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341157" y="4526280"/>
            <a:ext cx="30275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Error típico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341157" y="4937760"/>
            <a:ext cx="302757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else: return -1</a:t>
            </a:r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dentro del ciclo: se rinde tras la primera canción.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292608"/>
            <a:ext cx="11002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12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leer </a:t>
            </a:r>
            <a:pPr indent="0" marL="0">
              <a:buNone/>
            </a:pPr>
            <a:r>
              <a:rPr lang="en-US" sz="2600" b="1" dirty="0">
                <a:solidFill>
                  <a:srgbClr val="12223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range(inicio, fin, incremento)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41248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range(0, len(lista_playlist), 1)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lista_playlist = ["Tusa", "La Bachata", "Ojitos Lindos"]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" y="1463040"/>
            <a:ext cx="3484778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30275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· </a:t>
            </a:r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11680"/>
            <a:ext cx="30275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primera posición.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53458" y="1463040"/>
            <a:ext cx="3484778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582058" y="1600200"/>
            <a:ext cx="30275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· </a:t>
            </a:r>
            <a:pPr indent="0" marL="0">
              <a:buNone/>
            </a:pPr>
            <a:r>
              <a:rPr lang="en-US" sz="1500" b="1" dirty="0">
                <a:solidFill>
                  <a:srgbClr val="EA580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len(lista_playlist)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582058" y="2011680"/>
            <a:ext cx="30275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 3 y </a:t>
            </a:r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incluye</a:t>
            </a:r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el ciclo para antes.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112557" y="1463040"/>
            <a:ext cx="3484778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341157" y="1600200"/>
            <a:ext cx="30275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incremento · </a:t>
            </a:r>
            <a:pPr indent="0" marL="0">
              <a:buNone/>
            </a:pPr>
            <a:r>
              <a:rPr lang="en-US" sz="1500" b="1" dirty="0">
                <a:solidFill>
                  <a:srgbClr val="16A34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341157" y="2011680"/>
            <a:ext cx="30275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Avanza de 1 en 1.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998068" y="3337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posición </a:t>
            </a:r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98068" y="370332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98068" y="37033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"Tusa"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3604108" y="3337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posición </a:t>
            </a:r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604108" y="370332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3604108" y="37033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"La Bachata"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210148" y="3337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posición </a:t>
            </a:r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210148" y="370332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210148" y="37033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"Ojitos Lindos"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816188" y="3337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posición </a:t>
            </a:r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816188" y="370332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dash"/>
          </a:ln>
        </p:spPr>
      </p:sp>
      <p:sp>
        <p:nvSpPr>
          <p:cNvPr id="24" name="Text 22"/>
          <p:cNvSpPr txBox="1"/>
          <p:nvPr/>
        </p:nvSpPr>
        <p:spPr>
          <a:xfrm>
            <a:off x="8816188" y="37033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998068" y="466344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</a:t>
            </a:r>
            <a:pPr algn="ctr" indent="0" marL="0">
              <a:buNone/>
            </a:pPr>
            <a:r>
              <a:rPr lang="en-US" sz="15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0, 1, 2 ✓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143000" y="5166360"/>
            <a:ext cx="9905695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1371600" y="5303520"/>
            <a:ext cx="9448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última posición es </a:t>
            </a:r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len(lista_playlist) - 1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1371600" y="5669280"/>
            <a:ext cx="9448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lista_playlist[3]</a:t>
            </a:r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IndexError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292608"/>
            <a:ext cx="11002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12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Izquierda → derecha y derecha → izquierda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41248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los resultados de la temporada, ¿en qué jornada fue tu primera victoria y en cuál la última?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2575408" y="14630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posición 0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575408" y="1783080"/>
            <a:ext cx="1188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2575408" y="178308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"P"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2575408" y="26060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jornada 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038448" y="14630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posición 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038448" y="1783080"/>
            <a:ext cx="1188720" cy="777240"/>
          </a:xfrm>
          <a:prstGeom prst="roundRect">
            <a:avLst>
              <a:gd name="adj" fmla="val 9412"/>
            </a:avLst>
          </a:prstGeom>
          <a:solidFill>
            <a:srgbClr val="F0FDF4"/>
          </a:solidFill>
          <a:ln w="25400">
            <a:solidFill>
              <a:srgbClr val="16A3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038448" y="178308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"G"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038448" y="26060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jornada 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501488" y="14630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posición 2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501488" y="1783080"/>
            <a:ext cx="1188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501488" y="178308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"E"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501488" y="26060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jornada 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964528" y="14630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posición 3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964528" y="1783080"/>
            <a:ext cx="1188720" cy="777240"/>
          </a:xfrm>
          <a:prstGeom prst="roundRect">
            <a:avLst>
              <a:gd name="adj" fmla="val 9412"/>
            </a:avLst>
          </a:prstGeom>
          <a:solidFill>
            <a:srgbClr val="F0FDF4"/>
          </a:solidFill>
          <a:ln w="25400">
            <a:solidFill>
              <a:srgbClr val="16A3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964528" y="178308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"G"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964528" y="26060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jornada 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427568" y="14630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posición 4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427568" y="1783080"/>
            <a:ext cx="1188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8427568" y="178308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"P"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8427568" y="26060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jornada 5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2392528" y="30175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primera </a:t>
            </a:r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"G"</a:t>
            </a:r>
            <a:pPr algn="l" indent="0" marL="0">
              <a:buNone/>
            </a:pPr>
            <a:r>
              <a:rPr lang="en-US" sz="14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posición 1 = </a:t>
            </a:r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jornada 2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278728" y="30175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última </a:t>
            </a:r>
            <a:pPr algn="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"G"</a:t>
            </a:r>
            <a:pPr algn="r" indent="0" marL="0">
              <a:buNone/>
            </a:pPr>
            <a:r>
              <a:rPr lang="en-US" sz="14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posición 3 = </a:t>
            </a:r>
            <a:pPr algn="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jornada 4</a:t>
            </a:r>
            <a:pPr algn="r" indent="0" marL="0">
              <a:buNone/>
            </a:pPr>
            <a:r>
              <a:rPr lang="en-US" sz="14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←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94360" y="3657600"/>
            <a:ext cx="5364328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822960" y="3794760"/>
            <a:ext cx="490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Izquierda → derecha · "el primero que…"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" y="4206240"/>
            <a:ext cx="4907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range(0, len(lista_resultados), 1)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 0, 1, 2, 3, 4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233008" y="3657600"/>
            <a:ext cx="5364328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6461608" y="3794760"/>
            <a:ext cx="490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Derecha → izquierda · "el último que…"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6461608" y="4206240"/>
            <a:ext cx="4907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range(len(lista_resultados) - 1, -1, -1)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 4, 3, 2, 1, 0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594360" y="5486400"/>
            <a:ext cx="110029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Hacia atrás: empieza en la </a:t>
            </a:r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última</a:t>
            </a:r>
            <a:pPr algn="l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posición, para </a:t>
            </a:r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</a:t>
            </a:r>
            <a:pPr algn="l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-1</a:t>
            </a:r>
            <a:pPr algn="l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(o sea, incluye el 0) y avanza de </a:t>
            </a:r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 en -1</a:t>
            </a:r>
            <a:pPr algn="l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594360" y="589788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</a:t>
            </a:r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range(len(lista_resultados), 0, -1)</a:t>
            </a:r>
            <a:pPr algn="l" indent="0" marL="0">
              <a:buNone/>
            </a:pPr>
            <a:r>
              <a:rPr lang="en-US" sz="14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empieza en una posición que no existe y nunca visita el 0.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292608"/>
            <a:ext cx="11002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12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La misma búsqueda en las dos direcciones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41248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la jornada 1 está en la posición 0, la función regresa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 + 1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1002975" cy="2240280"/>
          </a:xfrm>
          <a:prstGeom prst="roundRect">
            <a:avLst>
              <a:gd name="adj" fmla="val 7347"/>
            </a:avLst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527048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Izquierda → derecha: la primera victoria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28800"/>
            <a:ext cx="106372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569CD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def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jornada_primera_victoria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lista_resultados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: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for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in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range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len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lista_resultados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: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6A995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0, 1, 2, ..., len - 1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if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lista_resultados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]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CE91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"G"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: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+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6A995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las posiciones empiezan en 0, las jornadas en 1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6A995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no hubo ninguna victoria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print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jornada_primera_victoria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CE91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"P"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CE91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"G"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CE91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"E"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CE91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"G"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CE91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"P"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]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6A995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2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94360" y="3886200"/>
            <a:ext cx="11002975" cy="2240280"/>
          </a:xfrm>
          <a:prstGeom prst="roundRect">
            <a:avLst>
              <a:gd name="adj" fmla="val 7347"/>
            </a:avLst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3995928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Derecha → izquierda: la última victoria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297680"/>
            <a:ext cx="106372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569CD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def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jornada_ultima_victoria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lista_resultados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: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for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in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range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len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lista_resultados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: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6A995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len - 1, ..., 2, 1, 0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if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lista_resultados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]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CE91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"G"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: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+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6A995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las posiciones empiezan en 0, las jornadas en 1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6A995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no hubo ninguna victoria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print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jornada_ultima_victoria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CE91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"P"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CE91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"G"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CE91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"E"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CE91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"G"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CE91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"P"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]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6A995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4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292608"/>
            <a:ext cx="11002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12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Al mismo tiempo: dos extremos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41248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¿Tu gamertag se lee igual al derecho y al revés? Un texto se recorre igual que una lista.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463040"/>
            <a:ext cx="6309360" cy="4754880"/>
          </a:xfrm>
          <a:prstGeom prst="roundRect">
            <a:avLst>
              <a:gd name="adj" fmla="val 3462"/>
            </a:avLst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57276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5943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569CD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def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es_palindromo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gamertag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:</a:t>
            </a:r>
            <a:endParaRPr lang="en-US" sz="14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izquierda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</a:t>
            </a:r>
            <a:endParaRPr lang="en-US" sz="14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derecha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len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gamertag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</a:t>
            </a:r>
            <a:endParaRPr lang="en-US" sz="14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while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izquierda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derecha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:</a:t>
            </a:r>
            <a:endParaRPr lang="en-US" sz="14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if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gamertag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izquierda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]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!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gamertag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derecha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]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:</a:t>
            </a:r>
            <a:endParaRPr lang="en-US" sz="14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569CD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False</a:t>
            </a:r>
            <a:endParaRPr lang="en-US" sz="14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izquierda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izquierda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+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</a:t>
            </a:r>
            <a:endParaRPr lang="en-US" sz="14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derecha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derecha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</a:t>
            </a:r>
            <a:endParaRPr lang="en-US" sz="14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569CD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True</a:t>
            </a:r>
            <a:endParaRPr lang="en-US" sz="14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4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4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print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es_palindromo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CE91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"otto"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6A995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True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7650328" y="14630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650328" y="1783080"/>
            <a:ext cx="7772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650328" y="1783080"/>
            <a:ext cx="777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"o"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8610448" y="14630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610448" y="1783080"/>
            <a:ext cx="7772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610448" y="1783080"/>
            <a:ext cx="777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"t"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9570568" y="14630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570568" y="1783080"/>
            <a:ext cx="7772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570568" y="1783080"/>
            <a:ext cx="777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"t"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10530688" y="14630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30688" y="1783080"/>
            <a:ext cx="7772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10530688" y="1783080"/>
            <a:ext cx="777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"o"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7376008" y="26060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izquierda</a:t>
            </a:r>
            <a:pPr algn="l" indent="0" marL="0">
              <a:buNone/>
            </a:pPr>
            <a:r>
              <a:rPr lang="en-US" sz="14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0119208" y="26060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</a:t>
            </a:r>
            <a:pPr algn="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derecha</a:t>
            </a:r>
            <a:endParaRPr lang="en-US" sz="14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60920" y="3154680"/>
          <a:ext cx="4236415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777240"/>
                <a:gridCol w="777240"/>
                <a:gridCol w="1721815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vuelta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izq.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23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con o 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 con t 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detiene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 19"/>
          <p:cNvSpPr txBox="1"/>
          <p:nvPr/>
        </p:nvSpPr>
        <p:spPr>
          <a:xfrm>
            <a:off x="7360920" y="4983480"/>
            <a:ext cx="4236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mueven </a:t>
            </a:r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misma vuelta</a:t>
            </a:r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hasta encontrarse. No sabemos cuántas vueltas habrá → </a:t>
            </a:r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while</a:t>
            </a:r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7360920" y="5669280"/>
            <a:ext cx="4236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Si olvidas mover uno de los índices, el ciclo nunca termina.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292608"/>
            <a:ext cx="11002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12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Al mismo tiempo: dos listas con el mismo índice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41248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quiniela: comparas tu pronóstico de cada partido con el resultado real (L local, E empate, V visitante).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463040"/>
            <a:ext cx="11002975" cy="2514600"/>
          </a:xfrm>
          <a:prstGeom prst="roundRect">
            <a:avLst>
              <a:gd name="adj" fmla="val 6545"/>
            </a:avLst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572768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10637215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69CD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def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aciertos_quiniela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lista_pronosticos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lista_resultados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: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aciertos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for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in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range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len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lista_resultados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: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if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lista_pronosticos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]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lista_resultados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]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: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aciertos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aciertos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+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aciertos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print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aciertos_quiniela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E91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"L"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E91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"E"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E91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"V"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E91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"L"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]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E91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"L"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E91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"V"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E91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"V"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E91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"L"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]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6A995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3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232508" y="45445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lista_pronosticos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232508" y="52303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lista_resultados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609948" y="4114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= 0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09948" y="4434840"/>
            <a:ext cx="109728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609948" y="44348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"L"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609948" y="5120640"/>
            <a:ext cx="109728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609948" y="51206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"L"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609948" y="57607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027268" y="4114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= 1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27268" y="4434840"/>
            <a:ext cx="109728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027268" y="44348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"E"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027268" y="5120640"/>
            <a:ext cx="109728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027268" y="51206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"V"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027268" y="57607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7444588" y="4114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= 2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444588" y="4434840"/>
            <a:ext cx="109728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7444588" y="44348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"V"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7444588" y="5120640"/>
            <a:ext cx="109728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7444588" y="51206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"V"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444588" y="57607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8861908" y="4114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= 3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861908" y="4434840"/>
            <a:ext cx="109728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8861908" y="44348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"L"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8861908" y="5120640"/>
            <a:ext cx="109728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8861908" y="51206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"L"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8861908" y="57607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33" name="Text 31"/>
          <p:cNvSpPr txBox="1"/>
          <p:nvPr/>
        </p:nvSpPr>
        <p:spPr>
          <a:xfrm>
            <a:off x="10279228" y="5760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pPr algn="l" indent="0" marL="0">
              <a:buNone/>
            </a:pPr>
            <a:r>
              <a:rPr lang="en-US" sz="15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aciertos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292608"/>
            <a:ext cx="11002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12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· Recorrido circular con </a:t>
            </a:r>
            <a:pPr indent="0" marL="0">
              <a:buNone/>
            </a:pPr>
            <a:r>
              <a:rPr lang="en-US" sz="2600" b="1" dirty="0">
                <a:solidFill>
                  <a:srgbClr val="12223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%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41248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coche cada amigo elige una canción por turno. Empieza Caro (posición 2): ¿quién elige las siguientes 4?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463040"/>
            <a:ext cx="11002975" cy="2606040"/>
          </a:xfrm>
          <a:prstGeom prst="roundRect">
            <a:avLst>
              <a:gd name="adj" fmla="val 6316"/>
            </a:avLst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572768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10637215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569CD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def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turnos_dj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lista_amigos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posicion_inicial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cantidad_canciones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: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lista_turnos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]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posicion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posicion_inicial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for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turno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in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range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cantidad_canciones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: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lista_turnos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append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lista_amigos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posicion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]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posicion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posicion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+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%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len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lista_amigos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lista_turnos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print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turnos_dj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CE91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"Ana"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CE91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"Beto"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CE91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"Caro"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]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4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6A995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['Caro', 'Ana', 'Beto', 'Caro']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43434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posición 0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4663440"/>
            <a:ext cx="14630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77240" y="466344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"Ana"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606040" y="43434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posición 1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606040" y="4663440"/>
            <a:ext cx="14630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2606040" y="466344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"Beto"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434840" y="43434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posición 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434840" y="4663440"/>
            <a:ext cx="14630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4434840" y="466344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"Caro"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166360" y="5349240"/>
            <a:ext cx="914" cy="274320"/>
          </a:xfrm>
          <a:prstGeom prst="line">
            <a:avLst/>
          </a:prstGeom>
          <a:noFill/>
          <a:ln w="25400">
            <a:solidFill>
              <a:srgbClr val="EA580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08760" y="5623560"/>
            <a:ext cx="3657600" cy="914"/>
          </a:xfrm>
          <a:prstGeom prst="line">
            <a:avLst/>
          </a:prstGeom>
          <a:noFill/>
          <a:ln w="25400">
            <a:solidFill>
              <a:srgbClr val="EA580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1508760" y="5367528"/>
            <a:ext cx="914" cy="256032"/>
          </a:xfrm>
          <a:prstGeom prst="line">
            <a:avLst/>
          </a:prstGeom>
          <a:noFill/>
          <a:ln w="25400">
            <a:solidFill>
              <a:srgbClr val="EA580C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1508760" y="5669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(2 + 1) % 3</a:t>
            </a:r>
            <a:pPr algn="ctr" indent="0" marL="0">
              <a:buNone/>
            </a:pPr>
            <a:r>
              <a:rPr lang="en-US" sz="14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</a:t>
            </a:r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55080" y="4343400"/>
            <a:ext cx="5242255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583680" y="4480560"/>
            <a:ext cx="47850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reconocerla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583680" y="4892040"/>
            <a:ext cx="478505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x % n</a:t>
            </a:r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siempre da entre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</a:t>
            </a:r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 - 1</a:t>
            </a:r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"Por turnos", "da la vuelta", Pacman, horas, días de la semana. Hacia atrás: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(0 - 1) % 3</a:t>
            </a:r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</a:t>
            </a:r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292608"/>
            <a:ext cx="11002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12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· </a:t>
            </a:r>
            <a:pPr indent="0" marL="0">
              <a:buNone/>
            </a:pPr>
            <a:r>
              <a:rPr lang="en-US" sz="2600" b="1" dirty="0">
                <a:solidFill>
                  <a:srgbClr val="12223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while</a:t>
            </a:r>
            <a:pPr indent="0" marL="0">
              <a:buNone/>
            </a:pPr>
            <a:r>
              <a:rPr lang="en-US" sz="2700" b="1" dirty="0">
                <a:solidFill>
                  <a:srgbClr val="12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las 3 partes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41248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Repite mientras la condición sea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True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 diferencia del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for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tú controlas el inicio, la condición y el avance.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463040"/>
            <a:ext cx="3484778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30275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Inicio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11680"/>
            <a:ext cx="30275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 = 0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53458" y="1463040"/>
            <a:ext cx="3484778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582058" y="1600200"/>
            <a:ext cx="30275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Condición para seguir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582058" y="2011680"/>
            <a:ext cx="30275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while i &lt; len(lista_minutos):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112557" y="1463040"/>
            <a:ext cx="3484778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341157" y="1600200"/>
            <a:ext cx="30275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Avance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341157" y="2011680"/>
            <a:ext cx="30275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 = i + 1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94360" y="2926080"/>
            <a:ext cx="11002975" cy="2514600"/>
          </a:xfrm>
          <a:prstGeom prst="roundRect">
            <a:avLst>
              <a:gd name="adj" fmla="val 6545"/>
            </a:avLst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22960" y="3035808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1: el mismo recorrido que un for (la duración de la playlist)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3337560"/>
            <a:ext cx="10637215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69CD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def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duracion_con_while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lista_minutos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: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total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A995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1. inicio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while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len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lista_minutos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: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A995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2. condición para seguir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total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total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+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lista_minutos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]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+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A995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3. avance (sin esta línea, el ciclo es infinito)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total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print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duracion_con_while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4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5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]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A995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14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94360" y="5623560"/>
            <a:ext cx="110029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Sin el avance, el ciclo es </a:t>
            </a:r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infinito</a:t>
            </a:r>
            <a:pPr algn="l" indent="0" marL="0">
              <a:buNone/>
            </a:pPr>
            <a:r>
              <a:rPr lang="en-US" sz="15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La plataforma lo corta a los 10 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292608"/>
            <a:ext cx="11002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12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· </a:t>
            </a:r>
            <a:pPr indent="0" marL="0">
              <a:buNone/>
            </a:pPr>
            <a:r>
              <a:rPr lang="en-US" sz="2600" b="1" dirty="0">
                <a:solidFill>
                  <a:srgbClr val="12223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while</a:t>
            </a:r>
            <a:pPr indent="0" marL="0">
              <a:buNone/>
            </a:pPr>
            <a:r>
              <a:rPr lang="en-US" sz="2700" b="1" dirty="0">
                <a:solidFill>
                  <a:srgbClr val="12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detenerse cuando se cumple algo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41248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Ahorras cada semana para un boleto de $500. El ciclo para en cuanto juntas el dinero.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7223760" cy="3657600"/>
          </a:xfrm>
          <a:prstGeom prst="roundRect">
            <a:avLst>
              <a:gd name="adj" fmla="val 4500"/>
            </a:avLst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52704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28800"/>
            <a:ext cx="68580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69CD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def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semanas_para_boleto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lista_ahorros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precio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: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total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semanas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while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semanas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len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lista_ahorros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69CD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and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total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precio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: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total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total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+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lista_ahorros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semanas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]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semanas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semanas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+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if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total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precio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: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A995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edge case: se acabaron las semanas y no alcanzó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semanas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print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semanas_para_boleto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200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150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300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250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]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500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A995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3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print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semanas_para_boleto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100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50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]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500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A995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-1</a:t>
            </a:r>
            <a:endParaRPr lang="en-US" sz="12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92440" y="1417320"/>
          <a:ext cx="3504895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310335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vuelta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¿sigue?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23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092440" y="3429000"/>
            <a:ext cx="3504895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321040" y="3566160"/>
            <a:ext cx="3047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Regresa 3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321040" y="3977640"/>
            <a:ext cx="30476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vuelta 3 el total pasa de $500. Con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[100, 50]</a:t>
            </a:r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nunca alcanza: regresa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-1</a:t>
            </a:r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5349240"/>
            <a:ext cx="110029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</a:t>
            </a:r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-1</a:t>
            </a:r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 un </a:t>
            </a:r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</a:t>
            </a:r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validado con un </a:t>
            </a:r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if</a:t>
            </a:r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sin </a:t>
            </a:r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else</a:t>
            </a:r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(sección 3). La revisión </a:t>
            </a:r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semanas &lt; len(lista_ahorros)</a:t>
            </a:r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 </a:t>
            </a:r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primero</a:t>
            </a:r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el </a:t>
            </a:r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and</a:t>
            </a:r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protege a </a:t>
            </a:r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lista_ahorros[semanas]</a:t>
            </a:r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292608"/>
            <a:ext cx="11002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12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</a:t>
            </a:r>
            <a:pPr indent="0" marL="0">
              <a:buNone/>
            </a:pPr>
            <a:r>
              <a:rPr lang="en-US" sz="2600" b="1" dirty="0">
                <a:solidFill>
                  <a:srgbClr val="12223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for</a:t>
            </a:r>
            <a:pPr indent="0" marL="0">
              <a:buNone/>
            </a:pPr>
            <a:r>
              <a:rPr lang="en-US" sz="2700" b="1" dirty="0">
                <a:solidFill>
                  <a:srgbClr val="12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</a:t>
            </a:r>
            <a:pPr indent="0" marL="0">
              <a:buNone/>
            </a:pPr>
            <a:r>
              <a:rPr lang="en-US" sz="2600" b="1" dirty="0">
                <a:solidFill>
                  <a:srgbClr val="12223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while</a:t>
            </a:r>
            <a:pPr indent="0" marL="0">
              <a:buNone/>
            </a:pPr>
            <a:r>
              <a:rPr lang="en-US" sz="2700" b="1" dirty="0">
                <a:solidFill>
                  <a:srgbClr val="12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94360" y="1280160"/>
            <a:ext cx="5364328" cy="310896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490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</a:t>
            </a:r>
            <a:pPr indent="0" marL="0">
              <a:buNone/>
            </a:pPr>
            <a:r>
              <a:rPr lang="en-US" sz="1900" b="1" dirty="0">
                <a:solidFill>
                  <a:srgbClr val="2563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for</a:t>
            </a:r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cuando…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28800"/>
            <a:ext cx="490712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 a recorrer </a:t>
            </a:r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</a:t>
            </a:r>
            <a:pPr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lista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Sabes cuántas vueltas habrá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233008" y="1280160"/>
            <a:ext cx="5364328" cy="310896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461608" y="1417320"/>
            <a:ext cx="490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</a:t>
            </a:r>
            <a:pPr indent="0" marL="0">
              <a:buNone/>
            </a:pPr>
            <a:r>
              <a:rPr lang="en-US" sz="1900" b="1" dirty="0">
                <a:solidFill>
                  <a:srgbClr val="7C3AE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while</a:t>
            </a:r>
            <a:pPr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cuando…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61608" y="1828800"/>
            <a:ext cx="490712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detienes cuando </a:t>
            </a:r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cumple algo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sabes cuántas vueltas habrá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Mueves dos índices de forma distinta (dos extremos, búsqueda binaria)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143000" y="4709160"/>
            <a:ext cx="9905695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1371600" y="4846320"/>
            <a:ext cx="9448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reconocer un </a:t>
            </a:r>
            <a:pPr indent="0" marL="0">
              <a:buNone/>
            </a:pPr>
            <a:r>
              <a:rPr lang="en-US" sz="1500" b="1" dirty="0">
                <a:solidFill>
                  <a:srgbClr val="16A34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while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5257800"/>
            <a:ext cx="94484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"hasta que…", "mientras…", "¿cuántas semanas necesitas?", "desde los dos extremos"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292608"/>
            <a:ext cx="11002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12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· </a:t>
            </a:r>
            <a:pPr indent="0" marL="0">
              <a:buNone/>
            </a:pPr>
            <a:r>
              <a:rPr lang="en-US" sz="2600" b="1" dirty="0">
                <a:solidFill>
                  <a:srgbClr val="12223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for</a:t>
            </a:r>
            <a:pPr indent="0" marL="0">
              <a:buNone/>
            </a:pPr>
            <a:r>
              <a:rPr lang="en-US" sz="2700" b="1" dirty="0">
                <a:solidFill>
                  <a:srgbClr val="12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dentro de </a:t>
            </a:r>
            <a:pPr indent="0" marL="0">
              <a:buNone/>
            </a:pPr>
            <a:r>
              <a:rPr lang="en-US" sz="2600" b="1" dirty="0">
                <a:solidFill>
                  <a:srgbClr val="12223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for</a:t>
            </a:r>
            <a:pPr indent="0" marL="0">
              <a:buNone/>
            </a:pPr>
            <a:r>
              <a:rPr lang="en-US" sz="2700" b="1" dirty="0">
                <a:solidFill>
                  <a:srgbClr val="12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lista de listas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41248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torneo tiene jornadas, y cada jornada tiene partidos. ¿Cuántos goles hubo en todo el torneo?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463040"/>
            <a:ext cx="11002975" cy="2606040"/>
          </a:xfrm>
          <a:prstGeom prst="roundRect">
            <a:avLst>
              <a:gd name="adj" fmla="val 6316"/>
            </a:avLst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572768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10637215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569CD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def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goles_del_torneo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lista_jornadas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: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total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for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lista_partidos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in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lista_jornadas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: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6A995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ciclo de afuera: cada jornada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for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goles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in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lista_partidos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: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6A995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ciclo de adentro: cada partido de esa jornada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total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total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+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goles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total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print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goles_del_torneo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]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4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]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]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6A995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11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43434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jornada 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4663440"/>
            <a:ext cx="6858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77240" y="4663440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600200" y="4663440"/>
            <a:ext cx="6858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1600200" y="4663440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423160" y="4663440"/>
            <a:ext cx="6858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2423160" y="4663440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53949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goles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749040" y="43434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jornada 2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749040" y="4663440"/>
            <a:ext cx="6858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3749040" y="4663440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0" y="4663440"/>
            <a:ext cx="6858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4572000" y="4663440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394960" y="4663440"/>
            <a:ext cx="6858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5394960" y="4663440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3749040" y="53949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goles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446520" y="46634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algn="l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7818120" y="4343400"/>
            <a:ext cx="3779215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046720" y="4480560"/>
            <a:ext cx="3322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regla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046720" y="4892040"/>
            <a:ext cx="33220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</a:t>
            </a:r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vuelta</a:t>
            </a:r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ciclo de afuera, el de adentro da </a:t>
            </a:r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</a:t>
            </a:r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sus vueltas.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292608"/>
            <a:ext cx="11002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12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· </a:t>
            </a:r>
            <a:pPr indent="0" marL="0">
              <a:buNone/>
            </a:pPr>
            <a:r>
              <a:rPr lang="en-US" sz="2600" b="1" dirty="0">
                <a:solidFill>
                  <a:srgbClr val="12223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for</a:t>
            </a:r>
            <a:pPr indent="0" marL="0">
              <a:buNone/>
            </a:pPr>
            <a:r>
              <a:rPr lang="en-US" sz="2700" b="1" dirty="0">
                <a:solidFill>
                  <a:srgbClr val="12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dentro de </a:t>
            </a:r>
            <a:pPr indent="0" marL="0">
              <a:buNone/>
            </a:pPr>
            <a:r>
              <a:rPr lang="en-US" sz="2600" b="1" dirty="0">
                <a:solidFill>
                  <a:srgbClr val="12223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for</a:t>
            </a:r>
            <a:pPr indent="0" marL="0">
              <a:buNone/>
            </a:pPr>
            <a:r>
              <a:rPr lang="en-US" sz="2700" b="1" dirty="0">
                <a:solidFill>
                  <a:srgbClr val="12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cada pareja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41248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Quieres comprar dos videojuegos y tienes $800. ¿Cuántas parejas distintas te alcanzan?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463040"/>
            <a:ext cx="11002975" cy="27432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572768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1063721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69CD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def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parejas_de_juegos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lista_precios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presupuesto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: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parejas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for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in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range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len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lista_precios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: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for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j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in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range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+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len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lista_precios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: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6A995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j empieza después de i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if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lista_precios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]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+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lista_precios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j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]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presupuesto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: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       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parejas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parejas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+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parejas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print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parejas_de_juegos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300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500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200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700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]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800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6A995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3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4480560"/>
            <a:ext cx="2545004" cy="173736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4617720"/>
            <a:ext cx="20878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parejas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029200"/>
            <a:ext cx="20878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+ 500, 300 + 200 y 500 + 200 → </a:t>
            </a:r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413684" y="4480560"/>
            <a:ext cx="2545004" cy="173736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642284" y="4617720"/>
            <a:ext cx="20878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</a:t>
            </a:r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 + 1</a:t>
            </a:r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642284" y="5029200"/>
            <a:ext cx="20878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emparejar un juego consigo mismo ni contar dos veces la misma pareja.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33008" y="4480560"/>
            <a:ext cx="2545004" cy="173736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461608" y="4617720"/>
            <a:ext cx="20878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O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61608" y="5029200"/>
            <a:ext cx="20878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× n vueltas: </a:t>
            </a:r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O(n²)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052331" y="4480560"/>
            <a:ext cx="2545004" cy="173736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280931" y="4617720"/>
            <a:ext cx="20878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Error típico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280931" y="5029200"/>
            <a:ext cx="20878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los dos ciclos: el de adentro pisa al de afuera.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292608"/>
            <a:ext cx="11002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12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· Recursividad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41248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función que se llama a sí misma con un problema más pequeño, hasta llegar a uno que se responde directo.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463040"/>
            <a:ext cx="11002975" cy="2011680"/>
          </a:xfrm>
          <a:prstGeom prst="roundRect">
            <a:avLst>
              <a:gd name="adj" fmla="val 8182"/>
            </a:avLst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572768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Esqueleto: las 2 partes obligatorias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106372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69CD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def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funcion_recursiva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problema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: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if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es_el_caso_base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: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A995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1. caso base: se responde sin llamarse otra vez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respuesta_directa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else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: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A995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2. caso recursivo: se llama con un problema MÁS PEQUEÑO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combinar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parte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funcion_recursiva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problema_mas_pequeno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3749040"/>
            <a:ext cx="5364328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3886200"/>
            <a:ext cx="490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Caso base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297680"/>
            <a:ext cx="49071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responde </a:t>
            </a:r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</a:t>
            </a:r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llamarse otra vez. Es el problema más pequeño.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33008" y="3749040"/>
            <a:ext cx="5364328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61608" y="3886200"/>
            <a:ext cx="490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Caso recursivo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61608" y="4297680"/>
            <a:ext cx="49071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llama con un problema </a:t>
            </a:r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pequeño</a:t>
            </a:r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combina el resultado.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5486400"/>
            <a:ext cx="11002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reconocerla: el enunciado dice "recursivo", o el problema se define en términos de sí mismo: "el factorial de n es n × el factorial de n - 1".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292608"/>
            <a:ext cx="11002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12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· Ejemplo: recortando la lista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41248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duración de la playlist es "la primera canción + la duración del resto".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lista_minutos[1:]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 la lista sin su primer elemento.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463040"/>
            <a:ext cx="11002975" cy="2286000"/>
          </a:xfrm>
          <a:prstGeom prst="roundRect">
            <a:avLst>
              <a:gd name="adj" fmla="val 7200"/>
            </a:avLst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572768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106372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69CD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def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duracion_recursiva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lista_minutos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: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if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len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lista_minutos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: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6A995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caso base: el problema más pequeño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else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: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6A995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caso recursivo: la primera canción + la duración del resto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lista_minutos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]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+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duracion_recursiva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lista_minutos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: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]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print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duracion_recursiva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4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5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]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6A995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14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3931920"/>
            <a:ext cx="11002975" cy="2377440"/>
          </a:xfrm>
          <a:prstGeom prst="roundRect">
            <a:avLst>
              <a:gd name="adj" fmla="val 6923"/>
            </a:avLst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4041648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llamadas bajan hasta el caso base y los resultados suben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343400"/>
            <a:ext cx="106372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duracion_recursiva([3, 4, 2, 5])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 3 + duracion_recursiva([4, 2, 5])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 3 + 4 + duracion_recursiva([2, 5])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 3 + 4 + 2 + duracion_recursiva([5])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 3 + 4 + 2 + 5 + duracion_recursiva([])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 3 + 4 + 2 + 5 + 0                      ← caso base: playlist vacía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 14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292608"/>
            <a:ext cx="11002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12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· Con un índice, y errores típicos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41248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Otra forma: avanza la posición en lugar de recortar la lista.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463040"/>
            <a:ext cx="11002975" cy="2377440"/>
          </a:xfrm>
          <a:prstGeom prst="roundRect">
            <a:avLst>
              <a:gd name="adj" fmla="val 6923"/>
            </a:avLst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572768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106372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569CD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def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duracion_recursiva_indice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lista_minutos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: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if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len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lista_minutos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: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6A995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caso base: ya no quedan canciones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else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: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lista_minutos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]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+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duracion_recursiva_indice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lista_minutos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+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print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duracion_recursiva_indice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4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5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]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6A995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14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4114800"/>
            <a:ext cx="3484778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4251960"/>
            <a:ext cx="30275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Sin caso base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663440"/>
            <a:ext cx="302757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 uno que nunca se alcanza: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RecursionError</a:t>
            </a:r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53458" y="4114800"/>
            <a:ext cx="3484778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582058" y="4251960"/>
            <a:ext cx="30275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El mismo problema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82058" y="4663440"/>
            <a:ext cx="302757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Llamarse con la </a:t>
            </a:r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</a:t>
            </a:r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lista en lugar de una más pequeña: nunca termina.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112557" y="4114800"/>
            <a:ext cx="3484778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341157" y="4251960"/>
            <a:ext cx="30275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Sin </a:t>
            </a:r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return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341157" y="4663440"/>
            <a:ext cx="302757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Olvidarlo antes de la llamada recursiva: el resultado se pierde y regresa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None</a:t>
            </a:r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292608"/>
            <a:ext cx="11002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12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· Lista de diccionarios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41248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¿Quiénes del equipo metieron 5 goles o más en la temporada?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463040"/>
            <a:ext cx="6309360" cy="4754880"/>
          </a:xfrm>
          <a:prstGeom prst="roundRect">
            <a:avLst>
              <a:gd name="adj" fmla="val 3462"/>
            </a:avLst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57276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5943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69CD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def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goleadores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lista_jugadores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: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lista_goleadores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]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for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jugador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in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lista_jugadores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: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if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jugador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E91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"goles"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]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5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: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   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lista_goleadores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append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jugador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E91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"nombre"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]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586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lista_goleadores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lista_equipo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{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E91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"nombre"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: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E91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"Ana"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E91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"goles"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: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7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}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{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E91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"nombre"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: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E91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"Beto"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E91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"goles"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: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}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{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E91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"nombre"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: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E91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"Caro"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E91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"goles"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: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B5CE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5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}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]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print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CDCA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goleadores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9CDCF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lista_equipo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6A995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['Ana', 'Caro']</a:t>
            </a:r>
            <a:endParaRPr lang="en-US" sz="14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78040" y="1463040"/>
          <a:ext cx="4419295" cy="914400"/>
        </p:xfrm>
        <a:graphic>
          <a:graphicData uri="http://schemas.openxmlformats.org/drawingml/2006/table">
            <a:tbl>
              <a:tblPr/>
              <a:tblGrid>
                <a:gridCol w="1767718"/>
                <a:gridCol w="1767718"/>
                <a:gridCol w="883859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jugador["nombre"]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jugador["goles"]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¿≥ 5?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23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"Ana"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"Beto"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"Caro"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178040" y="3429000"/>
            <a:ext cx="4419295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406640" y="3566160"/>
            <a:ext cx="3962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única novedad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406640" y="3977640"/>
            <a:ext cx="3962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jugador</a:t>
            </a:r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 un diccionario: sus datos se piden por </a:t>
            </a:r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llave</a:t>
            </a:r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178040" y="5029200"/>
            <a:ext cx="4419295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7406640" y="5166360"/>
            <a:ext cx="3962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Error típico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7406640" y="5577840"/>
            <a:ext cx="3962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jugador[goles]</a:t>
            </a:r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la llave va entre comillas y escrita igual.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292608"/>
            <a:ext cx="11002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12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· ¿Qué estructura uso? (1/2)</a:t>
            </a:r>
            <a:endParaRPr lang="en-US" sz="27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188720"/>
          <a:ext cx="11002975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4416552"/>
                <a:gridCol w="10972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 el problema dice…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Estructura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23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"si pasa X, cambia / agrega…" (sin otro caso)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if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sin 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else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"si la lista está vacía / el dato no es válido, regresa…"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if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de validación con 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return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"si … si no …"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if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/ 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else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rangos, categorías, 3 o más casos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if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/ 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elif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/ 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else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"si X, y además si Y…"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if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anidados </a:t>
                      </a:r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6, 7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"todos deben cumplir", "a la vez"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"cualquiera de", "alguno de"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"no es", "ninguno"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not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suma, total, promedio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for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+ acumulador (empieza en 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8, 9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"cuántos cumplen…"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for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+ 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if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+ contador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mayor / el menor / el mejor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acumulador con el primer elemento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292608"/>
            <a:ext cx="11002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12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· ¿Qué estructura uso? (2/2)</a:t>
            </a:r>
            <a:endParaRPr lang="en-US" sz="27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188720"/>
          <a:ext cx="11002975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4416552"/>
                <a:gridCol w="10972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 el problema dice…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Estructura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23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"regresa una lista con los que…"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acumulador 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[]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+ 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append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"en qué posición", "el índice"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for i in range(0, len(lista), 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"el primero que…"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izquierda → derecha + 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return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temprano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10, 11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"el último que…", "al revés"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derecha → izquierda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palíndromo, "desde los dos extremos"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dos índices + 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while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comparar dos listas posición por posición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índice para las dos listas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turnos, "da la vuelta", horas, días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% len(lista_elementos)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"hasta que…", "mientras…"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while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tabla, lista de listas, cada pareja, repetidos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for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dentro de 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for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"de forma recursiva"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caso base + caso recursivo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registros con nombre, goles, precio…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lista de diccionarios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600"/>
                        </a:spcAft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292608"/>
            <a:ext cx="11002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12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entregar cualquier ejercicio, revisa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94360" y="1234440"/>
            <a:ext cx="3484778" cy="22402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30275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783080"/>
            <a:ext cx="302757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¿Mi función tiene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return</a:t>
            </a:r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y está </a:t>
            </a:r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fuera</a:t>
            </a:r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ciclo, a menos que quiera terminar antes?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53458" y="1234440"/>
            <a:ext cx="3484778" cy="22402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582058" y="1371600"/>
            <a:ext cx="30275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582058" y="1783080"/>
            <a:ext cx="302757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¿Mi acumulador empieza </a:t>
            </a:r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ciclo y con el valor correcto (0, 1,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[]</a:t>
            </a:r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el primer elemento)?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112557" y="1234440"/>
            <a:ext cx="3484778" cy="22402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341157" y="1371600"/>
            <a:ext cx="30275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8341157" y="1783080"/>
            <a:ext cx="302757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¿Probé con una lista </a:t>
            </a:r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vacía</a:t>
            </a:r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con </a:t>
            </a:r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</a:t>
            </a:r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elemento y con el buscado al </a:t>
            </a:r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</a:t>
            </a:r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al </a:t>
            </a:r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473909" y="3749040"/>
            <a:ext cx="3484778" cy="22402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2702509" y="3886200"/>
            <a:ext cx="30275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2702509" y="4297680"/>
            <a:ext cx="302757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¿Uso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&gt;=</a:t>
            </a:r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&gt;</a:t>
            </a:r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según lo que dice el enunciado?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33008" y="3749040"/>
            <a:ext cx="3484778" cy="22402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461608" y="3886200"/>
            <a:ext cx="30275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461608" y="4297680"/>
            <a:ext cx="302757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uso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while</a:t>
            </a:r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¿algo cambia en cada vuelta para que el ciclo termine?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292608"/>
            <a:ext cx="11002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12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Práctica: ¿qué estructura usarías?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41248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Sólo identifica la estructura y escribe su esqueleto; no hace falta resolverlo completo.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463040"/>
            <a:ext cx="3484778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30275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11680"/>
            <a:ext cx="302757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¿Cuántas canciones de tu playlist duran más de 4 minutos?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53458" y="1463040"/>
            <a:ext cx="3484778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582058" y="1600200"/>
            <a:ext cx="30275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582058" y="2011680"/>
            <a:ext cx="302757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¿En qué jornada fue tu última derrota?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112557" y="1463040"/>
            <a:ext cx="3484778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341157" y="1600200"/>
            <a:ext cx="30275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8341157" y="2011680"/>
            <a:ext cx="302757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lista de precios está vacía regresa 0; si no, el precio más barato.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94360" y="3840480"/>
            <a:ext cx="3484778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22960" y="3977640"/>
            <a:ext cx="30275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389120"/>
            <a:ext cx="302757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amigo pone una canción por turno: ¿quién elige la canción 10?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353458" y="3840480"/>
            <a:ext cx="3484778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4582058" y="3977640"/>
            <a:ext cx="30275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4582058" y="4389120"/>
            <a:ext cx="302757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¿Cuántas semanas necesitas para juntar $2,000 para un videojuego?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112557" y="3840480"/>
            <a:ext cx="3484778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341157" y="3977640"/>
            <a:ext cx="30275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8341157" y="4389120"/>
            <a:ext cx="302757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¿Hay dos gamertags repetidos en la lista de tu clan?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292608"/>
            <a:ext cx="11002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12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94360" y="1280160"/>
            <a:ext cx="3484778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30275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28800"/>
            <a:ext cx="302757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if</a:t>
            </a:r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elif</a:t>
            </a:r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else</a:t>
            </a:r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and</a:t>
            </a:r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or</a:t>
            </a:r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not</a:t>
            </a:r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eligen qué camino seguir.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353458" y="1280160"/>
            <a:ext cx="3484778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582058" y="1417320"/>
            <a:ext cx="30275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82058" y="1828800"/>
            <a:ext cx="302757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for</a:t>
            </a:r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while</a:t>
            </a:r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acumuladores: repiten y van guardando el resultado.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112557" y="1280160"/>
            <a:ext cx="3484778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341157" y="1417320"/>
            <a:ext cx="30275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Recorridos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341157" y="1828800"/>
            <a:ext cx="302757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Índices, direcciones,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%</a:t>
            </a:r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recursividad: cómo visitar los datos.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143000" y="3749040"/>
            <a:ext cx="9905695" cy="173736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1371600" y="3886200"/>
            <a:ext cx="9448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el parcial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297680"/>
            <a:ext cx="94484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 con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guia_estructuras.pdf</a:t>
            </a:r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Ejecuta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ejemplo_estructuras.py</a:t>
            </a:r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compara cada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print</a:t>
            </a:r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su comentario; después escribe cada esqueleto de memoria.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13 · Estructuras de programación</dc:title>
  <dc:subject>PptxGenJS Presentation</dc:subject>
  <dc:creator>Diseño de algoritmos</dc:creator>
  <cp:lastModifiedBy>Diseño de algoritmos</cp:lastModifiedBy>
  <cp:revision>1</cp:revision>
  <dcterms:created xsi:type="dcterms:W3CDTF">2026-10-22T23:12:53Z</dcterms:created>
  <dcterms:modified xsi:type="dcterms:W3CDTF">2026-10-22T23:12:53Z</dcterms:modified>
</cp:coreProperties>
</file>