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tif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tif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tif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tif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tif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tif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tif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tif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tif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tif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tif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2223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TextBox 2"/>
          <p:cNvSpPr txBox="1"/>
          <p:nvPr/>
        </p:nvSpPr>
        <p:spPr>
          <a:xfrm>
            <a:off x="777239" y="1234439"/>
            <a:ext cx="6523694" cy="634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4200">
                <a:solidFill>
                  <a:srgbClr val="FFFFFF"/>
                </a:solidFill>
              </a:defRPr>
            </a:lvl1pPr>
          </a:lstStyle>
          <a:p>
            <a:pPr/>
            <a:r>
              <a:t>Ciclo de vida de un programa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95527" y="2468879"/>
            <a:ext cx="4559386" cy="6307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100">
                <a:solidFill>
                  <a:srgbClr val="BFDBFE"/>
                </a:solidFill>
              </a:defRPr>
            </a:pPr>
            <a:r>
              <a:t>Clase 3 · 17 de septiembre de 2026 · Aula</a:t>
            </a:r>
          </a:p>
          <a:p>
            <a:pPr>
              <a:defRPr sz="1600">
                <a:solidFill>
                  <a:srgbClr val="E2E8F0"/>
                </a:solidFill>
              </a:defRPr>
            </a:pPr>
            <a:r>
              <a:t>Unidad 2 · Fundamentos de programación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TextBox 2"/>
          <p:cNvSpPr txBox="1"/>
          <p:nvPr/>
        </p:nvSpPr>
        <p:spPr>
          <a:xfrm>
            <a:off x="640079" y="256031"/>
            <a:ext cx="3169145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Vistazo al mundo real</a:t>
            </a:r>
          </a:p>
        </p:txBody>
      </p:sp>
      <p:pic>
        <p:nvPicPr>
          <p:cNvPr id="100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37364" y="1125748"/>
            <a:ext cx="6178659" cy="51697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" name="TextBox 2"/>
          <p:cNvSpPr txBox="1"/>
          <p:nvPr/>
        </p:nvSpPr>
        <p:spPr>
          <a:xfrm>
            <a:off x="640079" y="256031"/>
            <a:ext cx="3065840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Objetivo de la sesión</a:t>
            </a:r>
          </a:p>
        </p:txBody>
      </p:sp>
      <p:sp>
        <p:nvSpPr>
          <p:cNvPr id="104" name="TextBox 3"/>
          <p:cNvSpPr txBox="1"/>
          <p:nvPr/>
        </p:nvSpPr>
        <p:spPr>
          <a:xfrm>
            <a:off x="658368" y="859536"/>
            <a:ext cx="4349314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Identificar y aplicar las ocho etapas del ciclo de vida de un programa.</a:t>
            </a:r>
          </a:p>
        </p:txBody>
      </p:sp>
      <p:sp>
        <p:nvSpPr>
          <p:cNvPr id="105" name="Rounded Rectangle 4"/>
          <p:cNvSpPr/>
          <p:nvPr/>
        </p:nvSpPr>
        <p:spPr>
          <a:xfrm>
            <a:off x="640080" y="1417319"/>
            <a:ext cx="5349241" cy="19659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" name="Rectangle 5"/>
          <p:cNvSpPr/>
          <p:nvPr/>
        </p:nvSpPr>
        <p:spPr>
          <a:xfrm>
            <a:off x="640080" y="1417319"/>
            <a:ext cx="73153" cy="1965962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" name="TextBox 6"/>
          <p:cNvSpPr txBox="1"/>
          <p:nvPr/>
        </p:nvSpPr>
        <p:spPr>
          <a:xfrm>
            <a:off x="886966" y="1554480"/>
            <a:ext cx="780813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Repasar</a:t>
            </a:r>
          </a:p>
        </p:txBody>
      </p:sp>
      <p:sp>
        <p:nvSpPr>
          <p:cNvPr id="108" name="TextBox 7"/>
          <p:cNvSpPr txBox="1"/>
          <p:nvPr/>
        </p:nvSpPr>
        <p:spPr>
          <a:xfrm>
            <a:off x="886966" y="2011679"/>
            <a:ext cx="489204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Definición y tipos de algoritmo vistos en la clase anterior.</a:t>
            </a:r>
          </a:p>
        </p:txBody>
      </p:sp>
      <p:sp>
        <p:nvSpPr>
          <p:cNvPr id="109" name="Rounded Rectangle 8"/>
          <p:cNvSpPr/>
          <p:nvPr/>
        </p:nvSpPr>
        <p:spPr>
          <a:xfrm>
            <a:off x="6217920" y="1417319"/>
            <a:ext cx="5349241" cy="19659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Rectangle 9"/>
          <p:cNvSpPr/>
          <p:nvPr/>
        </p:nvSpPr>
        <p:spPr>
          <a:xfrm>
            <a:off x="6217920" y="1417319"/>
            <a:ext cx="73153" cy="1965962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TextBox 10"/>
          <p:cNvSpPr txBox="1"/>
          <p:nvPr/>
        </p:nvSpPr>
        <p:spPr>
          <a:xfrm>
            <a:off x="6464808" y="1554480"/>
            <a:ext cx="1160126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Comprender</a:t>
            </a:r>
          </a:p>
        </p:txBody>
      </p:sp>
      <p:sp>
        <p:nvSpPr>
          <p:cNvPr id="112" name="TextBox 11"/>
          <p:cNvSpPr txBox="1"/>
          <p:nvPr/>
        </p:nvSpPr>
        <p:spPr>
          <a:xfrm>
            <a:off x="6464808" y="2011679"/>
            <a:ext cx="4892040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Qué ocurre desde que aparece un problema hasta que el software se mantiene.</a:t>
            </a:r>
          </a:p>
        </p:txBody>
      </p:sp>
      <p:sp>
        <p:nvSpPr>
          <p:cNvPr id="113" name="Rounded Rectangle 12"/>
          <p:cNvSpPr/>
          <p:nvPr/>
        </p:nvSpPr>
        <p:spPr>
          <a:xfrm>
            <a:off x="640080" y="3703320"/>
            <a:ext cx="5349241" cy="19659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" name="Rectangle 13"/>
          <p:cNvSpPr/>
          <p:nvPr/>
        </p:nvSpPr>
        <p:spPr>
          <a:xfrm>
            <a:off x="640080" y="3703320"/>
            <a:ext cx="73153" cy="1965961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TextBox 14"/>
          <p:cNvSpPr txBox="1"/>
          <p:nvPr/>
        </p:nvSpPr>
        <p:spPr>
          <a:xfrm>
            <a:off x="886966" y="3840479"/>
            <a:ext cx="692509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Aplicar</a:t>
            </a:r>
          </a:p>
        </p:txBody>
      </p:sp>
      <p:sp>
        <p:nvSpPr>
          <p:cNvPr id="116" name="TextBox 15"/>
          <p:cNvSpPr txBox="1"/>
          <p:nvPr/>
        </p:nvSpPr>
        <p:spPr>
          <a:xfrm>
            <a:off x="886966" y="4297679"/>
            <a:ext cx="489204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Recorrer las ocho etapas usando una app de lista de tareas.</a:t>
            </a:r>
          </a:p>
        </p:txBody>
      </p:sp>
      <p:sp>
        <p:nvSpPr>
          <p:cNvPr id="117" name="Rounded Rectangle 16"/>
          <p:cNvSpPr/>
          <p:nvPr/>
        </p:nvSpPr>
        <p:spPr>
          <a:xfrm>
            <a:off x="6217920" y="3703320"/>
            <a:ext cx="5349241" cy="19659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Rectangle 17"/>
          <p:cNvSpPr/>
          <p:nvPr/>
        </p:nvSpPr>
        <p:spPr>
          <a:xfrm>
            <a:off x="6217920" y="3703320"/>
            <a:ext cx="73153" cy="1965961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" name="TextBox 18"/>
          <p:cNvSpPr txBox="1"/>
          <p:nvPr/>
        </p:nvSpPr>
        <p:spPr>
          <a:xfrm>
            <a:off x="6464808" y="3840479"/>
            <a:ext cx="842130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Practicar</a:t>
            </a:r>
          </a:p>
        </p:txBody>
      </p:sp>
      <p:sp>
        <p:nvSpPr>
          <p:cNvPr id="120" name="TextBox 19"/>
          <p:cNvSpPr txBox="1"/>
          <p:nvPr/>
        </p:nvSpPr>
        <p:spPr>
          <a:xfrm>
            <a:off x="6464808" y="4297679"/>
            <a:ext cx="489204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Analizar en equipos un sistema de control de asistencia.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" name="TextBox 2"/>
          <p:cNvSpPr txBox="1"/>
          <p:nvPr/>
        </p:nvSpPr>
        <p:spPr>
          <a:xfrm>
            <a:off x="640079" y="256031"/>
            <a:ext cx="3828993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Del algoritmo al programa</a:t>
            </a:r>
          </a:p>
        </p:txBody>
      </p:sp>
      <p:sp>
        <p:nvSpPr>
          <p:cNvPr id="124" name="TextBox 3"/>
          <p:cNvSpPr txBox="1"/>
          <p:nvPr/>
        </p:nvSpPr>
        <p:spPr>
          <a:xfrm>
            <a:off x="658368" y="859536"/>
            <a:ext cx="592972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Resolver un problema con una computadora requiere un proceso ordenado, no improvisación.</a:t>
            </a:r>
          </a:p>
        </p:txBody>
      </p:sp>
      <p:sp>
        <p:nvSpPr>
          <p:cNvPr id="125" name="Rounded Rectangle 4"/>
          <p:cNvSpPr/>
          <p:nvPr/>
        </p:nvSpPr>
        <p:spPr>
          <a:xfrm>
            <a:off x="731519" y="1371600"/>
            <a:ext cx="5120642" cy="3383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Rectangle 5"/>
          <p:cNvSpPr/>
          <p:nvPr/>
        </p:nvSpPr>
        <p:spPr>
          <a:xfrm>
            <a:off x="731519" y="1371600"/>
            <a:ext cx="73153" cy="3383280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TextBox 6"/>
          <p:cNvSpPr txBox="1"/>
          <p:nvPr/>
        </p:nvSpPr>
        <p:spPr>
          <a:xfrm>
            <a:off x="978407" y="1508760"/>
            <a:ext cx="1106102" cy="330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900">
                <a:solidFill>
                  <a:srgbClr val="122238"/>
                </a:solidFill>
              </a:defRPr>
            </a:lvl1pPr>
          </a:lstStyle>
          <a:p>
            <a:pPr/>
            <a:r>
              <a:t>Algoritmo</a:t>
            </a:r>
          </a:p>
        </p:txBody>
      </p:sp>
      <p:sp>
        <p:nvSpPr>
          <p:cNvPr id="128" name="TextBox 7"/>
          <p:cNvSpPr txBox="1"/>
          <p:nvPr/>
        </p:nvSpPr>
        <p:spPr>
          <a:xfrm>
            <a:off x="978407" y="1965960"/>
            <a:ext cx="4663440" cy="735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La lógica o secuencia de pasos que resuelve un problema.</a:t>
            </a:r>
            <a:br/>
            <a:br/>
            <a:r>
              <a:t>Ejemplo: pasos para calcular un promedio.</a:t>
            </a:r>
          </a:p>
        </p:txBody>
      </p:sp>
      <p:sp>
        <p:nvSpPr>
          <p:cNvPr id="129" name="Rounded Rectangle 8"/>
          <p:cNvSpPr/>
          <p:nvPr/>
        </p:nvSpPr>
        <p:spPr>
          <a:xfrm>
            <a:off x="6309359" y="1371600"/>
            <a:ext cx="5120641" cy="3383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Rectangle 9"/>
          <p:cNvSpPr/>
          <p:nvPr/>
        </p:nvSpPr>
        <p:spPr>
          <a:xfrm>
            <a:off x="6309359" y="1371600"/>
            <a:ext cx="73153" cy="3383280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" name="TextBox 10"/>
          <p:cNvSpPr txBox="1"/>
          <p:nvPr/>
        </p:nvSpPr>
        <p:spPr>
          <a:xfrm>
            <a:off x="6556247" y="1508760"/>
            <a:ext cx="2753964" cy="330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900">
                <a:solidFill>
                  <a:srgbClr val="122238"/>
                </a:solidFill>
              </a:defRPr>
            </a:lvl1pPr>
          </a:lstStyle>
          <a:p>
            <a:pPr/>
            <a:r>
              <a:t>Ciclo de vida del programa</a:t>
            </a:r>
          </a:p>
        </p:txBody>
      </p:sp>
      <p:sp>
        <p:nvSpPr>
          <p:cNvPr id="132" name="TextBox 11"/>
          <p:cNvSpPr txBox="1"/>
          <p:nvPr/>
        </p:nvSpPr>
        <p:spPr>
          <a:xfrm>
            <a:off x="6556247" y="1965960"/>
            <a:ext cx="4663440" cy="506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475569"/>
                </a:solidFill>
              </a:defRPr>
            </a:lvl1pPr>
          </a:lstStyle>
          <a:p>
            <a:pPr/>
            <a:r>
              <a:t>El proceso completo: entender, diseñar, codificar, probar, documentar, implantar y mantener.</a:t>
            </a:r>
          </a:p>
        </p:txBody>
      </p:sp>
      <p:sp>
        <p:nvSpPr>
          <p:cNvPr id="133" name="Rounded Rectangle 12"/>
          <p:cNvSpPr/>
          <p:nvPr/>
        </p:nvSpPr>
        <p:spPr>
          <a:xfrm>
            <a:off x="1920239" y="5074920"/>
            <a:ext cx="8366761" cy="1130406"/>
          </a:xfrm>
          <a:prstGeom prst="roundRect">
            <a:avLst>
              <a:gd name="adj" fmla="val 13482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" name="Rectangle 13"/>
          <p:cNvSpPr/>
          <p:nvPr/>
        </p:nvSpPr>
        <p:spPr>
          <a:xfrm>
            <a:off x="1920239" y="5074920"/>
            <a:ext cx="73153" cy="1130406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" name="TextBox 14"/>
          <p:cNvSpPr txBox="1"/>
          <p:nvPr/>
        </p:nvSpPr>
        <p:spPr>
          <a:xfrm>
            <a:off x="2167127" y="5212079"/>
            <a:ext cx="865844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Pregunta</a:t>
            </a:r>
          </a:p>
        </p:txBody>
      </p:sp>
      <p:sp>
        <p:nvSpPr>
          <p:cNvPr id="136" name="TextBox 15"/>
          <p:cNvSpPr txBox="1"/>
          <p:nvPr/>
        </p:nvSpPr>
        <p:spPr>
          <a:xfrm>
            <a:off x="2167127" y="5669279"/>
            <a:ext cx="7909561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¿Qué problemas aparecen si abrimos Python y comenzamos a escribir código sin saber exactamente qué queremos resolver?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" name="TextBox 2"/>
          <p:cNvSpPr txBox="1"/>
          <p:nvPr/>
        </p:nvSpPr>
        <p:spPr>
          <a:xfrm>
            <a:off x="640079" y="256031"/>
            <a:ext cx="4698633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Las ocho etapas del ciclo de vida</a:t>
            </a:r>
          </a:p>
        </p:txBody>
      </p:sp>
      <p:sp>
        <p:nvSpPr>
          <p:cNvPr id="140" name="TextBox 3"/>
          <p:cNvSpPr txBox="1"/>
          <p:nvPr/>
        </p:nvSpPr>
        <p:spPr>
          <a:xfrm>
            <a:off x="658368" y="859536"/>
            <a:ext cx="4107915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El documento del curso las presenta como un proceso ordenado.</a:t>
            </a:r>
          </a:p>
        </p:txBody>
      </p:sp>
      <p:sp>
        <p:nvSpPr>
          <p:cNvPr id="141" name="Rounded Rectangle 4"/>
          <p:cNvSpPr/>
          <p:nvPr/>
        </p:nvSpPr>
        <p:spPr>
          <a:xfrm>
            <a:off x="640080" y="1371600"/>
            <a:ext cx="2560321" cy="1600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" name="Rectangle 5"/>
          <p:cNvSpPr/>
          <p:nvPr/>
        </p:nvSpPr>
        <p:spPr>
          <a:xfrm>
            <a:off x="640080" y="1371600"/>
            <a:ext cx="73153" cy="1600200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" name="TextBox 6"/>
          <p:cNvSpPr txBox="1"/>
          <p:nvPr/>
        </p:nvSpPr>
        <p:spPr>
          <a:xfrm>
            <a:off x="886966" y="1508760"/>
            <a:ext cx="233061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1. Definición del problema</a:t>
            </a:r>
          </a:p>
        </p:txBody>
      </p:sp>
      <p:sp>
        <p:nvSpPr>
          <p:cNvPr id="144" name="TextBox 7"/>
          <p:cNvSpPr txBox="1"/>
          <p:nvPr/>
        </p:nvSpPr>
        <p:spPr>
          <a:xfrm>
            <a:off x="886966" y="1965960"/>
            <a:ext cx="210312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¿Qué debemos resolver?</a:t>
            </a:r>
          </a:p>
        </p:txBody>
      </p:sp>
      <p:sp>
        <p:nvSpPr>
          <p:cNvPr id="145" name="Rounded Rectangle 8"/>
          <p:cNvSpPr/>
          <p:nvPr/>
        </p:nvSpPr>
        <p:spPr>
          <a:xfrm>
            <a:off x="3429000" y="1371600"/>
            <a:ext cx="2560321" cy="1600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" name="Rectangle 9"/>
          <p:cNvSpPr/>
          <p:nvPr/>
        </p:nvSpPr>
        <p:spPr>
          <a:xfrm>
            <a:off x="3429000" y="1371600"/>
            <a:ext cx="73153" cy="1600200"/>
          </a:xfrm>
          <a:prstGeom prst="rect">
            <a:avLst/>
          </a:prstGeom>
          <a:solidFill>
            <a:srgbClr val="0EA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" name="TextBox 10"/>
          <p:cNvSpPr txBox="1"/>
          <p:nvPr/>
        </p:nvSpPr>
        <p:spPr>
          <a:xfrm>
            <a:off x="3675888" y="1508760"/>
            <a:ext cx="951667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2. Análisis</a:t>
            </a:r>
          </a:p>
        </p:txBody>
      </p:sp>
      <p:sp>
        <p:nvSpPr>
          <p:cNvPr id="148" name="TextBox 11"/>
          <p:cNvSpPr txBox="1"/>
          <p:nvPr/>
        </p:nvSpPr>
        <p:spPr>
          <a:xfrm>
            <a:off x="3675888" y="1965960"/>
            <a:ext cx="2103121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Entradas, salidas y restricciones.</a:t>
            </a:r>
          </a:p>
        </p:txBody>
      </p:sp>
      <p:sp>
        <p:nvSpPr>
          <p:cNvPr id="149" name="Rounded Rectangle 12"/>
          <p:cNvSpPr/>
          <p:nvPr/>
        </p:nvSpPr>
        <p:spPr>
          <a:xfrm>
            <a:off x="6217920" y="1371600"/>
            <a:ext cx="2560321" cy="1600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" name="Rectangle 13"/>
          <p:cNvSpPr/>
          <p:nvPr/>
        </p:nvSpPr>
        <p:spPr>
          <a:xfrm>
            <a:off x="6217920" y="1371600"/>
            <a:ext cx="73153" cy="1600200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" name="TextBox 14"/>
          <p:cNvSpPr txBox="1"/>
          <p:nvPr/>
        </p:nvSpPr>
        <p:spPr>
          <a:xfrm>
            <a:off x="6464808" y="1508760"/>
            <a:ext cx="1892658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3. Diseño de solución</a:t>
            </a:r>
          </a:p>
        </p:txBody>
      </p:sp>
      <p:sp>
        <p:nvSpPr>
          <p:cNvPr id="152" name="TextBox 15"/>
          <p:cNvSpPr txBox="1"/>
          <p:nvPr/>
        </p:nvSpPr>
        <p:spPr>
          <a:xfrm>
            <a:off x="6464808" y="1965960"/>
            <a:ext cx="210312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¿Cómo lo resolveremos?</a:t>
            </a:r>
          </a:p>
        </p:txBody>
      </p:sp>
      <p:sp>
        <p:nvSpPr>
          <p:cNvPr id="153" name="Rounded Rectangle 16"/>
          <p:cNvSpPr/>
          <p:nvPr/>
        </p:nvSpPr>
        <p:spPr>
          <a:xfrm>
            <a:off x="9006839" y="1371600"/>
            <a:ext cx="2560321" cy="1600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" name="Rectangle 17"/>
          <p:cNvSpPr/>
          <p:nvPr/>
        </p:nvSpPr>
        <p:spPr>
          <a:xfrm>
            <a:off x="9006839" y="1371600"/>
            <a:ext cx="73153" cy="1600200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" name="TextBox 18"/>
          <p:cNvSpPr txBox="1"/>
          <p:nvPr/>
        </p:nvSpPr>
        <p:spPr>
          <a:xfrm>
            <a:off x="9253726" y="1508760"/>
            <a:ext cx="133465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4. Codificación</a:t>
            </a:r>
          </a:p>
        </p:txBody>
      </p:sp>
      <p:sp>
        <p:nvSpPr>
          <p:cNvPr id="156" name="TextBox 19"/>
          <p:cNvSpPr txBox="1"/>
          <p:nvPr/>
        </p:nvSpPr>
        <p:spPr>
          <a:xfrm>
            <a:off x="9253726" y="1965960"/>
            <a:ext cx="210312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Traducir el diseño a código.</a:t>
            </a:r>
          </a:p>
        </p:txBody>
      </p:sp>
      <p:sp>
        <p:nvSpPr>
          <p:cNvPr id="157" name="Rounded Rectangle 20"/>
          <p:cNvSpPr/>
          <p:nvPr/>
        </p:nvSpPr>
        <p:spPr>
          <a:xfrm>
            <a:off x="640080" y="3291840"/>
            <a:ext cx="2560321" cy="16002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" name="Rectangle 21"/>
          <p:cNvSpPr/>
          <p:nvPr/>
        </p:nvSpPr>
        <p:spPr>
          <a:xfrm>
            <a:off x="640080" y="3291840"/>
            <a:ext cx="73153" cy="1600201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" name="TextBox 22"/>
          <p:cNvSpPr txBox="1"/>
          <p:nvPr/>
        </p:nvSpPr>
        <p:spPr>
          <a:xfrm>
            <a:off x="886966" y="3429000"/>
            <a:ext cx="2128303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5. Pruebas y depuración</a:t>
            </a:r>
          </a:p>
        </p:txBody>
      </p:sp>
      <p:sp>
        <p:nvSpPr>
          <p:cNvPr id="160" name="TextBox 23"/>
          <p:cNvSpPr txBox="1"/>
          <p:nvPr/>
        </p:nvSpPr>
        <p:spPr>
          <a:xfrm>
            <a:off x="886966" y="3886200"/>
            <a:ext cx="210312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Comprobar y corregir.</a:t>
            </a:r>
          </a:p>
        </p:txBody>
      </p:sp>
      <p:sp>
        <p:nvSpPr>
          <p:cNvPr id="161" name="Rounded Rectangle 24"/>
          <p:cNvSpPr/>
          <p:nvPr/>
        </p:nvSpPr>
        <p:spPr>
          <a:xfrm>
            <a:off x="3429000" y="3291840"/>
            <a:ext cx="2560321" cy="16002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" name="Rectangle 25"/>
          <p:cNvSpPr/>
          <p:nvPr/>
        </p:nvSpPr>
        <p:spPr>
          <a:xfrm>
            <a:off x="3429000" y="3291840"/>
            <a:ext cx="73153" cy="1600201"/>
          </a:xfrm>
          <a:prstGeom prst="rect">
            <a:avLst/>
          </a:prstGeom>
          <a:solidFill>
            <a:srgbClr val="F59E0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3" name="TextBox 26"/>
          <p:cNvSpPr txBox="1"/>
          <p:nvPr/>
        </p:nvSpPr>
        <p:spPr>
          <a:xfrm>
            <a:off x="3675888" y="3429000"/>
            <a:ext cx="1635483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6. Documentación</a:t>
            </a:r>
          </a:p>
        </p:txBody>
      </p:sp>
      <p:sp>
        <p:nvSpPr>
          <p:cNvPr id="164" name="TextBox 27"/>
          <p:cNvSpPr txBox="1"/>
          <p:nvPr/>
        </p:nvSpPr>
        <p:spPr>
          <a:xfrm>
            <a:off x="3675888" y="3886200"/>
            <a:ext cx="210312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Explicar el programa.</a:t>
            </a:r>
          </a:p>
        </p:txBody>
      </p:sp>
      <p:sp>
        <p:nvSpPr>
          <p:cNvPr id="165" name="Rounded Rectangle 28"/>
          <p:cNvSpPr/>
          <p:nvPr/>
        </p:nvSpPr>
        <p:spPr>
          <a:xfrm>
            <a:off x="6217920" y="3291840"/>
            <a:ext cx="2560321" cy="16002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" name="Rectangle 29"/>
          <p:cNvSpPr/>
          <p:nvPr/>
        </p:nvSpPr>
        <p:spPr>
          <a:xfrm>
            <a:off x="6217920" y="3291840"/>
            <a:ext cx="73153" cy="1600201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" name="TextBox 30"/>
          <p:cNvSpPr txBox="1"/>
          <p:nvPr/>
        </p:nvSpPr>
        <p:spPr>
          <a:xfrm>
            <a:off x="6464808" y="3429000"/>
            <a:ext cx="2237741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600">
                <a:solidFill>
                  <a:srgbClr val="122238"/>
                </a:solidFill>
              </a:defRPr>
            </a:pPr>
            <a:r>
              <a:t>7. Liberación, despliegue,</a:t>
            </a:r>
          </a:p>
          <a:p>
            <a:pPr>
              <a:defRPr b="1" sz="1600">
                <a:solidFill>
                  <a:srgbClr val="122238"/>
                </a:solidFill>
              </a:defRPr>
            </a:pPr>
            <a:r>
              <a:t>publicación,  (deploy)</a:t>
            </a:r>
          </a:p>
        </p:txBody>
      </p:sp>
      <p:sp>
        <p:nvSpPr>
          <p:cNvPr id="168" name="TextBox 31"/>
          <p:cNvSpPr txBox="1"/>
          <p:nvPr/>
        </p:nvSpPr>
        <p:spPr>
          <a:xfrm>
            <a:off x="6464808" y="4000500"/>
            <a:ext cx="210312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Ponerlo en uso real.</a:t>
            </a:r>
          </a:p>
        </p:txBody>
      </p:sp>
      <p:sp>
        <p:nvSpPr>
          <p:cNvPr id="169" name="Rounded Rectangle 32"/>
          <p:cNvSpPr/>
          <p:nvPr/>
        </p:nvSpPr>
        <p:spPr>
          <a:xfrm>
            <a:off x="9006839" y="3291840"/>
            <a:ext cx="2560321" cy="16002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0" name="Rectangle 33"/>
          <p:cNvSpPr/>
          <p:nvPr/>
        </p:nvSpPr>
        <p:spPr>
          <a:xfrm>
            <a:off x="9006839" y="3291840"/>
            <a:ext cx="73153" cy="1600201"/>
          </a:xfrm>
          <a:prstGeom prst="rect">
            <a:avLst/>
          </a:prstGeom>
          <a:solidFill>
            <a:srgbClr val="DC262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1" name="TextBox 34"/>
          <p:cNvSpPr txBox="1"/>
          <p:nvPr/>
        </p:nvSpPr>
        <p:spPr>
          <a:xfrm>
            <a:off x="9253726" y="3429000"/>
            <a:ext cx="1623974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8. Mantenimiento</a:t>
            </a:r>
          </a:p>
        </p:txBody>
      </p:sp>
      <p:sp>
        <p:nvSpPr>
          <p:cNvPr id="172" name="TextBox 35"/>
          <p:cNvSpPr txBox="1"/>
          <p:nvPr/>
        </p:nvSpPr>
        <p:spPr>
          <a:xfrm>
            <a:off x="9253726" y="3886200"/>
            <a:ext cx="210312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Corregir y mejorar después.</a:t>
            </a:r>
          </a:p>
        </p:txBody>
      </p:sp>
      <p:sp>
        <p:nvSpPr>
          <p:cNvPr id="173" name="Rounded Rectangle 36"/>
          <p:cNvSpPr/>
          <p:nvPr/>
        </p:nvSpPr>
        <p:spPr>
          <a:xfrm>
            <a:off x="2011679" y="5303520"/>
            <a:ext cx="8183880" cy="8229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" name="Rectangle 37"/>
          <p:cNvSpPr/>
          <p:nvPr/>
        </p:nvSpPr>
        <p:spPr>
          <a:xfrm>
            <a:off x="2011679" y="5303520"/>
            <a:ext cx="73153" cy="822961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" name="TextBox 38"/>
          <p:cNvSpPr txBox="1"/>
          <p:nvPr/>
        </p:nvSpPr>
        <p:spPr>
          <a:xfrm>
            <a:off x="2258568" y="5440679"/>
            <a:ext cx="1151240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500">
                <a:solidFill>
                  <a:srgbClr val="122238"/>
                </a:solidFill>
              </a:defRPr>
            </a:lvl1pPr>
          </a:lstStyle>
          <a:p>
            <a:pPr/>
            <a:r>
              <a:t>En la práctica</a:t>
            </a:r>
          </a:p>
        </p:txBody>
      </p:sp>
      <p:sp>
        <p:nvSpPr>
          <p:cNvPr id="176" name="TextBox 39"/>
          <p:cNvSpPr txBox="1"/>
          <p:nvPr/>
        </p:nvSpPr>
        <p:spPr>
          <a:xfrm>
            <a:off x="2258568" y="5897879"/>
            <a:ext cx="7726679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Podemos regresar a etapas anteriores cuando descubrimos errores o cambian las necesidades.</a:t>
            </a:r>
          </a:p>
        </p:txBody>
      </p:sp>
      <p:pic>
        <p:nvPicPr>
          <p:cNvPr id="177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" name="TextBox 2"/>
          <p:cNvSpPr txBox="1"/>
          <p:nvPr/>
        </p:nvSpPr>
        <p:spPr>
          <a:xfrm>
            <a:off x="640079" y="256031"/>
            <a:ext cx="3861307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1. Definición del problema</a:t>
            </a:r>
          </a:p>
        </p:txBody>
      </p:sp>
      <p:sp>
        <p:nvSpPr>
          <p:cNvPr id="181" name="TextBox 3"/>
          <p:cNvSpPr txBox="1"/>
          <p:nvPr/>
        </p:nvSpPr>
        <p:spPr>
          <a:xfrm>
            <a:off x="658368" y="859536"/>
            <a:ext cx="4513769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Identificar y delimitar QUÉ se va a resolver, sin pensar todavía en cómo.</a:t>
            </a:r>
          </a:p>
        </p:txBody>
      </p:sp>
      <p:sp>
        <p:nvSpPr>
          <p:cNvPr id="182" name="Rounded Rectangle 4"/>
          <p:cNvSpPr/>
          <p:nvPr/>
        </p:nvSpPr>
        <p:spPr>
          <a:xfrm>
            <a:off x="685800" y="1325880"/>
            <a:ext cx="5303521" cy="32918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" name="Rectangle 5"/>
          <p:cNvSpPr/>
          <p:nvPr/>
        </p:nvSpPr>
        <p:spPr>
          <a:xfrm>
            <a:off x="685800" y="1325879"/>
            <a:ext cx="73153" cy="3291842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" name="TextBox 6"/>
          <p:cNvSpPr txBox="1"/>
          <p:nvPr/>
        </p:nvSpPr>
        <p:spPr>
          <a:xfrm>
            <a:off x="932687" y="1463038"/>
            <a:ext cx="1119769" cy="330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900">
                <a:solidFill>
                  <a:srgbClr val="122238"/>
                </a:solidFill>
              </a:defRPr>
            </a:lvl1pPr>
          </a:lstStyle>
          <a:p>
            <a:pPr/>
            <a:r>
              <a:t>Definición</a:t>
            </a:r>
          </a:p>
        </p:txBody>
      </p:sp>
      <p:sp>
        <p:nvSpPr>
          <p:cNvPr id="185" name="TextBox 7"/>
          <p:cNvSpPr txBox="1"/>
          <p:nvPr/>
        </p:nvSpPr>
        <p:spPr>
          <a:xfrm>
            <a:off x="932687" y="1920240"/>
            <a:ext cx="4846320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475569"/>
                </a:solidFill>
              </a:defRPr>
            </a:lvl1pPr>
          </a:lstStyle>
          <a:p>
            <a:pPr/>
            <a:r>
              <a:t>Primera etapa: expresar el problema con claridad y límites concretos.</a:t>
            </a:r>
          </a:p>
        </p:txBody>
      </p:sp>
      <p:sp>
        <p:nvSpPr>
          <p:cNvPr id="186" name="Rounded Rectangle 8"/>
          <p:cNvSpPr/>
          <p:nvPr/>
        </p:nvSpPr>
        <p:spPr>
          <a:xfrm>
            <a:off x="6217920" y="1325880"/>
            <a:ext cx="5257801" cy="1417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" name="Rectangle 9"/>
          <p:cNvSpPr/>
          <p:nvPr/>
        </p:nvSpPr>
        <p:spPr>
          <a:xfrm>
            <a:off x="6217920" y="1325880"/>
            <a:ext cx="73153" cy="1417320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" name="TextBox 10"/>
          <p:cNvSpPr txBox="1"/>
          <p:nvPr/>
        </p:nvSpPr>
        <p:spPr>
          <a:xfrm>
            <a:off x="6464808" y="1463038"/>
            <a:ext cx="1058823" cy="353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700">
                <a:solidFill>
                  <a:srgbClr val="122238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t>Ejemplo</a:t>
            </a:r>
          </a:p>
        </p:txBody>
      </p:sp>
      <p:sp>
        <p:nvSpPr>
          <p:cNvPr id="189" name="TextBox 11"/>
          <p:cNvSpPr txBox="1"/>
          <p:nvPr/>
        </p:nvSpPr>
        <p:spPr>
          <a:xfrm>
            <a:off x="6464808" y="1920239"/>
            <a:ext cx="4800601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475569"/>
                </a:solidFill>
              </a:defRPr>
            </a:lvl1pPr>
          </a:lstStyle>
          <a:p>
            <a:pPr/>
            <a:r>
              <a:t>“Se necesita un programa que calcule el promedio de calificaciones de un estudiante.”</a:t>
            </a:r>
          </a:p>
        </p:txBody>
      </p:sp>
      <p:sp>
        <p:nvSpPr>
          <p:cNvPr id="190" name="Rounded Rectangle 12"/>
          <p:cNvSpPr/>
          <p:nvPr/>
        </p:nvSpPr>
        <p:spPr>
          <a:xfrm>
            <a:off x="6217920" y="2971800"/>
            <a:ext cx="5257801" cy="1691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" name="Rectangle 13"/>
          <p:cNvSpPr/>
          <p:nvPr/>
        </p:nvSpPr>
        <p:spPr>
          <a:xfrm>
            <a:off x="6217920" y="2971800"/>
            <a:ext cx="73153" cy="1691640"/>
          </a:xfrm>
          <a:prstGeom prst="rect">
            <a:avLst/>
          </a:prstGeom>
          <a:solidFill>
            <a:srgbClr val="DC262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" name="TextBox 14"/>
          <p:cNvSpPr txBox="1"/>
          <p:nvPr/>
        </p:nvSpPr>
        <p:spPr>
          <a:xfrm>
            <a:off x="6464808" y="3108960"/>
            <a:ext cx="1618076" cy="349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700">
                <a:solidFill>
                  <a:srgbClr val="122238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✗ </a:t>
            </a:r>
            <a:r>
              <a:t>Contraejemplo</a:t>
            </a:r>
          </a:p>
        </p:txBody>
      </p:sp>
      <p:sp>
        <p:nvSpPr>
          <p:cNvPr id="193" name="TextBox 15"/>
          <p:cNvSpPr txBox="1"/>
          <p:nvPr/>
        </p:nvSpPr>
        <p:spPr>
          <a:xfrm>
            <a:off x="6464808" y="3566159"/>
            <a:ext cx="4800601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475569"/>
                </a:solidFill>
              </a:defRPr>
            </a:lvl1pPr>
          </a:lstStyle>
          <a:p>
            <a:pPr/>
            <a:r>
              <a:t>“Hacer un programa útil para la escuela.” Es demasiado vago: no especifica qué hace.</a:t>
            </a:r>
          </a:p>
        </p:txBody>
      </p:sp>
      <p:sp>
        <p:nvSpPr>
          <p:cNvPr id="194" name="Rounded Rectangle 16"/>
          <p:cNvSpPr/>
          <p:nvPr/>
        </p:nvSpPr>
        <p:spPr>
          <a:xfrm>
            <a:off x="1920239" y="5074920"/>
            <a:ext cx="8321042" cy="8229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" name="Rectangle 17"/>
          <p:cNvSpPr/>
          <p:nvPr/>
        </p:nvSpPr>
        <p:spPr>
          <a:xfrm>
            <a:off x="1920239" y="5074920"/>
            <a:ext cx="73153" cy="822961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" name="TextBox 18"/>
          <p:cNvSpPr txBox="1"/>
          <p:nvPr/>
        </p:nvSpPr>
        <p:spPr>
          <a:xfrm>
            <a:off x="2167127" y="5212079"/>
            <a:ext cx="865844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Pregunta</a:t>
            </a:r>
          </a:p>
        </p:txBody>
      </p:sp>
      <p:sp>
        <p:nvSpPr>
          <p:cNvPr id="197" name="TextBox 19"/>
          <p:cNvSpPr txBox="1"/>
          <p:nvPr/>
        </p:nvSpPr>
        <p:spPr>
          <a:xfrm>
            <a:off x="2167127" y="5669279"/>
            <a:ext cx="786384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¿Podemos describir claramente la necesidad en una sola oración?</a:t>
            </a:r>
          </a:p>
        </p:txBody>
      </p:sp>
      <p:pic>
        <p:nvPicPr>
          <p:cNvPr id="198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" name="TextBox 2"/>
          <p:cNvSpPr txBox="1"/>
          <p:nvPr/>
        </p:nvSpPr>
        <p:spPr>
          <a:xfrm>
            <a:off x="640079" y="256031"/>
            <a:ext cx="3505348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2. Análisis del problema</a:t>
            </a:r>
          </a:p>
        </p:txBody>
      </p:sp>
      <p:sp>
        <p:nvSpPr>
          <p:cNvPr id="202" name="TextBox 3"/>
          <p:cNvSpPr txBox="1"/>
          <p:nvPr/>
        </p:nvSpPr>
        <p:spPr>
          <a:xfrm>
            <a:off x="658368" y="859536"/>
            <a:ext cx="4262473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Estudiamos el problema para identificar los datos y las condiciones.</a:t>
            </a:r>
          </a:p>
        </p:txBody>
      </p:sp>
      <p:sp>
        <p:nvSpPr>
          <p:cNvPr id="203" name="Rounded Rectangle 4"/>
          <p:cNvSpPr/>
          <p:nvPr/>
        </p:nvSpPr>
        <p:spPr>
          <a:xfrm>
            <a:off x="640080" y="1417319"/>
            <a:ext cx="3489960" cy="21031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" name="Rectangle 5"/>
          <p:cNvSpPr/>
          <p:nvPr/>
        </p:nvSpPr>
        <p:spPr>
          <a:xfrm>
            <a:off x="640080" y="1417319"/>
            <a:ext cx="73153" cy="2103122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" name="TextBox 6"/>
          <p:cNvSpPr txBox="1"/>
          <p:nvPr/>
        </p:nvSpPr>
        <p:spPr>
          <a:xfrm>
            <a:off x="886966" y="1554480"/>
            <a:ext cx="75829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Entrada</a:t>
            </a:r>
          </a:p>
        </p:txBody>
      </p:sp>
      <p:sp>
        <p:nvSpPr>
          <p:cNvPr id="206" name="TextBox 7"/>
          <p:cNvSpPr txBox="1"/>
          <p:nvPr/>
        </p:nvSpPr>
        <p:spPr>
          <a:xfrm>
            <a:off x="886966" y="2011679"/>
            <a:ext cx="3032762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¿Qué información necesita?</a:t>
            </a:r>
            <a:br/>
            <a:r>
              <a:t>Ej.: calificaciones.</a:t>
            </a:r>
          </a:p>
        </p:txBody>
      </p:sp>
      <p:sp>
        <p:nvSpPr>
          <p:cNvPr id="207" name="Rounded Rectangle 8"/>
          <p:cNvSpPr/>
          <p:nvPr/>
        </p:nvSpPr>
        <p:spPr>
          <a:xfrm>
            <a:off x="4358640" y="1417319"/>
            <a:ext cx="3489960" cy="21031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8" name="Rectangle 9"/>
          <p:cNvSpPr/>
          <p:nvPr/>
        </p:nvSpPr>
        <p:spPr>
          <a:xfrm>
            <a:off x="4358640" y="1417319"/>
            <a:ext cx="73153" cy="2103122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" name="TextBox 10"/>
          <p:cNvSpPr txBox="1"/>
          <p:nvPr/>
        </p:nvSpPr>
        <p:spPr>
          <a:xfrm>
            <a:off x="4605528" y="1554480"/>
            <a:ext cx="60966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Salida</a:t>
            </a:r>
          </a:p>
        </p:txBody>
      </p:sp>
      <p:sp>
        <p:nvSpPr>
          <p:cNvPr id="210" name="TextBox 11"/>
          <p:cNvSpPr txBox="1"/>
          <p:nvPr/>
        </p:nvSpPr>
        <p:spPr>
          <a:xfrm>
            <a:off x="4605528" y="2011679"/>
            <a:ext cx="3032761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¿Qué debe producir?</a:t>
            </a:r>
            <a:br/>
            <a:r>
              <a:t>Ej.: promedio.</a:t>
            </a:r>
          </a:p>
        </p:txBody>
      </p:sp>
      <p:sp>
        <p:nvSpPr>
          <p:cNvPr id="211" name="Rounded Rectangle 12"/>
          <p:cNvSpPr/>
          <p:nvPr/>
        </p:nvSpPr>
        <p:spPr>
          <a:xfrm>
            <a:off x="8077199" y="1417319"/>
            <a:ext cx="3489961" cy="21031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" name="Rectangle 13"/>
          <p:cNvSpPr/>
          <p:nvPr/>
        </p:nvSpPr>
        <p:spPr>
          <a:xfrm>
            <a:off x="8077199" y="1417319"/>
            <a:ext cx="73153" cy="2103122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" name="TextBox 14"/>
          <p:cNvSpPr txBox="1"/>
          <p:nvPr/>
        </p:nvSpPr>
        <p:spPr>
          <a:xfrm>
            <a:off x="8324086" y="1554480"/>
            <a:ext cx="1210827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Restricciones</a:t>
            </a:r>
          </a:p>
        </p:txBody>
      </p:sp>
      <p:sp>
        <p:nvSpPr>
          <p:cNvPr id="214" name="TextBox 15"/>
          <p:cNvSpPr txBox="1"/>
          <p:nvPr/>
        </p:nvSpPr>
        <p:spPr>
          <a:xfrm>
            <a:off x="8324086" y="2011679"/>
            <a:ext cx="3032761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¿Qué condiciones deben cumplirse?</a:t>
            </a:r>
            <a:br/>
            <a:r>
              <a:t>Ej.: valores entre 0 y 10.</a:t>
            </a:r>
          </a:p>
        </p:txBody>
      </p:sp>
      <p:sp>
        <p:nvSpPr>
          <p:cNvPr id="215" name="Rounded Rectangle 16"/>
          <p:cNvSpPr/>
          <p:nvPr/>
        </p:nvSpPr>
        <p:spPr>
          <a:xfrm>
            <a:off x="1280160" y="4160520"/>
            <a:ext cx="9601201" cy="1234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" name="Rectangle 17"/>
          <p:cNvSpPr/>
          <p:nvPr/>
        </p:nvSpPr>
        <p:spPr>
          <a:xfrm>
            <a:off x="1280160" y="4160520"/>
            <a:ext cx="73153" cy="1234441"/>
          </a:xfrm>
          <a:prstGeom prst="rect">
            <a:avLst/>
          </a:prstGeom>
          <a:solidFill>
            <a:srgbClr val="DC262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" name="TextBox 18"/>
          <p:cNvSpPr txBox="1"/>
          <p:nvPr/>
        </p:nvSpPr>
        <p:spPr>
          <a:xfrm>
            <a:off x="1527047" y="4297679"/>
            <a:ext cx="1498425" cy="349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700">
                <a:solidFill>
                  <a:srgbClr val="122238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✗ </a:t>
            </a:r>
            <a:r>
              <a:t>No es análisis</a:t>
            </a:r>
          </a:p>
        </p:txBody>
      </p:sp>
      <p:sp>
        <p:nvSpPr>
          <p:cNvPr id="218" name="TextBox 19"/>
          <p:cNvSpPr txBox="1"/>
          <p:nvPr/>
        </p:nvSpPr>
        <p:spPr>
          <a:xfrm>
            <a:off x="1527047" y="4754879"/>
            <a:ext cx="914400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475569"/>
                </a:solidFill>
              </a:defRPr>
            </a:lvl1pPr>
          </a:lstStyle>
          <a:p>
            <a:pPr/>
            <a:r>
              <a:t>Empezar a escribir código sin identificar qué datos recibe el programa ni qué debe producir significa omitir esta etapa.</a:t>
            </a:r>
          </a:p>
        </p:txBody>
      </p:sp>
      <p:pic>
        <p:nvPicPr>
          <p:cNvPr id="219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2" name="TextBox 2"/>
          <p:cNvSpPr txBox="1"/>
          <p:nvPr/>
        </p:nvSpPr>
        <p:spPr>
          <a:xfrm>
            <a:off x="640079" y="256031"/>
            <a:ext cx="3453277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3. Diseño de la solución</a:t>
            </a:r>
          </a:p>
        </p:txBody>
      </p:sp>
      <p:sp>
        <p:nvSpPr>
          <p:cNvPr id="223" name="TextBox 3"/>
          <p:cNvSpPr txBox="1"/>
          <p:nvPr/>
        </p:nvSpPr>
        <p:spPr>
          <a:xfrm>
            <a:off x="658368" y="859536"/>
            <a:ext cx="4613633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Planteamos la lógica independientemente del lenguaje de programación.</a:t>
            </a:r>
          </a:p>
        </p:txBody>
      </p:sp>
      <p:sp>
        <p:nvSpPr>
          <p:cNvPr id="224" name="Rounded Rectangle 4"/>
          <p:cNvSpPr/>
          <p:nvPr/>
        </p:nvSpPr>
        <p:spPr>
          <a:xfrm>
            <a:off x="685800" y="1325880"/>
            <a:ext cx="5257800" cy="42062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5" name="Rectangle 5"/>
          <p:cNvSpPr/>
          <p:nvPr/>
        </p:nvSpPr>
        <p:spPr>
          <a:xfrm>
            <a:off x="685800" y="1325879"/>
            <a:ext cx="73153" cy="4206242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6" name="TextBox 6"/>
          <p:cNvSpPr txBox="1"/>
          <p:nvPr/>
        </p:nvSpPr>
        <p:spPr>
          <a:xfrm>
            <a:off x="932687" y="1463038"/>
            <a:ext cx="139258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122238"/>
                </a:solidFill>
              </a:defRPr>
            </a:lvl1pPr>
          </a:lstStyle>
          <a:p>
            <a:pPr/>
            <a:r>
              <a:t>Herramientas</a:t>
            </a:r>
          </a:p>
        </p:txBody>
      </p:sp>
      <p:sp>
        <p:nvSpPr>
          <p:cNvPr id="227" name="TextBox 7"/>
          <p:cNvSpPr txBox="1"/>
          <p:nvPr/>
        </p:nvSpPr>
        <p:spPr>
          <a:xfrm>
            <a:off x="932687" y="1920239"/>
            <a:ext cx="4800601" cy="1878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Podemos usar:</a:t>
            </a:r>
            <a:br/>
            <a:br/>
            <a:r>
              <a:t>• pasos numerados</a:t>
            </a:r>
            <a:br/>
            <a:r>
              <a:t>• pseudocódigo</a:t>
            </a:r>
            <a:br/>
            <a:r>
              <a:t>• diagramas</a:t>
            </a:r>
            <a:br/>
            <a:r>
              <a:t>• dibujos de la solución</a:t>
            </a:r>
            <a:br/>
            <a:br/>
            <a:r>
              <a:t>La pregunta es: ¿cómo resolveremos el problema?</a:t>
            </a:r>
          </a:p>
        </p:txBody>
      </p:sp>
      <p:sp>
        <p:nvSpPr>
          <p:cNvPr id="228" name="Rounded Rectangle 8"/>
          <p:cNvSpPr/>
          <p:nvPr/>
        </p:nvSpPr>
        <p:spPr>
          <a:xfrm>
            <a:off x="6263640" y="1325880"/>
            <a:ext cx="5212081" cy="42062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9" name="Rectangle 9"/>
          <p:cNvSpPr/>
          <p:nvPr/>
        </p:nvSpPr>
        <p:spPr>
          <a:xfrm>
            <a:off x="6263640" y="1325879"/>
            <a:ext cx="73153" cy="4206242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0" name="TextBox 10"/>
          <p:cNvSpPr txBox="1"/>
          <p:nvPr/>
        </p:nvSpPr>
        <p:spPr>
          <a:xfrm>
            <a:off x="6510526" y="1463038"/>
            <a:ext cx="876782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122238"/>
                </a:solidFill>
              </a:defRPr>
            </a:lvl1pPr>
          </a:lstStyle>
          <a:p>
            <a:pPr/>
            <a:r>
              <a:t>Ejemplo</a:t>
            </a:r>
          </a:p>
        </p:txBody>
      </p:sp>
      <p:sp>
        <p:nvSpPr>
          <p:cNvPr id="231" name="TextBox 11"/>
          <p:cNvSpPr txBox="1"/>
          <p:nvPr/>
        </p:nvSpPr>
        <p:spPr>
          <a:xfrm>
            <a:off x="6510526" y="1920239"/>
            <a:ext cx="4754881" cy="2106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INICIO</a:t>
            </a:r>
            <a:br/>
            <a:r>
              <a:t>  recibir calificaciones</a:t>
            </a:r>
            <a:br/>
            <a:r>
              <a:t>  sumar calificaciones</a:t>
            </a:r>
            <a:br/>
            <a:r>
              <a:t>  dividir suma entre cantidad</a:t>
            </a:r>
            <a:br/>
            <a:r>
              <a:t>  mostrar promedio</a:t>
            </a:r>
            <a:br/>
            <a:r>
              <a:t>FIN</a:t>
            </a:r>
            <a:br/>
            <a:br/>
            <a:r>
              <a:t>Todavía no necesitamos conocer la sintaxis exacta de Python.</a:t>
            </a:r>
          </a:p>
        </p:txBody>
      </p:sp>
      <p:pic>
        <p:nvPicPr>
          <p:cNvPr id="232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5" name="TextBox 2"/>
          <p:cNvSpPr txBox="1"/>
          <p:nvPr/>
        </p:nvSpPr>
        <p:spPr>
          <a:xfrm>
            <a:off x="640079" y="256031"/>
            <a:ext cx="2180629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4. Codificación</a:t>
            </a:r>
          </a:p>
        </p:txBody>
      </p:sp>
      <p:sp>
        <p:nvSpPr>
          <p:cNvPr id="236" name="TextBox 3"/>
          <p:cNvSpPr txBox="1"/>
          <p:nvPr/>
        </p:nvSpPr>
        <p:spPr>
          <a:xfrm>
            <a:off x="658368" y="859536"/>
            <a:ext cx="494656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La solución diseñada se traduce a un lenguaje concreto; en este curso, Python.</a:t>
            </a:r>
          </a:p>
        </p:txBody>
      </p:sp>
      <p:sp>
        <p:nvSpPr>
          <p:cNvPr id="237" name="Rounded Rectangle 4"/>
          <p:cNvSpPr/>
          <p:nvPr/>
        </p:nvSpPr>
        <p:spPr>
          <a:xfrm>
            <a:off x="685800" y="1325880"/>
            <a:ext cx="5166360" cy="4297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8" name="Rectangle 5"/>
          <p:cNvSpPr/>
          <p:nvPr/>
        </p:nvSpPr>
        <p:spPr>
          <a:xfrm>
            <a:off x="685800" y="1325880"/>
            <a:ext cx="73153" cy="4297680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9" name="TextBox 6"/>
          <p:cNvSpPr txBox="1"/>
          <p:nvPr/>
        </p:nvSpPr>
        <p:spPr>
          <a:xfrm>
            <a:off x="932687" y="1463038"/>
            <a:ext cx="756232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122238"/>
                </a:solidFill>
              </a:defRPr>
            </a:lvl1pPr>
          </a:lstStyle>
          <a:p>
            <a:pPr/>
            <a:r>
              <a:t>Diseño</a:t>
            </a:r>
          </a:p>
        </p:txBody>
      </p:sp>
      <p:sp>
        <p:nvSpPr>
          <p:cNvPr id="240" name="TextBox 7"/>
          <p:cNvSpPr txBox="1"/>
          <p:nvPr/>
        </p:nvSpPr>
        <p:spPr>
          <a:xfrm>
            <a:off x="932687" y="1920239"/>
            <a:ext cx="4709161" cy="1316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PROMEDIO(calificaciones)</a:t>
            </a:r>
            <a:br/>
            <a:br/>
            <a:r>
              <a:t>suma ← sumar calificaciones</a:t>
            </a:r>
            <a:br/>
            <a:r>
              <a:t>promedio ← suma / cantidad</a:t>
            </a:r>
            <a:br/>
            <a:r>
              <a:t>MOSTRAR promedio</a:t>
            </a:r>
          </a:p>
        </p:txBody>
      </p:sp>
      <p:sp>
        <p:nvSpPr>
          <p:cNvPr id="241" name="Rounded Rectangle 8"/>
          <p:cNvSpPr/>
          <p:nvPr/>
        </p:nvSpPr>
        <p:spPr>
          <a:xfrm>
            <a:off x="6263640" y="1325880"/>
            <a:ext cx="5166360" cy="4297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2" name="Rectangle 9"/>
          <p:cNvSpPr/>
          <p:nvPr/>
        </p:nvSpPr>
        <p:spPr>
          <a:xfrm>
            <a:off x="6263640" y="1325880"/>
            <a:ext cx="73153" cy="4297680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3" name="TextBox 10"/>
          <p:cNvSpPr txBox="1"/>
          <p:nvPr/>
        </p:nvSpPr>
        <p:spPr>
          <a:xfrm>
            <a:off x="6510526" y="1463038"/>
            <a:ext cx="784360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122238"/>
                </a:solidFill>
              </a:defRPr>
            </a:lvl1pPr>
          </a:lstStyle>
          <a:p>
            <a:pPr/>
            <a:r>
              <a:t>Python</a:t>
            </a:r>
          </a:p>
        </p:txBody>
      </p:sp>
      <p:sp>
        <p:nvSpPr>
          <p:cNvPr id="244" name="TextBox 11"/>
          <p:cNvSpPr txBox="1"/>
          <p:nvPr/>
        </p:nvSpPr>
        <p:spPr>
          <a:xfrm>
            <a:off x="6510526" y="1920239"/>
            <a:ext cx="4709161" cy="157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calificaciones = [8, 9, 7, 10]</a:t>
            </a:r>
            <a:br/>
            <a:br/>
            <a:r>
              <a:t>suma = sum(calificaciones)</a:t>
            </a:r>
            <a:br/>
            <a:r>
              <a:t>promedio = suma / len(calificaciones)</a:t>
            </a:r>
            <a:br/>
            <a:br/>
            <a:r>
              <a:t>print(promedio)</a:t>
            </a:r>
          </a:p>
        </p:txBody>
      </p:sp>
      <p:sp>
        <p:nvSpPr>
          <p:cNvPr id="245" name="Rounded Rectangle 12"/>
          <p:cNvSpPr/>
          <p:nvPr/>
        </p:nvSpPr>
        <p:spPr>
          <a:xfrm>
            <a:off x="2286000" y="5760720"/>
            <a:ext cx="7589520" cy="50292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6" name="Rectangle 13"/>
          <p:cNvSpPr/>
          <p:nvPr/>
        </p:nvSpPr>
        <p:spPr>
          <a:xfrm>
            <a:off x="2286000" y="5760720"/>
            <a:ext cx="73153" cy="502920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7" name="TextBox 14"/>
          <p:cNvSpPr txBox="1"/>
          <p:nvPr/>
        </p:nvSpPr>
        <p:spPr>
          <a:xfrm>
            <a:off x="2532888" y="5897879"/>
            <a:ext cx="401369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300">
                <a:solidFill>
                  <a:srgbClr val="122238"/>
                </a:solidFill>
              </a:defRPr>
            </a:lvl1pPr>
          </a:lstStyle>
          <a:p>
            <a:pPr/>
            <a:r>
              <a:t>Idea</a:t>
            </a:r>
          </a:p>
        </p:txBody>
      </p:sp>
      <p:sp>
        <p:nvSpPr>
          <p:cNvPr id="248" name="TextBox 15"/>
          <p:cNvSpPr txBox="1"/>
          <p:nvPr/>
        </p:nvSpPr>
        <p:spPr>
          <a:xfrm>
            <a:off x="2532888" y="6144768"/>
            <a:ext cx="713232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475569"/>
                </a:solidFill>
              </a:defRPr>
            </a:lvl1pPr>
          </a:lstStyle>
          <a:p>
            <a:pPr/>
            <a:r>
              <a:t>Diseño = lógica · Codificación = implementación concreta.</a:t>
            </a:r>
          </a:p>
        </p:txBody>
      </p:sp>
      <p:pic>
        <p:nvPicPr>
          <p:cNvPr id="249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2" name="TextBox 2"/>
          <p:cNvSpPr txBox="1"/>
          <p:nvPr/>
        </p:nvSpPr>
        <p:spPr>
          <a:xfrm>
            <a:off x="640079" y="256031"/>
            <a:ext cx="3519914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5. Pruebas y depuración</a:t>
            </a:r>
          </a:p>
        </p:txBody>
      </p:sp>
      <p:sp>
        <p:nvSpPr>
          <p:cNvPr id="253" name="TextBox 3"/>
          <p:cNvSpPr txBox="1"/>
          <p:nvPr/>
        </p:nvSpPr>
        <p:spPr>
          <a:xfrm>
            <a:off x="658368" y="859536"/>
            <a:ext cx="5706106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Probamos con distintos datos, incluidos casos límite, y corregimos los errores encontrados.</a:t>
            </a:r>
          </a:p>
        </p:txBody>
      </p:sp>
      <p:sp>
        <p:nvSpPr>
          <p:cNvPr id="254" name="Rounded Rectangle 4"/>
          <p:cNvSpPr/>
          <p:nvPr/>
        </p:nvSpPr>
        <p:spPr>
          <a:xfrm>
            <a:off x="640080" y="1417319"/>
            <a:ext cx="3489960" cy="20574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5" name="Rectangle 5"/>
          <p:cNvSpPr/>
          <p:nvPr/>
        </p:nvSpPr>
        <p:spPr>
          <a:xfrm>
            <a:off x="640080" y="1417319"/>
            <a:ext cx="73153" cy="2057401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6" name="TextBox 6"/>
          <p:cNvSpPr txBox="1"/>
          <p:nvPr/>
        </p:nvSpPr>
        <p:spPr>
          <a:xfrm>
            <a:off x="886966" y="1554480"/>
            <a:ext cx="1154273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Caso normal</a:t>
            </a:r>
          </a:p>
        </p:txBody>
      </p:sp>
      <p:sp>
        <p:nvSpPr>
          <p:cNvPr id="257" name="TextBox 7"/>
          <p:cNvSpPr txBox="1"/>
          <p:nvPr/>
        </p:nvSpPr>
        <p:spPr>
          <a:xfrm>
            <a:off x="886966" y="2011679"/>
            <a:ext cx="303276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[8, 9, 7] → ¿da el promedio esperado?</a:t>
            </a:r>
          </a:p>
        </p:txBody>
      </p:sp>
      <p:sp>
        <p:nvSpPr>
          <p:cNvPr id="258" name="Rounded Rectangle 8"/>
          <p:cNvSpPr/>
          <p:nvPr/>
        </p:nvSpPr>
        <p:spPr>
          <a:xfrm>
            <a:off x="4358640" y="1417319"/>
            <a:ext cx="3489960" cy="20574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9" name="Rectangle 9"/>
          <p:cNvSpPr/>
          <p:nvPr/>
        </p:nvSpPr>
        <p:spPr>
          <a:xfrm>
            <a:off x="4358640" y="1417319"/>
            <a:ext cx="73153" cy="2057401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" name="TextBox 10"/>
          <p:cNvSpPr txBox="1"/>
          <p:nvPr/>
        </p:nvSpPr>
        <p:spPr>
          <a:xfrm>
            <a:off x="4605528" y="1554480"/>
            <a:ext cx="1033523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Caso límite</a:t>
            </a:r>
          </a:p>
        </p:txBody>
      </p:sp>
      <p:sp>
        <p:nvSpPr>
          <p:cNvPr id="261" name="TextBox 11"/>
          <p:cNvSpPr txBox="1"/>
          <p:nvPr/>
        </p:nvSpPr>
        <p:spPr>
          <a:xfrm>
            <a:off x="4605528" y="2011679"/>
            <a:ext cx="30327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¿Qué sucede con una lista vacía?</a:t>
            </a:r>
          </a:p>
        </p:txBody>
      </p:sp>
      <p:sp>
        <p:nvSpPr>
          <p:cNvPr id="262" name="Rounded Rectangle 12"/>
          <p:cNvSpPr/>
          <p:nvPr/>
        </p:nvSpPr>
        <p:spPr>
          <a:xfrm>
            <a:off x="8077199" y="1417319"/>
            <a:ext cx="3489961" cy="20574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3" name="Rectangle 13"/>
          <p:cNvSpPr/>
          <p:nvPr/>
        </p:nvSpPr>
        <p:spPr>
          <a:xfrm>
            <a:off x="8077199" y="1417319"/>
            <a:ext cx="73153" cy="2057401"/>
          </a:xfrm>
          <a:prstGeom prst="rect">
            <a:avLst/>
          </a:prstGeom>
          <a:solidFill>
            <a:srgbClr val="DC262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4" name="TextBox 14"/>
          <p:cNvSpPr txBox="1"/>
          <p:nvPr/>
        </p:nvSpPr>
        <p:spPr>
          <a:xfrm>
            <a:off x="8324086" y="1554480"/>
            <a:ext cx="122193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Dato inválido</a:t>
            </a:r>
          </a:p>
        </p:txBody>
      </p:sp>
      <p:sp>
        <p:nvSpPr>
          <p:cNvPr id="265" name="TextBox 15"/>
          <p:cNvSpPr txBox="1"/>
          <p:nvPr/>
        </p:nvSpPr>
        <p:spPr>
          <a:xfrm>
            <a:off x="8324086" y="2011679"/>
            <a:ext cx="30327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¿Qué sucede con -3 o 15?</a:t>
            </a:r>
          </a:p>
        </p:txBody>
      </p:sp>
      <p:sp>
        <p:nvSpPr>
          <p:cNvPr id="266" name="Rounded Rectangle 16"/>
          <p:cNvSpPr/>
          <p:nvPr/>
        </p:nvSpPr>
        <p:spPr>
          <a:xfrm>
            <a:off x="777240" y="4160520"/>
            <a:ext cx="5212080" cy="12801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7" name="Rectangle 17"/>
          <p:cNvSpPr/>
          <p:nvPr/>
        </p:nvSpPr>
        <p:spPr>
          <a:xfrm>
            <a:off x="777240" y="4160520"/>
            <a:ext cx="73153" cy="1280161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8" name="TextBox 18"/>
          <p:cNvSpPr txBox="1"/>
          <p:nvPr/>
        </p:nvSpPr>
        <p:spPr>
          <a:xfrm>
            <a:off x="1024127" y="4297679"/>
            <a:ext cx="828903" cy="310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Pruebas</a:t>
            </a:r>
          </a:p>
        </p:txBody>
      </p:sp>
      <p:sp>
        <p:nvSpPr>
          <p:cNvPr id="269" name="TextBox 19"/>
          <p:cNvSpPr txBox="1"/>
          <p:nvPr/>
        </p:nvSpPr>
        <p:spPr>
          <a:xfrm>
            <a:off x="1024127" y="4754879"/>
            <a:ext cx="475488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Comparamos el resultado esperado con el resultado real.</a:t>
            </a:r>
          </a:p>
        </p:txBody>
      </p:sp>
      <p:sp>
        <p:nvSpPr>
          <p:cNvPr id="270" name="Rounded Rectangle 20"/>
          <p:cNvSpPr/>
          <p:nvPr/>
        </p:nvSpPr>
        <p:spPr>
          <a:xfrm>
            <a:off x="6217920" y="4160520"/>
            <a:ext cx="5212080" cy="12801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1" name="Rectangle 21"/>
          <p:cNvSpPr/>
          <p:nvPr/>
        </p:nvSpPr>
        <p:spPr>
          <a:xfrm>
            <a:off x="6217920" y="4160520"/>
            <a:ext cx="73153" cy="1280161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2" name="TextBox 22"/>
          <p:cNvSpPr txBox="1"/>
          <p:nvPr/>
        </p:nvSpPr>
        <p:spPr>
          <a:xfrm>
            <a:off x="6464808" y="4297679"/>
            <a:ext cx="1134515" cy="310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Depuración</a:t>
            </a:r>
          </a:p>
        </p:txBody>
      </p:sp>
      <p:sp>
        <p:nvSpPr>
          <p:cNvPr id="273" name="TextBox 23"/>
          <p:cNvSpPr txBox="1"/>
          <p:nvPr/>
        </p:nvSpPr>
        <p:spPr>
          <a:xfrm>
            <a:off x="6464808" y="4754879"/>
            <a:ext cx="475488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Localizamos la causa del error y modificamos el programa.</a:t>
            </a:r>
          </a:p>
        </p:txBody>
      </p:sp>
      <p:pic>
        <p:nvPicPr>
          <p:cNvPr id="274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7" name="TextBox 2"/>
          <p:cNvSpPr txBox="1"/>
          <p:nvPr/>
        </p:nvSpPr>
        <p:spPr>
          <a:xfrm>
            <a:off x="640079" y="256031"/>
            <a:ext cx="2688281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6. Documentación</a:t>
            </a:r>
          </a:p>
        </p:txBody>
      </p:sp>
      <p:sp>
        <p:nvSpPr>
          <p:cNvPr id="278" name="TextBox 3"/>
          <p:cNvSpPr txBox="1"/>
          <p:nvPr/>
        </p:nvSpPr>
        <p:spPr>
          <a:xfrm>
            <a:off x="658368" y="859536"/>
            <a:ext cx="6053619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Generamos información escrita para explicar qué hace el programa y cómo usarlo o mantenerlo.</a:t>
            </a:r>
          </a:p>
        </p:txBody>
      </p:sp>
      <p:sp>
        <p:nvSpPr>
          <p:cNvPr id="279" name="Rounded Rectangle 4"/>
          <p:cNvSpPr/>
          <p:nvPr/>
        </p:nvSpPr>
        <p:spPr>
          <a:xfrm>
            <a:off x="640080" y="1417319"/>
            <a:ext cx="3489960" cy="21031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0" name="Rectangle 5"/>
          <p:cNvSpPr/>
          <p:nvPr/>
        </p:nvSpPr>
        <p:spPr>
          <a:xfrm>
            <a:off x="640080" y="1417319"/>
            <a:ext cx="73153" cy="2103122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1" name="TextBox 6"/>
          <p:cNvSpPr txBox="1"/>
          <p:nvPr/>
        </p:nvSpPr>
        <p:spPr>
          <a:xfrm>
            <a:off x="886966" y="1554480"/>
            <a:ext cx="1176895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Comentarios</a:t>
            </a:r>
          </a:p>
        </p:txBody>
      </p:sp>
      <p:sp>
        <p:nvSpPr>
          <p:cNvPr id="282" name="TextBox 7"/>
          <p:cNvSpPr txBox="1"/>
          <p:nvPr/>
        </p:nvSpPr>
        <p:spPr>
          <a:xfrm>
            <a:off x="886966" y="2011679"/>
            <a:ext cx="3032762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Explican decisiones o partes relevantes del código.</a:t>
            </a:r>
          </a:p>
        </p:txBody>
      </p:sp>
      <p:sp>
        <p:nvSpPr>
          <p:cNvPr id="283" name="Rounded Rectangle 8"/>
          <p:cNvSpPr/>
          <p:nvPr/>
        </p:nvSpPr>
        <p:spPr>
          <a:xfrm>
            <a:off x="4358640" y="1417319"/>
            <a:ext cx="3489960" cy="21031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4" name="Rectangle 9"/>
          <p:cNvSpPr/>
          <p:nvPr/>
        </p:nvSpPr>
        <p:spPr>
          <a:xfrm>
            <a:off x="4358640" y="1417319"/>
            <a:ext cx="73153" cy="2103122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5" name="TextBox 10"/>
          <p:cNvSpPr txBox="1"/>
          <p:nvPr/>
        </p:nvSpPr>
        <p:spPr>
          <a:xfrm>
            <a:off x="4605528" y="1554480"/>
            <a:ext cx="98431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Docstrings</a:t>
            </a:r>
          </a:p>
        </p:txBody>
      </p:sp>
      <p:sp>
        <p:nvSpPr>
          <p:cNvPr id="286" name="TextBox 11"/>
          <p:cNvSpPr txBox="1"/>
          <p:nvPr/>
        </p:nvSpPr>
        <p:spPr>
          <a:xfrm>
            <a:off x="4605528" y="2011679"/>
            <a:ext cx="3032761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Describen funciones, parámetros y resultados.</a:t>
            </a:r>
          </a:p>
        </p:txBody>
      </p:sp>
      <p:sp>
        <p:nvSpPr>
          <p:cNvPr id="287" name="Rounded Rectangle 12"/>
          <p:cNvSpPr/>
          <p:nvPr/>
        </p:nvSpPr>
        <p:spPr>
          <a:xfrm>
            <a:off x="8077199" y="1417319"/>
            <a:ext cx="3489961" cy="21031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8" name="Rectangle 13"/>
          <p:cNvSpPr/>
          <p:nvPr/>
        </p:nvSpPr>
        <p:spPr>
          <a:xfrm>
            <a:off x="8077199" y="1417319"/>
            <a:ext cx="73153" cy="2103122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9" name="TextBox 14"/>
          <p:cNvSpPr txBox="1"/>
          <p:nvPr/>
        </p:nvSpPr>
        <p:spPr>
          <a:xfrm>
            <a:off x="8324086" y="1554480"/>
            <a:ext cx="93370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Manuales</a:t>
            </a:r>
          </a:p>
        </p:txBody>
      </p:sp>
      <p:sp>
        <p:nvSpPr>
          <p:cNvPr id="290" name="TextBox 15"/>
          <p:cNvSpPr txBox="1"/>
          <p:nvPr/>
        </p:nvSpPr>
        <p:spPr>
          <a:xfrm>
            <a:off x="8324086" y="2011679"/>
            <a:ext cx="3032761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Ayudan a usuarios o a otros desarrolladores.</a:t>
            </a:r>
          </a:p>
        </p:txBody>
      </p:sp>
      <p:sp>
        <p:nvSpPr>
          <p:cNvPr id="291" name="Rounded Rectangle 16"/>
          <p:cNvSpPr/>
          <p:nvPr/>
        </p:nvSpPr>
        <p:spPr>
          <a:xfrm>
            <a:off x="1325880" y="4160520"/>
            <a:ext cx="9509760" cy="1234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2" name="Rectangle 17"/>
          <p:cNvSpPr/>
          <p:nvPr/>
        </p:nvSpPr>
        <p:spPr>
          <a:xfrm>
            <a:off x="1325880" y="4160520"/>
            <a:ext cx="73153" cy="1234441"/>
          </a:xfrm>
          <a:prstGeom prst="rect">
            <a:avLst/>
          </a:prstGeom>
          <a:solidFill>
            <a:srgbClr val="DC262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3" name="TextBox 18"/>
          <p:cNvSpPr txBox="1"/>
          <p:nvPr/>
        </p:nvSpPr>
        <p:spPr>
          <a:xfrm>
            <a:off x="1572767" y="4297679"/>
            <a:ext cx="1618077" cy="349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700">
                <a:solidFill>
                  <a:srgbClr val="122238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✗ </a:t>
            </a:r>
            <a:r>
              <a:t>Contraejemplo</a:t>
            </a:r>
          </a:p>
        </p:txBody>
      </p:sp>
      <p:sp>
        <p:nvSpPr>
          <p:cNvPr id="294" name="TextBox 19"/>
          <p:cNvSpPr txBox="1"/>
          <p:nvPr/>
        </p:nvSpPr>
        <p:spPr>
          <a:xfrm>
            <a:off x="1572767" y="4754879"/>
            <a:ext cx="9052561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475569"/>
                </a:solidFill>
              </a:defRPr>
            </a:lvl1pPr>
          </a:lstStyle>
          <a:p>
            <a:pPr/>
            <a:r>
              <a:t>Código sin comentarios ni explicación, que solamente entiende su autor original: el programa funciona, pero no está adecuadamente documentado.</a:t>
            </a:r>
          </a:p>
        </p:txBody>
      </p:sp>
      <p:pic>
        <p:nvPicPr>
          <p:cNvPr id="295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8" name="TextBox 2"/>
          <p:cNvSpPr txBox="1"/>
          <p:nvPr/>
        </p:nvSpPr>
        <p:spPr>
          <a:xfrm>
            <a:off x="640079" y="256031"/>
            <a:ext cx="1448785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7. Deploy</a:t>
            </a:r>
          </a:p>
        </p:txBody>
      </p:sp>
      <p:sp>
        <p:nvSpPr>
          <p:cNvPr id="299" name="TextBox 3"/>
          <p:cNvSpPr txBox="1"/>
          <p:nvPr/>
        </p:nvSpPr>
        <p:spPr>
          <a:xfrm>
            <a:off x="658368" y="859536"/>
            <a:ext cx="5860143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El programa terminado se instala o publica en el entorno real donde lo utilizarán los usuarios.</a:t>
            </a:r>
          </a:p>
        </p:txBody>
      </p:sp>
      <p:sp>
        <p:nvSpPr>
          <p:cNvPr id="300" name="Rounded Rectangle 4"/>
          <p:cNvSpPr/>
          <p:nvPr/>
        </p:nvSpPr>
        <p:spPr>
          <a:xfrm>
            <a:off x="640080" y="1417319"/>
            <a:ext cx="3489960" cy="21031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1" name="Rectangle 5"/>
          <p:cNvSpPr/>
          <p:nvPr/>
        </p:nvSpPr>
        <p:spPr>
          <a:xfrm>
            <a:off x="640080" y="1417319"/>
            <a:ext cx="73153" cy="2103122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2" name="TextBox 6"/>
          <p:cNvSpPr txBox="1"/>
          <p:nvPr/>
        </p:nvSpPr>
        <p:spPr>
          <a:xfrm>
            <a:off x="886966" y="1554480"/>
            <a:ext cx="445355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303" name="TextBox 7"/>
          <p:cNvSpPr txBox="1"/>
          <p:nvPr/>
        </p:nvSpPr>
        <p:spPr>
          <a:xfrm>
            <a:off x="886966" y="2011679"/>
            <a:ext cx="3032762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Publicarla para que los usuarios puedan instalarla.</a:t>
            </a:r>
          </a:p>
        </p:txBody>
      </p:sp>
      <p:sp>
        <p:nvSpPr>
          <p:cNvPr id="304" name="Rounded Rectangle 8"/>
          <p:cNvSpPr/>
          <p:nvPr/>
        </p:nvSpPr>
        <p:spPr>
          <a:xfrm>
            <a:off x="4358640" y="1417319"/>
            <a:ext cx="3489960" cy="21031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5" name="Rectangle 9"/>
          <p:cNvSpPr/>
          <p:nvPr/>
        </p:nvSpPr>
        <p:spPr>
          <a:xfrm>
            <a:off x="4358640" y="1417319"/>
            <a:ext cx="73153" cy="2103122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6" name="TextBox 10"/>
          <p:cNvSpPr txBox="1"/>
          <p:nvPr/>
        </p:nvSpPr>
        <p:spPr>
          <a:xfrm>
            <a:off x="4605528" y="1554480"/>
            <a:ext cx="140976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Sistema escolar</a:t>
            </a:r>
          </a:p>
        </p:txBody>
      </p:sp>
      <p:sp>
        <p:nvSpPr>
          <p:cNvPr id="307" name="TextBox 11"/>
          <p:cNvSpPr txBox="1"/>
          <p:nvPr/>
        </p:nvSpPr>
        <p:spPr>
          <a:xfrm>
            <a:off x="4605528" y="2011679"/>
            <a:ext cx="3032761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Instalarlo en los equipos o servidor de la institución.</a:t>
            </a:r>
          </a:p>
        </p:txBody>
      </p:sp>
      <p:sp>
        <p:nvSpPr>
          <p:cNvPr id="308" name="Rounded Rectangle 12"/>
          <p:cNvSpPr/>
          <p:nvPr/>
        </p:nvSpPr>
        <p:spPr>
          <a:xfrm>
            <a:off x="8077199" y="1417319"/>
            <a:ext cx="3489961" cy="21031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9" name="Rectangle 13"/>
          <p:cNvSpPr/>
          <p:nvPr/>
        </p:nvSpPr>
        <p:spPr>
          <a:xfrm>
            <a:off x="8077199" y="1417319"/>
            <a:ext cx="73153" cy="2103122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0" name="TextBox 14"/>
          <p:cNvSpPr txBox="1"/>
          <p:nvPr/>
        </p:nvSpPr>
        <p:spPr>
          <a:xfrm>
            <a:off x="8324086" y="1554480"/>
            <a:ext cx="138059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Aplicación web</a:t>
            </a:r>
          </a:p>
        </p:txBody>
      </p:sp>
      <p:sp>
        <p:nvSpPr>
          <p:cNvPr id="311" name="TextBox 15"/>
          <p:cNvSpPr txBox="1"/>
          <p:nvPr/>
        </p:nvSpPr>
        <p:spPr>
          <a:xfrm>
            <a:off x="8324086" y="2011679"/>
            <a:ext cx="3032761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Subirla a un servidor accesible por los usuarios.</a:t>
            </a:r>
          </a:p>
        </p:txBody>
      </p:sp>
      <p:sp>
        <p:nvSpPr>
          <p:cNvPr id="312" name="Rounded Rectangle 16"/>
          <p:cNvSpPr/>
          <p:nvPr/>
        </p:nvSpPr>
        <p:spPr>
          <a:xfrm>
            <a:off x="1280160" y="4160520"/>
            <a:ext cx="9601201" cy="1234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3" name="Rectangle 17"/>
          <p:cNvSpPr/>
          <p:nvPr/>
        </p:nvSpPr>
        <p:spPr>
          <a:xfrm>
            <a:off x="1280160" y="4160520"/>
            <a:ext cx="73153" cy="1234441"/>
          </a:xfrm>
          <a:prstGeom prst="rect">
            <a:avLst/>
          </a:prstGeom>
          <a:solidFill>
            <a:srgbClr val="DC262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4" name="TextBox 18"/>
          <p:cNvSpPr txBox="1"/>
          <p:nvPr/>
        </p:nvSpPr>
        <p:spPr>
          <a:xfrm>
            <a:off x="1527047" y="4297679"/>
            <a:ext cx="1618077" cy="349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700">
                <a:solidFill>
                  <a:srgbClr val="122238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✗ </a:t>
            </a:r>
            <a:r>
              <a:t>Contraejemplo</a:t>
            </a:r>
          </a:p>
        </p:txBody>
      </p:sp>
      <p:sp>
        <p:nvSpPr>
          <p:cNvPr id="315" name="TextBox 19"/>
          <p:cNvSpPr txBox="1"/>
          <p:nvPr/>
        </p:nvSpPr>
        <p:spPr>
          <a:xfrm>
            <a:off x="1527047" y="4754879"/>
            <a:ext cx="9144001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475569"/>
                </a:solidFill>
              </a:defRPr>
            </a:lvl1pPr>
          </a:lstStyle>
          <a:p>
            <a:pPr/>
            <a:r>
              <a:t>Si el programa solo funciona en la computadora del desarrollador y nunca llega a sus usuarios finales, todavía no ha sido implantado.</a:t>
            </a:r>
          </a:p>
        </p:txBody>
      </p:sp>
      <p:pic>
        <p:nvPicPr>
          <p:cNvPr id="31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9" name="TextBox 2"/>
          <p:cNvSpPr txBox="1"/>
          <p:nvPr/>
        </p:nvSpPr>
        <p:spPr>
          <a:xfrm>
            <a:off x="640079" y="256031"/>
            <a:ext cx="2668859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8. Mantenimiento</a:t>
            </a:r>
          </a:p>
        </p:txBody>
      </p:sp>
      <p:sp>
        <p:nvSpPr>
          <p:cNvPr id="320" name="TextBox 3"/>
          <p:cNvSpPr txBox="1"/>
          <p:nvPr/>
        </p:nvSpPr>
        <p:spPr>
          <a:xfrm>
            <a:off x="658368" y="859536"/>
            <a:ext cx="3873808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Después de la implantación siguen apareciendo necesidades.</a:t>
            </a:r>
          </a:p>
        </p:txBody>
      </p:sp>
      <p:sp>
        <p:nvSpPr>
          <p:cNvPr id="321" name="Rounded Rectangle 4"/>
          <p:cNvSpPr/>
          <p:nvPr/>
        </p:nvSpPr>
        <p:spPr>
          <a:xfrm>
            <a:off x="640080" y="1463039"/>
            <a:ext cx="2560321" cy="19659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2" name="Rectangle 5"/>
          <p:cNvSpPr/>
          <p:nvPr/>
        </p:nvSpPr>
        <p:spPr>
          <a:xfrm>
            <a:off x="640080" y="1463039"/>
            <a:ext cx="73153" cy="1965961"/>
          </a:xfrm>
          <a:prstGeom prst="rect">
            <a:avLst/>
          </a:prstGeom>
          <a:solidFill>
            <a:srgbClr val="DC262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3" name="TextBox 6"/>
          <p:cNvSpPr txBox="1"/>
          <p:nvPr/>
        </p:nvSpPr>
        <p:spPr>
          <a:xfrm>
            <a:off x="886966" y="1600200"/>
            <a:ext cx="78388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Corregir</a:t>
            </a:r>
          </a:p>
        </p:txBody>
      </p:sp>
      <p:sp>
        <p:nvSpPr>
          <p:cNvPr id="324" name="TextBox 7"/>
          <p:cNvSpPr txBox="1"/>
          <p:nvPr/>
        </p:nvSpPr>
        <p:spPr>
          <a:xfrm>
            <a:off x="886966" y="2057400"/>
            <a:ext cx="2103122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Errores descubiertos por usuarios.</a:t>
            </a:r>
          </a:p>
        </p:txBody>
      </p:sp>
      <p:sp>
        <p:nvSpPr>
          <p:cNvPr id="325" name="Rounded Rectangle 8"/>
          <p:cNvSpPr/>
          <p:nvPr/>
        </p:nvSpPr>
        <p:spPr>
          <a:xfrm>
            <a:off x="3429000" y="1463039"/>
            <a:ext cx="2560321" cy="19659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6" name="Rectangle 9"/>
          <p:cNvSpPr/>
          <p:nvPr/>
        </p:nvSpPr>
        <p:spPr>
          <a:xfrm>
            <a:off x="3429000" y="1463039"/>
            <a:ext cx="73153" cy="1965961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7" name="TextBox 10"/>
          <p:cNvSpPr txBox="1"/>
          <p:nvPr/>
        </p:nvSpPr>
        <p:spPr>
          <a:xfrm>
            <a:off x="3675888" y="1600200"/>
            <a:ext cx="942638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Actualizar</a:t>
            </a:r>
          </a:p>
        </p:txBody>
      </p:sp>
      <p:sp>
        <p:nvSpPr>
          <p:cNvPr id="328" name="TextBox 11"/>
          <p:cNvSpPr txBox="1"/>
          <p:nvPr/>
        </p:nvSpPr>
        <p:spPr>
          <a:xfrm>
            <a:off x="3675888" y="2057400"/>
            <a:ext cx="2103121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Cambios en plataformas o dependencias.</a:t>
            </a:r>
          </a:p>
        </p:txBody>
      </p:sp>
      <p:sp>
        <p:nvSpPr>
          <p:cNvPr id="329" name="Rounded Rectangle 12"/>
          <p:cNvSpPr/>
          <p:nvPr/>
        </p:nvSpPr>
        <p:spPr>
          <a:xfrm>
            <a:off x="6217920" y="1463039"/>
            <a:ext cx="2560321" cy="19659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0" name="Rectangle 13"/>
          <p:cNvSpPr/>
          <p:nvPr/>
        </p:nvSpPr>
        <p:spPr>
          <a:xfrm>
            <a:off x="6217920" y="1463039"/>
            <a:ext cx="73153" cy="1965961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1" name="TextBox 14"/>
          <p:cNvSpPr txBox="1"/>
          <p:nvPr/>
        </p:nvSpPr>
        <p:spPr>
          <a:xfrm>
            <a:off x="6464808" y="1600200"/>
            <a:ext cx="785476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Mejorar</a:t>
            </a:r>
          </a:p>
        </p:txBody>
      </p:sp>
      <p:sp>
        <p:nvSpPr>
          <p:cNvPr id="332" name="TextBox 15"/>
          <p:cNvSpPr txBox="1"/>
          <p:nvPr/>
        </p:nvSpPr>
        <p:spPr>
          <a:xfrm>
            <a:off x="6464808" y="2057400"/>
            <a:ext cx="210312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Agregar funciones solicitadas.</a:t>
            </a:r>
          </a:p>
        </p:txBody>
      </p:sp>
      <p:sp>
        <p:nvSpPr>
          <p:cNvPr id="333" name="Rounded Rectangle 16"/>
          <p:cNvSpPr/>
          <p:nvPr/>
        </p:nvSpPr>
        <p:spPr>
          <a:xfrm>
            <a:off x="9006839" y="1463039"/>
            <a:ext cx="2560321" cy="19659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4" name="Rectangle 17"/>
          <p:cNvSpPr/>
          <p:nvPr/>
        </p:nvSpPr>
        <p:spPr>
          <a:xfrm>
            <a:off x="9006839" y="1463039"/>
            <a:ext cx="73153" cy="1965961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5" name="TextBox 18"/>
          <p:cNvSpPr txBox="1"/>
          <p:nvPr/>
        </p:nvSpPr>
        <p:spPr>
          <a:xfrm>
            <a:off x="9253726" y="1600200"/>
            <a:ext cx="785873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Adaptar</a:t>
            </a:r>
          </a:p>
        </p:txBody>
      </p:sp>
      <p:sp>
        <p:nvSpPr>
          <p:cNvPr id="336" name="TextBox 19"/>
          <p:cNvSpPr txBox="1"/>
          <p:nvPr/>
        </p:nvSpPr>
        <p:spPr>
          <a:xfrm>
            <a:off x="9253726" y="2057400"/>
            <a:ext cx="2103121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Responder a nuevas reglas o necesidades.</a:t>
            </a:r>
          </a:p>
        </p:txBody>
      </p:sp>
      <p:sp>
        <p:nvSpPr>
          <p:cNvPr id="337" name="Rounded Rectangle 20"/>
          <p:cNvSpPr/>
          <p:nvPr/>
        </p:nvSpPr>
        <p:spPr>
          <a:xfrm>
            <a:off x="1417319" y="4160520"/>
            <a:ext cx="9326882" cy="1234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8" name="Rectangle 21"/>
          <p:cNvSpPr/>
          <p:nvPr/>
        </p:nvSpPr>
        <p:spPr>
          <a:xfrm>
            <a:off x="1417319" y="4160520"/>
            <a:ext cx="73153" cy="1234441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9" name="TextBox 22"/>
          <p:cNvSpPr txBox="1"/>
          <p:nvPr/>
        </p:nvSpPr>
        <p:spPr>
          <a:xfrm>
            <a:off x="1664208" y="4297679"/>
            <a:ext cx="833857" cy="310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Ejemplo</a:t>
            </a:r>
          </a:p>
        </p:txBody>
      </p:sp>
      <p:sp>
        <p:nvSpPr>
          <p:cNvPr id="340" name="TextBox 23"/>
          <p:cNvSpPr txBox="1"/>
          <p:nvPr/>
        </p:nvSpPr>
        <p:spPr>
          <a:xfrm>
            <a:off x="1664208" y="4754879"/>
            <a:ext cx="8869679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475569"/>
                </a:solidFill>
              </a:defRPr>
            </a:lvl1pPr>
          </a:lstStyle>
          <a:p>
            <a:pPr/>
            <a:r>
              <a:t>Seis meses después de publicar una app, aparece un error en las notificaciones. El equipo lo corrige y publica una actualización.</a:t>
            </a:r>
          </a:p>
        </p:txBody>
      </p:sp>
      <p:pic>
        <p:nvPicPr>
          <p:cNvPr id="341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4" name="TextBox 2"/>
          <p:cNvSpPr txBox="1"/>
          <p:nvPr/>
        </p:nvSpPr>
        <p:spPr>
          <a:xfrm>
            <a:off x="640079" y="256031"/>
            <a:ext cx="6930664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Ejemplo de principio a fin: app de lista de tareas</a:t>
            </a:r>
          </a:p>
        </p:txBody>
      </p:sp>
      <p:sp>
        <p:nvSpPr>
          <p:cNvPr id="345" name="TextBox 3"/>
          <p:cNvSpPr txBox="1"/>
          <p:nvPr/>
        </p:nvSpPr>
        <p:spPr>
          <a:xfrm>
            <a:off x="658368" y="859536"/>
            <a:ext cx="416283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El mismo caso nos permite ver cómo se conectan las ocho etapas.</a:t>
            </a:r>
          </a:p>
        </p:txBody>
      </p:sp>
      <p:sp>
        <p:nvSpPr>
          <p:cNvPr id="346" name="Rounded Rectangle 4"/>
          <p:cNvSpPr/>
          <p:nvPr/>
        </p:nvSpPr>
        <p:spPr>
          <a:xfrm>
            <a:off x="640080" y="1371600"/>
            <a:ext cx="2560321" cy="1600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7" name="Rectangle 5"/>
          <p:cNvSpPr/>
          <p:nvPr/>
        </p:nvSpPr>
        <p:spPr>
          <a:xfrm>
            <a:off x="640080" y="1371600"/>
            <a:ext cx="73153" cy="1600200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8" name="TextBox 6"/>
          <p:cNvSpPr txBox="1"/>
          <p:nvPr/>
        </p:nvSpPr>
        <p:spPr>
          <a:xfrm>
            <a:off x="886966" y="1508760"/>
            <a:ext cx="116737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1 · Problema</a:t>
            </a:r>
          </a:p>
        </p:txBody>
      </p:sp>
      <p:sp>
        <p:nvSpPr>
          <p:cNvPr id="349" name="TextBox 7"/>
          <p:cNvSpPr txBox="1"/>
          <p:nvPr/>
        </p:nvSpPr>
        <p:spPr>
          <a:xfrm>
            <a:off x="886966" y="1965960"/>
            <a:ext cx="2103122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Necesitamos registrar y recordar tareas pendientes.</a:t>
            </a:r>
          </a:p>
        </p:txBody>
      </p:sp>
      <p:sp>
        <p:nvSpPr>
          <p:cNvPr id="350" name="Rounded Rectangle 8"/>
          <p:cNvSpPr/>
          <p:nvPr/>
        </p:nvSpPr>
        <p:spPr>
          <a:xfrm>
            <a:off x="3429000" y="1371600"/>
            <a:ext cx="2560321" cy="1600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1" name="Rectangle 9"/>
          <p:cNvSpPr/>
          <p:nvPr/>
        </p:nvSpPr>
        <p:spPr>
          <a:xfrm>
            <a:off x="3429000" y="1371600"/>
            <a:ext cx="73153" cy="1600200"/>
          </a:xfrm>
          <a:prstGeom prst="rect">
            <a:avLst/>
          </a:prstGeom>
          <a:solidFill>
            <a:srgbClr val="0EA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2" name="TextBox 10"/>
          <p:cNvSpPr txBox="1"/>
          <p:nvPr/>
        </p:nvSpPr>
        <p:spPr>
          <a:xfrm>
            <a:off x="3675888" y="1508760"/>
            <a:ext cx="997705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2 · Análisis</a:t>
            </a:r>
          </a:p>
        </p:txBody>
      </p:sp>
      <p:sp>
        <p:nvSpPr>
          <p:cNvPr id="353" name="TextBox 11"/>
          <p:cNvSpPr txBox="1"/>
          <p:nvPr/>
        </p:nvSpPr>
        <p:spPr>
          <a:xfrm>
            <a:off x="3675888" y="1965960"/>
            <a:ext cx="2103121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Entradas: tarea/fecha. Salida: lista y estado.</a:t>
            </a:r>
          </a:p>
        </p:txBody>
      </p:sp>
      <p:sp>
        <p:nvSpPr>
          <p:cNvPr id="354" name="Rounded Rectangle 12"/>
          <p:cNvSpPr/>
          <p:nvPr/>
        </p:nvSpPr>
        <p:spPr>
          <a:xfrm>
            <a:off x="6217920" y="1371600"/>
            <a:ext cx="2560321" cy="1600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5" name="Rectangle 13"/>
          <p:cNvSpPr/>
          <p:nvPr/>
        </p:nvSpPr>
        <p:spPr>
          <a:xfrm>
            <a:off x="6217920" y="1371600"/>
            <a:ext cx="73153" cy="1600200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6" name="TextBox 14"/>
          <p:cNvSpPr txBox="1"/>
          <p:nvPr/>
        </p:nvSpPr>
        <p:spPr>
          <a:xfrm>
            <a:off x="6464808" y="1508760"/>
            <a:ext cx="933014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3 · Diseño</a:t>
            </a:r>
          </a:p>
        </p:txBody>
      </p:sp>
      <p:sp>
        <p:nvSpPr>
          <p:cNvPr id="357" name="TextBox 15"/>
          <p:cNvSpPr txBox="1"/>
          <p:nvPr/>
        </p:nvSpPr>
        <p:spPr>
          <a:xfrm>
            <a:off x="6464808" y="1965960"/>
            <a:ext cx="2103121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Definir agregar, listar y completar tareas.</a:t>
            </a:r>
          </a:p>
        </p:txBody>
      </p:sp>
      <p:sp>
        <p:nvSpPr>
          <p:cNvPr id="358" name="Rounded Rectangle 16"/>
          <p:cNvSpPr/>
          <p:nvPr/>
        </p:nvSpPr>
        <p:spPr>
          <a:xfrm>
            <a:off x="9006839" y="1371600"/>
            <a:ext cx="2560321" cy="1600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9" name="Rectangle 17"/>
          <p:cNvSpPr/>
          <p:nvPr/>
        </p:nvSpPr>
        <p:spPr>
          <a:xfrm>
            <a:off x="9006839" y="1371600"/>
            <a:ext cx="73153" cy="1600200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0" name="TextBox 18"/>
          <p:cNvSpPr txBox="1"/>
          <p:nvPr/>
        </p:nvSpPr>
        <p:spPr>
          <a:xfrm>
            <a:off x="9253726" y="1508760"/>
            <a:ext cx="138069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4 · Codificación</a:t>
            </a:r>
          </a:p>
        </p:txBody>
      </p:sp>
      <p:sp>
        <p:nvSpPr>
          <p:cNvPr id="361" name="TextBox 19"/>
          <p:cNvSpPr txBox="1"/>
          <p:nvPr/>
        </p:nvSpPr>
        <p:spPr>
          <a:xfrm>
            <a:off x="9253726" y="1965960"/>
            <a:ext cx="2103121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Implementar la lógica y la interfaz.</a:t>
            </a:r>
          </a:p>
        </p:txBody>
      </p:sp>
      <p:sp>
        <p:nvSpPr>
          <p:cNvPr id="362" name="Rounded Rectangle 20"/>
          <p:cNvSpPr/>
          <p:nvPr/>
        </p:nvSpPr>
        <p:spPr>
          <a:xfrm>
            <a:off x="640080" y="3291840"/>
            <a:ext cx="2560321" cy="16002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3" name="Rectangle 21"/>
          <p:cNvSpPr/>
          <p:nvPr/>
        </p:nvSpPr>
        <p:spPr>
          <a:xfrm>
            <a:off x="640080" y="3291840"/>
            <a:ext cx="73153" cy="1600201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4" name="TextBox 22"/>
          <p:cNvSpPr txBox="1"/>
          <p:nvPr/>
        </p:nvSpPr>
        <p:spPr>
          <a:xfrm>
            <a:off x="886966" y="3429000"/>
            <a:ext cx="1035508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5 · Pruebas</a:t>
            </a:r>
          </a:p>
        </p:txBody>
      </p:sp>
      <p:sp>
        <p:nvSpPr>
          <p:cNvPr id="365" name="TextBox 23"/>
          <p:cNvSpPr txBox="1"/>
          <p:nvPr/>
        </p:nvSpPr>
        <p:spPr>
          <a:xfrm>
            <a:off x="886966" y="3886200"/>
            <a:ext cx="2103122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Probar tareas vacías, muchas tareas y cambios de estado.</a:t>
            </a:r>
          </a:p>
        </p:txBody>
      </p:sp>
      <p:sp>
        <p:nvSpPr>
          <p:cNvPr id="366" name="Rounded Rectangle 24"/>
          <p:cNvSpPr/>
          <p:nvPr/>
        </p:nvSpPr>
        <p:spPr>
          <a:xfrm>
            <a:off x="3429000" y="3291840"/>
            <a:ext cx="2560321" cy="16002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7" name="Rectangle 25"/>
          <p:cNvSpPr/>
          <p:nvPr/>
        </p:nvSpPr>
        <p:spPr>
          <a:xfrm>
            <a:off x="3429000" y="3291840"/>
            <a:ext cx="73153" cy="1600201"/>
          </a:xfrm>
          <a:prstGeom prst="rect">
            <a:avLst/>
          </a:prstGeom>
          <a:solidFill>
            <a:srgbClr val="F59E0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8" name="TextBox 26"/>
          <p:cNvSpPr txBox="1"/>
          <p:nvPr/>
        </p:nvSpPr>
        <p:spPr>
          <a:xfrm>
            <a:off x="3675888" y="3429000"/>
            <a:ext cx="168152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6 · Documentación</a:t>
            </a:r>
          </a:p>
        </p:txBody>
      </p:sp>
      <p:sp>
        <p:nvSpPr>
          <p:cNvPr id="369" name="TextBox 27"/>
          <p:cNvSpPr txBox="1"/>
          <p:nvPr/>
        </p:nvSpPr>
        <p:spPr>
          <a:xfrm>
            <a:off x="3675888" y="3886200"/>
            <a:ext cx="2103121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Explicar uso y estructura del programa.</a:t>
            </a:r>
          </a:p>
        </p:txBody>
      </p:sp>
      <p:sp>
        <p:nvSpPr>
          <p:cNvPr id="370" name="Rounded Rectangle 28"/>
          <p:cNvSpPr/>
          <p:nvPr/>
        </p:nvSpPr>
        <p:spPr>
          <a:xfrm>
            <a:off x="6217920" y="3291840"/>
            <a:ext cx="2560321" cy="16002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1" name="Rectangle 29"/>
          <p:cNvSpPr/>
          <p:nvPr/>
        </p:nvSpPr>
        <p:spPr>
          <a:xfrm>
            <a:off x="6217920" y="3291840"/>
            <a:ext cx="73153" cy="1600201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2" name="TextBox 30"/>
          <p:cNvSpPr txBox="1"/>
          <p:nvPr/>
        </p:nvSpPr>
        <p:spPr>
          <a:xfrm>
            <a:off x="6464808" y="3429000"/>
            <a:ext cx="1461255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7 · Implantación</a:t>
            </a:r>
          </a:p>
        </p:txBody>
      </p:sp>
      <p:sp>
        <p:nvSpPr>
          <p:cNvPr id="373" name="TextBox 31"/>
          <p:cNvSpPr txBox="1"/>
          <p:nvPr/>
        </p:nvSpPr>
        <p:spPr>
          <a:xfrm>
            <a:off x="6464808" y="3886200"/>
            <a:ext cx="2103121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Poner la app a disposición de usuarios.</a:t>
            </a:r>
          </a:p>
        </p:txBody>
      </p:sp>
      <p:sp>
        <p:nvSpPr>
          <p:cNvPr id="374" name="Rounded Rectangle 32"/>
          <p:cNvSpPr/>
          <p:nvPr/>
        </p:nvSpPr>
        <p:spPr>
          <a:xfrm>
            <a:off x="9006839" y="3291840"/>
            <a:ext cx="2560321" cy="16002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5" name="Rectangle 33"/>
          <p:cNvSpPr/>
          <p:nvPr/>
        </p:nvSpPr>
        <p:spPr>
          <a:xfrm>
            <a:off x="9006839" y="3291840"/>
            <a:ext cx="73153" cy="1600201"/>
          </a:xfrm>
          <a:prstGeom prst="rect">
            <a:avLst/>
          </a:prstGeom>
          <a:solidFill>
            <a:srgbClr val="DC262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6" name="TextBox 34"/>
          <p:cNvSpPr txBox="1"/>
          <p:nvPr/>
        </p:nvSpPr>
        <p:spPr>
          <a:xfrm>
            <a:off x="9253726" y="3429000"/>
            <a:ext cx="167001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8 · Mantenimiento</a:t>
            </a:r>
          </a:p>
        </p:txBody>
      </p:sp>
      <p:sp>
        <p:nvSpPr>
          <p:cNvPr id="377" name="TextBox 35"/>
          <p:cNvSpPr txBox="1"/>
          <p:nvPr/>
        </p:nvSpPr>
        <p:spPr>
          <a:xfrm>
            <a:off x="9253726" y="3886200"/>
            <a:ext cx="2103121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Corregir fallos y agregar mejoras.</a:t>
            </a:r>
          </a:p>
        </p:txBody>
      </p:sp>
      <p:sp>
        <p:nvSpPr>
          <p:cNvPr id="378" name="Rounded Rectangle 36"/>
          <p:cNvSpPr/>
          <p:nvPr/>
        </p:nvSpPr>
        <p:spPr>
          <a:xfrm>
            <a:off x="1874518" y="5349240"/>
            <a:ext cx="8458201" cy="7772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9" name="Rectangle 37"/>
          <p:cNvSpPr/>
          <p:nvPr/>
        </p:nvSpPr>
        <p:spPr>
          <a:xfrm>
            <a:off x="1874518" y="5349240"/>
            <a:ext cx="73153" cy="777241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0" name="TextBox 38"/>
          <p:cNvSpPr txBox="1"/>
          <p:nvPr/>
        </p:nvSpPr>
        <p:spPr>
          <a:xfrm>
            <a:off x="2121407" y="5486400"/>
            <a:ext cx="818237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500">
                <a:solidFill>
                  <a:srgbClr val="122238"/>
                </a:solidFill>
              </a:defRPr>
            </a:lvl1pPr>
          </a:lstStyle>
          <a:p>
            <a:pPr/>
            <a:r>
              <a:t>Pregunta</a:t>
            </a:r>
          </a:p>
        </p:txBody>
      </p:sp>
      <p:sp>
        <p:nvSpPr>
          <p:cNvPr id="381" name="TextBox 39"/>
          <p:cNvSpPr txBox="1"/>
          <p:nvPr/>
        </p:nvSpPr>
        <p:spPr>
          <a:xfrm>
            <a:off x="2121407" y="5943600"/>
            <a:ext cx="800100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Si los usuarios piden recordatorios por correo después de publicar la app, ¿en qué etapa estamos?</a:t>
            </a:r>
          </a:p>
        </p:txBody>
      </p:sp>
      <p:pic>
        <p:nvPicPr>
          <p:cNvPr id="382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5" name="TextBox 2"/>
          <p:cNvSpPr txBox="1"/>
          <p:nvPr/>
        </p:nvSpPr>
        <p:spPr>
          <a:xfrm>
            <a:off x="640079" y="256031"/>
            <a:ext cx="3545197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¿En qué etapa estamos?</a:t>
            </a:r>
          </a:p>
        </p:txBody>
      </p:sp>
      <p:sp>
        <p:nvSpPr>
          <p:cNvPr id="386" name="TextBox 3"/>
          <p:cNvSpPr txBox="1"/>
          <p:nvPr/>
        </p:nvSpPr>
        <p:spPr>
          <a:xfrm>
            <a:off x="658368" y="859536"/>
            <a:ext cx="4125104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Actividad rápida: identifica la etapa antes de revelar la respuesta.</a:t>
            </a:r>
          </a:p>
        </p:txBody>
      </p:sp>
      <p:sp>
        <p:nvSpPr>
          <p:cNvPr id="387" name="Rounded Rectangle 4"/>
          <p:cNvSpPr/>
          <p:nvPr/>
        </p:nvSpPr>
        <p:spPr>
          <a:xfrm>
            <a:off x="640080" y="1371600"/>
            <a:ext cx="3489960" cy="182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8" name="Rectangle 5"/>
          <p:cNvSpPr/>
          <p:nvPr/>
        </p:nvSpPr>
        <p:spPr>
          <a:xfrm>
            <a:off x="640080" y="1371600"/>
            <a:ext cx="73153" cy="1828800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9" name="TextBox 6"/>
          <p:cNvSpPr txBox="1"/>
          <p:nvPr/>
        </p:nvSpPr>
        <p:spPr>
          <a:xfrm>
            <a:off x="886966" y="1508760"/>
            <a:ext cx="2944377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600">
                <a:solidFill>
                  <a:srgbClr val="122238"/>
                </a:solidFill>
              </a:defRPr>
            </a:pPr>
            <a:r>
              <a:t>“¿Qué información debe ingresar </a:t>
            </a:r>
          </a:p>
          <a:p>
            <a:pPr>
              <a:defRPr b="1" sz="1600">
                <a:solidFill>
                  <a:srgbClr val="122238"/>
                </a:solidFill>
              </a:defRPr>
            </a:pPr>
            <a:r>
              <a:t>el usuario?”</a:t>
            </a:r>
          </a:p>
        </p:txBody>
      </p:sp>
      <p:sp>
        <p:nvSpPr>
          <p:cNvPr id="390" name="TextBox 7"/>
          <p:cNvSpPr txBox="1"/>
          <p:nvPr/>
        </p:nvSpPr>
        <p:spPr>
          <a:xfrm>
            <a:off x="886966" y="2092960"/>
            <a:ext cx="30327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ANÁLISIS</a:t>
            </a:r>
          </a:p>
        </p:txBody>
      </p:sp>
      <p:sp>
        <p:nvSpPr>
          <p:cNvPr id="391" name="Rounded Rectangle 8"/>
          <p:cNvSpPr/>
          <p:nvPr/>
        </p:nvSpPr>
        <p:spPr>
          <a:xfrm>
            <a:off x="4358640" y="1371600"/>
            <a:ext cx="3489960" cy="182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2" name="Rectangle 9"/>
          <p:cNvSpPr/>
          <p:nvPr/>
        </p:nvSpPr>
        <p:spPr>
          <a:xfrm>
            <a:off x="4358640" y="1371600"/>
            <a:ext cx="73153" cy="1828800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3" name="TextBox 10"/>
          <p:cNvSpPr txBox="1"/>
          <p:nvPr/>
        </p:nvSpPr>
        <p:spPr>
          <a:xfrm>
            <a:off x="4605528" y="1508760"/>
            <a:ext cx="3239354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“Voy a escribir la función en Python.”</a:t>
            </a:r>
          </a:p>
        </p:txBody>
      </p:sp>
      <p:sp>
        <p:nvSpPr>
          <p:cNvPr id="394" name="TextBox 11"/>
          <p:cNvSpPr txBox="1"/>
          <p:nvPr/>
        </p:nvSpPr>
        <p:spPr>
          <a:xfrm>
            <a:off x="4605528" y="1965960"/>
            <a:ext cx="30327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CODIFICACIÓN</a:t>
            </a:r>
          </a:p>
        </p:txBody>
      </p:sp>
      <p:sp>
        <p:nvSpPr>
          <p:cNvPr id="395" name="Rounded Rectangle 12"/>
          <p:cNvSpPr/>
          <p:nvPr/>
        </p:nvSpPr>
        <p:spPr>
          <a:xfrm>
            <a:off x="8077199" y="1371600"/>
            <a:ext cx="3489961" cy="182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6" name="Rectangle 13"/>
          <p:cNvSpPr/>
          <p:nvPr/>
        </p:nvSpPr>
        <p:spPr>
          <a:xfrm>
            <a:off x="8077199" y="1371600"/>
            <a:ext cx="73153" cy="1828800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7" name="TextBox 14"/>
          <p:cNvSpPr txBox="1"/>
          <p:nvPr/>
        </p:nvSpPr>
        <p:spPr>
          <a:xfrm>
            <a:off x="8324086" y="1508760"/>
            <a:ext cx="334799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“Con una lista vacía el programa falla.”</a:t>
            </a:r>
          </a:p>
        </p:txBody>
      </p:sp>
      <p:sp>
        <p:nvSpPr>
          <p:cNvPr id="398" name="TextBox 15"/>
          <p:cNvSpPr txBox="1"/>
          <p:nvPr/>
        </p:nvSpPr>
        <p:spPr>
          <a:xfrm>
            <a:off x="8324086" y="1965960"/>
            <a:ext cx="30327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PRUEBAS / DEPURACIÓN</a:t>
            </a:r>
          </a:p>
        </p:txBody>
      </p:sp>
      <p:sp>
        <p:nvSpPr>
          <p:cNvPr id="399" name="Rounded Rectangle 16"/>
          <p:cNvSpPr/>
          <p:nvPr/>
        </p:nvSpPr>
        <p:spPr>
          <a:xfrm>
            <a:off x="640080" y="3520440"/>
            <a:ext cx="3489960" cy="1828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0" name="Rectangle 17"/>
          <p:cNvSpPr/>
          <p:nvPr/>
        </p:nvSpPr>
        <p:spPr>
          <a:xfrm>
            <a:off x="640080" y="3520440"/>
            <a:ext cx="73153" cy="1828801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1" name="TextBox 18"/>
          <p:cNvSpPr txBox="1"/>
          <p:nvPr/>
        </p:nvSpPr>
        <p:spPr>
          <a:xfrm>
            <a:off x="886966" y="3657600"/>
            <a:ext cx="2620726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600">
                <a:solidFill>
                  <a:srgbClr val="122238"/>
                </a:solidFill>
              </a:defRPr>
            </a:pPr>
            <a:r>
              <a:t>“Publicamos la nueva versión </a:t>
            </a:r>
          </a:p>
          <a:p>
            <a:pPr>
              <a:defRPr b="1" sz="1600">
                <a:solidFill>
                  <a:srgbClr val="122238"/>
                </a:solidFill>
              </a:defRPr>
            </a:pPr>
            <a:r>
              <a:t>en el servidor.”</a:t>
            </a:r>
          </a:p>
        </p:txBody>
      </p:sp>
      <p:sp>
        <p:nvSpPr>
          <p:cNvPr id="402" name="TextBox 19"/>
          <p:cNvSpPr txBox="1"/>
          <p:nvPr/>
        </p:nvSpPr>
        <p:spPr>
          <a:xfrm>
            <a:off x="886966" y="4203700"/>
            <a:ext cx="30327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Deploy</a:t>
            </a:r>
          </a:p>
        </p:txBody>
      </p:sp>
      <p:sp>
        <p:nvSpPr>
          <p:cNvPr id="403" name="Rounded Rectangle 20"/>
          <p:cNvSpPr/>
          <p:nvPr/>
        </p:nvSpPr>
        <p:spPr>
          <a:xfrm>
            <a:off x="4358640" y="3520440"/>
            <a:ext cx="3489960" cy="1828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4" name="Rectangle 21"/>
          <p:cNvSpPr/>
          <p:nvPr/>
        </p:nvSpPr>
        <p:spPr>
          <a:xfrm>
            <a:off x="4358640" y="3520440"/>
            <a:ext cx="73153" cy="1828801"/>
          </a:xfrm>
          <a:prstGeom prst="rect">
            <a:avLst/>
          </a:prstGeom>
          <a:solidFill>
            <a:srgbClr val="F59E0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5" name="TextBox 22"/>
          <p:cNvSpPr txBox="1"/>
          <p:nvPr/>
        </p:nvSpPr>
        <p:spPr>
          <a:xfrm>
            <a:off x="4605528" y="3657600"/>
            <a:ext cx="3655775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“Agregamos un manual para los usuarios.”</a:t>
            </a:r>
          </a:p>
        </p:txBody>
      </p:sp>
      <p:sp>
        <p:nvSpPr>
          <p:cNvPr id="406" name="TextBox 23"/>
          <p:cNvSpPr txBox="1"/>
          <p:nvPr/>
        </p:nvSpPr>
        <p:spPr>
          <a:xfrm>
            <a:off x="4605528" y="4114800"/>
            <a:ext cx="30327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DOCUMENTACIÓN</a:t>
            </a:r>
          </a:p>
        </p:txBody>
      </p:sp>
      <p:sp>
        <p:nvSpPr>
          <p:cNvPr id="407" name="Rounded Rectangle 24"/>
          <p:cNvSpPr/>
          <p:nvPr/>
        </p:nvSpPr>
        <p:spPr>
          <a:xfrm>
            <a:off x="8077199" y="3520440"/>
            <a:ext cx="3489961" cy="1828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8" name="Rectangle 25"/>
          <p:cNvSpPr/>
          <p:nvPr/>
        </p:nvSpPr>
        <p:spPr>
          <a:xfrm>
            <a:off x="8077199" y="3520440"/>
            <a:ext cx="73153" cy="1828801"/>
          </a:xfrm>
          <a:prstGeom prst="rect">
            <a:avLst/>
          </a:prstGeom>
          <a:solidFill>
            <a:srgbClr val="DC262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9" name="TextBox 26"/>
          <p:cNvSpPr txBox="1"/>
          <p:nvPr/>
        </p:nvSpPr>
        <p:spPr>
          <a:xfrm>
            <a:off x="8324086" y="3657600"/>
            <a:ext cx="3713223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“Los usuarios pidieron una nueva función.”</a:t>
            </a:r>
          </a:p>
        </p:txBody>
      </p:sp>
      <p:sp>
        <p:nvSpPr>
          <p:cNvPr id="410" name="TextBox 27"/>
          <p:cNvSpPr txBox="1"/>
          <p:nvPr/>
        </p:nvSpPr>
        <p:spPr>
          <a:xfrm>
            <a:off x="8324086" y="4114800"/>
            <a:ext cx="30327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MANTENIMIENTO</a:t>
            </a:r>
          </a:p>
        </p:txBody>
      </p:sp>
      <p:pic>
        <p:nvPicPr>
          <p:cNvPr id="411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4" name="TextBox 2"/>
          <p:cNvSpPr txBox="1"/>
          <p:nvPr/>
        </p:nvSpPr>
        <p:spPr>
          <a:xfrm>
            <a:off x="640079" y="256031"/>
            <a:ext cx="5706237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Cierre: del problema al software en uso</a:t>
            </a:r>
          </a:p>
        </p:txBody>
      </p:sp>
      <p:sp>
        <p:nvSpPr>
          <p:cNvPr id="415" name="TextBox 3"/>
          <p:cNvSpPr txBox="1"/>
          <p:nvPr/>
        </p:nvSpPr>
        <p:spPr>
          <a:xfrm>
            <a:off x="658368" y="859536"/>
            <a:ext cx="456757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La codificación es importante, pero es solamente una etapa del proceso.</a:t>
            </a:r>
          </a:p>
        </p:txBody>
      </p:sp>
      <p:sp>
        <p:nvSpPr>
          <p:cNvPr id="416" name="Rounded Rectangle 4"/>
          <p:cNvSpPr/>
          <p:nvPr/>
        </p:nvSpPr>
        <p:spPr>
          <a:xfrm>
            <a:off x="640080" y="1508760"/>
            <a:ext cx="3489960" cy="210312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7" name="Rectangle 5"/>
          <p:cNvSpPr/>
          <p:nvPr/>
        </p:nvSpPr>
        <p:spPr>
          <a:xfrm>
            <a:off x="640080" y="1508760"/>
            <a:ext cx="73153" cy="2103121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8" name="TextBox 6"/>
          <p:cNvSpPr txBox="1"/>
          <p:nvPr/>
        </p:nvSpPr>
        <p:spPr>
          <a:xfrm>
            <a:off x="886966" y="1645918"/>
            <a:ext cx="1779252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Antes de programar</a:t>
            </a:r>
          </a:p>
        </p:txBody>
      </p:sp>
      <p:sp>
        <p:nvSpPr>
          <p:cNvPr id="419" name="TextBox 7"/>
          <p:cNvSpPr txBox="1"/>
          <p:nvPr/>
        </p:nvSpPr>
        <p:spPr>
          <a:xfrm>
            <a:off x="886966" y="2103120"/>
            <a:ext cx="30327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Definir → analizar → diseñar</a:t>
            </a:r>
          </a:p>
        </p:txBody>
      </p:sp>
      <p:sp>
        <p:nvSpPr>
          <p:cNvPr id="420" name="Rounded Rectangle 8"/>
          <p:cNvSpPr/>
          <p:nvPr/>
        </p:nvSpPr>
        <p:spPr>
          <a:xfrm>
            <a:off x="4358640" y="1508760"/>
            <a:ext cx="3489960" cy="210312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1" name="Rectangle 9"/>
          <p:cNvSpPr/>
          <p:nvPr/>
        </p:nvSpPr>
        <p:spPr>
          <a:xfrm>
            <a:off x="4358640" y="1508760"/>
            <a:ext cx="73153" cy="2103121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2" name="TextBox 10"/>
          <p:cNvSpPr txBox="1"/>
          <p:nvPr/>
        </p:nvSpPr>
        <p:spPr>
          <a:xfrm>
            <a:off x="4605528" y="1645918"/>
            <a:ext cx="1760002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Construir y verificar</a:t>
            </a:r>
          </a:p>
        </p:txBody>
      </p:sp>
      <p:sp>
        <p:nvSpPr>
          <p:cNvPr id="423" name="TextBox 11"/>
          <p:cNvSpPr txBox="1"/>
          <p:nvPr/>
        </p:nvSpPr>
        <p:spPr>
          <a:xfrm>
            <a:off x="4605528" y="2103120"/>
            <a:ext cx="30327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Codificar → probar/depurar</a:t>
            </a:r>
          </a:p>
        </p:txBody>
      </p:sp>
      <p:sp>
        <p:nvSpPr>
          <p:cNvPr id="424" name="Rounded Rectangle 12"/>
          <p:cNvSpPr/>
          <p:nvPr/>
        </p:nvSpPr>
        <p:spPr>
          <a:xfrm>
            <a:off x="8077199" y="1508760"/>
            <a:ext cx="3489961" cy="210312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5" name="Rectangle 13"/>
          <p:cNvSpPr/>
          <p:nvPr/>
        </p:nvSpPr>
        <p:spPr>
          <a:xfrm>
            <a:off x="8077199" y="1508760"/>
            <a:ext cx="73153" cy="2103121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6" name="TextBox 14"/>
          <p:cNvSpPr txBox="1"/>
          <p:nvPr/>
        </p:nvSpPr>
        <p:spPr>
          <a:xfrm>
            <a:off x="8324086" y="1645918"/>
            <a:ext cx="1978284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Llevarlo al mundo real</a:t>
            </a:r>
          </a:p>
        </p:txBody>
      </p:sp>
      <p:sp>
        <p:nvSpPr>
          <p:cNvPr id="427" name="TextBox 15"/>
          <p:cNvSpPr txBox="1"/>
          <p:nvPr/>
        </p:nvSpPr>
        <p:spPr>
          <a:xfrm>
            <a:off x="8324086" y="2103120"/>
            <a:ext cx="30327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Documentar → implantar → mantener</a:t>
            </a:r>
          </a:p>
        </p:txBody>
      </p:sp>
      <p:sp>
        <p:nvSpPr>
          <p:cNvPr id="428" name="Rounded Rectangle 16"/>
          <p:cNvSpPr/>
          <p:nvPr/>
        </p:nvSpPr>
        <p:spPr>
          <a:xfrm>
            <a:off x="1325880" y="4251959"/>
            <a:ext cx="9509760" cy="11430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9" name="Rectangle 17"/>
          <p:cNvSpPr/>
          <p:nvPr/>
        </p:nvSpPr>
        <p:spPr>
          <a:xfrm>
            <a:off x="1325880" y="4251959"/>
            <a:ext cx="73153" cy="1143001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0" name="TextBox 18"/>
          <p:cNvSpPr txBox="1"/>
          <p:nvPr/>
        </p:nvSpPr>
        <p:spPr>
          <a:xfrm>
            <a:off x="1572767" y="4389120"/>
            <a:ext cx="2108069" cy="310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Para la próxima sesión</a:t>
            </a:r>
          </a:p>
        </p:txBody>
      </p:sp>
      <p:sp>
        <p:nvSpPr>
          <p:cNvPr id="431" name="TextBox 19"/>
          <p:cNvSpPr txBox="1"/>
          <p:nvPr/>
        </p:nvSpPr>
        <p:spPr>
          <a:xfrm>
            <a:off x="1572767" y="4846320"/>
            <a:ext cx="9052561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475569"/>
                </a:solidFill>
              </a:defRPr>
            </a:lvl1pPr>
          </a:lstStyle>
          <a:p>
            <a:pPr/>
            <a:r>
              <a:t>Tener acceso a una computadora y, si es posible, instalar Python. La siguiente clase será de entorno de Python, conceptos básicos y traductores.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