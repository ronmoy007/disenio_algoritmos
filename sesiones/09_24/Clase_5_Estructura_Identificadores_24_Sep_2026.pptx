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n-lt"/>
        <a:ea typeface="+mn-ea"/>
        <a:cs typeface="+mn-cs"/>
        <a:sym typeface="Calibri"/>
      </a:defRPr>
    </a:lvl1pPr>
    <a:lvl2pPr indent="228600" defTabSz="457200" latinLnBrk="0">
      <a:defRPr sz="1200">
        <a:latin typeface="+mn-lt"/>
        <a:ea typeface="+mn-ea"/>
        <a:cs typeface="+mn-cs"/>
        <a:sym typeface="Calibri"/>
      </a:defRPr>
    </a:lvl2pPr>
    <a:lvl3pPr indent="457200" defTabSz="457200" latinLnBrk="0">
      <a:defRPr sz="1200">
        <a:latin typeface="+mn-lt"/>
        <a:ea typeface="+mn-ea"/>
        <a:cs typeface="+mn-cs"/>
        <a:sym typeface="Calibri"/>
      </a:defRPr>
    </a:lvl3pPr>
    <a:lvl4pPr indent="685800" defTabSz="457200" latinLnBrk="0">
      <a:defRPr sz="1200">
        <a:latin typeface="+mn-lt"/>
        <a:ea typeface="+mn-ea"/>
        <a:cs typeface="+mn-cs"/>
        <a:sym typeface="Calibri"/>
      </a:defRPr>
    </a:lvl4pPr>
    <a:lvl5pPr indent="914400" defTabSz="457200" latinLnBrk="0">
      <a:defRPr sz="1200">
        <a:latin typeface="+mn-lt"/>
        <a:ea typeface="+mn-ea"/>
        <a:cs typeface="+mn-cs"/>
        <a:sym typeface="Calibri"/>
      </a:defRPr>
    </a:lvl5pPr>
    <a:lvl6pPr indent="1143000" defTabSz="457200" latinLnBrk="0">
      <a:defRPr sz="1200">
        <a:latin typeface="+mn-lt"/>
        <a:ea typeface="+mn-ea"/>
        <a:cs typeface="+mn-cs"/>
        <a:sym typeface="Calibri"/>
      </a:defRPr>
    </a:lvl6pPr>
    <a:lvl7pPr indent="1371600" defTabSz="457200" latinLnBrk="0">
      <a:defRPr sz="1200">
        <a:latin typeface="+mn-lt"/>
        <a:ea typeface="+mn-ea"/>
        <a:cs typeface="+mn-cs"/>
        <a:sym typeface="Calibri"/>
      </a:defRPr>
    </a:lvl7pPr>
    <a:lvl8pPr indent="1600200" defTabSz="457200" latinLnBrk="0">
      <a:defRPr sz="1200">
        <a:latin typeface="+mn-lt"/>
        <a:ea typeface="+mn-ea"/>
        <a:cs typeface="+mn-cs"/>
        <a:sym typeface="Calibri"/>
      </a:defRPr>
    </a:lvl8pPr>
    <a:lvl9pPr indent="1828800" defTabSz="4572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8965" y="92074"/>
            <a:ext cx="1096137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tif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tif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tif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tif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tif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tif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tif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tif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tif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tif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tif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tif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12223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5" name="TextBox 2"/>
          <p:cNvSpPr txBox="1"/>
          <p:nvPr/>
        </p:nvSpPr>
        <p:spPr>
          <a:xfrm>
            <a:off x="777239" y="1188719"/>
            <a:ext cx="7328395" cy="11307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 sz="3700">
                <a:solidFill>
                  <a:srgbClr val="FFFFFF"/>
                </a:solidFill>
              </a:defRPr>
            </a:pPr>
            <a:r>
              <a:t>Estructura de un programa,</a:t>
            </a:r>
          </a:p>
          <a:p>
            <a:pPr>
              <a:defRPr b="1" sz="3700">
                <a:solidFill>
                  <a:srgbClr val="FFFFFF"/>
                </a:solidFill>
              </a:defRPr>
            </a:pPr>
            <a:r>
              <a:t>identificadores y palabras reservadas</a:t>
            </a:r>
          </a:p>
        </p:txBody>
      </p:sp>
      <p:sp>
        <p:nvSpPr>
          <p:cNvPr id="96" name="TextBox 3"/>
          <p:cNvSpPr txBox="1"/>
          <p:nvPr/>
        </p:nvSpPr>
        <p:spPr>
          <a:xfrm>
            <a:off x="795527" y="3429000"/>
            <a:ext cx="5082194" cy="5827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2000">
                <a:solidFill>
                  <a:srgbClr val="BFDBFE"/>
                </a:solidFill>
              </a:defRPr>
            </a:pPr>
            <a:r>
              <a:t>Clase 5 · Jueves 24 de septiembre de 2026 · Aula</a:t>
            </a:r>
          </a:p>
          <a:p>
            <a:pPr>
              <a:defRPr sz="1500">
                <a:solidFill>
                  <a:srgbClr val="E2E8F0"/>
                </a:solidFill>
              </a:defRPr>
            </a:pPr>
            <a:r>
              <a:t>Unidad 3 · Elementos básicos de un programa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9" name="TextBox 2"/>
          <p:cNvSpPr txBox="1"/>
          <p:nvPr/>
        </p:nvSpPr>
        <p:spPr>
          <a:xfrm>
            <a:off x="640079" y="256031"/>
            <a:ext cx="1943545" cy="434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Noticias tech</a:t>
            </a:r>
          </a:p>
        </p:txBody>
      </p:sp>
      <p:pic>
        <p:nvPicPr>
          <p:cNvPr id="100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352468" y="918859"/>
            <a:ext cx="7474364" cy="50202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3" name="TextBox 2"/>
          <p:cNvSpPr txBox="1"/>
          <p:nvPr/>
        </p:nvSpPr>
        <p:spPr>
          <a:xfrm>
            <a:off x="640079" y="256031"/>
            <a:ext cx="1943545" cy="434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Noticias tech</a:t>
            </a:r>
          </a:p>
        </p:txBody>
      </p:sp>
      <p:pic>
        <p:nvPicPr>
          <p:cNvPr id="104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95347" y="920750"/>
            <a:ext cx="8255001" cy="52705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7" name="TextBox 2"/>
          <p:cNvSpPr txBox="1"/>
          <p:nvPr/>
        </p:nvSpPr>
        <p:spPr>
          <a:xfrm>
            <a:off x="640079" y="256031"/>
            <a:ext cx="1943545" cy="434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Noticias tech</a:t>
            </a:r>
          </a:p>
        </p:txBody>
      </p:sp>
      <p:pic>
        <p:nvPicPr>
          <p:cNvPr id="108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819400" y="965200"/>
            <a:ext cx="6540500" cy="49276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" name="TextBox 2"/>
          <p:cNvSpPr txBox="1"/>
          <p:nvPr/>
        </p:nvSpPr>
        <p:spPr>
          <a:xfrm>
            <a:off x="640079" y="256031"/>
            <a:ext cx="1943545" cy="434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Noticias tech</a:t>
            </a:r>
          </a:p>
        </p:txBody>
      </p:sp>
      <p:pic>
        <p:nvPicPr>
          <p:cNvPr id="112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540434" y="721015"/>
            <a:ext cx="6800477" cy="618977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5" name="TextBox 2"/>
          <p:cNvSpPr txBox="1"/>
          <p:nvPr/>
        </p:nvSpPr>
        <p:spPr>
          <a:xfrm>
            <a:off x="640079" y="256031"/>
            <a:ext cx="3614681" cy="434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Vistazo al mundo laboral</a:t>
            </a:r>
          </a:p>
        </p:txBody>
      </p:sp>
      <p:pic>
        <p:nvPicPr>
          <p:cNvPr id="116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873609" y="723490"/>
            <a:ext cx="4749691" cy="596389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9" name="TextBox 2"/>
          <p:cNvSpPr txBox="1"/>
          <p:nvPr/>
        </p:nvSpPr>
        <p:spPr>
          <a:xfrm>
            <a:off x="640079" y="256031"/>
            <a:ext cx="4361258" cy="434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Conexión con la clase anterior</a:t>
            </a:r>
          </a:p>
        </p:txBody>
      </p:sp>
      <p:sp>
        <p:nvSpPr>
          <p:cNvPr id="120" name="TextBox 3"/>
          <p:cNvSpPr txBox="1"/>
          <p:nvPr/>
        </p:nvSpPr>
        <p:spPr>
          <a:xfrm>
            <a:off x="658368" y="859536"/>
            <a:ext cx="4921186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>
                <a:solidFill>
                  <a:srgbClr val="475569"/>
                </a:solidFill>
              </a:defRPr>
            </a:lvl1pPr>
          </a:lstStyle>
          <a:p>
            <a:pPr/>
            <a:r>
              <a:t>Ya sabemos qué es programar y que Python es un lenguaje con reglas propias.</a:t>
            </a:r>
          </a:p>
        </p:txBody>
      </p:sp>
      <p:sp>
        <p:nvSpPr>
          <p:cNvPr id="121" name="Rounded Rectangle 4"/>
          <p:cNvSpPr/>
          <p:nvPr/>
        </p:nvSpPr>
        <p:spPr>
          <a:xfrm>
            <a:off x="640080" y="1508760"/>
            <a:ext cx="3489960" cy="210312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2" name="Rectangle 5"/>
          <p:cNvSpPr/>
          <p:nvPr/>
        </p:nvSpPr>
        <p:spPr>
          <a:xfrm>
            <a:off x="640080" y="1508760"/>
            <a:ext cx="73153" cy="2103121"/>
          </a:xfrm>
          <a:prstGeom prst="rect">
            <a:avLst/>
          </a:prstGeom>
          <a:solidFill>
            <a:srgbClr val="7C3AE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3" name="TextBox 6"/>
          <p:cNvSpPr txBox="1"/>
          <p:nvPr/>
        </p:nvSpPr>
        <p:spPr>
          <a:xfrm>
            <a:off x="886966" y="1645918"/>
            <a:ext cx="947898" cy="300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Algoritmo</a:t>
            </a:r>
          </a:p>
        </p:txBody>
      </p:sp>
      <p:sp>
        <p:nvSpPr>
          <p:cNvPr id="124" name="TextBox 7"/>
          <p:cNvSpPr txBox="1"/>
          <p:nvPr/>
        </p:nvSpPr>
        <p:spPr>
          <a:xfrm>
            <a:off x="886966" y="2103120"/>
            <a:ext cx="167533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La lógica de la solución.</a:t>
            </a:r>
          </a:p>
        </p:txBody>
      </p:sp>
      <p:sp>
        <p:nvSpPr>
          <p:cNvPr id="125" name="Rounded Rectangle 8"/>
          <p:cNvSpPr/>
          <p:nvPr/>
        </p:nvSpPr>
        <p:spPr>
          <a:xfrm>
            <a:off x="4358640" y="1508760"/>
            <a:ext cx="3489960" cy="210312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6" name="Rectangle 9"/>
          <p:cNvSpPr/>
          <p:nvPr/>
        </p:nvSpPr>
        <p:spPr>
          <a:xfrm>
            <a:off x="4358640" y="1508760"/>
            <a:ext cx="73153" cy="2103121"/>
          </a:xfrm>
          <a:prstGeom prst="rect">
            <a:avLst/>
          </a:prstGeom>
          <a:solidFill>
            <a:srgbClr val="0D948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7" name="TextBox 10"/>
          <p:cNvSpPr txBox="1"/>
          <p:nvPr/>
        </p:nvSpPr>
        <p:spPr>
          <a:xfrm>
            <a:off x="4605528" y="1645918"/>
            <a:ext cx="921306" cy="300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Programa</a:t>
            </a:r>
          </a:p>
        </p:txBody>
      </p:sp>
      <p:sp>
        <p:nvSpPr>
          <p:cNvPr id="128" name="TextBox 11"/>
          <p:cNvSpPr txBox="1"/>
          <p:nvPr/>
        </p:nvSpPr>
        <p:spPr>
          <a:xfrm>
            <a:off x="4605528" y="2103120"/>
            <a:ext cx="203971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La implementación concreta.</a:t>
            </a:r>
          </a:p>
        </p:txBody>
      </p:sp>
      <p:sp>
        <p:nvSpPr>
          <p:cNvPr id="129" name="Rounded Rectangle 12"/>
          <p:cNvSpPr/>
          <p:nvPr/>
        </p:nvSpPr>
        <p:spPr>
          <a:xfrm>
            <a:off x="8077199" y="1508760"/>
            <a:ext cx="3489961" cy="210312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0" name="Rectangle 13"/>
          <p:cNvSpPr/>
          <p:nvPr/>
        </p:nvSpPr>
        <p:spPr>
          <a:xfrm>
            <a:off x="8077199" y="1508760"/>
            <a:ext cx="73153" cy="2103121"/>
          </a:xfrm>
          <a:prstGeom prst="rect">
            <a:avLst/>
          </a:prstGeom>
          <a:solidFill>
            <a:srgbClr val="2563E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1" name="TextBox 14"/>
          <p:cNvSpPr txBox="1"/>
          <p:nvPr/>
        </p:nvSpPr>
        <p:spPr>
          <a:xfrm>
            <a:off x="8324086" y="1645918"/>
            <a:ext cx="861279" cy="300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Lenguaje</a:t>
            </a:r>
          </a:p>
        </p:txBody>
      </p:sp>
      <p:sp>
        <p:nvSpPr>
          <p:cNvPr id="132" name="TextBox 15"/>
          <p:cNvSpPr txBox="1"/>
          <p:nvPr/>
        </p:nvSpPr>
        <p:spPr>
          <a:xfrm>
            <a:off x="8324086" y="2103120"/>
            <a:ext cx="228720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Reglas para escribir el programa.</a:t>
            </a:r>
          </a:p>
        </p:txBody>
      </p:sp>
      <p:sp>
        <p:nvSpPr>
          <p:cNvPr id="133" name="Rounded Rectangle 16"/>
          <p:cNvSpPr/>
          <p:nvPr/>
        </p:nvSpPr>
        <p:spPr>
          <a:xfrm>
            <a:off x="1508760" y="4251959"/>
            <a:ext cx="9144001" cy="109728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4" name="Rectangle 17"/>
          <p:cNvSpPr/>
          <p:nvPr/>
        </p:nvSpPr>
        <p:spPr>
          <a:xfrm>
            <a:off x="1508760" y="4251959"/>
            <a:ext cx="73153" cy="1097281"/>
          </a:xfrm>
          <a:prstGeom prst="rect">
            <a:avLst/>
          </a:prstGeom>
          <a:solidFill>
            <a:srgbClr val="EA580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5" name="TextBox 18"/>
          <p:cNvSpPr txBox="1"/>
          <p:nvPr/>
        </p:nvSpPr>
        <p:spPr>
          <a:xfrm>
            <a:off x="1755647" y="4389120"/>
            <a:ext cx="457404" cy="3104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700">
                <a:solidFill>
                  <a:srgbClr val="122238"/>
                </a:solidFill>
              </a:defRPr>
            </a:lvl1pPr>
          </a:lstStyle>
          <a:p>
            <a:pPr/>
            <a:r>
              <a:t>Hoy</a:t>
            </a:r>
          </a:p>
        </p:txBody>
      </p:sp>
      <p:sp>
        <p:nvSpPr>
          <p:cNvPr id="136" name="TextBox 19"/>
          <p:cNvSpPr txBox="1"/>
          <p:nvPr/>
        </p:nvSpPr>
        <p:spPr>
          <a:xfrm>
            <a:off x="1755647" y="4846320"/>
            <a:ext cx="6091869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>
                <a:solidFill>
                  <a:srgbClr val="475569"/>
                </a:solidFill>
              </a:defRPr>
            </a:lvl1pPr>
          </a:lstStyle>
          <a:p>
            <a:pPr/>
            <a:r>
              <a:t>¿Cómo organizamos un archivo Python y qué nombres podemos usar dentro de él?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9" name="TextBox 2"/>
          <p:cNvSpPr txBox="1"/>
          <p:nvPr/>
        </p:nvSpPr>
        <p:spPr>
          <a:xfrm>
            <a:off x="640079" y="256031"/>
            <a:ext cx="4582770" cy="434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3.1 · Estructura de un programa</a:t>
            </a:r>
          </a:p>
        </p:txBody>
      </p:sp>
      <p:sp>
        <p:nvSpPr>
          <p:cNvPr id="140" name="TextBox 3"/>
          <p:cNvSpPr txBox="1"/>
          <p:nvPr/>
        </p:nvSpPr>
        <p:spPr>
          <a:xfrm>
            <a:off x="658368" y="859536"/>
            <a:ext cx="366820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>
                <a:solidFill>
                  <a:srgbClr val="475569"/>
                </a:solidFill>
              </a:defRPr>
            </a:lvl1pPr>
          </a:lstStyle>
          <a:p>
            <a:pPr/>
            <a:r>
              <a:t>El código fuente suele organizarse en partes reconocibles.</a:t>
            </a:r>
          </a:p>
        </p:txBody>
      </p:sp>
      <p:sp>
        <p:nvSpPr>
          <p:cNvPr id="141" name="Rounded Rectangle 4"/>
          <p:cNvSpPr/>
          <p:nvPr/>
        </p:nvSpPr>
        <p:spPr>
          <a:xfrm>
            <a:off x="640080" y="1417319"/>
            <a:ext cx="5349241" cy="196596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2" name="Rectangle 5"/>
          <p:cNvSpPr/>
          <p:nvPr/>
        </p:nvSpPr>
        <p:spPr>
          <a:xfrm>
            <a:off x="640080" y="1417319"/>
            <a:ext cx="73153" cy="1965962"/>
          </a:xfrm>
          <a:prstGeom prst="rect">
            <a:avLst/>
          </a:prstGeom>
          <a:solidFill>
            <a:srgbClr val="2563E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3" name="TextBox 6"/>
          <p:cNvSpPr txBox="1"/>
          <p:nvPr/>
        </p:nvSpPr>
        <p:spPr>
          <a:xfrm>
            <a:off x="886966" y="1554480"/>
            <a:ext cx="142613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1 · Comentarios</a:t>
            </a:r>
          </a:p>
        </p:txBody>
      </p:sp>
      <p:sp>
        <p:nvSpPr>
          <p:cNvPr id="144" name="TextBox 7"/>
          <p:cNvSpPr txBox="1"/>
          <p:nvPr/>
        </p:nvSpPr>
        <p:spPr>
          <a:xfrm>
            <a:off x="886966" y="2011679"/>
            <a:ext cx="2026250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Explican qué hace el archivo.</a:t>
            </a:r>
          </a:p>
        </p:txBody>
      </p:sp>
      <p:sp>
        <p:nvSpPr>
          <p:cNvPr id="145" name="Rounded Rectangle 8"/>
          <p:cNvSpPr/>
          <p:nvPr/>
        </p:nvSpPr>
        <p:spPr>
          <a:xfrm>
            <a:off x="6217920" y="1417319"/>
            <a:ext cx="5349241" cy="196596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6" name="Rectangle 9"/>
          <p:cNvSpPr/>
          <p:nvPr/>
        </p:nvSpPr>
        <p:spPr>
          <a:xfrm>
            <a:off x="6217920" y="1417319"/>
            <a:ext cx="73153" cy="1965962"/>
          </a:xfrm>
          <a:prstGeom prst="rect">
            <a:avLst/>
          </a:prstGeom>
          <a:solidFill>
            <a:srgbClr val="7C3AE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7" name="TextBox 10"/>
          <p:cNvSpPr txBox="1"/>
          <p:nvPr/>
        </p:nvSpPr>
        <p:spPr>
          <a:xfrm>
            <a:off x="6464808" y="1554480"/>
            <a:ext cx="1568709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2 · Importaciones</a:t>
            </a:r>
          </a:p>
        </p:txBody>
      </p:sp>
      <p:sp>
        <p:nvSpPr>
          <p:cNvPr id="148" name="TextBox 11"/>
          <p:cNvSpPr txBox="1"/>
          <p:nvPr/>
        </p:nvSpPr>
        <p:spPr>
          <a:xfrm>
            <a:off x="6464808" y="2011679"/>
            <a:ext cx="1500316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Incorporan módulos.</a:t>
            </a:r>
          </a:p>
        </p:txBody>
      </p:sp>
      <p:sp>
        <p:nvSpPr>
          <p:cNvPr id="149" name="Rounded Rectangle 12"/>
          <p:cNvSpPr/>
          <p:nvPr/>
        </p:nvSpPr>
        <p:spPr>
          <a:xfrm>
            <a:off x="640080" y="3703320"/>
            <a:ext cx="5349241" cy="196596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0" name="Rectangle 13"/>
          <p:cNvSpPr/>
          <p:nvPr/>
        </p:nvSpPr>
        <p:spPr>
          <a:xfrm>
            <a:off x="640080" y="3703320"/>
            <a:ext cx="73153" cy="1965961"/>
          </a:xfrm>
          <a:prstGeom prst="rect">
            <a:avLst/>
          </a:prstGeom>
          <a:solidFill>
            <a:srgbClr val="0D948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" name="TextBox 14"/>
          <p:cNvSpPr txBox="1"/>
          <p:nvPr/>
        </p:nvSpPr>
        <p:spPr>
          <a:xfrm>
            <a:off x="886966" y="3840479"/>
            <a:ext cx="1201302" cy="300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3 · Funciones</a:t>
            </a:r>
          </a:p>
        </p:txBody>
      </p:sp>
      <p:sp>
        <p:nvSpPr>
          <p:cNvPr id="152" name="TextBox 15"/>
          <p:cNvSpPr txBox="1"/>
          <p:nvPr/>
        </p:nvSpPr>
        <p:spPr>
          <a:xfrm>
            <a:off x="886966" y="4297679"/>
            <a:ext cx="1966353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Definen tareas reutilizables.</a:t>
            </a:r>
          </a:p>
        </p:txBody>
      </p:sp>
      <p:sp>
        <p:nvSpPr>
          <p:cNvPr id="153" name="Rounded Rectangle 16"/>
          <p:cNvSpPr/>
          <p:nvPr/>
        </p:nvSpPr>
        <p:spPr>
          <a:xfrm>
            <a:off x="6217920" y="3703320"/>
            <a:ext cx="5349241" cy="196596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4" name="Rectangle 17"/>
          <p:cNvSpPr/>
          <p:nvPr/>
        </p:nvSpPr>
        <p:spPr>
          <a:xfrm>
            <a:off x="6217920" y="3703320"/>
            <a:ext cx="73153" cy="1965961"/>
          </a:xfrm>
          <a:prstGeom prst="rect">
            <a:avLst/>
          </a:prstGeom>
          <a:solidFill>
            <a:srgbClr val="EA580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5" name="TextBox 18"/>
          <p:cNvSpPr txBox="1"/>
          <p:nvPr/>
        </p:nvSpPr>
        <p:spPr>
          <a:xfrm>
            <a:off x="6464808" y="3840479"/>
            <a:ext cx="1743135" cy="300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4 · Cuerpo principal</a:t>
            </a:r>
          </a:p>
        </p:txBody>
      </p:sp>
      <p:sp>
        <p:nvSpPr>
          <p:cNvPr id="156" name="TextBox 19"/>
          <p:cNvSpPr txBox="1"/>
          <p:nvPr/>
        </p:nvSpPr>
        <p:spPr>
          <a:xfrm>
            <a:off x="6464808" y="4297679"/>
            <a:ext cx="2542590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Ejecuta las instrucciones principales.</a:t>
            </a:r>
          </a:p>
        </p:txBody>
      </p:sp>
      <p:pic>
        <p:nvPicPr>
          <p:cNvPr id="157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741683" y="1154"/>
            <a:ext cx="1334652" cy="94461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0" name="TextBox 2"/>
          <p:cNvSpPr txBox="1"/>
          <p:nvPr/>
        </p:nvSpPr>
        <p:spPr>
          <a:xfrm>
            <a:off x="640079" y="256031"/>
            <a:ext cx="4767113" cy="434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Ejemplo de estructura en Python</a:t>
            </a:r>
          </a:p>
        </p:txBody>
      </p:sp>
      <p:sp>
        <p:nvSpPr>
          <p:cNvPr id="161" name="TextBox 3"/>
          <p:cNvSpPr txBox="1"/>
          <p:nvPr/>
        </p:nvSpPr>
        <p:spPr>
          <a:xfrm>
            <a:off x="658368" y="859536"/>
            <a:ext cx="3008596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>
                <a:solidFill>
                  <a:srgbClr val="475569"/>
                </a:solidFill>
              </a:defRPr>
            </a:lvl1pPr>
          </a:lstStyle>
          <a:p>
            <a:pPr/>
            <a:r>
              <a:t>Ejemplo del plan: calcular el área de un círculo.</a:t>
            </a:r>
          </a:p>
        </p:txBody>
      </p:sp>
      <p:sp>
        <p:nvSpPr>
          <p:cNvPr id="162" name="Rounded Rectangle 4"/>
          <p:cNvSpPr/>
          <p:nvPr/>
        </p:nvSpPr>
        <p:spPr>
          <a:xfrm>
            <a:off x="731519" y="1325880"/>
            <a:ext cx="6675121" cy="448056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>
            <a:solidFill>
              <a:srgbClr val="2563E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3" name="TextBox 5"/>
          <p:cNvSpPr txBox="1"/>
          <p:nvPr/>
        </p:nvSpPr>
        <p:spPr>
          <a:xfrm>
            <a:off x="941832" y="1435607"/>
            <a:ext cx="107167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200">
                <a:solidFill>
                  <a:srgbClr val="93C5FD"/>
                </a:solidFill>
              </a:defRPr>
            </a:lvl1pPr>
          </a:lstStyle>
          <a:p>
            <a:pPr/>
            <a:r>
              <a:t>area_circulo.py</a:t>
            </a:r>
          </a:p>
        </p:txBody>
      </p:sp>
      <p:sp>
        <p:nvSpPr>
          <p:cNvPr id="164" name="TextBox 6"/>
          <p:cNvSpPr txBox="1"/>
          <p:nvPr/>
        </p:nvSpPr>
        <p:spPr>
          <a:xfrm>
            <a:off x="978408" y="1828800"/>
            <a:ext cx="2984969" cy="1590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spcBef>
                <a:spcPts val="100"/>
              </a:spcBef>
              <a:defRPr sz="14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Área de un círculo</a:t>
            </a:r>
          </a:p>
          <a:p>
            <a:pPr>
              <a:spcBef>
                <a:spcPts val="100"/>
              </a:spcBef>
              <a:defRPr sz="14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import math</a:t>
            </a:r>
          </a:p>
          <a:p>
            <a:pPr>
              <a:spcBef>
                <a:spcPts val="100"/>
              </a:spcBef>
              <a:defRPr sz="14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spcBef>
                <a:spcPts val="100"/>
              </a:spcBef>
              <a:defRPr sz="14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def area_circulo(r):</a:t>
            </a:r>
          </a:p>
          <a:p>
            <a:pPr>
              <a:spcBef>
                <a:spcPts val="100"/>
              </a:spcBef>
              <a:defRPr sz="14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return math.pi * r ** 2</a:t>
            </a:r>
          </a:p>
          <a:p>
            <a:pPr>
              <a:spcBef>
                <a:spcPts val="100"/>
              </a:spcBef>
              <a:defRPr sz="14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spcBef>
                <a:spcPts val="100"/>
              </a:spcBef>
              <a:defRPr sz="14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print(area_circulo(5))</a:t>
            </a:r>
          </a:p>
        </p:txBody>
      </p:sp>
      <p:sp>
        <p:nvSpPr>
          <p:cNvPr id="165" name="Rounded Rectangle 7"/>
          <p:cNvSpPr/>
          <p:nvPr/>
        </p:nvSpPr>
        <p:spPr>
          <a:xfrm>
            <a:off x="7726678" y="1325880"/>
            <a:ext cx="3703321" cy="91440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6" name="Rectangle 8"/>
          <p:cNvSpPr/>
          <p:nvPr/>
        </p:nvSpPr>
        <p:spPr>
          <a:xfrm>
            <a:off x="7726678" y="1325880"/>
            <a:ext cx="73153" cy="914401"/>
          </a:xfrm>
          <a:prstGeom prst="rect">
            <a:avLst/>
          </a:prstGeom>
          <a:solidFill>
            <a:srgbClr val="2563E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7" name="TextBox 9"/>
          <p:cNvSpPr txBox="1"/>
          <p:nvPr/>
        </p:nvSpPr>
        <p:spPr>
          <a:xfrm>
            <a:off x="7973567" y="1463038"/>
            <a:ext cx="1033852" cy="277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500">
                <a:solidFill>
                  <a:srgbClr val="122238"/>
                </a:solidFill>
              </a:defRPr>
            </a:lvl1pPr>
          </a:lstStyle>
          <a:p>
            <a:pPr/>
            <a:r>
              <a:t>Comentario</a:t>
            </a:r>
          </a:p>
        </p:txBody>
      </p:sp>
      <p:sp>
        <p:nvSpPr>
          <p:cNvPr id="168" name="TextBox 10"/>
          <p:cNvSpPr txBox="1"/>
          <p:nvPr/>
        </p:nvSpPr>
        <p:spPr>
          <a:xfrm>
            <a:off x="7973567" y="1920239"/>
            <a:ext cx="145602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>
                <a:solidFill>
                  <a:srgbClr val="475569"/>
                </a:solidFill>
              </a:defRPr>
            </a:lvl1pPr>
          </a:lstStyle>
          <a:p>
            <a:pPr/>
            <a:r>
              <a:t>Describe el propósito.</a:t>
            </a:r>
          </a:p>
        </p:txBody>
      </p:sp>
      <p:sp>
        <p:nvSpPr>
          <p:cNvPr id="169" name="Rounded Rectangle 11"/>
          <p:cNvSpPr/>
          <p:nvPr/>
        </p:nvSpPr>
        <p:spPr>
          <a:xfrm>
            <a:off x="7726678" y="2423160"/>
            <a:ext cx="3703321" cy="91440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0" name="Rectangle 12"/>
          <p:cNvSpPr/>
          <p:nvPr/>
        </p:nvSpPr>
        <p:spPr>
          <a:xfrm>
            <a:off x="7726678" y="2423160"/>
            <a:ext cx="73153" cy="914401"/>
          </a:xfrm>
          <a:prstGeom prst="rect">
            <a:avLst/>
          </a:prstGeom>
          <a:solidFill>
            <a:srgbClr val="7C3AE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1" name="TextBox 13"/>
          <p:cNvSpPr txBox="1"/>
          <p:nvPr/>
        </p:nvSpPr>
        <p:spPr>
          <a:xfrm>
            <a:off x="7973567" y="2560320"/>
            <a:ext cx="1071617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500">
                <a:solidFill>
                  <a:srgbClr val="122238"/>
                </a:solidFill>
              </a:defRPr>
            </a:lvl1pPr>
          </a:lstStyle>
          <a:p>
            <a:pPr/>
            <a:r>
              <a:t>Importación</a:t>
            </a:r>
          </a:p>
        </p:txBody>
      </p:sp>
      <p:sp>
        <p:nvSpPr>
          <p:cNvPr id="172" name="TextBox 14"/>
          <p:cNvSpPr txBox="1"/>
          <p:nvPr/>
        </p:nvSpPr>
        <p:spPr>
          <a:xfrm>
            <a:off x="7973567" y="3017520"/>
            <a:ext cx="1227868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>
                <a:solidFill>
                  <a:srgbClr val="475569"/>
                </a:solidFill>
              </a:defRPr>
            </a:lvl1pPr>
          </a:lstStyle>
          <a:p>
            <a:pPr/>
            <a:r>
              <a:t>Da acceso a math.</a:t>
            </a:r>
          </a:p>
        </p:txBody>
      </p:sp>
      <p:sp>
        <p:nvSpPr>
          <p:cNvPr id="173" name="Rounded Rectangle 15"/>
          <p:cNvSpPr/>
          <p:nvPr/>
        </p:nvSpPr>
        <p:spPr>
          <a:xfrm>
            <a:off x="7726678" y="3520440"/>
            <a:ext cx="3703321" cy="91440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4" name="Rectangle 16"/>
          <p:cNvSpPr/>
          <p:nvPr/>
        </p:nvSpPr>
        <p:spPr>
          <a:xfrm>
            <a:off x="7726678" y="3520440"/>
            <a:ext cx="73153" cy="914401"/>
          </a:xfrm>
          <a:prstGeom prst="rect">
            <a:avLst/>
          </a:prstGeom>
          <a:solidFill>
            <a:srgbClr val="0D948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5" name="TextBox 17"/>
          <p:cNvSpPr txBox="1"/>
          <p:nvPr/>
        </p:nvSpPr>
        <p:spPr>
          <a:xfrm>
            <a:off x="7973567" y="3657600"/>
            <a:ext cx="727173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500">
                <a:solidFill>
                  <a:srgbClr val="122238"/>
                </a:solidFill>
              </a:defRPr>
            </a:lvl1pPr>
          </a:lstStyle>
          <a:p>
            <a:pPr/>
            <a:r>
              <a:t>Función</a:t>
            </a:r>
          </a:p>
        </p:txBody>
      </p:sp>
      <p:sp>
        <p:nvSpPr>
          <p:cNvPr id="176" name="TextBox 18"/>
          <p:cNvSpPr txBox="1"/>
          <p:nvPr/>
        </p:nvSpPr>
        <p:spPr>
          <a:xfrm>
            <a:off x="7973567" y="4114800"/>
            <a:ext cx="1123911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>
                <a:solidFill>
                  <a:srgbClr val="475569"/>
                </a:solidFill>
              </a:defRPr>
            </a:lvl1pPr>
          </a:lstStyle>
          <a:p>
            <a:pPr/>
            <a:r>
              <a:t>Agrupa la lógica.</a:t>
            </a:r>
          </a:p>
        </p:txBody>
      </p:sp>
      <p:sp>
        <p:nvSpPr>
          <p:cNvPr id="177" name="Rounded Rectangle 19"/>
          <p:cNvSpPr/>
          <p:nvPr/>
        </p:nvSpPr>
        <p:spPr>
          <a:xfrm>
            <a:off x="7726678" y="4617720"/>
            <a:ext cx="3703321" cy="91440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8" name="Rectangle 20"/>
          <p:cNvSpPr/>
          <p:nvPr/>
        </p:nvSpPr>
        <p:spPr>
          <a:xfrm>
            <a:off x="7726678" y="4617720"/>
            <a:ext cx="73153" cy="914401"/>
          </a:xfrm>
          <a:prstGeom prst="rect">
            <a:avLst/>
          </a:prstGeom>
          <a:solidFill>
            <a:srgbClr val="EA580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9" name="TextBox 21"/>
          <p:cNvSpPr txBox="1"/>
          <p:nvPr/>
        </p:nvSpPr>
        <p:spPr>
          <a:xfrm>
            <a:off x="7973567" y="4754879"/>
            <a:ext cx="675455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500">
                <a:solidFill>
                  <a:srgbClr val="122238"/>
                </a:solidFill>
              </a:defRPr>
            </a:lvl1pPr>
          </a:lstStyle>
          <a:p>
            <a:pPr/>
            <a:r>
              <a:t>Cuerpo</a:t>
            </a:r>
          </a:p>
        </p:txBody>
      </p:sp>
      <p:sp>
        <p:nvSpPr>
          <p:cNvPr id="180" name="TextBox 22"/>
          <p:cNvSpPr txBox="1"/>
          <p:nvPr/>
        </p:nvSpPr>
        <p:spPr>
          <a:xfrm>
            <a:off x="7973567" y="5212079"/>
            <a:ext cx="1152784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>
                <a:solidFill>
                  <a:srgbClr val="475569"/>
                </a:solidFill>
              </a:defRPr>
            </a:lvl1pPr>
          </a:lstStyle>
          <a:p>
            <a:pPr/>
            <a:r>
              <a:t>Llama la función.</a:t>
            </a:r>
          </a:p>
        </p:txBody>
      </p:sp>
      <p:pic>
        <p:nvPicPr>
          <p:cNvPr id="181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741683" y="1154"/>
            <a:ext cx="1334652" cy="94461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4" name="TextBox 2"/>
          <p:cNvSpPr txBox="1"/>
          <p:nvPr/>
        </p:nvSpPr>
        <p:spPr>
          <a:xfrm>
            <a:off x="640079" y="256031"/>
            <a:ext cx="4285747" cy="434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Comentarios e importaciones</a:t>
            </a:r>
          </a:p>
        </p:txBody>
      </p:sp>
      <p:sp>
        <p:nvSpPr>
          <p:cNvPr id="185" name="TextBox 3"/>
          <p:cNvSpPr txBox="1"/>
          <p:nvPr/>
        </p:nvSpPr>
        <p:spPr>
          <a:xfrm>
            <a:off x="658368" y="859536"/>
            <a:ext cx="2400931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>
                <a:solidFill>
                  <a:srgbClr val="475569"/>
                </a:solidFill>
              </a:defRPr>
            </a:lvl1pPr>
          </a:lstStyle>
          <a:p>
            <a:pPr/>
            <a:r>
              <a:t>Dos partes comunes de la estructura.</a:t>
            </a:r>
          </a:p>
        </p:txBody>
      </p:sp>
      <p:sp>
        <p:nvSpPr>
          <p:cNvPr id="186" name="Rounded Rectangle 4"/>
          <p:cNvSpPr/>
          <p:nvPr/>
        </p:nvSpPr>
        <p:spPr>
          <a:xfrm>
            <a:off x="685800" y="1325880"/>
            <a:ext cx="5257800" cy="3931921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>
            <a:solidFill>
              <a:srgbClr val="2563E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7" name="TextBox 5"/>
          <p:cNvSpPr txBox="1"/>
          <p:nvPr/>
        </p:nvSpPr>
        <p:spPr>
          <a:xfrm>
            <a:off x="896112" y="1435607"/>
            <a:ext cx="908706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200">
                <a:solidFill>
                  <a:srgbClr val="93C5FD"/>
                </a:solidFill>
              </a:defRPr>
            </a:lvl1pPr>
          </a:lstStyle>
          <a:p>
            <a:pPr/>
            <a:r>
              <a:t>Comentarios</a:t>
            </a:r>
          </a:p>
        </p:txBody>
      </p:sp>
      <p:sp>
        <p:nvSpPr>
          <p:cNvPr id="188" name="TextBox 6"/>
          <p:cNvSpPr txBox="1"/>
          <p:nvPr/>
        </p:nvSpPr>
        <p:spPr>
          <a:xfrm>
            <a:off x="932687" y="1828800"/>
            <a:ext cx="2847788" cy="1221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spcBef>
                <a:spcPts val="100"/>
              </a:spcBef>
              <a:defRPr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Programa para calcular</a:t>
            </a:r>
          </a:p>
          <a:p>
            <a:pPr>
              <a:spcBef>
                <a:spcPts val="100"/>
              </a:spcBef>
              <a:defRPr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el área de un círculo</a:t>
            </a:r>
          </a:p>
          <a:p>
            <a:pPr>
              <a:spcBef>
                <a:spcPts val="100"/>
              </a:spcBef>
              <a:defRPr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spcBef>
                <a:spcPts val="100"/>
              </a:spcBef>
              <a:defRPr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radio = 5</a:t>
            </a:r>
          </a:p>
          <a:p>
            <a:pPr>
              <a:spcBef>
                <a:spcPts val="100"/>
              </a:spcBef>
              <a:defRPr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print(radio)</a:t>
            </a:r>
          </a:p>
        </p:txBody>
      </p:sp>
      <p:sp>
        <p:nvSpPr>
          <p:cNvPr id="189" name="Rounded Rectangle 7"/>
          <p:cNvSpPr/>
          <p:nvPr/>
        </p:nvSpPr>
        <p:spPr>
          <a:xfrm>
            <a:off x="6263640" y="1325880"/>
            <a:ext cx="5257801" cy="3931921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>
            <a:solidFill>
              <a:srgbClr val="7C3AED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0" name="TextBox 8"/>
          <p:cNvSpPr txBox="1"/>
          <p:nvPr/>
        </p:nvSpPr>
        <p:spPr>
          <a:xfrm>
            <a:off x="6473951" y="1435607"/>
            <a:ext cx="87812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200">
                <a:solidFill>
                  <a:srgbClr val="93C5FD"/>
                </a:solidFill>
              </a:defRPr>
            </a:lvl1pPr>
          </a:lstStyle>
          <a:p>
            <a:pPr/>
            <a:r>
              <a:t>Importación</a:t>
            </a:r>
          </a:p>
        </p:txBody>
      </p:sp>
      <p:sp>
        <p:nvSpPr>
          <p:cNvPr id="191" name="TextBox 9"/>
          <p:cNvSpPr txBox="1"/>
          <p:nvPr/>
        </p:nvSpPr>
        <p:spPr>
          <a:xfrm>
            <a:off x="6510526" y="1828800"/>
            <a:ext cx="3190743" cy="1221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spcBef>
                <a:spcPts val="100"/>
              </a:spcBef>
              <a:defRPr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import math</a:t>
            </a:r>
          </a:p>
          <a:p>
            <a:pPr>
              <a:spcBef>
                <a:spcPts val="100"/>
              </a:spcBef>
              <a:defRPr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spcBef>
                <a:spcPts val="100"/>
              </a:spcBef>
              <a:defRPr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radio = 5</a:t>
            </a:r>
          </a:p>
          <a:p>
            <a:pPr>
              <a:spcBef>
                <a:spcPts val="100"/>
              </a:spcBef>
              <a:defRPr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area = math.pi * radio ** 2</a:t>
            </a:r>
          </a:p>
          <a:p>
            <a:pPr>
              <a:spcBef>
                <a:spcPts val="100"/>
              </a:spcBef>
              <a:defRPr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print(area)</a:t>
            </a:r>
          </a:p>
        </p:txBody>
      </p:sp>
      <p:sp>
        <p:nvSpPr>
          <p:cNvPr id="192" name="Rounded Rectangle 10"/>
          <p:cNvSpPr/>
          <p:nvPr/>
        </p:nvSpPr>
        <p:spPr>
          <a:xfrm>
            <a:off x="1554480" y="5532120"/>
            <a:ext cx="9052560" cy="741839"/>
          </a:xfrm>
          <a:prstGeom prst="roundRect">
            <a:avLst>
              <a:gd name="adj" fmla="val 13354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3" name="Rectangle 11"/>
          <p:cNvSpPr/>
          <p:nvPr/>
        </p:nvSpPr>
        <p:spPr>
          <a:xfrm>
            <a:off x="1554480" y="5532120"/>
            <a:ext cx="73153" cy="741839"/>
          </a:xfrm>
          <a:prstGeom prst="rect">
            <a:avLst/>
          </a:prstGeom>
          <a:solidFill>
            <a:srgbClr val="0D948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4" name="TextBox 12"/>
          <p:cNvSpPr txBox="1"/>
          <p:nvPr/>
        </p:nvSpPr>
        <p:spPr>
          <a:xfrm>
            <a:off x="1801368" y="5669279"/>
            <a:ext cx="669898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300">
                <a:solidFill>
                  <a:srgbClr val="122238"/>
                </a:solidFill>
              </a:defRPr>
            </a:lvl1pPr>
          </a:lstStyle>
          <a:p>
            <a:pPr/>
            <a:r>
              <a:t>Observa</a:t>
            </a:r>
          </a:p>
        </p:txBody>
      </p:sp>
      <p:sp>
        <p:nvSpPr>
          <p:cNvPr id="195" name="TextBox 13"/>
          <p:cNvSpPr txBox="1"/>
          <p:nvPr/>
        </p:nvSpPr>
        <p:spPr>
          <a:xfrm>
            <a:off x="1801368" y="6007608"/>
            <a:ext cx="5427202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100">
                <a:solidFill>
                  <a:srgbClr val="475569"/>
                </a:solidFill>
              </a:defRPr>
            </a:lvl1pPr>
          </a:lstStyle>
          <a:p>
            <a:pPr/>
            <a:r>
              <a:t>No todos los programas necesitan importaciones; los comentarios ayudan a explicar el código.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" name="TextBox 2"/>
          <p:cNvSpPr txBox="1"/>
          <p:nvPr/>
        </p:nvSpPr>
        <p:spPr>
          <a:xfrm>
            <a:off x="640079" y="256031"/>
            <a:ext cx="4159671" cy="434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Funciones y cuerpo principal</a:t>
            </a:r>
          </a:p>
        </p:txBody>
      </p:sp>
      <p:sp>
        <p:nvSpPr>
          <p:cNvPr id="199" name="TextBox 3"/>
          <p:cNvSpPr txBox="1"/>
          <p:nvPr/>
        </p:nvSpPr>
        <p:spPr>
          <a:xfrm>
            <a:off x="658368" y="859536"/>
            <a:ext cx="3474949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>
                <a:solidFill>
                  <a:srgbClr val="475569"/>
                </a:solidFill>
              </a:defRPr>
            </a:lvl1pPr>
          </a:lstStyle>
          <a:p>
            <a:pPr/>
            <a:r>
              <a:t>Definir una función y utilizarla son acciones diferentes.</a:t>
            </a:r>
          </a:p>
        </p:txBody>
      </p:sp>
      <p:sp>
        <p:nvSpPr>
          <p:cNvPr id="200" name="Rounded Rectangle 4"/>
          <p:cNvSpPr/>
          <p:nvPr/>
        </p:nvSpPr>
        <p:spPr>
          <a:xfrm>
            <a:off x="685800" y="1325880"/>
            <a:ext cx="5257800" cy="402336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>
            <a:solidFill>
              <a:srgbClr val="0D948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1" name="TextBox 5"/>
          <p:cNvSpPr txBox="1"/>
          <p:nvPr/>
        </p:nvSpPr>
        <p:spPr>
          <a:xfrm>
            <a:off x="896112" y="1435607"/>
            <a:ext cx="745590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200">
                <a:solidFill>
                  <a:srgbClr val="93C5FD"/>
                </a:solidFill>
              </a:defRPr>
            </a:lvl1pPr>
          </a:lstStyle>
          <a:p>
            <a:pPr/>
            <a:r>
              <a:t>Definición</a:t>
            </a:r>
          </a:p>
        </p:txBody>
      </p:sp>
      <p:sp>
        <p:nvSpPr>
          <p:cNvPr id="202" name="TextBox 6"/>
          <p:cNvSpPr txBox="1"/>
          <p:nvPr/>
        </p:nvSpPr>
        <p:spPr>
          <a:xfrm>
            <a:off x="932687" y="1828800"/>
            <a:ext cx="3396517" cy="561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spcBef>
                <a:spcPts val="100"/>
              </a:spcBef>
              <a:defRPr sz="16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def area_circulo(r):</a:t>
            </a:r>
          </a:p>
          <a:p>
            <a:pPr>
              <a:spcBef>
                <a:spcPts val="100"/>
              </a:spcBef>
              <a:defRPr sz="16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return math.pi * r ** 2</a:t>
            </a:r>
          </a:p>
        </p:txBody>
      </p:sp>
      <p:sp>
        <p:nvSpPr>
          <p:cNvPr id="203" name="Rounded Rectangle 7"/>
          <p:cNvSpPr/>
          <p:nvPr/>
        </p:nvSpPr>
        <p:spPr>
          <a:xfrm>
            <a:off x="6263640" y="1325880"/>
            <a:ext cx="5257801" cy="402336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>
            <a:solidFill>
              <a:srgbClr val="EA580C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4" name="TextBox 8"/>
          <p:cNvSpPr txBox="1"/>
          <p:nvPr/>
        </p:nvSpPr>
        <p:spPr>
          <a:xfrm>
            <a:off x="6473951" y="1435607"/>
            <a:ext cx="346359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200">
                <a:solidFill>
                  <a:srgbClr val="93C5FD"/>
                </a:solidFill>
              </a:defRPr>
            </a:lvl1pPr>
          </a:lstStyle>
          <a:p>
            <a:pPr/>
            <a:r>
              <a:t>Uso</a:t>
            </a:r>
          </a:p>
        </p:txBody>
      </p:sp>
      <p:sp>
        <p:nvSpPr>
          <p:cNvPr id="205" name="TextBox 9"/>
          <p:cNvSpPr txBox="1"/>
          <p:nvPr/>
        </p:nvSpPr>
        <p:spPr>
          <a:xfrm>
            <a:off x="6510526" y="1828800"/>
            <a:ext cx="3884276" cy="802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spcBef>
                <a:spcPts val="100"/>
              </a:spcBef>
              <a:defRPr sz="16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radio = 5</a:t>
            </a:r>
          </a:p>
          <a:p>
            <a:pPr>
              <a:spcBef>
                <a:spcPts val="100"/>
              </a:spcBef>
              <a:defRPr sz="16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resultado = area_circulo(radio)</a:t>
            </a:r>
          </a:p>
          <a:p>
            <a:pPr>
              <a:spcBef>
                <a:spcPts val="100"/>
              </a:spcBef>
              <a:defRPr sz="16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print(resultado)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8" name="TextBox 2"/>
          <p:cNvSpPr txBox="1"/>
          <p:nvPr/>
        </p:nvSpPr>
        <p:spPr>
          <a:xfrm>
            <a:off x="640079" y="256031"/>
            <a:ext cx="7181142" cy="434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Una estructura clara facilita entender el programa</a:t>
            </a:r>
          </a:p>
        </p:txBody>
      </p:sp>
      <p:sp>
        <p:nvSpPr>
          <p:cNvPr id="209" name="Rounded Rectangle 4"/>
          <p:cNvSpPr/>
          <p:nvPr/>
        </p:nvSpPr>
        <p:spPr>
          <a:xfrm>
            <a:off x="685800" y="1325880"/>
            <a:ext cx="5257800" cy="402336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>
            <a:solidFill>
              <a:srgbClr val="DC262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" name="TextBox 5"/>
          <p:cNvSpPr txBox="1"/>
          <p:nvPr/>
        </p:nvSpPr>
        <p:spPr>
          <a:xfrm>
            <a:off x="896112" y="1435607"/>
            <a:ext cx="948443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200">
                <a:solidFill>
                  <a:srgbClr val="93C5FD"/>
                </a:solidFill>
              </a:defRPr>
            </a:lvl1pPr>
          </a:lstStyle>
          <a:p>
            <a:pPr/>
            <a:r>
              <a:t>Problemático</a:t>
            </a:r>
          </a:p>
        </p:txBody>
      </p:sp>
      <p:sp>
        <p:nvSpPr>
          <p:cNvPr id="211" name="TextBox 6"/>
          <p:cNvSpPr txBox="1"/>
          <p:nvPr/>
        </p:nvSpPr>
        <p:spPr>
          <a:xfrm>
            <a:off x="932687" y="1828800"/>
            <a:ext cx="2878273" cy="942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spcBef>
                <a:spcPts val="100"/>
              </a:spcBef>
              <a:defRPr sz="14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print(area_circulo(5))</a:t>
            </a:r>
          </a:p>
          <a:p>
            <a:pPr>
              <a:spcBef>
                <a:spcPts val="100"/>
              </a:spcBef>
              <a:defRPr sz="14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spcBef>
                <a:spcPts val="100"/>
              </a:spcBef>
              <a:defRPr sz="14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def area_circulo(r):</a:t>
            </a:r>
          </a:p>
          <a:p>
            <a:pPr>
              <a:spcBef>
                <a:spcPts val="100"/>
              </a:spcBef>
              <a:defRPr sz="14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return 3.1416 * r ** 2</a:t>
            </a:r>
          </a:p>
        </p:txBody>
      </p:sp>
      <p:sp>
        <p:nvSpPr>
          <p:cNvPr id="212" name="Rounded Rectangle 7"/>
          <p:cNvSpPr/>
          <p:nvPr/>
        </p:nvSpPr>
        <p:spPr>
          <a:xfrm>
            <a:off x="6263640" y="1325880"/>
            <a:ext cx="5257801" cy="402336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>
            <a:solidFill>
              <a:srgbClr val="16A34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3" name="TextBox 8"/>
          <p:cNvSpPr txBox="1"/>
          <p:nvPr/>
        </p:nvSpPr>
        <p:spPr>
          <a:xfrm>
            <a:off x="6473951" y="1435607"/>
            <a:ext cx="718503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200">
                <a:solidFill>
                  <a:srgbClr val="93C5FD"/>
                </a:solidFill>
              </a:defRPr>
            </a:lvl1pPr>
          </a:lstStyle>
          <a:p>
            <a:pPr/>
            <a:r>
              <a:t>Más claro</a:t>
            </a:r>
          </a:p>
        </p:txBody>
      </p:sp>
      <p:sp>
        <p:nvSpPr>
          <p:cNvPr id="214" name="TextBox 9"/>
          <p:cNvSpPr txBox="1"/>
          <p:nvPr/>
        </p:nvSpPr>
        <p:spPr>
          <a:xfrm>
            <a:off x="6510526" y="1828800"/>
            <a:ext cx="2878273" cy="942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spcBef>
                <a:spcPts val="100"/>
              </a:spcBef>
              <a:defRPr sz="14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def area_circulo(r):</a:t>
            </a:r>
          </a:p>
          <a:p>
            <a:pPr>
              <a:spcBef>
                <a:spcPts val="100"/>
              </a:spcBef>
              <a:defRPr sz="14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return 3.1416 * r ** 2</a:t>
            </a:r>
          </a:p>
          <a:p>
            <a:pPr>
              <a:spcBef>
                <a:spcPts val="100"/>
              </a:spcBef>
              <a:defRPr sz="14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spcBef>
                <a:spcPts val="100"/>
              </a:spcBef>
              <a:defRPr sz="14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print(area_circulo(5))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7" name="TextBox 2"/>
          <p:cNvSpPr txBox="1"/>
          <p:nvPr/>
        </p:nvSpPr>
        <p:spPr>
          <a:xfrm>
            <a:off x="640079" y="256031"/>
            <a:ext cx="4428231" cy="434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3.2 · ¿Qué es un identificador?</a:t>
            </a:r>
          </a:p>
        </p:txBody>
      </p:sp>
      <p:sp>
        <p:nvSpPr>
          <p:cNvPr id="218" name="TextBox 3"/>
          <p:cNvSpPr txBox="1"/>
          <p:nvPr/>
        </p:nvSpPr>
        <p:spPr>
          <a:xfrm>
            <a:off x="658368" y="859536"/>
            <a:ext cx="4291345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>
                <a:solidFill>
                  <a:srgbClr val="475569"/>
                </a:solidFill>
              </a:defRPr>
            </a:lvl1pPr>
          </a:lstStyle>
          <a:p>
            <a:pPr/>
            <a:r>
              <a:t>Es el nombre que el programador asigna a elementos del programa.</a:t>
            </a:r>
          </a:p>
        </p:txBody>
      </p:sp>
      <p:sp>
        <p:nvSpPr>
          <p:cNvPr id="219" name="Rounded Rectangle 4"/>
          <p:cNvSpPr/>
          <p:nvPr/>
        </p:nvSpPr>
        <p:spPr>
          <a:xfrm>
            <a:off x="640080" y="1508760"/>
            <a:ext cx="3489960" cy="228600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0" name="Rectangle 5"/>
          <p:cNvSpPr/>
          <p:nvPr/>
        </p:nvSpPr>
        <p:spPr>
          <a:xfrm>
            <a:off x="640080" y="1508760"/>
            <a:ext cx="73153" cy="2286001"/>
          </a:xfrm>
          <a:prstGeom prst="rect">
            <a:avLst/>
          </a:prstGeom>
          <a:solidFill>
            <a:srgbClr val="2563E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1" name="TextBox 6"/>
          <p:cNvSpPr txBox="1"/>
          <p:nvPr/>
        </p:nvSpPr>
        <p:spPr>
          <a:xfrm>
            <a:off x="886966" y="1645918"/>
            <a:ext cx="878147" cy="300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Variables</a:t>
            </a:r>
          </a:p>
        </p:txBody>
      </p:sp>
      <p:sp>
        <p:nvSpPr>
          <p:cNvPr id="222" name="TextBox 7"/>
          <p:cNvSpPr txBox="1"/>
          <p:nvPr/>
        </p:nvSpPr>
        <p:spPr>
          <a:xfrm>
            <a:off x="886966" y="2103120"/>
            <a:ext cx="1225741" cy="6646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edad</a:t>
            </a:r>
            <a:br/>
            <a:r>
              <a:t>promedio</a:t>
            </a:r>
            <a:br/>
            <a:r>
              <a:t>nombre_alumno</a:t>
            </a:r>
          </a:p>
        </p:txBody>
      </p:sp>
      <p:sp>
        <p:nvSpPr>
          <p:cNvPr id="223" name="Rounded Rectangle 8"/>
          <p:cNvSpPr/>
          <p:nvPr/>
        </p:nvSpPr>
        <p:spPr>
          <a:xfrm>
            <a:off x="4358640" y="1508760"/>
            <a:ext cx="3489960" cy="228600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4" name="Rectangle 9"/>
          <p:cNvSpPr/>
          <p:nvPr/>
        </p:nvSpPr>
        <p:spPr>
          <a:xfrm>
            <a:off x="4358640" y="1508760"/>
            <a:ext cx="73153" cy="2286001"/>
          </a:xfrm>
          <a:prstGeom prst="rect">
            <a:avLst/>
          </a:prstGeom>
          <a:solidFill>
            <a:srgbClr val="0D948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5" name="TextBox 10"/>
          <p:cNvSpPr txBox="1"/>
          <p:nvPr/>
        </p:nvSpPr>
        <p:spPr>
          <a:xfrm>
            <a:off x="4605528" y="1645918"/>
            <a:ext cx="952064" cy="300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Funciones</a:t>
            </a:r>
          </a:p>
        </p:txBody>
      </p:sp>
      <p:sp>
        <p:nvSpPr>
          <p:cNvPr id="226" name="TextBox 11"/>
          <p:cNvSpPr txBox="1"/>
          <p:nvPr/>
        </p:nvSpPr>
        <p:spPr>
          <a:xfrm>
            <a:off x="4605528" y="2103120"/>
            <a:ext cx="1357305" cy="461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calcular_promedio</a:t>
            </a:r>
            <a:br/>
            <a:r>
              <a:t>area_circulo</a:t>
            </a:r>
          </a:p>
        </p:txBody>
      </p:sp>
      <p:sp>
        <p:nvSpPr>
          <p:cNvPr id="227" name="Rounded Rectangle 12"/>
          <p:cNvSpPr/>
          <p:nvPr/>
        </p:nvSpPr>
        <p:spPr>
          <a:xfrm>
            <a:off x="8077199" y="1508760"/>
            <a:ext cx="3489961" cy="228600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8" name="Rectangle 13"/>
          <p:cNvSpPr/>
          <p:nvPr/>
        </p:nvSpPr>
        <p:spPr>
          <a:xfrm>
            <a:off x="8077199" y="1508760"/>
            <a:ext cx="73153" cy="2286001"/>
          </a:xfrm>
          <a:prstGeom prst="rect">
            <a:avLst/>
          </a:prstGeom>
          <a:solidFill>
            <a:srgbClr val="7C3AE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9" name="TextBox 14"/>
          <p:cNvSpPr txBox="1"/>
          <p:nvPr/>
        </p:nvSpPr>
        <p:spPr>
          <a:xfrm>
            <a:off x="8324086" y="1645918"/>
            <a:ext cx="469961" cy="300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Idea</a:t>
            </a:r>
          </a:p>
        </p:txBody>
      </p:sp>
      <p:sp>
        <p:nvSpPr>
          <p:cNvPr id="230" name="TextBox 15"/>
          <p:cNvSpPr txBox="1"/>
          <p:nvPr/>
        </p:nvSpPr>
        <p:spPr>
          <a:xfrm>
            <a:off x="8324086" y="2103120"/>
            <a:ext cx="3108832" cy="461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Un identificador funciona como una etiqueta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para referirnos a algo.</a:t>
            </a:r>
          </a:p>
        </p:txBody>
      </p:sp>
      <p:pic>
        <p:nvPicPr>
          <p:cNvPr id="231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741683" y="1154"/>
            <a:ext cx="1334652" cy="94461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4" name="TextBox 2"/>
          <p:cNvSpPr txBox="1"/>
          <p:nvPr/>
        </p:nvSpPr>
        <p:spPr>
          <a:xfrm>
            <a:off x="640079" y="256031"/>
            <a:ext cx="5465637" cy="434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Reglas para identificadores en Python</a:t>
            </a:r>
          </a:p>
        </p:txBody>
      </p:sp>
      <p:sp>
        <p:nvSpPr>
          <p:cNvPr id="235" name="Rounded Rectangle 3"/>
          <p:cNvSpPr/>
          <p:nvPr/>
        </p:nvSpPr>
        <p:spPr>
          <a:xfrm>
            <a:off x="640080" y="1371600"/>
            <a:ext cx="3489960" cy="1828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6" name="Rectangle 4"/>
          <p:cNvSpPr/>
          <p:nvPr/>
        </p:nvSpPr>
        <p:spPr>
          <a:xfrm>
            <a:off x="640080" y="1371600"/>
            <a:ext cx="73153" cy="1828800"/>
          </a:xfrm>
          <a:prstGeom prst="rect">
            <a:avLst/>
          </a:prstGeom>
          <a:solidFill>
            <a:srgbClr val="16A34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7" name="TextBox 5"/>
          <p:cNvSpPr txBox="1"/>
          <p:nvPr/>
        </p:nvSpPr>
        <p:spPr>
          <a:xfrm>
            <a:off x="886966" y="1508760"/>
            <a:ext cx="822287" cy="3368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 sz="1600">
                <a:solidFill>
                  <a:srgbClr val="122238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✓ </a:t>
            </a:r>
            <a:r>
              <a:t>Letras</a:t>
            </a:r>
          </a:p>
        </p:txBody>
      </p:sp>
      <p:sp>
        <p:nvSpPr>
          <p:cNvPr id="238" name="TextBox 6"/>
          <p:cNvSpPr txBox="1"/>
          <p:nvPr/>
        </p:nvSpPr>
        <p:spPr>
          <a:xfrm>
            <a:off x="886966" y="1965960"/>
            <a:ext cx="1512490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edad · nombre · total</a:t>
            </a:r>
          </a:p>
        </p:txBody>
      </p:sp>
      <p:sp>
        <p:nvSpPr>
          <p:cNvPr id="239" name="Rounded Rectangle 7"/>
          <p:cNvSpPr/>
          <p:nvPr/>
        </p:nvSpPr>
        <p:spPr>
          <a:xfrm>
            <a:off x="4358640" y="1371600"/>
            <a:ext cx="3489960" cy="1828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0" name="Rectangle 8"/>
          <p:cNvSpPr/>
          <p:nvPr/>
        </p:nvSpPr>
        <p:spPr>
          <a:xfrm>
            <a:off x="4358640" y="1371600"/>
            <a:ext cx="73153" cy="1828800"/>
          </a:xfrm>
          <a:prstGeom prst="rect">
            <a:avLst/>
          </a:prstGeom>
          <a:solidFill>
            <a:srgbClr val="16A34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1" name="TextBox 9"/>
          <p:cNvSpPr txBox="1"/>
          <p:nvPr/>
        </p:nvSpPr>
        <p:spPr>
          <a:xfrm>
            <a:off x="4605528" y="1508760"/>
            <a:ext cx="1826181" cy="3368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 sz="1600">
                <a:solidFill>
                  <a:srgbClr val="122238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✓ </a:t>
            </a:r>
            <a:r>
              <a:t>Números después</a:t>
            </a:r>
          </a:p>
        </p:txBody>
      </p:sp>
      <p:sp>
        <p:nvSpPr>
          <p:cNvPr id="242" name="TextBox 10"/>
          <p:cNvSpPr txBox="1"/>
          <p:nvPr/>
        </p:nvSpPr>
        <p:spPr>
          <a:xfrm>
            <a:off x="4605528" y="1965960"/>
            <a:ext cx="1342874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alumno2 · parcial1</a:t>
            </a:r>
          </a:p>
        </p:txBody>
      </p:sp>
      <p:sp>
        <p:nvSpPr>
          <p:cNvPr id="243" name="Rounded Rectangle 11"/>
          <p:cNvSpPr/>
          <p:nvPr/>
        </p:nvSpPr>
        <p:spPr>
          <a:xfrm>
            <a:off x="8077199" y="1371600"/>
            <a:ext cx="3489961" cy="1828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4" name="Rectangle 12"/>
          <p:cNvSpPr/>
          <p:nvPr/>
        </p:nvSpPr>
        <p:spPr>
          <a:xfrm>
            <a:off x="8077199" y="1371600"/>
            <a:ext cx="73153" cy="1828800"/>
          </a:xfrm>
          <a:prstGeom prst="rect">
            <a:avLst/>
          </a:prstGeom>
          <a:solidFill>
            <a:srgbClr val="16A34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5" name="TextBox 13"/>
          <p:cNvSpPr txBox="1"/>
          <p:nvPr/>
        </p:nvSpPr>
        <p:spPr>
          <a:xfrm>
            <a:off x="8324086" y="1508760"/>
            <a:ext cx="1239005" cy="3368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 sz="1600">
                <a:solidFill>
                  <a:srgbClr val="122238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✓ </a:t>
            </a:r>
            <a:r>
              <a:t>Guion bajo</a:t>
            </a:r>
          </a:p>
        </p:txBody>
      </p:sp>
      <p:sp>
        <p:nvSpPr>
          <p:cNvPr id="246" name="TextBox 14"/>
          <p:cNvSpPr txBox="1"/>
          <p:nvPr/>
        </p:nvSpPr>
        <p:spPr>
          <a:xfrm>
            <a:off x="8324086" y="1965960"/>
            <a:ext cx="1745709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total_ventas · _temporal</a:t>
            </a:r>
          </a:p>
        </p:txBody>
      </p:sp>
      <p:sp>
        <p:nvSpPr>
          <p:cNvPr id="247" name="Rounded Rectangle 15"/>
          <p:cNvSpPr/>
          <p:nvPr/>
        </p:nvSpPr>
        <p:spPr>
          <a:xfrm>
            <a:off x="640080" y="3520440"/>
            <a:ext cx="3489960" cy="182880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8" name="Rectangle 16"/>
          <p:cNvSpPr/>
          <p:nvPr/>
        </p:nvSpPr>
        <p:spPr>
          <a:xfrm>
            <a:off x="640080" y="3520440"/>
            <a:ext cx="73153" cy="1828801"/>
          </a:xfrm>
          <a:prstGeom prst="rect">
            <a:avLst/>
          </a:prstGeom>
          <a:solidFill>
            <a:srgbClr val="DC262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9" name="TextBox 17"/>
          <p:cNvSpPr txBox="1"/>
          <p:nvPr/>
        </p:nvSpPr>
        <p:spPr>
          <a:xfrm>
            <a:off x="886966" y="3657600"/>
            <a:ext cx="2140805" cy="3368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 sz="1600">
                <a:solidFill>
                  <a:srgbClr val="122238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✗ </a:t>
            </a:r>
            <a:r>
              <a:t>No iniciar con número</a:t>
            </a:r>
          </a:p>
        </p:txBody>
      </p:sp>
      <p:sp>
        <p:nvSpPr>
          <p:cNvPr id="250" name="TextBox 18"/>
          <p:cNvSpPr txBox="1"/>
          <p:nvPr/>
        </p:nvSpPr>
        <p:spPr>
          <a:xfrm>
            <a:off x="886966" y="4114800"/>
            <a:ext cx="1228805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2total · 1nombre</a:t>
            </a:r>
          </a:p>
        </p:txBody>
      </p:sp>
      <p:sp>
        <p:nvSpPr>
          <p:cNvPr id="251" name="Rounded Rectangle 19"/>
          <p:cNvSpPr/>
          <p:nvPr/>
        </p:nvSpPr>
        <p:spPr>
          <a:xfrm>
            <a:off x="4358640" y="3520440"/>
            <a:ext cx="3489960" cy="182880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2" name="Rectangle 20"/>
          <p:cNvSpPr/>
          <p:nvPr/>
        </p:nvSpPr>
        <p:spPr>
          <a:xfrm>
            <a:off x="4358640" y="3520440"/>
            <a:ext cx="73153" cy="1828801"/>
          </a:xfrm>
          <a:prstGeom prst="rect">
            <a:avLst/>
          </a:prstGeom>
          <a:solidFill>
            <a:srgbClr val="DC262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3" name="TextBox 21"/>
          <p:cNvSpPr txBox="1"/>
          <p:nvPr/>
        </p:nvSpPr>
        <p:spPr>
          <a:xfrm>
            <a:off x="4605528" y="3657600"/>
            <a:ext cx="1295460" cy="3368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 sz="1600">
                <a:solidFill>
                  <a:srgbClr val="122238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✗ </a:t>
            </a:r>
            <a:r>
              <a:t>Sin espacios</a:t>
            </a:r>
          </a:p>
        </p:txBody>
      </p:sp>
      <p:sp>
        <p:nvSpPr>
          <p:cNvPr id="254" name="TextBox 22"/>
          <p:cNvSpPr txBox="1"/>
          <p:nvPr/>
        </p:nvSpPr>
        <p:spPr>
          <a:xfrm>
            <a:off x="4605528" y="4114800"/>
            <a:ext cx="1743129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total ventas · mi nombre</a:t>
            </a:r>
          </a:p>
        </p:txBody>
      </p:sp>
      <p:sp>
        <p:nvSpPr>
          <p:cNvPr id="255" name="Rounded Rectangle 23"/>
          <p:cNvSpPr/>
          <p:nvPr/>
        </p:nvSpPr>
        <p:spPr>
          <a:xfrm>
            <a:off x="8077199" y="3520440"/>
            <a:ext cx="3489961" cy="182880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6" name="Rectangle 24"/>
          <p:cNvSpPr/>
          <p:nvPr/>
        </p:nvSpPr>
        <p:spPr>
          <a:xfrm>
            <a:off x="8077199" y="3520440"/>
            <a:ext cx="73153" cy="1828801"/>
          </a:xfrm>
          <a:prstGeom prst="rect">
            <a:avLst/>
          </a:prstGeom>
          <a:solidFill>
            <a:srgbClr val="DC262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7" name="TextBox 25"/>
          <p:cNvSpPr txBox="1"/>
          <p:nvPr/>
        </p:nvSpPr>
        <p:spPr>
          <a:xfrm>
            <a:off x="8324086" y="3657600"/>
            <a:ext cx="1479114" cy="3368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 sz="1600">
                <a:solidFill>
                  <a:srgbClr val="122238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✗ </a:t>
            </a:r>
            <a:r>
              <a:t>No reservadas</a:t>
            </a:r>
          </a:p>
        </p:txBody>
      </p:sp>
      <p:sp>
        <p:nvSpPr>
          <p:cNvPr id="258" name="TextBox 26"/>
          <p:cNvSpPr txBox="1"/>
          <p:nvPr/>
        </p:nvSpPr>
        <p:spPr>
          <a:xfrm>
            <a:off x="8324086" y="4114800"/>
            <a:ext cx="834434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for · if · def</a:t>
            </a:r>
          </a:p>
        </p:txBody>
      </p:sp>
      <p:pic>
        <p:nvPicPr>
          <p:cNvPr id="259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741683" y="1154"/>
            <a:ext cx="1334652" cy="94461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2" name="TextBox 2"/>
          <p:cNvSpPr txBox="1"/>
          <p:nvPr/>
        </p:nvSpPr>
        <p:spPr>
          <a:xfrm>
            <a:off x="640079" y="256031"/>
            <a:ext cx="6133187" cy="434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Python distingue mayúsculas y minúsculas</a:t>
            </a:r>
          </a:p>
        </p:txBody>
      </p:sp>
      <p:sp>
        <p:nvSpPr>
          <p:cNvPr id="263" name="TextBox 3"/>
          <p:cNvSpPr txBox="1"/>
          <p:nvPr/>
        </p:nvSpPr>
        <p:spPr>
          <a:xfrm>
            <a:off x="658368" y="859536"/>
            <a:ext cx="2811399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>
                <a:solidFill>
                  <a:srgbClr val="475569"/>
                </a:solidFill>
              </a:defRPr>
            </a:lvl1pPr>
          </a:lstStyle>
          <a:p>
            <a:pPr/>
            <a:r>
              <a:t>edad, Edad y EDAD son nombres diferentes.</a:t>
            </a:r>
          </a:p>
        </p:txBody>
      </p:sp>
      <p:sp>
        <p:nvSpPr>
          <p:cNvPr id="264" name="Rounded Rectangle 4"/>
          <p:cNvSpPr/>
          <p:nvPr/>
        </p:nvSpPr>
        <p:spPr>
          <a:xfrm>
            <a:off x="777240" y="1371600"/>
            <a:ext cx="5029201" cy="356616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>
            <a:solidFill>
              <a:srgbClr val="2563E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5" name="TextBox 5"/>
          <p:cNvSpPr txBox="1"/>
          <p:nvPr/>
        </p:nvSpPr>
        <p:spPr>
          <a:xfrm>
            <a:off x="987552" y="1481327"/>
            <a:ext cx="619235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200">
                <a:solidFill>
                  <a:srgbClr val="93C5FD"/>
                </a:solidFill>
              </a:defRPr>
            </a:lvl1pPr>
          </a:lstStyle>
          <a:p>
            <a:pPr/>
            <a:r>
              <a:t>Ejemplo</a:t>
            </a:r>
          </a:p>
        </p:txBody>
      </p:sp>
      <p:sp>
        <p:nvSpPr>
          <p:cNvPr id="266" name="TextBox 6"/>
          <p:cNvSpPr txBox="1"/>
          <p:nvPr/>
        </p:nvSpPr>
        <p:spPr>
          <a:xfrm>
            <a:off x="1024127" y="1874518"/>
            <a:ext cx="1361646" cy="167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spcBef>
                <a:spcPts val="100"/>
              </a:spcBef>
              <a:defRPr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edad = 20</a:t>
            </a:r>
          </a:p>
          <a:p>
            <a:pPr>
              <a:spcBef>
                <a:spcPts val="100"/>
              </a:spcBef>
              <a:defRPr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Edad = 35</a:t>
            </a:r>
          </a:p>
          <a:p>
            <a:pPr>
              <a:spcBef>
                <a:spcPts val="100"/>
              </a:spcBef>
              <a:defRPr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EDAD = 50</a:t>
            </a:r>
          </a:p>
          <a:p>
            <a:pPr>
              <a:spcBef>
                <a:spcPts val="100"/>
              </a:spcBef>
              <a:defRPr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spcBef>
                <a:spcPts val="100"/>
              </a:spcBef>
              <a:defRPr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print(edad)</a:t>
            </a:r>
          </a:p>
          <a:p>
            <a:pPr>
              <a:spcBef>
                <a:spcPts val="100"/>
              </a:spcBef>
              <a:defRPr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print(Edad)</a:t>
            </a:r>
          </a:p>
          <a:p>
            <a:pPr>
              <a:spcBef>
                <a:spcPts val="100"/>
              </a:spcBef>
              <a:defRPr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print(EDAD)</a:t>
            </a:r>
          </a:p>
        </p:txBody>
      </p:sp>
      <p:sp>
        <p:nvSpPr>
          <p:cNvPr id="267" name="Rounded Rectangle 7"/>
          <p:cNvSpPr/>
          <p:nvPr/>
        </p:nvSpPr>
        <p:spPr>
          <a:xfrm>
            <a:off x="6126479" y="1371600"/>
            <a:ext cx="5212081" cy="137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8" name="Rectangle 8"/>
          <p:cNvSpPr/>
          <p:nvPr/>
        </p:nvSpPr>
        <p:spPr>
          <a:xfrm>
            <a:off x="6126479" y="1371600"/>
            <a:ext cx="73153" cy="1371600"/>
          </a:xfrm>
          <a:prstGeom prst="rect">
            <a:avLst/>
          </a:prstGeom>
          <a:solidFill>
            <a:srgbClr val="0D948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9" name="TextBox 9"/>
          <p:cNvSpPr txBox="1"/>
          <p:nvPr/>
        </p:nvSpPr>
        <p:spPr>
          <a:xfrm>
            <a:off x="6373367" y="1508760"/>
            <a:ext cx="641256" cy="3104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700">
                <a:solidFill>
                  <a:srgbClr val="122238"/>
                </a:solidFill>
              </a:defRPr>
            </a:lvl1pPr>
          </a:lstStyle>
          <a:p>
            <a:pPr/>
            <a:r>
              <a:t>Salida</a:t>
            </a:r>
          </a:p>
        </p:txBody>
      </p:sp>
      <p:sp>
        <p:nvSpPr>
          <p:cNvPr id="270" name="TextBox 10"/>
          <p:cNvSpPr txBox="1"/>
          <p:nvPr/>
        </p:nvSpPr>
        <p:spPr>
          <a:xfrm>
            <a:off x="6373367" y="1965960"/>
            <a:ext cx="284372" cy="738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20</a:t>
            </a:r>
            <a:br/>
            <a:r>
              <a:t>35</a:t>
            </a:r>
            <a:br/>
            <a:r>
              <a:t>50</a:t>
            </a:r>
          </a:p>
        </p:txBody>
      </p:sp>
      <p:sp>
        <p:nvSpPr>
          <p:cNvPr id="271" name="Rounded Rectangle 11"/>
          <p:cNvSpPr/>
          <p:nvPr/>
        </p:nvSpPr>
        <p:spPr>
          <a:xfrm>
            <a:off x="6126479" y="3017520"/>
            <a:ext cx="5212081" cy="192024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2" name="Rectangle 12"/>
          <p:cNvSpPr/>
          <p:nvPr/>
        </p:nvSpPr>
        <p:spPr>
          <a:xfrm>
            <a:off x="6126479" y="3017520"/>
            <a:ext cx="73153" cy="1920241"/>
          </a:xfrm>
          <a:prstGeom prst="rect">
            <a:avLst/>
          </a:prstGeom>
          <a:solidFill>
            <a:srgbClr val="EA580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3" name="TextBox 13"/>
          <p:cNvSpPr txBox="1"/>
          <p:nvPr/>
        </p:nvSpPr>
        <p:spPr>
          <a:xfrm>
            <a:off x="6373367" y="3154678"/>
            <a:ext cx="816358" cy="3104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700">
                <a:solidFill>
                  <a:srgbClr val="122238"/>
                </a:solidFill>
              </a:defRPr>
            </a:lvl1pPr>
          </a:lstStyle>
          <a:p>
            <a:pPr/>
            <a:r>
              <a:t>Consejo</a:t>
            </a:r>
          </a:p>
        </p:txBody>
      </p:sp>
      <p:sp>
        <p:nvSpPr>
          <p:cNvPr id="274" name="TextBox 14"/>
          <p:cNvSpPr txBox="1"/>
          <p:nvPr/>
        </p:nvSpPr>
        <p:spPr>
          <a:xfrm>
            <a:off x="6373367" y="3611879"/>
            <a:ext cx="4026159" cy="50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Evita nombres que solo se distinguen por mayúsculas; 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son fáciles de confundir.</a:t>
            </a:r>
          </a:p>
        </p:txBody>
      </p:sp>
      <p:pic>
        <p:nvPicPr>
          <p:cNvPr id="275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741683" y="1154"/>
            <a:ext cx="1334652" cy="94461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8" name="TextBox 2"/>
          <p:cNvSpPr txBox="1"/>
          <p:nvPr/>
        </p:nvSpPr>
        <p:spPr>
          <a:xfrm>
            <a:off x="640079" y="256031"/>
            <a:ext cx="3541848" cy="434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Convención: snake_case</a:t>
            </a:r>
          </a:p>
        </p:txBody>
      </p:sp>
      <p:sp>
        <p:nvSpPr>
          <p:cNvPr id="279" name="TextBox 3"/>
          <p:cNvSpPr txBox="1"/>
          <p:nvPr/>
        </p:nvSpPr>
        <p:spPr>
          <a:xfrm>
            <a:off x="658368" y="859536"/>
            <a:ext cx="3385578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>
                <a:solidFill>
                  <a:srgbClr val="475569"/>
                </a:solidFill>
              </a:defRPr>
            </a:lvl1pPr>
          </a:lstStyle>
          <a:p>
            <a:pPr/>
            <a:r>
              <a:t>Además de ser válido, un nombre debería ser legible.</a:t>
            </a:r>
          </a:p>
        </p:txBody>
      </p:sp>
      <p:sp>
        <p:nvSpPr>
          <p:cNvPr id="280" name="Rounded Rectangle 4"/>
          <p:cNvSpPr/>
          <p:nvPr/>
        </p:nvSpPr>
        <p:spPr>
          <a:xfrm>
            <a:off x="640080" y="1463039"/>
            <a:ext cx="3489960" cy="224028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1" name="Rectangle 5"/>
          <p:cNvSpPr/>
          <p:nvPr/>
        </p:nvSpPr>
        <p:spPr>
          <a:xfrm>
            <a:off x="640080" y="1463039"/>
            <a:ext cx="73153" cy="2240281"/>
          </a:xfrm>
          <a:prstGeom prst="rect">
            <a:avLst/>
          </a:prstGeom>
          <a:solidFill>
            <a:srgbClr val="DC262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2" name="TextBox 6"/>
          <p:cNvSpPr txBox="1"/>
          <p:nvPr/>
        </p:nvSpPr>
        <p:spPr>
          <a:xfrm>
            <a:off x="886966" y="1600200"/>
            <a:ext cx="1489136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Poco descriptivo</a:t>
            </a:r>
          </a:p>
        </p:txBody>
      </p:sp>
      <p:sp>
        <p:nvSpPr>
          <p:cNvPr id="283" name="TextBox 7"/>
          <p:cNvSpPr txBox="1"/>
          <p:nvPr/>
        </p:nvSpPr>
        <p:spPr>
          <a:xfrm>
            <a:off x="886966" y="2057400"/>
            <a:ext cx="266904" cy="6646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x</a:t>
            </a:r>
            <a:br/>
            <a:r>
              <a:t>p</a:t>
            </a:r>
            <a:br/>
            <a:r>
              <a:t>a1</a:t>
            </a:r>
          </a:p>
        </p:txBody>
      </p:sp>
      <p:sp>
        <p:nvSpPr>
          <p:cNvPr id="284" name="Rounded Rectangle 8"/>
          <p:cNvSpPr/>
          <p:nvPr/>
        </p:nvSpPr>
        <p:spPr>
          <a:xfrm>
            <a:off x="4358640" y="1463039"/>
            <a:ext cx="3489960" cy="224028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5" name="Rectangle 9"/>
          <p:cNvSpPr/>
          <p:nvPr/>
        </p:nvSpPr>
        <p:spPr>
          <a:xfrm>
            <a:off x="4358640" y="1463039"/>
            <a:ext cx="73153" cy="2240281"/>
          </a:xfrm>
          <a:prstGeom prst="rect">
            <a:avLst/>
          </a:prstGeom>
          <a:solidFill>
            <a:srgbClr val="EA580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6" name="TextBox 10"/>
          <p:cNvSpPr txBox="1"/>
          <p:nvPr/>
        </p:nvSpPr>
        <p:spPr>
          <a:xfrm>
            <a:off x="4605528" y="1600200"/>
            <a:ext cx="1211124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Difícil de leer</a:t>
            </a:r>
          </a:p>
        </p:txBody>
      </p:sp>
      <p:sp>
        <p:nvSpPr>
          <p:cNvPr id="287" name="TextBox 11"/>
          <p:cNvSpPr txBox="1"/>
          <p:nvPr/>
        </p:nvSpPr>
        <p:spPr>
          <a:xfrm>
            <a:off x="4605528" y="2057400"/>
            <a:ext cx="1050564" cy="461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totalventas</a:t>
            </a:r>
            <a:br/>
            <a:r>
              <a:t>promediofinal</a:t>
            </a:r>
          </a:p>
        </p:txBody>
      </p:sp>
      <p:sp>
        <p:nvSpPr>
          <p:cNvPr id="288" name="Rounded Rectangle 12"/>
          <p:cNvSpPr/>
          <p:nvPr/>
        </p:nvSpPr>
        <p:spPr>
          <a:xfrm>
            <a:off x="8077199" y="1463039"/>
            <a:ext cx="3489961" cy="224028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9" name="Rectangle 13"/>
          <p:cNvSpPr/>
          <p:nvPr/>
        </p:nvSpPr>
        <p:spPr>
          <a:xfrm>
            <a:off x="8077199" y="1463039"/>
            <a:ext cx="73153" cy="2240281"/>
          </a:xfrm>
          <a:prstGeom prst="rect">
            <a:avLst/>
          </a:prstGeom>
          <a:solidFill>
            <a:srgbClr val="16A34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0" name="TextBox 14"/>
          <p:cNvSpPr txBox="1"/>
          <p:nvPr/>
        </p:nvSpPr>
        <p:spPr>
          <a:xfrm>
            <a:off x="8324086" y="1600200"/>
            <a:ext cx="1315403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Recomendado</a:t>
            </a:r>
          </a:p>
        </p:txBody>
      </p:sp>
      <p:sp>
        <p:nvSpPr>
          <p:cNvPr id="291" name="TextBox 15"/>
          <p:cNvSpPr txBox="1"/>
          <p:nvPr/>
        </p:nvSpPr>
        <p:spPr>
          <a:xfrm>
            <a:off x="8324086" y="2057400"/>
            <a:ext cx="1357305" cy="6646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total_ventas</a:t>
            </a:r>
            <a:br/>
            <a:r>
              <a:t>promedio_final</a:t>
            </a:r>
            <a:br/>
            <a:r>
              <a:t>calcular_promedio</a:t>
            </a:r>
          </a:p>
        </p:txBody>
      </p:sp>
      <p:sp>
        <p:nvSpPr>
          <p:cNvPr id="292" name="Rounded Rectangle 16"/>
          <p:cNvSpPr/>
          <p:nvPr/>
        </p:nvSpPr>
        <p:spPr>
          <a:xfrm>
            <a:off x="1371600" y="4434840"/>
            <a:ext cx="9418320" cy="105156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3" name="Rectangle 17"/>
          <p:cNvSpPr/>
          <p:nvPr/>
        </p:nvSpPr>
        <p:spPr>
          <a:xfrm>
            <a:off x="1371600" y="4434840"/>
            <a:ext cx="73153" cy="1051561"/>
          </a:xfrm>
          <a:prstGeom prst="rect">
            <a:avLst/>
          </a:prstGeom>
          <a:solidFill>
            <a:srgbClr val="2563E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4" name="TextBox 18"/>
          <p:cNvSpPr txBox="1"/>
          <p:nvPr/>
        </p:nvSpPr>
        <p:spPr>
          <a:xfrm>
            <a:off x="1618488" y="4572000"/>
            <a:ext cx="1117121" cy="3104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700">
                <a:solidFill>
                  <a:srgbClr val="122238"/>
                </a:solidFill>
              </a:defRPr>
            </a:lvl1pPr>
          </a:lstStyle>
          <a:p>
            <a:pPr/>
            <a:r>
              <a:t>snake_case</a:t>
            </a:r>
          </a:p>
        </p:txBody>
      </p:sp>
      <p:sp>
        <p:nvSpPr>
          <p:cNvPr id="295" name="TextBox 19"/>
          <p:cNvSpPr txBox="1"/>
          <p:nvPr/>
        </p:nvSpPr>
        <p:spPr>
          <a:xfrm>
            <a:off x="1618488" y="5029200"/>
            <a:ext cx="5325192" cy="280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>
                <a:solidFill>
                  <a:srgbClr val="475569"/>
                </a:solidFill>
              </a:defRPr>
            </a:lvl1pPr>
          </a:lstStyle>
          <a:p>
            <a:pPr/>
            <a:r>
              <a:t>Palabras en minúsculas separadas con guion bajo: numero_de_alumnos.</a:t>
            </a:r>
          </a:p>
        </p:txBody>
      </p:sp>
      <p:pic>
        <p:nvPicPr>
          <p:cNvPr id="296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741683" y="1154"/>
            <a:ext cx="1334652" cy="94461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9" name="TextBox 2"/>
          <p:cNvSpPr txBox="1"/>
          <p:nvPr/>
        </p:nvSpPr>
        <p:spPr>
          <a:xfrm>
            <a:off x="640079" y="256031"/>
            <a:ext cx="6673824" cy="434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Válido no significa necesariamente descriptivo</a:t>
            </a:r>
          </a:p>
        </p:txBody>
      </p:sp>
      <p:sp>
        <p:nvSpPr>
          <p:cNvPr id="300" name="Rounded Rectangle 3"/>
          <p:cNvSpPr/>
          <p:nvPr/>
        </p:nvSpPr>
        <p:spPr>
          <a:xfrm>
            <a:off x="640080" y="1417319"/>
            <a:ext cx="5349241" cy="196596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1" name="Rectangle 4"/>
          <p:cNvSpPr/>
          <p:nvPr/>
        </p:nvSpPr>
        <p:spPr>
          <a:xfrm>
            <a:off x="640080" y="1417319"/>
            <a:ext cx="73153" cy="1965962"/>
          </a:xfrm>
          <a:prstGeom prst="rect">
            <a:avLst/>
          </a:prstGeom>
          <a:solidFill>
            <a:srgbClr val="EA580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2" name="TextBox 5"/>
          <p:cNvSpPr txBox="1"/>
          <p:nvPr/>
        </p:nvSpPr>
        <p:spPr>
          <a:xfrm>
            <a:off x="886966" y="1554480"/>
            <a:ext cx="20445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a</a:t>
            </a:r>
          </a:p>
        </p:txBody>
      </p:sp>
      <p:sp>
        <p:nvSpPr>
          <p:cNvPr id="303" name="TextBox 6"/>
          <p:cNvSpPr txBox="1"/>
          <p:nvPr/>
        </p:nvSpPr>
        <p:spPr>
          <a:xfrm>
            <a:off x="886966" y="2011679"/>
            <a:ext cx="2113073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Válido, pero ¿qué representa?</a:t>
            </a:r>
          </a:p>
        </p:txBody>
      </p:sp>
      <p:sp>
        <p:nvSpPr>
          <p:cNvPr id="304" name="Rounded Rectangle 7"/>
          <p:cNvSpPr/>
          <p:nvPr/>
        </p:nvSpPr>
        <p:spPr>
          <a:xfrm>
            <a:off x="6217920" y="1417319"/>
            <a:ext cx="5349241" cy="196596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5" name="Rectangle 8"/>
          <p:cNvSpPr/>
          <p:nvPr/>
        </p:nvSpPr>
        <p:spPr>
          <a:xfrm>
            <a:off x="6217920" y="1417319"/>
            <a:ext cx="73153" cy="1965962"/>
          </a:xfrm>
          <a:prstGeom prst="rect">
            <a:avLst/>
          </a:prstGeom>
          <a:solidFill>
            <a:srgbClr val="EA580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6" name="TextBox 9"/>
          <p:cNvSpPr txBox="1"/>
          <p:nvPr/>
        </p:nvSpPr>
        <p:spPr>
          <a:xfrm>
            <a:off x="6464808" y="1554480"/>
            <a:ext cx="338198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cal</a:t>
            </a:r>
          </a:p>
        </p:txBody>
      </p:sp>
      <p:sp>
        <p:nvSpPr>
          <p:cNvPr id="307" name="TextBox 10"/>
          <p:cNvSpPr txBox="1"/>
          <p:nvPr/>
        </p:nvSpPr>
        <p:spPr>
          <a:xfrm>
            <a:off x="6464808" y="2011679"/>
            <a:ext cx="1569806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Válido, pero ambiguo.</a:t>
            </a:r>
          </a:p>
        </p:txBody>
      </p:sp>
      <p:sp>
        <p:nvSpPr>
          <p:cNvPr id="308" name="Rounded Rectangle 11"/>
          <p:cNvSpPr/>
          <p:nvPr/>
        </p:nvSpPr>
        <p:spPr>
          <a:xfrm>
            <a:off x="640080" y="3703320"/>
            <a:ext cx="5349241" cy="196596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9" name="Rectangle 12"/>
          <p:cNvSpPr/>
          <p:nvPr/>
        </p:nvSpPr>
        <p:spPr>
          <a:xfrm>
            <a:off x="640080" y="3703320"/>
            <a:ext cx="73153" cy="1965961"/>
          </a:xfrm>
          <a:prstGeom prst="rect">
            <a:avLst/>
          </a:prstGeom>
          <a:solidFill>
            <a:srgbClr val="16A34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0" name="TextBox 13"/>
          <p:cNvSpPr txBox="1"/>
          <p:nvPr/>
        </p:nvSpPr>
        <p:spPr>
          <a:xfrm>
            <a:off x="886966" y="3840479"/>
            <a:ext cx="1514337" cy="300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calificacion_final</a:t>
            </a:r>
          </a:p>
        </p:txBody>
      </p:sp>
      <p:sp>
        <p:nvSpPr>
          <p:cNvPr id="311" name="TextBox 14"/>
          <p:cNvSpPr txBox="1"/>
          <p:nvPr/>
        </p:nvSpPr>
        <p:spPr>
          <a:xfrm>
            <a:off x="886966" y="4297679"/>
            <a:ext cx="1446385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Válido y descriptivo.</a:t>
            </a:r>
          </a:p>
        </p:txBody>
      </p:sp>
      <p:sp>
        <p:nvSpPr>
          <p:cNvPr id="312" name="Rounded Rectangle 15"/>
          <p:cNvSpPr/>
          <p:nvPr/>
        </p:nvSpPr>
        <p:spPr>
          <a:xfrm>
            <a:off x="6217920" y="3703320"/>
            <a:ext cx="5349241" cy="196596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3" name="Rectangle 16"/>
          <p:cNvSpPr/>
          <p:nvPr/>
        </p:nvSpPr>
        <p:spPr>
          <a:xfrm>
            <a:off x="6217920" y="3703320"/>
            <a:ext cx="73153" cy="1965961"/>
          </a:xfrm>
          <a:prstGeom prst="rect">
            <a:avLst/>
          </a:prstGeom>
          <a:solidFill>
            <a:srgbClr val="16A34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4" name="TextBox 17"/>
          <p:cNvSpPr txBox="1"/>
          <p:nvPr/>
        </p:nvSpPr>
        <p:spPr>
          <a:xfrm>
            <a:off x="6464808" y="3840479"/>
            <a:ext cx="1906449" cy="300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numero_de_alumnos</a:t>
            </a:r>
          </a:p>
        </p:txBody>
      </p:sp>
      <p:sp>
        <p:nvSpPr>
          <p:cNvPr id="315" name="TextBox 18"/>
          <p:cNvSpPr txBox="1"/>
          <p:nvPr/>
        </p:nvSpPr>
        <p:spPr>
          <a:xfrm>
            <a:off x="6464808" y="4297679"/>
            <a:ext cx="182334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Válido y fácil de entender.</a:t>
            </a:r>
          </a:p>
        </p:txBody>
      </p:sp>
      <p:pic>
        <p:nvPicPr>
          <p:cNvPr id="316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741683" y="1154"/>
            <a:ext cx="1334652" cy="94461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9" name="TextBox 2"/>
          <p:cNvSpPr txBox="1"/>
          <p:nvPr/>
        </p:nvSpPr>
        <p:spPr>
          <a:xfrm>
            <a:off x="640079" y="256031"/>
            <a:ext cx="2926202" cy="434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Palabras reservadas</a:t>
            </a:r>
          </a:p>
        </p:txBody>
      </p:sp>
      <p:sp>
        <p:nvSpPr>
          <p:cNvPr id="320" name="TextBox 3"/>
          <p:cNvSpPr txBox="1"/>
          <p:nvPr/>
        </p:nvSpPr>
        <p:spPr>
          <a:xfrm>
            <a:off x="658368" y="859536"/>
            <a:ext cx="3880505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>
                <a:solidFill>
                  <a:srgbClr val="475569"/>
                </a:solidFill>
              </a:defRPr>
            </a:lvl1pPr>
          </a:lstStyle>
          <a:p>
            <a:pPr/>
            <a:r>
              <a:t>Python ya utiliza ciertos términos con un significado especial.</a:t>
            </a:r>
          </a:p>
        </p:txBody>
      </p:sp>
      <p:sp>
        <p:nvSpPr>
          <p:cNvPr id="321" name="Rounded Rectangle 4"/>
          <p:cNvSpPr/>
          <p:nvPr/>
        </p:nvSpPr>
        <p:spPr>
          <a:xfrm>
            <a:off x="685800" y="1325880"/>
            <a:ext cx="5257800" cy="4069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2" name="Rectangle 5"/>
          <p:cNvSpPr/>
          <p:nvPr/>
        </p:nvSpPr>
        <p:spPr>
          <a:xfrm>
            <a:off x="685800" y="1325880"/>
            <a:ext cx="73153" cy="4069080"/>
          </a:xfrm>
          <a:prstGeom prst="rect">
            <a:avLst/>
          </a:prstGeom>
          <a:solidFill>
            <a:srgbClr val="7C3AE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3" name="TextBox 6"/>
          <p:cNvSpPr txBox="1"/>
          <p:nvPr/>
        </p:nvSpPr>
        <p:spPr>
          <a:xfrm>
            <a:off x="932687" y="1463038"/>
            <a:ext cx="1015968" cy="3302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900">
                <a:solidFill>
                  <a:srgbClr val="122238"/>
                </a:solidFill>
              </a:defRPr>
            </a:lvl1pPr>
          </a:lstStyle>
          <a:p>
            <a:pPr/>
            <a:r>
              <a:t>Ejemplos</a:t>
            </a:r>
          </a:p>
        </p:txBody>
      </p:sp>
      <p:sp>
        <p:nvSpPr>
          <p:cNvPr id="324" name="TextBox 7"/>
          <p:cNvSpPr txBox="1"/>
          <p:nvPr/>
        </p:nvSpPr>
        <p:spPr>
          <a:xfrm>
            <a:off x="932687" y="1920239"/>
            <a:ext cx="4072383" cy="17935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>
                <a:solidFill>
                  <a:srgbClr val="475569"/>
                </a:solidFill>
              </a:defRPr>
            </a:pPr>
            <a:r>
              <a:t>if</a:t>
            </a:r>
            <a:br/>
            <a:r>
              <a:t>for</a:t>
            </a:r>
            <a:br/>
            <a:r>
              <a:t>while</a:t>
            </a:r>
            <a:br/>
            <a:r>
              <a:t>def</a:t>
            </a:r>
            <a:br/>
            <a:br/>
            <a:r>
              <a:t>No pueden utilizarse como identificadores.</a:t>
            </a:r>
          </a:p>
        </p:txBody>
      </p:sp>
      <p:sp>
        <p:nvSpPr>
          <p:cNvPr id="325" name="Rounded Rectangle 8"/>
          <p:cNvSpPr/>
          <p:nvPr/>
        </p:nvSpPr>
        <p:spPr>
          <a:xfrm>
            <a:off x="6263640" y="1325880"/>
            <a:ext cx="5257801" cy="1828801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>
            <a:solidFill>
              <a:srgbClr val="DC262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6" name="TextBox 9"/>
          <p:cNvSpPr txBox="1"/>
          <p:nvPr/>
        </p:nvSpPr>
        <p:spPr>
          <a:xfrm>
            <a:off x="6473951" y="1435607"/>
            <a:ext cx="751915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200">
                <a:solidFill>
                  <a:srgbClr val="93C5FD"/>
                </a:solidFill>
              </a:defRPr>
            </a:lvl1pPr>
          </a:lstStyle>
          <a:p>
            <a:pPr/>
            <a:r>
              <a:t>Incorrecto</a:t>
            </a:r>
          </a:p>
        </p:txBody>
      </p:sp>
      <p:sp>
        <p:nvSpPr>
          <p:cNvPr id="327" name="TextBox 10"/>
          <p:cNvSpPr txBox="1"/>
          <p:nvPr/>
        </p:nvSpPr>
        <p:spPr>
          <a:xfrm>
            <a:off x="6510526" y="1828800"/>
            <a:ext cx="1445479" cy="561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spcBef>
                <a:spcPts val="100"/>
              </a:spcBef>
              <a:defRPr sz="16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for = 10</a:t>
            </a:r>
          </a:p>
          <a:p>
            <a:pPr>
              <a:spcBef>
                <a:spcPts val="100"/>
              </a:spcBef>
              <a:defRPr sz="16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if = "hola"</a:t>
            </a:r>
          </a:p>
        </p:txBody>
      </p:sp>
      <p:sp>
        <p:nvSpPr>
          <p:cNvPr id="328" name="Rounded Rectangle 11"/>
          <p:cNvSpPr/>
          <p:nvPr/>
        </p:nvSpPr>
        <p:spPr>
          <a:xfrm>
            <a:off x="6263640" y="3429000"/>
            <a:ext cx="5257801" cy="182880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>
            <a:solidFill>
              <a:srgbClr val="16A34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9" name="TextBox 12"/>
          <p:cNvSpPr txBox="1"/>
          <p:nvPr/>
        </p:nvSpPr>
        <p:spPr>
          <a:xfrm>
            <a:off x="6473951" y="3538728"/>
            <a:ext cx="647140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200">
                <a:solidFill>
                  <a:srgbClr val="93C5FD"/>
                </a:solidFill>
              </a:defRPr>
            </a:lvl1pPr>
          </a:lstStyle>
          <a:p>
            <a:pPr/>
            <a:r>
              <a:t>Correcto</a:t>
            </a:r>
          </a:p>
        </p:txBody>
      </p:sp>
      <p:sp>
        <p:nvSpPr>
          <p:cNvPr id="330" name="TextBox 13"/>
          <p:cNvSpPr txBox="1"/>
          <p:nvPr/>
        </p:nvSpPr>
        <p:spPr>
          <a:xfrm>
            <a:off x="6510526" y="3931920"/>
            <a:ext cx="2055179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spcBef>
                <a:spcPts val="100"/>
              </a:spcBef>
              <a:defRPr sz="16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contador = 10</a:t>
            </a:r>
          </a:p>
          <a:p>
            <a:pPr>
              <a:spcBef>
                <a:spcPts val="100"/>
              </a:spcBef>
              <a:defRPr sz="16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mensaje = "hola"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3" name="TextBox 2"/>
          <p:cNvSpPr txBox="1"/>
          <p:nvPr/>
        </p:nvSpPr>
        <p:spPr>
          <a:xfrm>
            <a:off x="640079" y="256031"/>
            <a:ext cx="5212816" cy="434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Palabras que veremos más adelante</a:t>
            </a:r>
          </a:p>
        </p:txBody>
      </p:sp>
      <p:sp>
        <p:nvSpPr>
          <p:cNvPr id="334" name="TextBox 3"/>
          <p:cNvSpPr txBox="1"/>
          <p:nvPr/>
        </p:nvSpPr>
        <p:spPr>
          <a:xfrm>
            <a:off x="658368" y="859536"/>
            <a:ext cx="3488269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>
                <a:solidFill>
                  <a:srgbClr val="475569"/>
                </a:solidFill>
              </a:defRPr>
            </a:lvl1pPr>
          </a:lstStyle>
          <a:p>
            <a:pPr/>
            <a:r>
              <a:t>Hoy solo necesitamos reconocer que están reservadas.</a:t>
            </a:r>
          </a:p>
        </p:txBody>
      </p:sp>
      <p:sp>
        <p:nvSpPr>
          <p:cNvPr id="335" name="Rounded Rectangle 4"/>
          <p:cNvSpPr/>
          <p:nvPr/>
        </p:nvSpPr>
        <p:spPr>
          <a:xfrm>
            <a:off x="640080" y="1417319"/>
            <a:ext cx="5349241" cy="196596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6" name="Rectangle 5"/>
          <p:cNvSpPr/>
          <p:nvPr/>
        </p:nvSpPr>
        <p:spPr>
          <a:xfrm>
            <a:off x="640080" y="1417319"/>
            <a:ext cx="73153" cy="1965962"/>
          </a:xfrm>
          <a:prstGeom prst="rect">
            <a:avLst/>
          </a:prstGeom>
          <a:solidFill>
            <a:srgbClr val="2563E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7" name="TextBox 6"/>
          <p:cNvSpPr txBox="1"/>
          <p:nvPr/>
        </p:nvSpPr>
        <p:spPr>
          <a:xfrm>
            <a:off x="886966" y="1554480"/>
            <a:ext cx="733089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if / else</a:t>
            </a:r>
          </a:p>
        </p:txBody>
      </p:sp>
      <p:sp>
        <p:nvSpPr>
          <p:cNvPr id="338" name="TextBox 7"/>
          <p:cNvSpPr txBox="1"/>
          <p:nvPr/>
        </p:nvSpPr>
        <p:spPr>
          <a:xfrm>
            <a:off x="886966" y="2011679"/>
            <a:ext cx="860232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Decisiones.</a:t>
            </a:r>
          </a:p>
        </p:txBody>
      </p:sp>
      <p:sp>
        <p:nvSpPr>
          <p:cNvPr id="339" name="Rounded Rectangle 8"/>
          <p:cNvSpPr/>
          <p:nvPr/>
        </p:nvSpPr>
        <p:spPr>
          <a:xfrm>
            <a:off x="6217920" y="1417319"/>
            <a:ext cx="5349241" cy="196596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0" name="Rectangle 9"/>
          <p:cNvSpPr/>
          <p:nvPr/>
        </p:nvSpPr>
        <p:spPr>
          <a:xfrm>
            <a:off x="6217920" y="1417319"/>
            <a:ext cx="73153" cy="1965962"/>
          </a:xfrm>
          <a:prstGeom prst="rect">
            <a:avLst/>
          </a:prstGeom>
          <a:solidFill>
            <a:srgbClr val="0D948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1" name="TextBox 10"/>
          <p:cNvSpPr txBox="1"/>
          <p:nvPr/>
        </p:nvSpPr>
        <p:spPr>
          <a:xfrm>
            <a:off x="6464808" y="1554480"/>
            <a:ext cx="988577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for / while</a:t>
            </a:r>
          </a:p>
        </p:txBody>
      </p:sp>
      <p:sp>
        <p:nvSpPr>
          <p:cNvPr id="342" name="TextBox 11"/>
          <p:cNvSpPr txBox="1"/>
          <p:nvPr/>
        </p:nvSpPr>
        <p:spPr>
          <a:xfrm>
            <a:off x="6464808" y="2011679"/>
            <a:ext cx="1004129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Repeticiones.</a:t>
            </a:r>
          </a:p>
        </p:txBody>
      </p:sp>
      <p:sp>
        <p:nvSpPr>
          <p:cNvPr id="343" name="Rounded Rectangle 12"/>
          <p:cNvSpPr/>
          <p:nvPr/>
        </p:nvSpPr>
        <p:spPr>
          <a:xfrm>
            <a:off x="640080" y="3703320"/>
            <a:ext cx="5349241" cy="196596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4" name="Rectangle 13"/>
          <p:cNvSpPr/>
          <p:nvPr/>
        </p:nvSpPr>
        <p:spPr>
          <a:xfrm>
            <a:off x="640080" y="3703320"/>
            <a:ext cx="73153" cy="1965961"/>
          </a:xfrm>
          <a:prstGeom prst="rect">
            <a:avLst/>
          </a:prstGeom>
          <a:solidFill>
            <a:srgbClr val="7C3AE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5" name="TextBox 14"/>
          <p:cNvSpPr txBox="1"/>
          <p:nvPr/>
        </p:nvSpPr>
        <p:spPr>
          <a:xfrm>
            <a:off x="886966" y="3840479"/>
            <a:ext cx="1089086" cy="300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def / return</a:t>
            </a:r>
          </a:p>
        </p:txBody>
      </p:sp>
      <p:sp>
        <p:nvSpPr>
          <p:cNvPr id="346" name="TextBox 15"/>
          <p:cNvSpPr txBox="1"/>
          <p:nvPr/>
        </p:nvSpPr>
        <p:spPr>
          <a:xfrm>
            <a:off x="886966" y="4297679"/>
            <a:ext cx="82339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Funciones.</a:t>
            </a:r>
          </a:p>
        </p:txBody>
      </p:sp>
      <p:sp>
        <p:nvSpPr>
          <p:cNvPr id="347" name="Rounded Rectangle 16"/>
          <p:cNvSpPr/>
          <p:nvPr/>
        </p:nvSpPr>
        <p:spPr>
          <a:xfrm>
            <a:off x="6217920" y="3703320"/>
            <a:ext cx="5349241" cy="196596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8" name="Rectangle 17"/>
          <p:cNvSpPr/>
          <p:nvPr/>
        </p:nvSpPr>
        <p:spPr>
          <a:xfrm>
            <a:off x="6217920" y="3703320"/>
            <a:ext cx="73153" cy="1965961"/>
          </a:xfrm>
          <a:prstGeom prst="rect">
            <a:avLst/>
          </a:prstGeom>
          <a:solidFill>
            <a:srgbClr val="EA580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9" name="TextBox 18"/>
          <p:cNvSpPr txBox="1"/>
          <p:nvPr/>
        </p:nvSpPr>
        <p:spPr>
          <a:xfrm>
            <a:off x="6464808" y="3840479"/>
            <a:ext cx="1078370" cy="300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True / False</a:t>
            </a:r>
          </a:p>
        </p:txBody>
      </p:sp>
      <p:sp>
        <p:nvSpPr>
          <p:cNvPr id="350" name="TextBox 19"/>
          <p:cNvSpPr txBox="1"/>
          <p:nvPr/>
        </p:nvSpPr>
        <p:spPr>
          <a:xfrm>
            <a:off x="6464808" y="4297679"/>
            <a:ext cx="1372138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Valores booleanos.</a:t>
            </a:r>
          </a:p>
        </p:txBody>
      </p:sp>
      <p:pic>
        <p:nvPicPr>
          <p:cNvPr id="351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741683" y="1154"/>
            <a:ext cx="1334652" cy="94461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4" name="TextBox 2"/>
          <p:cNvSpPr txBox="1"/>
          <p:nvPr/>
        </p:nvSpPr>
        <p:spPr>
          <a:xfrm>
            <a:off x="640079" y="256031"/>
            <a:ext cx="2210264" cy="434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Práctica rápida</a:t>
            </a:r>
          </a:p>
        </p:txBody>
      </p:sp>
      <p:sp>
        <p:nvSpPr>
          <p:cNvPr id="355" name="TextBox 3"/>
          <p:cNvSpPr txBox="1"/>
          <p:nvPr/>
        </p:nvSpPr>
        <p:spPr>
          <a:xfrm>
            <a:off x="658368" y="859536"/>
            <a:ext cx="2298611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>
                <a:solidFill>
                  <a:srgbClr val="475569"/>
                </a:solidFill>
              </a:defRPr>
            </a:lvl1pPr>
          </a:lstStyle>
          <a:p>
            <a:pPr/>
            <a:r>
              <a:t>Clasifica antes de ver la explicación.</a:t>
            </a:r>
          </a:p>
        </p:txBody>
      </p:sp>
      <p:sp>
        <p:nvSpPr>
          <p:cNvPr id="356" name="Rounded Rectangle 4"/>
          <p:cNvSpPr/>
          <p:nvPr/>
        </p:nvSpPr>
        <p:spPr>
          <a:xfrm>
            <a:off x="640080" y="1371600"/>
            <a:ext cx="3489960" cy="1828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7" name="Rectangle 5"/>
          <p:cNvSpPr/>
          <p:nvPr/>
        </p:nvSpPr>
        <p:spPr>
          <a:xfrm>
            <a:off x="640080" y="1371600"/>
            <a:ext cx="73153" cy="1828800"/>
          </a:xfrm>
          <a:prstGeom prst="rect">
            <a:avLst/>
          </a:prstGeom>
          <a:solidFill>
            <a:srgbClr val="16A34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8" name="TextBox 6"/>
          <p:cNvSpPr txBox="1"/>
          <p:nvPr/>
        </p:nvSpPr>
        <p:spPr>
          <a:xfrm>
            <a:off x="886966" y="1508760"/>
            <a:ext cx="524829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edad</a:t>
            </a:r>
          </a:p>
        </p:txBody>
      </p:sp>
      <p:sp>
        <p:nvSpPr>
          <p:cNvPr id="359" name="TextBox 7"/>
          <p:cNvSpPr txBox="1"/>
          <p:nvPr/>
        </p:nvSpPr>
        <p:spPr>
          <a:xfrm>
            <a:off x="886966" y="1965960"/>
            <a:ext cx="607503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VÁLIDO</a:t>
            </a:r>
          </a:p>
        </p:txBody>
      </p:sp>
      <p:sp>
        <p:nvSpPr>
          <p:cNvPr id="360" name="Rounded Rectangle 8"/>
          <p:cNvSpPr/>
          <p:nvPr/>
        </p:nvSpPr>
        <p:spPr>
          <a:xfrm>
            <a:off x="4358640" y="1371600"/>
            <a:ext cx="3489960" cy="1828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1" name="Rectangle 9"/>
          <p:cNvSpPr/>
          <p:nvPr/>
        </p:nvSpPr>
        <p:spPr>
          <a:xfrm>
            <a:off x="4358640" y="1371600"/>
            <a:ext cx="73153" cy="1828800"/>
          </a:xfrm>
          <a:prstGeom prst="rect">
            <a:avLst/>
          </a:prstGeom>
          <a:solidFill>
            <a:srgbClr val="16A34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2" name="TextBox 10"/>
          <p:cNvSpPr txBox="1"/>
          <p:nvPr/>
        </p:nvSpPr>
        <p:spPr>
          <a:xfrm>
            <a:off x="4605528" y="1508760"/>
            <a:ext cx="1155264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total_ventas</a:t>
            </a:r>
          </a:p>
        </p:txBody>
      </p:sp>
      <p:sp>
        <p:nvSpPr>
          <p:cNvPr id="363" name="TextBox 11"/>
          <p:cNvSpPr txBox="1"/>
          <p:nvPr/>
        </p:nvSpPr>
        <p:spPr>
          <a:xfrm>
            <a:off x="4605528" y="1965960"/>
            <a:ext cx="60750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VÁLIDO</a:t>
            </a:r>
          </a:p>
        </p:txBody>
      </p:sp>
      <p:sp>
        <p:nvSpPr>
          <p:cNvPr id="364" name="Rounded Rectangle 12"/>
          <p:cNvSpPr/>
          <p:nvPr/>
        </p:nvSpPr>
        <p:spPr>
          <a:xfrm>
            <a:off x="8077199" y="1371600"/>
            <a:ext cx="3489961" cy="1828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5" name="Rectangle 13"/>
          <p:cNvSpPr/>
          <p:nvPr/>
        </p:nvSpPr>
        <p:spPr>
          <a:xfrm>
            <a:off x="8077199" y="1371600"/>
            <a:ext cx="73153" cy="1828800"/>
          </a:xfrm>
          <a:prstGeom prst="rect">
            <a:avLst/>
          </a:prstGeom>
          <a:solidFill>
            <a:srgbClr val="DC262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6" name="TextBox 14"/>
          <p:cNvSpPr txBox="1"/>
          <p:nvPr/>
        </p:nvSpPr>
        <p:spPr>
          <a:xfrm>
            <a:off x="8324086" y="1508760"/>
            <a:ext cx="603509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2total</a:t>
            </a:r>
          </a:p>
        </p:txBody>
      </p:sp>
      <p:sp>
        <p:nvSpPr>
          <p:cNvPr id="367" name="Rounded Rectangle 16"/>
          <p:cNvSpPr/>
          <p:nvPr/>
        </p:nvSpPr>
        <p:spPr>
          <a:xfrm>
            <a:off x="640080" y="3520440"/>
            <a:ext cx="3489960" cy="182880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8" name="Rectangle 17"/>
          <p:cNvSpPr/>
          <p:nvPr/>
        </p:nvSpPr>
        <p:spPr>
          <a:xfrm>
            <a:off x="640080" y="3520440"/>
            <a:ext cx="73153" cy="1828801"/>
          </a:xfrm>
          <a:prstGeom prst="rect">
            <a:avLst/>
          </a:prstGeom>
          <a:solidFill>
            <a:srgbClr val="DC262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9" name="TextBox 18"/>
          <p:cNvSpPr txBox="1"/>
          <p:nvPr/>
        </p:nvSpPr>
        <p:spPr>
          <a:xfrm>
            <a:off x="886966" y="3657600"/>
            <a:ext cx="1030150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mi nombre</a:t>
            </a:r>
          </a:p>
        </p:txBody>
      </p:sp>
      <p:sp>
        <p:nvSpPr>
          <p:cNvPr id="370" name="Rounded Rectangle 20"/>
          <p:cNvSpPr/>
          <p:nvPr/>
        </p:nvSpPr>
        <p:spPr>
          <a:xfrm>
            <a:off x="4358640" y="3520440"/>
            <a:ext cx="3489960" cy="182880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1" name="Rectangle 21"/>
          <p:cNvSpPr/>
          <p:nvPr/>
        </p:nvSpPr>
        <p:spPr>
          <a:xfrm>
            <a:off x="4358640" y="3520440"/>
            <a:ext cx="73153" cy="1828801"/>
          </a:xfrm>
          <a:prstGeom prst="rect">
            <a:avLst/>
          </a:prstGeom>
          <a:solidFill>
            <a:srgbClr val="7C3AE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2" name="TextBox 22"/>
          <p:cNvSpPr txBox="1"/>
          <p:nvPr/>
        </p:nvSpPr>
        <p:spPr>
          <a:xfrm>
            <a:off x="4605528" y="3657600"/>
            <a:ext cx="346830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for</a:t>
            </a:r>
          </a:p>
        </p:txBody>
      </p:sp>
      <p:sp>
        <p:nvSpPr>
          <p:cNvPr id="373" name="Rounded Rectangle 24"/>
          <p:cNvSpPr/>
          <p:nvPr/>
        </p:nvSpPr>
        <p:spPr>
          <a:xfrm>
            <a:off x="8077199" y="3520440"/>
            <a:ext cx="3489961" cy="182880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4" name="Rectangle 25"/>
          <p:cNvSpPr/>
          <p:nvPr/>
        </p:nvSpPr>
        <p:spPr>
          <a:xfrm>
            <a:off x="8077199" y="3520440"/>
            <a:ext cx="73153" cy="1828801"/>
          </a:xfrm>
          <a:prstGeom prst="rect">
            <a:avLst/>
          </a:prstGeom>
          <a:solidFill>
            <a:srgbClr val="16A34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5" name="TextBox 26"/>
          <p:cNvSpPr txBox="1"/>
          <p:nvPr/>
        </p:nvSpPr>
        <p:spPr>
          <a:xfrm>
            <a:off x="8324086" y="3657600"/>
            <a:ext cx="9650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_contador</a:t>
            </a:r>
          </a:p>
        </p:txBody>
      </p:sp>
      <p:sp>
        <p:nvSpPr>
          <p:cNvPr id="376" name="TextBox 27"/>
          <p:cNvSpPr txBox="1"/>
          <p:nvPr/>
        </p:nvSpPr>
        <p:spPr>
          <a:xfrm>
            <a:off x="8324086" y="4114800"/>
            <a:ext cx="607503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VÁLIDO</a:t>
            </a:r>
          </a:p>
        </p:txBody>
      </p:sp>
      <p:pic>
        <p:nvPicPr>
          <p:cNvPr id="377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741683" y="1154"/>
            <a:ext cx="1334652" cy="94461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0" name="TextBox 2"/>
          <p:cNvSpPr txBox="1"/>
          <p:nvPr/>
        </p:nvSpPr>
        <p:spPr>
          <a:xfrm>
            <a:off x="640079" y="256031"/>
            <a:ext cx="4784693" cy="434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Mini-reto: mejora estos nombres</a:t>
            </a:r>
          </a:p>
        </p:txBody>
      </p:sp>
      <p:sp>
        <p:nvSpPr>
          <p:cNvPr id="381" name="TextBox 3"/>
          <p:cNvSpPr txBox="1"/>
          <p:nvPr/>
        </p:nvSpPr>
        <p:spPr>
          <a:xfrm>
            <a:off x="658368" y="859536"/>
            <a:ext cx="2354571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>
                <a:solidFill>
                  <a:srgbClr val="475569"/>
                </a:solidFill>
              </a:defRPr>
            </a:lvl1pPr>
          </a:lstStyle>
          <a:p>
            <a:pPr/>
            <a:r>
              <a:t>No basta con que Python los acepte.</a:t>
            </a:r>
          </a:p>
        </p:txBody>
      </p:sp>
      <p:sp>
        <p:nvSpPr>
          <p:cNvPr id="382" name="Rounded Rectangle 4"/>
          <p:cNvSpPr/>
          <p:nvPr/>
        </p:nvSpPr>
        <p:spPr>
          <a:xfrm>
            <a:off x="640080" y="1508760"/>
            <a:ext cx="3489960" cy="210312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3" name="Rectangle 5"/>
          <p:cNvSpPr/>
          <p:nvPr/>
        </p:nvSpPr>
        <p:spPr>
          <a:xfrm>
            <a:off x="640080" y="1508760"/>
            <a:ext cx="73153" cy="2103121"/>
          </a:xfrm>
          <a:prstGeom prst="rect">
            <a:avLst/>
          </a:prstGeom>
          <a:solidFill>
            <a:srgbClr val="2563E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4" name="TextBox 6"/>
          <p:cNvSpPr txBox="1"/>
          <p:nvPr/>
        </p:nvSpPr>
        <p:spPr>
          <a:xfrm>
            <a:off x="886966" y="1645918"/>
            <a:ext cx="596564" cy="300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x = 18</a:t>
            </a:r>
          </a:p>
        </p:txBody>
      </p:sp>
      <p:sp>
        <p:nvSpPr>
          <p:cNvPr id="385" name="TextBox 7"/>
          <p:cNvSpPr txBox="1"/>
          <p:nvPr/>
        </p:nvSpPr>
        <p:spPr>
          <a:xfrm>
            <a:off x="886966" y="2103120"/>
            <a:ext cx="916098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¿edad = 18?</a:t>
            </a:r>
          </a:p>
        </p:txBody>
      </p:sp>
      <p:sp>
        <p:nvSpPr>
          <p:cNvPr id="386" name="Rounded Rectangle 8"/>
          <p:cNvSpPr/>
          <p:nvPr/>
        </p:nvSpPr>
        <p:spPr>
          <a:xfrm>
            <a:off x="4358640" y="1508760"/>
            <a:ext cx="3489960" cy="210312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7" name="Rectangle 9"/>
          <p:cNvSpPr/>
          <p:nvPr/>
        </p:nvSpPr>
        <p:spPr>
          <a:xfrm>
            <a:off x="4358640" y="1508760"/>
            <a:ext cx="73153" cy="2103121"/>
          </a:xfrm>
          <a:prstGeom prst="rect">
            <a:avLst/>
          </a:prstGeom>
          <a:solidFill>
            <a:srgbClr val="0D948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8" name="TextBox 10"/>
          <p:cNvSpPr txBox="1"/>
          <p:nvPr/>
        </p:nvSpPr>
        <p:spPr>
          <a:xfrm>
            <a:off x="4605528" y="1645918"/>
            <a:ext cx="666513" cy="300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p = 9.2</a:t>
            </a:r>
          </a:p>
        </p:txBody>
      </p:sp>
      <p:sp>
        <p:nvSpPr>
          <p:cNvPr id="389" name="TextBox 11"/>
          <p:cNvSpPr txBox="1"/>
          <p:nvPr/>
        </p:nvSpPr>
        <p:spPr>
          <a:xfrm>
            <a:off x="4605528" y="2103120"/>
            <a:ext cx="1277495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¿promedio = 9.2?</a:t>
            </a:r>
          </a:p>
        </p:txBody>
      </p:sp>
      <p:sp>
        <p:nvSpPr>
          <p:cNvPr id="390" name="Rounded Rectangle 12"/>
          <p:cNvSpPr/>
          <p:nvPr/>
        </p:nvSpPr>
        <p:spPr>
          <a:xfrm>
            <a:off x="8077199" y="1508760"/>
            <a:ext cx="3489961" cy="210312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91" name="Rectangle 13"/>
          <p:cNvSpPr/>
          <p:nvPr/>
        </p:nvSpPr>
        <p:spPr>
          <a:xfrm>
            <a:off x="8077199" y="1508760"/>
            <a:ext cx="73153" cy="2103121"/>
          </a:xfrm>
          <a:prstGeom prst="rect">
            <a:avLst/>
          </a:prstGeom>
          <a:solidFill>
            <a:srgbClr val="7C3AE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92" name="TextBox 14"/>
          <p:cNvSpPr txBox="1"/>
          <p:nvPr/>
        </p:nvSpPr>
        <p:spPr>
          <a:xfrm>
            <a:off x="8324086" y="1645918"/>
            <a:ext cx="808495" cy="300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nv = 120</a:t>
            </a:r>
          </a:p>
        </p:txBody>
      </p:sp>
      <p:sp>
        <p:nvSpPr>
          <p:cNvPr id="393" name="TextBox 15"/>
          <p:cNvSpPr txBox="1"/>
          <p:nvPr/>
        </p:nvSpPr>
        <p:spPr>
          <a:xfrm>
            <a:off x="8324086" y="2103120"/>
            <a:ext cx="1965144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¿numero_de_ventas = 120?</a:t>
            </a:r>
          </a:p>
        </p:txBody>
      </p:sp>
      <p:sp>
        <p:nvSpPr>
          <p:cNvPr id="394" name="Rounded Rectangle 16"/>
          <p:cNvSpPr/>
          <p:nvPr/>
        </p:nvSpPr>
        <p:spPr>
          <a:xfrm>
            <a:off x="1371600" y="4251959"/>
            <a:ext cx="9418320" cy="105156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95" name="Rectangle 17"/>
          <p:cNvSpPr/>
          <p:nvPr/>
        </p:nvSpPr>
        <p:spPr>
          <a:xfrm>
            <a:off x="1371600" y="4251959"/>
            <a:ext cx="73153" cy="1051561"/>
          </a:xfrm>
          <a:prstGeom prst="rect">
            <a:avLst/>
          </a:prstGeom>
          <a:solidFill>
            <a:srgbClr val="EA580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96" name="TextBox 18"/>
          <p:cNvSpPr txBox="1"/>
          <p:nvPr/>
        </p:nvSpPr>
        <p:spPr>
          <a:xfrm>
            <a:off x="1618488" y="4389120"/>
            <a:ext cx="913449" cy="3104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700">
                <a:solidFill>
                  <a:srgbClr val="122238"/>
                </a:solidFill>
              </a:defRPr>
            </a:lvl1pPr>
          </a:lstStyle>
          <a:p>
            <a:pPr/>
            <a:r>
              <a:t>Pregunta</a:t>
            </a:r>
          </a:p>
        </p:txBody>
      </p:sp>
      <p:sp>
        <p:nvSpPr>
          <p:cNvPr id="397" name="TextBox 19"/>
          <p:cNvSpPr txBox="1"/>
          <p:nvPr/>
        </p:nvSpPr>
        <p:spPr>
          <a:xfrm>
            <a:off x="1618488" y="4846320"/>
            <a:ext cx="764866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>
                <a:solidFill>
                  <a:srgbClr val="475569"/>
                </a:solidFill>
              </a:defRPr>
            </a:lvl1pPr>
          </a:lstStyle>
          <a:p>
            <a:pPr/>
            <a:r>
              <a:t>¿Qué nombre permitiría entender el código dentro de seis meses sin recordar qué significaba cada letra?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00" name="TextBox 2"/>
          <p:cNvSpPr txBox="1"/>
          <p:nvPr/>
        </p:nvSpPr>
        <p:spPr>
          <a:xfrm>
            <a:off x="640079" y="256031"/>
            <a:ext cx="5097120" cy="434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Cierre · Tres ideas para llevarse hoy</a:t>
            </a:r>
          </a:p>
        </p:txBody>
      </p:sp>
      <p:sp>
        <p:nvSpPr>
          <p:cNvPr id="401" name="Rounded Rectangle 3"/>
          <p:cNvSpPr/>
          <p:nvPr/>
        </p:nvSpPr>
        <p:spPr>
          <a:xfrm>
            <a:off x="640080" y="1463039"/>
            <a:ext cx="3489960" cy="228600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02" name="Rectangle 4"/>
          <p:cNvSpPr/>
          <p:nvPr/>
        </p:nvSpPr>
        <p:spPr>
          <a:xfrm>
            <a:off x="640080" y="1463039"/>
            <a:ext cx="73153" cy="2286001"/>
          </a:xfrm>
          <a:prstGeom prst="rect">
            <a:avLst/>
          </a:prstGeom>
          <a:solidFill>
            <a:srgbClr val="2563E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03" name="TextBox 5"/>
          <p:cNvSpPr txBox="1"/>
          <p:nvPr/>
        </p:nvSpPr>
        <p:spPr>
          <a:xfrm>
            <a:off x="886966" y="1600200"/>
            <a:ext cx="1215590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1 · Estructura</a:t>
            </a:r>
          </a:p>
        </p:txBody>
      </p:sp>
      <p:sp>
        <p:nvSpPr>
          <p:cNvPr id="404" name="TextBox 6"/>
          <p:cNvSpPr txBox="1"/>
          <p:nvPr/>
        </p:nvSpPr>
        <p:spPr>
          <a:xfrm>
            <a:off x="886966" y="2057400"/>
            <a:ext cx="3075297" cy="461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Un programa suele organizar comentarios, 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importaciones, funciones y cuerpo principal.</a:t>
            </a:r>
          </a:p>
        </p:txBody>
      </p:sp>
      <p:sp>
        <p:nvSpPr>
          <p:cNvPr id="405" name="Rounded Rectangle 7"/>
          <p:cNvSpPr/>
          <p:nvPr/>
        </p:nvSpPr>
        <p:spPr>
          <a:xfrm>
            <a:off x="4358640" y="1463039"/>
            <a:ext cx="3489960" cy="228600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06" name="Rectangle 8"/>
          <p:cNvSpPr/>
          <p:nvPr/>
        </p:nvSpPr>
        <p:spPr>
          <a:xfrm>
            <a:off x="4358640" y="1463039"/>
            <a:ext cx="73153" cy="2286001"/>
          </a:xfrm>
          <a:prstGeom prst="rect">
            <a:avLst/>
          </a:prstGeom>
          <a:solidFill>
            <a:srgbClr val="0D948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07" name="TextBox 9"/>
          <p:cNvSpPr txBox="1"/>
          <p:nvPr/>
        </p:nvSpPr>
        <p:spPr>
          <a:xfrm>
            <a:off x="4605528" y="1600200"/>
            <a:ext cx="1616334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2 · Identificadores</a:t>
            </a:r>
          </a:p>
        </p:txBody>
      </p:sp>
      <p:sp>
        <p:nvSpPr>
          <p:cNvPr id="408" name="TextBox 10"/>
          <p:cNvSpPr txBox="1"/>
          <p:nvPr/>
        </p:nvSpPr>
        <p:spPr>
          <a:xfrm>
            <a:off x="4605528" y="2057400"/>
            <a:ext cx="3239993" cy="461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Los nombres deben seguir reglas: no espacios, 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no iniciar con número, no reservadas.</a:t>
            </a:r>
          </a:p>
        </p:txBody>
      </p:sp>
      <p:sp>
        <p:nvSpPr>
          <p:cNvPr id="409" name="Rounded Rectangle 11"/>
          <p:cNvSpPr/>
          <p:nvPr/>
        </p:nvSpPr>
        <p:spPr>
          <a:xfrm>
            <a:off x="8077199" y="1463039"/>
            <a:ext cx="3489961" cy="228600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0" name="Rectangle 12"/>
          <p:cNvSpPr/>
          <p:nvPr/>
        </p:nvSpPr>
        <p:spPr>
          <a:xfrm>
            <a:off x="8077199" y="1463039"/>
            <a:ext cx="73153" cy="2286001"/>
          </a:xfrm>
          <a:prstGeom prst="rect">
            <a:avLst/>
          </a:prstGeom>
          <a:solidFill>
            <a:srgbClr val="7C3AE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1" name="TextBox 13"/>
          <p:cNvSpPr txBox="1"/>
          <p:nvPr/>
        </p:nvSpPr>
        <p:spPr>
          <a:xfrm>
            <a:off x="8324086" y="1600200"/>
            <a:ext cx="1265000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3 · Legibilidad</a:t>
            </a:r>
          </a:p>
        </p:txBody>
      </p:sp>
      <p:sp>
        <p:nvSpPr>
          <p:cNvPr id="412" name="TextBox 14"/>
          <p:cNvSpPr txBox="1"/>
          <p:nvPr/>
        </p:nvSpPr>
        <p:spPr>
          <a:xfrm>
            <a:off x="8324086" y="2057400"/>
            <a:ext cx="3083277" cy="461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snake_case y nombres descriptivos hacen el 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programa más fácil de entender.</a:t>
            </a:r>
          </a:p>
        </p:txBody>
      </p:sp>
      <p:sp>
        <p:nvSpPr>
          <p:cNvPr id="413" name="Rounded Rectangle 15"/>
          <p:cNvSpPr/>
          <p:nvPr/>
        </p:nvSpPr>
        <p:spPr>
          <a:xfrm>
            <a:off x="1463039" y="4480559"/>
            <a:ext cx="9235442" cy="91440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4" name="Rectangle 16"/>
          <p:cNvSpPr/>
          <p:nvPr/>
        </p:nvSpPr>
        <p:spPr>
          <a:xfrm>
            <a:off x="1463039" y="4480559"/>
            <a:ext cx="73153" cy="914401"/>
          </a:xfrm>
          <a:prstGeom prst="rect">
            <a:avLst/>
          </a:prstGeom>
          <a:solidFill>
            <a:srgbClr val="EA580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5" name="TextBox 17"/>
          <p:cNvSpPr txBox="1"/>
          <p:nvPr/>
        </p:nvSpPr>
        <p:spPr>
          <a:xfrm>
            <a:off x="1709927" y="4617720"/>
            <a:ext cx="1349634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Siguiente clase</a:t>
            </a:r>
          </a:p>
        </p:txBody>
      </p:sp>
      <p:sp>
        <p:nvSpPr>
          <p:cNvPr id="416" name="TextBox 18"/>
          <p:cNvSpPr txBox="1"/>
          <p:nvPr/>
        </p:nvSpPr>
        <p:spPr>
          <a:xfrm>
            <a:off x="1709927" y="5074920"/>
            <a:ext cx="7228674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Variables, constantes y tipos de datos: empezaremos a usar esos identificadores para guardar información.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