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325880"/>
            <a:ext cx="5012468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Diseño de algoritmos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2468879"/>
            <a:ext cx="5859821" cy="694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solidFill>
                  <a:srgbClr val="BFDBFE"/>
                </a:solidFill>
              </a:defRPr>
            </a:pPr>
            <a:r>
              <a:t>Introducción para primer semestre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Conceptos desde cero + ejemplos visuales + ordenamientos animados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9" y="256031"/>
            <a:ext cx="258028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Forma de evaluar</a:t>
            </a:r>
          </a:p>
        </p:txBody>
      </p:sp>
      <p:sp>
        <p:nvSpPr>
          <p:cNvPr id="100" name="Rounded Rectangle 4"/>
          <p:cNvSpPr/>
          <p:nvPr/>
        </p:nvSpPr>
        <p:spPr>
          <a:xfrm>
            <a:off x="640080" y="1508760"/>
            <a:ext cx="11089716" cy="46088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Rectangle 5"/>
          <p:cNvSpPr/>
          <p:nvPr/>
        </p:nvSpPr>
        <p:spPr>
          <a:xfrm>
            <a:off x="640080" y="1508760"/>
            <a:ext cx="69279" cy="4608823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6"/>
          <p:cNvSpPr txBox="1"/>
          <p:nvPr/>
        </p:nvSpPr>
        <p:spPr>
          <a:xfrm>
            <a:off x="886966" y="1645918"/>
            <a:ext cx="10604561" cy="258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t>-31 clases (idealmente)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-70% Exámenes parciales 3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-30% Actividades prácticas en laboratorio/casa (11 aprox)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-Habrá tareas sin valor inmediato para la calificación, pero que son útiles para el mejor entendimiento de la materia (y obvio 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entre mejor se entienda la materia, más sencillas serán las actividades y mejor el resultado del examen)</a:t>
            </a:r>
          </a:p>
          <a:p>
            <a:pPr>
              <a:defRPr b="1" sz="1600">
                <a:solidFill>
                  <a:srgbClr val="122238"/>
                </a:solidFill>
              </a:defRPr>
            </a:pPr>
          </a:p>
          <a:p>
            <a:pPr>
              <a:defRPr b="1" sz="1600">
                <a:solidFill>
                  <a:srgbClr val="122238"/>
                </a:solidFill>
              </a:defRPr>
            </a:pPr>
            <a:r>
              <a:t>-Calificación mínima de 6 para exentar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640079" y="256031"/>
            <a:ext cx="556994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real antes de la clase</a:t>
            </a:r>
          </a:p>
        </p:txBody>
      </p:sp>
      <p:pic>
        <p:nvPicPr>
          <p:cNvPr id="10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9078" y="792231"/>
            <a:ext cx="5881620" cy="58816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2"/>
          <p:cNvSpPr txBox="1"/>
          <p:nvPr/>
        </p:nvSpPr>
        <p:spPr>
          <a:xfrm>
            <a:off x="640079" y="256031"/>
            <a:ext cx="514349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Antes de hablar de computadoras…</a:t>
            </a:r>
          </a:p>
        </p:txBody>
      </p:sp>
      <p:sp>
        <p:nvSpPr>
          <p:cNvPr id="110" name="TextBox 3"/>
          <p:cNvSpPr txBox="1"/>
          <p:nvPr/>
        </p:nvSpPr>
        <p:spPr>
          <a:xfrm>
            <a:off x="658367" y="859536"/>
            <a:ext cx="880567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Un algoritmo es una idea cotidiana: pasos </a:t>
            </a:r>
            <a:r>
              <a:rPr b="1"/>
              <a:t>claros</a:t>
            </a:r>
            <a:r>
              <a:t> para obtener un resultado </a:t>
            </a:r>
            <a:r>
              <a:rPr b="1"/>
              <a:t>concreto</a:t>
            </a:r>
            <a:r>
              <a:t>. Y sus elementos clave son la entrada, pasos y resultado</a:t>
            </a:r>
          </a:p>
        </p:txBody>
      </p:sp>
      <p:sp>
        <p:nvSpPr>
          <p:cNvPr id="111" name="Rounded Rectangle 4"/>
          <p:cNvSpPr/>
          <p:nvPr/>
        </p:nvSpPr>
        <p:spPr>
          <a:xfrm>
            <a:off x="640080" y="1508760"/>
            <a:ext cx="3489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5"/>
          <p:cNvSpPr/>
          <p:nvPr/>
        </p:nvSpPr>
        <p:spPr>
          <a:xfrm>
            <a:off x="640080" y="1508760"/>
            <a:ext cx="73153" cy="2011679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886966" y="1645918"/>
            <a:ext cx="1019038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Una receta</a:t>
            </a:r>
          </a:p>
        </p:txBody>
      </p:sp>
      <p:sp>
        <p:nvSpPr>
          <p:cNvPr id="114" name="TextBox 7"/>
          <p:cNvSpPr txBox="1"/>
          <p:nvPr/>
        </p:nvSpPr>
        <p:spPr>
          <a:xfrm>
            <a:off x="886966" y="2103120"/>
            <a:ext cx="22701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Ingredientes → pasos → platillo.</a:t>
            </a:r>
          </a:p>
        </p:txBody>
      </p:sp>
      <p:sp>
        <p:nvSpPr>
          <p:cNvPr id="115" name="Rounded Rectangle 8"/>
          <p:cNvSpPr/>
          <p:nvPr/>
        </p:nvSpPr>
        <p:spPr>
          <a:xfrm>
            <a:off x="4358640" y="1508760"/>
            <a:ext cx="3489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Rectangle 9"/>
          <p:cNvSpPr/>
          <p:nvPr/>
        </p:nvSpPr>
        <p:spPr>
          <a:xfrm>
            <a:off x="4358640" y="1508760"/>
            <a:ext cx="73153" cy="2011679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4605528" y="1645918"/>
            <a:ext cx="198701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Desplazarse a un lugar</a:t>
            </a:r>
          </a:p>
        </p:txBody>
      </p:sp>
      <p:sp>
        <p:nvSpPr>
          <p:cNvPr id="118" name="TextBox 11"/>
          <p:cNvSpPr txBox="1"/>
          <p:nvPr/>
        </p:nvSpPr>
        <p:spPr>
          <a:xfrm>
            <a:off x="4605528" y="2103120"/>
            <a:ext cx="2637233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Ubicación → instrucciones → destino.</a:t>
            </a:r>
          </a:p>
        </p:txBody>
      </p:sp>
      <p:sp>
        <p:nvSpPr>
          <p:cNvPr id="119" name="Rounded Rectangle 12"/>
          <p:cNvSpPr/>
          <p:nvPr/>
        </p:nvSpPr>
        <p:spPr>
          <a:xfrm>
            <a:off x="8077199" y="1508760"/>
            <a:ext cx="3489961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13"/>
          <p:cNvSpPr/>
          <p:nvPr/>
        </p:nvSpPr>
        <p:spPr>
          <a:xfrm>
            <a:off x="8077199" y="1508760"/>
            <a:ext cx="73153" cy="2011679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14"/>
          <p:cNvSpPr txBox="1"/>
          <p:nvPr/>
        </p:nvSpPr>
        <p:spPr>
          <a:xfrm>
            <a:off x="8324086" y="1645918"/>
            <a:ext cx="1622188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Lavarse las manos</a:t>
            </a:r>
          </a:p>
        </p:txBody>
      </p:sp>
      <p:sp>
        <p:nvSpPr>
          <p:cNvPr id="122" name="TextBox 15"/>
          <p:cNvSpPr txBox="1"/>
          <p:nvPr/>
        </p:nvSpPr>
        <p:spPr>
          <a:xfrm>
            <a:off x="8324086" y="2103120"/>
            <a:ext cx="329319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Agua y jabón → frotar manos → manos limpias.</a:t>
            </a:r>
          </a:p>
        </p:txBody>
      </p:sp>
      <p:sp>
        <p:nvSpPr>
          <p:cNvPr id="123" name="Rounded Rectangle 16"/>
          <p:cNvSpPr/>
          <p:nvPr/>
        </p:nvSpPr>
        <p:spPr>
          <a:xfrm>
            <a:off x="1920239" y="4160520"/>
            <a:ext cx="8321042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17"/>
          <p:cNvSpPr/>
          <p:nvPr/>
        </p:nvSpPr>
        <p:spPr>
          <a:xfrm>
            <a:off x="1920239" y="4160520"/>
            <a:ext cx="73153" cy="123444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18"/>
          <p:cNvSpPr txBox="1"/>
          <p:nvPr/>
        </p:nvSpPr>
        <p:spPr>
          <a:xfrm>
            <a:off x="2167127" y="4297679"/>
            <a:ext cx="91345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126" name="TextBox 19"/>
          <p:cNvSpPr txBox="1"/>
          <p:nvPr/>
        </p:nvSpPr>
        <p:spPr>
          <a:xfrm>
            <a:off x="2167127" y="4754879"/>
            <a:ext cx="710623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¿Una receta que dice solamente “cocina todo hasta que quede bien” sería suficientemente clara?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2"/>
          <p:cNvSpPr txBox="1"/>
          <p:nvPr/>
        </p:nvSpPr>
        <p:spPr>
          <a:xfrm>
            <a:off x="640079" y="256031"/>
            <a:ext cx="330911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es un algoritmo?</a:t>
            </a:r>
          </a:p>
        </p:txBody>
      </p:sp>
      <p:sp>
        <p:nvSpPr>
          <p:cNvPr id="130" name="Rounded Rectangle 3"/>
          <p:cNvSpPr/>
          <p:nvPr/>
        </p:nvSpPr>
        <p:spPr>
          <a:xfrm>
            <a:off x="777240" y="1325880"/>
            <a:ext cx="10652760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Rectangle 4"/>
          <p:cNvSpPr/>
          <p:nvPr/>
        </p:nvSpPr>
        <p:spPr>
          <a:xfrm>
            <a:off x="777240" y="1325880"/>
            <a:ext cx="73153" cy="132588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5"/>
          <p:cNvSpPr txBox="1"/>
          <p:nvPr/>
        </p:nvSpPr>
        <p:spPr>
          <a:xfrm>
            <a:off x="1024127" y="1463038"/>
            <a:ext cx="1919429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Definición sencilla</a:t>
            </a:r>
          </a:p>
        </p:txBody>
      </p:sp>
      <p:sp>
        <p:nvSpPr>
          <p:cNvPr id="133" name="TextBox 6"/>
          <p:cNvSpPr txBox="1"/>
          <p:nvPr/>
        </p:nvSpPr>
        <p:spPr>
          <a:xfrm>
            <a:off x="1024127" y="1920239"/>
            <a:ext cx="10043553" cy="577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Una lista </a:t>
            </a:r>
            <a:r>
              <a:rPr b="1"/>
              <a:t>ordenada</a:t>
            </a:r>
            <a:r>
              <a:t> de instrucciones </a:t>
            </a:r>
            <a:r>
              <a:rPr b="1"/>
              <a:t>claras y finitas</a:t>
            </a:r>
            <a:r>
              <a:t> que podemos seguir para resolver un problema o realizar una </a:t>
            </a:r>
          </a:p>
          <a:p>
            <a:pPr>
              <a:defRPr sz="1700">
                <a:solidFill>
                  <a:srgbClr val="475569"/>
                </a:solidFill>
              </a:defRPr>
            </a:pPr>
            <a:r>
              <a:t>tarea </a:t>
            </a:r>
            <a:r>
              <a:rPr b="1"/>
              <a:t>concreta</a:t>
            </a:r>
            <a:r>
              <a:t>.</a:t>
            </a:r>
          </a:p>
        </p:txBody>
      </p:sp>
      <p:sp>
        <p:nvSpPr>
          <p:cNvPr id="134" name="Rounded Rectangle 7"/>
          <p:cNvSpPr/>
          <p:nvPr/>
        </p:nvSpPr>
        <p:spPr>
          <a:xfrm>
            <a:off x="640080" y="3154679"/>
            <a:ext cx="2560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8"/>
          <p:cNvSpPr/>
          <p:nvPr/>
        </p:nvSpPr>
        <p:spPr>
          <a:xfrm>
            <a:off x="640080" y="3154679"/>
            <a:ext cx="73153" cy="18288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9"/>
          <p:cNvSpPr txBox="1"/>
          <p:nvPr/>
        </p:nvSpPr>
        <p:spPr>
          <a:xfrm>
            <a:off x="886966" y="3291840"/>
            <a:ext cx="5409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Claro</a:t>
            </a:r>
          </a:p>
        </p:txBody>
      </p:sp>
      <p:sp>
        <p:nvSpPr>
          <p:cNvPr id="137" name="TextBox 10"/>
          <p:cNvSpPr txBox="1"/>
          <p:nvPr/>
        </p:nvSpPr>
        <p:spPr>
          <a:xfrm>
            <a:off x="886966" y="3749040"/>
            <a:ext cx="208671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Debemos saber exactamente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qué hacer.</a:t>
            </a:r>
          </a:p>
        </p:txBody>
      </p:sp>
      <p:sp>
        <p:nvSpPr>
          <p:cNvPr id="138" name="Rounded Rectangle 11"/>
          <p:cNvSpPr/>
          <p:nvPr/>
        </p:nvSpPr>
        <p:spPr>
          <a:xfrm>
            <a:off x="3429000" y="3154679"/>
            <a:ext cx="2560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Rectangle 12"/>
          <p:cNvSpPr/>
          <p:nvPr/>
        </p:nvSpPr>
        <p:spPr>
          <a:xfrm>
            <a:off x="3429000" y="3154679"/>
            <a:ext cx="73153" cy="18288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3"/>
          <p:cNvSpPr txBox="1"/>
          <p:nvPr/>
        </p:nvSpPr>
        <p:spPr>
          <a:xfrm>
            <a:off x="3675888" y="3291840"/>
            <a:ext cx="95027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Ordenado</a:t>
            </a:r>
          </a:p>
        </p:txBody>
      </p:sp>
      <p:sp>
        <p:nvSpPr>
          <p:cNvPr id="141" name="TextBox 14"/>
          <p:cNvSpPr txBox="1"/>
          <p:nvPr/>
        </p:nvSpPr>
        <p:spPr>
          <a:xfrm>
            <a:off x="3675888" y="3749040"/>
            <a:ext cx="193193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Los pasos ocurren en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cierta secuencia </a:t>
            </a:r>
            <a:r>
              <a:rPr b="1"/>
              <a:t>específica</a:t>
            </a:r>
            <a:r>
              <a:t>.</a:t>
            </a:r>
          </a:p>
        </p:txBody>
      </p:sp>
      <p:sp>
        <p:nvSpPr>
          <p:cNvPr id="142" name="Rounded Rectangle 15"/>
          <p:cNvSpPr/>
          <p:nvPr/>
        </p:nvSpPr>
        <p:spPr>
          <a:xfrm>
            <a:off x="6217920" y="3154679"/>
            <a:ext cx="2560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16"/>
          <p:cNvSpPr/>
          <p:nvPr/>
        </p:nvSpPr>
        <p:spPr>
          <a:xfrm>
            <a:off x="6217920" y="3154679"/>
            <a:ext cx="73153" cy="18288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7"/>
          <p:cNvSpPr txBox="1"/>
          <p:nvPr/>
        </p:nvSpPr>
        <p:spPr>
          <a:xfrm>
            <a:off x="6464808" y="3291840"/>
            <a:ext cx="5839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Finito</a:t>
            </a:r>
          </a:p>
        </p:txBody>
      </p:sp>
      <p:sp>
        <p:nvSpPr>
          <p:cNvPr id="145" name="TextBox 18"/>
          <p:cNvSpPr txBox="1"/>
          <p:nvPr/>
        </p:nvSpPr>
        <p:spPr>
          <a:xfrm>
            <a:off x="6464808" y="3749040"/>
            <a:ext cx="1785694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En algún momento debe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terminar.</a:t>
            </a:r>
          </a:p>
        </p:txBody>
      </p:sp>
      <p:sp>
        <p:nvSpPr>
          <p:cNvPr id="146" name="Rounded Rectangle 19"/>
          <p:cNvSpPr/>
          <p:nvPr/>
        </p:nvSpPr>
        <p:spPr>
          <a:xfrm>
            <a:off x="9006839" y="3154679"/>
            <a:ext cx="2560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Rectangle 20"/>
          <p:cNvSpPr/>
          <p:nvPr/>
        </p:nvSpPr>
        <p:spPr>
          <a:xfrm>
            <a:off x="9006839" y="3154679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21"/>
          <p:cNvSpPr txBox="1"/>
          <p:nvPr/>
        </p:nvSpPr>
        <p:spPr>
          <a:xfrm>
            <a:off x="9253726" y="3291840"/>
            <a:ext cx="9449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Resultado</a:t>
            </a:r>
          </a:p>
        </p:txBody>
      </p:sp>
      <p:sp>
        <p:nvSpPr>
          <p:cNvPr id="149" name="TextBox 22"/>
          <p:cNvSpPr txBox="1"/>
          <p:nvPr/>
        </p:nvSpPr>
        <p:spPr>
          <a:xfrm>
            <a:off x="9253726" y="3749040"/>
            <a:ext cx="207889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Debe producir una respuesta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 efecto concreto.</a:t>
            </a:r>
          </a:p>
        </p:txBody>
      </p:sp>
      <p:pic>
        <p:nvPicPr>
          <p:cNvPr id="15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9569" y="47039"/>
            <a:ext cx="1524227" cy="1078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2"/>
          <p:cNvSpPr txBox="1"/>
          <p:nvPr/>
        </p:nvSpPr>
        <p:spPr>
          <a:xfrm>
            <a:off x="640079" y="256031"/>
            <a:ext cx="39279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Ejemplos y contraejemplos</a:t>
            </a:r>
          </a:p>
        </p:txBody>
      </p:sp>
      <p:sp>
        <p:nvSpPr>
          <p:cNvPr id="154" name="Rounded Rectangle 3"/>
          <p:cNvSpPr/>
          <p:nvPr/>
        </p:nvSpPr>
        <p:spPr>
          <a:xfrm>
            <a:off x="640080" y="1417319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Rectangle 4"/>
          <p:cNvSpPr/>
          <p:nvPr/>
        </p:nvSpPr>
        <p:spPr>
          <a:xfrm>
            <a:off x="640080" y="1417319"/>
            <a:ext cx="73153" cy="219456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5"/>
          <p:cNvSpPr txBox="1"/>
          <p:nvPr/>
        </p:nvSpPr>
        <p:spPr>
          <a:xfrm>
            <a:off x="886966" y="1554480"/>
            <a:ext cx="1159631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Algoritmo</a:t>
            </a:r>
          </a:p>
        </p:txBody>
      </p:sp>
      <p:sp>
        <p:nvSpPr>
          <p:cNvPr id="157" name="TextBox 6"/>
          <p:cNvSpPr txBox="1"/>
          <p:nvPr/>
        </p:nvSpPr>
        <p:spPr>
          <a:xfrm>
            <a:off x="886966" y="2011679"/>
            <a:ext cx="1697421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1. Toma dos números.</a:t>
            </a:r>
            <a:br/>
            <a:r>
              <a:t>2. Súmalos.</a:t>
            </a:r>
            <a:br/>
            <a:r>
              <a:t>3. Muestra el resultado.</a:t>
            </a:r>
          </a:p>
        </p:txBody>
      </p:sp>
      <p:sp>
        <p:nvSpPr>
          <p:cNvPr id="158" name="Rounded Rectangle 7"/>
          <p:cNvSpPr/>
          <p:nvPr/>
        </p:nvSpPr>
        <p:spPr>
          <a:xfrm>
            <a:off x="4358640" y="1417319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Rectangle 8"/>
          <p:cNvSpPr/>
          <p:nvPr/>
        </p:nvSpPr>
        <p:spPr>
          <a:xfrm>
            <a:off x="4358640" y="1417319"/>
            <a:ext cx="73153" cy="2194562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9"/>
          <p:cNvSpPr txBox="1"/>
          <p:nvPr/>
        </p:nvSpPr>
        <p:spPr>
          <a:xfrm>
            <a:off x="4605528" y="1554480"/>
            <a:ext cx="1038583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Ambiguo</a:t>
            </a:r>
          </a:p>
        </p:txBody>
      </p:sp>
      <p:sp>
        <p:nvSpPr>
          <p:cNvPr id="161" name="TextBox 10"/>
          <p:cNvSpPr txBox="1"/>
          <p:nvPr/>
        </p:nvSpPr>
        <p:spPr>
          <a:xfrm>
            <a:off x="4605528" y="2011679"/>
            <a:ext cx="313479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“Ordena estos números de la mejor manera.”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¿Qué significa “mejor”?</a:t>
            </a:r>
          </a:p>
        </p:txBody>
      </p:sp>
      <p:sp>
        <p:nvSpPr>
          <p:cNvPr id="162" name="Rounded Rectangle 11"/>
          <p:cNvSpPr/>
          <p:nvPr/>
        </p:nvSpPr>
        <p:spPr>
          <a:xfrm>
            <a:off x="8077199" y="1417319"/>
            <a:ext cx="3489961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12"/>
          <p:cNvSpPr/>
          <p:nvPr/>
        </p:nvSpPr>
        <p:spPr>
          <a:xfrm>
            <a:off x="8077199" y="1417319"/>
            <a:ext cx="73153" cy="21945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3"/>
          <p:cNvSpPr txBox="1"/>
          <p:nvPr/>
        </p:nvSpPr>
        <p:spPr>
          <a:xfrm>
            <a:off x="8324086" y="1554480"/>
            <a:ext cx="1411150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Sin final claro</a:t>
            </a:r>
          </a:p>
        </p:txBody>
      </p:sp>
      <p:sp>
        <p:nvSpPr>
          <p:cNvPr id="165" name="TextBox 14"/>
          <p:cNvSpPr txBox="1"/>
          <p:nvPr/>
        </p:nvSpPr>
        <p:spPr>
          <a:xfrm>
            <a:off x="8324086" y="2011679"/>
            <a:ext cx="2704144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“Sigue intentando hasta que pase algo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interesante.”</a:t>
            </a:r>
          </a:p>
        </p:txBody>
      </p:sp>
      <p:sp>
        <p:nvSpPr>
          <p:cNvPr id="166" name="Rounded Rectangle 15"/>
          <p:cNvSpPr/>
          <p:nvPr/>
        </p:nvSpPr>
        <p:spPr>
          <a:xfrm>
            <a:off x="4392487" y="4451774"/>
            <a:ext cx="6561637" cy="1188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Rectangle 16"/>
          <p:cNvSpPr/>
          <p:nvPr/>
        </p:nvSpPr>
        <p:spPr>
          <a:xfrm>
            <a:off x="4392487" y="4451774"/>
            <a:ext cx="73153" cy="11887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7"/>
          <p:cNvSpPr txBox="1"/>
          <p:nvPr/>
        </p:nvSpPr>
        <p:spPr>
          <a:xfrm>
            <a:off x="4639374" y="4588935"/>
            <a:ext cx="997364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Idea clave</a:t>
            </a:r>
          </a:p>
        </p:txBody>
      </p:sp>
      <p:sp>
        <p:nvSpPr>
          <p:cNvPr id="169" name="TextBox 18"/>
          <p:cNvSpPr txBox="1"/>
          <p:nvPr/>
        </p:nvSpPr>
        <p:spPr>
          <a:xfrm>
            <a:off x="4639374" y="5046135"/>
            <a:ext cx="618858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Una computadora no adivina ni supone nuestras intenciones: necesita instrucciones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suficientemente </a:t>
            </a:r>
            <a:r>
              <a:rPr b="1"/>
              <a:t>precisas</a:t>
            </a:r>
            <a:r>
              <a:t>.</a:t>
            </a:r>
          </a:p>
        </p:txBody>
      </p:sp>
      <p:pic>
        <p:nvPicPr>
          <p:cNvPr id="1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3882814"/>
            <a:ext cx="3489960" cy="2326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640079" y="256031"/>
            <a:ext cx="549694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Tipos de algoritmos: una primera idea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658367" y="859536"/>
            <a:ext cx="451697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Hay muchas formas de clasificarlos. No hace falta memorizar todas hoy.</a:t>
            </a:r>
          </a:p>
        </p:txBody>
      </p:sp>
      <p:sp>
        <p:nvSpPr>
          <p:cNvPr id="175" name="Rounded Rectangle 4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5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886966" y="1554480"/>
            <a:ext cx="148744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Por su propósito</a:t>
            </a:r>
          </a:p>
        </p:txBody>
      </p:sp>
      <p:sp>
        <p:nvSpPr>
          <p:cNvPr id="178" name="TextBox 7"/>
          <p:cNvSpPr txBox="1"/>
          <p:nvPr/>
        </p:nvSpPr>
        <p:spPr>
          <a:xfrm>
            <a:off x="886966" y="2011679"/>
            <a:ext cx="296195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Ordenar, buscar, calcular, encontrar rutas…</a:t>
            </a:r>
          </a:p>
        </p:txBody>
      </p:sp>
      <p:sp>
        <p:nvSpPr>
          <p:cNvPr id="179" name="Rounded Rectangle 8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9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0"/>
          <p:cNvSpPr txBox="1"/>
          <p:nvPr/>
        </p:nvSpPr>
        <p:spPr>
          <a:xfrm>
            <a:off x="6464808" y="1554480"/>
            <a:ext cx="150699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Por su estrategia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6464808" y="2011679"/>
            <a:ext cx="392917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Comparar vecinos, dividir el problema, probar opciones…</a:t>
            </a:r>
          </a:p>
        </p:txBody>
      </p:sp>
      <p:sp>
        <p:nvSpPr>
          <p:cNvPr id="183" name="Rounded Rectangle 12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13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4"/>
          <p:cNvSpPr txBox="1"/>
          <p:nvPr/>
        </p:nvSpPr>
        <p:spPr>
          <a:xfrm>
            <a:off x="886966" y="3840479"/>
            <a:ext cx="147623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Por su ejecución</a:t>
            </a:r>
          </a:p>
        </p:txBody>
      </p:sp>
      <p:sp>
        <p:nvSpPr>
          <p:cNvPr id="186" name="TextBox 15"/>
          <p:cNvSpPr txBox="1"/>
          <p:nvPr/>
        </p:nvSpPr>
        <p:spPr>
          <a:xfrm>
            <a:off x="886966" y="4297679"/>
            <a:ext cx="355068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Repetir pasos, usar recursión, trabajar en paralelo…</a:t>
            </a:r>
          </a:p>
        </p:txBody>
      </p:sp>
      <p:sp>
        <p:nvSpPr>
          <p:cNvPr id="187" name="Rounded Rectangle 16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17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8"/>
          <p:cNvSpPr txBox="1"/>
          <p:nvPr/>
        </p:nvSpPr>
        <p:spPr>
          <a:xfrm>
            <a:off x="6464808" y="3840479"/>
            <a:ext cx="143387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Por el resultado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6464808" y="4297679"/>
            <a:ext cx="1674203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Exactos o aproximados.</a:t>
            </a:r>
          </a:p>
        </p:txBody>
      </p:sp>
      <p:pic>
        <p:nvPicPr>
          <p:cNvPr id="19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9569" y="47039"/>
            <a:ext cx="1524227" cy="1078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2"/>
          <p:cNvSpPr txBox="1"/>
          <p:nvPr/>
        </p:nvSpPr>
        <p:spPr>
          <a:xfrm>
            <a:off x="640079" y="256031"/>
            <a:ext cx="346030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es pseudocódigo?</a:t>
            </a:r>
          </a:p>
        </p:txBody>
      </p:sp>
      <p:sp>
        <p:nvSpPr>
          <p:cNvPr id="195" name="TextBox 3"/>
          <p:cNvSpPr txBox="1"/>
          <p:nvPr/>
        </p:nvSpPr>
        <p:spPr>
          <a:xfrm>
            <a:off x="658367" y="859536"/>
            <a:ext cx="671359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Primero explicamos la lógica para humanos; después podremos convertirla a un lenguaje de programación.</a:t>
            </a:r>
          </a:p>
        </p:txBody>
      </p:sp>
      <p:sp>
        <p:nvSpPr>
          <p:cNvPr id="196" name="Rounded Rectangle 4"/>
          <p:cNvSpPr/>
          <p:nvPr/>
        </p:nvSpPr>
        <p:spPr>
          <a:xfrm>
            <a:off x="685800" y="1325880"/>
            <a:ext cx="5212080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Rectangle 5"/>
          <p:cNvSpPr/>
          <p:nvPr/>
        </p:nvSpPr>
        <p:spPr>
          <a:xfrm>
            <a:off x="685800" y="1325879"/>
            <a:ext cx="73153" cy="420624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6"/>
          <p:cNvSpPr txBox="1"/>
          <p:nvPr/>
        </p:nvSpPr>
        <p:spPr>
          <a:xfrm>
            <a:off x="932687" y="1463038"/>
            <a:ext cx="345433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No es un lenguaje de programación</a:t>
            </a:r>
          </a:p>
        </p:txBody>
      </p:sp>
      <p:sp>
        <p:nvSpPr>
          <p:cNvPr id="199" name="TextBox 7"/>
          <p:cNvSpPr txBox="1"/>
          <p:nvPr/>
        </p:nvSpPr>
        <p:spPr>
          <a:xfrm>
            <a:off x="932687" y="1920239"/>
            <a:ext cx="4920220" cy="2335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El pseudocódigo usa palabras sencillas para describir acciones.</a:t>
            </a:r>
            <a:br/>
            <a:br/>
            <a:r>
              <a:t>Ejemplos:</a:t>
            </a:r>
            <a:br/>
            <a:r>
              <a:t>• SI ... ENTONCES</a:t>
            </a:r>
            <a:br/>
            <a:r>
              <a:t>• REPETIR</a:t>
            </a:r>
            <a:br/>
            <a:r>
              <a:t>• MIENTRAS</a:t>
            </a:r>
            <a:br/>
            <a:r>
              <a:t>• INTERCAMBIAR</a:t>
            </a:r>
            <a:br/>
            <a:r>
              <a:t>• DEVOLVER</a:t>
            </a:r>
            <a:br/>
            <a:br/>
            <a:r>
              <a:t>No nos preocupamos todavía por las reglas de Python/Java.</a:t>
            </a:r>
          </a:p>
        </p:txBody>
      </p:sp>
      <p:sp>
        <p:nvSpPr>
          <p:cNvPr id="200" name="Rounded Rectangle 8"/>
          <p:cNvSpPr/>
          <p:nvPr/>
        </p:nvSpPr>
        <p:spPr>
          <a:xfrm>
            <a:off x="6217920" y="1325880"/>
            <a:ext cx="525780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9"/>
          <p:cNvSpPr/>
          <p:nvPr/>
        </p:nvSpPr>
        <p:spPr>
          <a:xfrm>
            <a:off x="6217920" y="1325879"/>
            <a:ext cx="73153" cy="42062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0"/>
          <p:cNvSpPr txBox="1"/>
          <p:nvPr/>
        </p:nvSpPr>
        <p:spPr>
          <a:xfrm>
            <a:off x="6464808" y="1463038"/>
            <a:ext cx="4512616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122238"/>
                </a:solidFill>
              </a:defRPr>
            </a:pPr>
            <a:r>
              <a:t>Ejemplo: elegir el mayor de 2 números (escrito</a:t>
            </a:r>
          </a:p>
          <a:p>
            <a:pPr>
              <a:defRPr b="1">
                <a:solidFill>
                  <a:srgbClr val="122238"/>
                </a:solidFill>
              </a:defRPr>
            </a:pPr>
            <a:r>
              <a:t>usando pseudocódigo)</a:t>
            </a:r>
          </a:p>
        </p:txBody>
      </p:sp>
      <p:sp>
        <p:nvSpPr>
          <p:cNvPr id="203" name="TextBox 11"/>
          <p:cNvSpPr txBox="1"/>
          <p:nvPr/>
        </p:nvSpPr>
        <p:spPr>
          <a:xfrm>
            <a:off x="6464808" y="2375601"/>
            <a:ext cx="2708168" cy="2792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b="1"/>
              <a:t>ELEGIR_EL_MAYOR_DE_2(a, b)</a:t>
            </a:r>
            <a:br>
              <a:rPr b="1"/>
            </a:br>
            <a:br>
              <a:rPr b="1"/>
            </a:br>
            <a:r>
              <a:rPr b="1"/>
              <a:t>    SI a &gt; b ENTONCES</a:t>
            </a:r>
            <a:br>
              <a:rPr b="1"/>
            </a:br>
            <a:r>
              <a:rPr b="1"/>
              <a:t>        DEVOLVER a</a:t>
            </a:r>
            <a:br>
              <a:rPr b="1"/>
            </a:br>
            <a:r>
              <a:rPr b="1"/>
              <a:t>    SI NO</a:t>
            </a:r>
            <a:br>
              <a:rPr b="1"/>
            </a:br>
            <a:r>
              <a:rPr b="1"/>
              <a:t>        DEVOLVER b</a:t>
            </a:r>
            <a:br/>
          </a:p>
          <a:p>
            <a:pPr>
              <a:defRPr sz="1500">
                <a:solidFill>
                  <a:srgbClr val="475569"/>
                </a:solidFill>
              </a:defRPr>
            </a:pPr>
            <a:r>
              <a:t>Si a = 8 y b = 3,</a:t>
            </a:r>
            <a:br/>
            <a:r>
              <a:t>el resultado es 8.</a:t>
            </a:r>
          </a:p>
          <a:p>
            <a:pPr>
              <a:defRPr sz="1500">
                <a:solidFill>
                  <a:srgbClr val="475569"/>
                </a:solidFill>
              </a:defRPr>
            </a:pP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ELEGIR_EL_MAYOR_DE_2(8,3) = 8</a:t>
            </a:r>
            <a:br/>
          </a:p>
        </p:txBody>
      </p:sp>
      <p:pic>
        <p:nvPicPr>
          <p:cNvPr id="20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9569" y="47039"/>
            <a:ext cx="1524227" cy="1078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"/>
          <p:cNvSpPr txBox="1"/>
          <p:nvPr/>
        </p:nvSpPr>
        <p:spPr>
          <a:xfrm>
            <a:off x="640079" y="256031"/>
            <a:ext cx="463869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¿Funciona para todos los casos?</a:t>
            </a:r>
          </a:p>
        </p:txBody>
      </p:sp>
      <p:sp>
        <p:nvSpPr>
          <p:cNvPr id="208" name="TextBox 3"/>
          <p:cNvSpPr txBox="1"/>
          <p:nvPr/>
        </p:nvSpPr>
        <p:spPr>
          <a:xfrm>
            <a:off x="658367" y="859536"/>
            <a:ext cx="630476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Raramente un algoritmo funciona a la perfección en todos los casos, pero siempre se pueden ajustar</a:t>
            </a:r>
          </a:p>
        </p:txBody>
      </p:sp>
      <p:sp>
        <p:nvSpPr>
          <p:cNvPr id="209" name="Rounded Rectangle 8"/>
          <p:cNvSpPr/>
          <p:nvPr/>
        </p:nvSpPr>
        <p:spPr>
          <a:xfrm>
            <a:off x="6217920" y="1325880"/>
            <a:ext cx="525780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Rectangle 9"/>
          <p:cNvSpPr/>
          <p:nvPr/>
        </p:nvSpPr>
        <p:spPr>
          <a:xfrm>
            <a:off x="6217920" y="1325879"/>
            <a:ext cx="73153" cy="42062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10"/>
          <p:cNvSpPr txBox="1"/>
          <p:nvPr/>
        </p:nvSpPr>
        <p:spPr>
          <a:xfrm>
            <a:off x="6464808" y="1463038"/>
            <a:ext cx="78346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Ajustar</a:t>
            </a:r>
          </a:p>
        </p:txBody>
      </p:sp>
      <p:sp>
        <p:nvSpPr>
          <p:cNvPr id="212" name="TextBox 11"/>
          <p:cNvSpPr txBox="1"/>
          <p:nvPr/>
        </p:nvSpPr>
        <p:spPr>
          <a:xfrm>
            <a:off x="6464808" y="2375601"/>
            <a:ext cx="2611615" cy="2792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b="1"/>
              <a:t>ELEGIR_EL_MAYOR_DE_2(a, b)</a:t>
            </a:r>
            <a:endParaRPr b="1"/>
          </a:p>
          <a:p>
            <a:pPr>
              <a:defRPr sz="1500">
                <a:solidFill>
                  <a:srgbClr val="475569"/>
                </a:solidFill>
              </a:defRPr>
            </a:pPr>
            <a:br>
              <a:rPr b="1"/>
            </a:br>
            <a:r>
              <a:rPr b="1"/>
              <a:t>   SI a = b ENTONCES</a:t>
            </a:r>
            <a:endParaRPr b="1"/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b="1"/>
              <a:t>        DEVOLVER ERROR </a:t>
            </a:r>
            <a:endParaRPr b="1"/>
          </a:p>
          <a:p>
            <a:pPr>
              <a:defRPr sz="1500">
                <a:solidFill>
                  <a:srgbClr val="475569"/>
                </a:solidFill>
              </a:defRPr>
            </a:pPr>
            <a:endParaRPr b="1"/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b="1"/>
              <a:t>   SI a &gt; b ENTONCES</a:t>
            </a:r>
            <a:br>
              <a:rPr b="1"/>
            </a:br>
            <a:r>
              <a:rPr b="1"/>
              <a:t>        DEVOLVER a</a:t>
            </a:r>
            <a:br>
              <a:rPr b="1"/>
            </a:br>
            <a:r>
              <a:rPr b="1"/>
              <a:t>    SI NO</a:t>
            </a:r>
            <a:br>
              <a:rPr b="1"/>
            </a:br>
            <a:r>
              <a:rPr b="1"/>
              <a:t>        DEVOLVER b</a:t>
            </a:r>
            <a:br/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ELEGIR_EL_MAYOR_DE_2(8,8) = </a:t>
            </a:r>
            <a:br/>
          </a:p>
        </p:txBody>
      </p:sp>
      <p:sp>
        <p:nvSpPr>
          <p:cNvPr id="213" name="Rounded Rectangle 8"/>
          <p:cNvSpPr/>
          <p:nvPr/>
        </p:nvSpPr>
        <p:spPr>
          <a:xfrm>
            <a:off x="581917" y="1325879"/>
            <a:ext cx="5257801" cy="42062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Rectangle 9"/>
          <p:cNvSpPr/>
          <p:nvPr/>
        </p:nvSpPr>
        <p:spPr>
          <a:xfrm>
            <a:off x="581917" y="1325879"/>
            <a:ext cx="73153" cy="42062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10"/>
          <p:cNvSpPr txBox="1"/>
          <p:nvPr/>
        </p:nvSpPr>
        <p:spPr>
          <a:xfrm>
            <a:off x="828805" y="1463038"/>
            <a:ext cx="375459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Edge case: ambas números son iguales</a:t>
            </a:r>
          </a:p>
        </p:txBody>
      </p:sp>
      <p:sp>
        <p:nvSpPr>
          <p:cNvPr id="216" name="TextBox 11"/>
          <p:cNvSpPr txBox="1"/>
          <p:nvPr/>
        </p:nvSpPr>
        <p:spPr>
          <a:xfrm>
            <a:off x="828805" y="2375601"/>
            <a:ext cx="2722865" cy="256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b="1"/>
              <a:t>ELEGIR_EL_MAYOR_DE_2(a, b)</a:t>
            </a:r>
            <a:br>
              <a:rPr b="1"/>
            </a:br>
            <a:br>
              <a:rPr b="1"/>
            </a:br>
            <a:r>
              <a:rPr b="1"/>
              <a:t>    SI a &gt; b ENTONCES</a:t>
            </a:r>
            <a:br>
              <a:rPr b="1"/>
            </a:br>
            <a:r>
              <a:rPr b="1"/>
              <a:t>        DEVOLVER a</a:t>
            </a:r>
            <a:br>
              <a:rPr b="1"/>
            </a:br>
            <a:r>
              <a:rPr b="1"/>
              <a:t>    SI NO</a:t>
            </a:r>
            <a:br>
              <a:rPr b="1"/>
            </a:br>
            <a:r>
              <a:rPr b="1"/>
              <a:t>        DEVOLVER b</a:t>
            </a:r>
          </a:p>
          <a:p>
            <a:pPr>
              <a:defRPr sz="1500">
                <a:solidFill>
                  <a:srgbClr val="475569"/>
                </a:solidFill>
              </a:defRPr>
            </a:pP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ELEGIR_EL_MAYOR_DE_2(8,8) = 8</a:t>
            </a:r>
          </a:p>
          <a:p>
            <a:pPr>
              <a:defRPr sz="1500">
                <a:solidFill>
                  <a:srgbClr val="475569"/>
                </a:solidFill>
              </a:defRPr>
            </a:pP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¿Mmm en verdad 8 es mayor a 8?</a:t>
            </a:r>
            <a:br/>
          </a:p>
        </p:txBody>
      </p:sp>
      <p:pic>
        <p:nvPicPr>
          <p:cNvPr id="21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9569" y="47039"/>
            <a:ext cx="1524227" cy="1078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2"/>
          <p:cNvSpPr txBox="1"/>
          <p:nvPr/>
        </p:nvSpPr>
        <p:spPr>
          <a:xfrm>
            <a:off x="640079" y="256031"/>
            <a:ext cx="420487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Algoritmos de ordenamiento</a:t>
            </a:r>
          </a:p>
        </p:txBody>
      </p:sp>
      <p:sp>
        <p:nvSpPr>
          <p:cNvPr id="221" name="TextBox 3"/>
          <p:cNvSpPr txBox="1"/>
          <p:nvPr/>
        </p:nvSpPr>
        <p:spPr>
          <a:xfrm>
            <a:off x="658367" y="859536"/>
            <a:ext cx="490035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Todos reciben datos desordenados y producen los mismos datos en un orden.</a:t>
            </a:r>
          </a:p>
        </p:txBody>
      </p:sp>
      <p:sp>
        <p:nvSpPr>
          <p:cNvPr id="222" name="Rounded Rectangle 4"/>
          <p:cNvSpPr/>
          <p:nvPr/>
        </p:nvSpPr>
        <p:spPr>
          <a:xfrm>
            <a:off x="731519" y="1325880"/>
            <a:ext cx="3657601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Rectangle 5"/>
          <p:cNvSpPr/>
          <p:nvPr/>
        </p:nvSpPr>
        <p:spPr>
          <a:xfrm>
            <a:off x="731519" y="1325880"/>
            <a:ext cx="73153" cy="356616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6"/>
          <p:cNvSpPr txBox="1"/>
          <p:nvPr/>
        </p:nvSpPr>
        <p:spPr>
          <a:xfrm>
            <a:off x="978407" y="1463038"/>
            <a:ext cx="919707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Ejemplo</a:t>
            </a:r>
          </a:p>
        </p:txBody>
      </p:sp>
      <p:sp>
        <p:nvSpPr>
          <p:cNvPr id="225" name="TextBox 7"/>
          <p:cNvSpPr txBox="1"/>
          <p:nvPr/>
        </p:nvSpPr>
        <p:spPr>
          <a:xfrm>
            <a:off x="978407" y="1920239"/>
            <a:ext cx="1436897" cy="2168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ANTES</a:t>
            </a:r>
            <a:br/>
            <a:br/>
            <a:r>
              <a:t>5   2   4   1   3</a:t>
            </a:r>
            <a:br/>
            <a:br/>
            <a:r>
              <a:t>DESPUÉS</a:t>
            </a:r>
            <a:br/>
            <a:br/>
            <a:r>
              <a:t>1   2   3   4   5</a:t>
            </a:r>
          </a:p>
        </p:txBody>
      </p:sp>
      <p:sp>
        <p:nvSpPr>
          <p:cNvPr id="226" name="Rounded Rectangle 8"/>
          <p:cNvSpPr/>
          <p:nvPr/>
        </p:nvSpPr>
        <p:spPr>
          <a:xfrm>
            <a:off x="4617720" y="1325880"/>
            <a:ext cx="6812281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Rectangle 9"/>
          <p:cNvSpPr/>
          <p:nvPr/>
        </p:nvSpPr>
        <p:spPr>
          <a:xfrm>
            <a:off x="4617720" y="1325880"/>
            <a:ext cx="73153" cy="356616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10"/>
          <p:cNvSpPr txBox="1"/>
          <p:nvPr/>
        </p:nvSpPr>
        <p:spPr>
          <a:xfrm>
            <a:off x="4864608" y="1463038"/>
            <a:ext cx="195481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¿Para qué ordenar?</a:t>
            </a:r>
          </a:p>
        </p:txBody>
      </p:sp>
      <p:sp>
        <p:nvSpPr>
          <p:cNvPr id="229" name="TextBox 11"/>
          <p:cNvSpPr txBox="1"/>
          <p:nvPr/>
        </p:nvSpPr>
        <p:spPr>
          <a:xfrm>
            <a:off x="4864608" y="1920239"/>
            <a:ext cx="5521391" cy="1649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• Alumnos por apellido</a:t>
            </a:r>
            <a:br/>
            <a:r>
              <a:t>• Productos por precio</a:t>
            </a:r>
            <a:br/>
            <a:r>
              <a:t>• Fechas de reciente a antigua</a:t>
            </a:r>
            <a:br/>
            <a:r>
              <a:t>• Resultados por puntuación</a:t>
            </a:r>
            <a:br/>
            <a:r>
              <a:t>• Archivos por tamaño</a:t>
            </a:r>
            <a:br/>
            <a:br/>
            <a:r>
              <a:t>Lo interesante: existen distintas maneras de llegar al mismo resultado.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2"/>
          <p:cNvSpPr txBox="1"/>
          <p:nvPr/>
        </p:nvSpPr>
        <p:spPr>
          <a:xfrm>
            <a:off x="640079" y="256031"/>
            <a:ext cx="313967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Bubble Sort · Burbuja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658367" y="859536"/>
            <a:ext cx="36591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Idea: comparar vecinos; si están al revés, intercambiarlos.</a:t>
            </a:r>
          </a:p>
        </p:txBody>
      </p:sp>
      <p:sp>
        <p:nvSpPr>
          <p:cNvPr id="234" name="Rounded Rectangle 4"/>
          <p:cNvSpPr/>
          <p:nvPr/>
        </p:nvSpPr>
        <p:spPr>
          <a:xfrm>
            <a:off x="685800" y="1325880"/>
            <a:ext cx="5212080" cy="4389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Rectangle 5"/>
          <p:cNvSpPr/>
          <p:nvPr/>
        </p:nvSpPr>
        <p:spPr>
          <a:xfrm>
            <a:off x="685800" y="1325880"/>
            <a:ext cx="73153" cy="43891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6"/>
          <p:cNvSpPr txBox="1"/>
          <p:nvPr/>
        </p:nvSpPr>
        <p:spPr>
          <a:xfrm>
            <a:off x="932687" y="1463038"/>
            <a:ext cx="142316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Pseudocódigo</a:t>
            </a:r>
          </a:p>
        </p:txBody>
      </p:sp>
      <p:sp>
        <p:nvSpPr>
          <p:cNvPr id="237" name="TextBox 7"/>
          <p:cNvSpPr txBox="1"/>
          <p:nvPr/>
        </p:nvSpPr>
        <p:spPr>
          <a:xfrm>
            <a:off x="932687" y="1920239"/>
            <a:ext cx="2434393" cy="131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REPETIR 5 veces:</a:t>
            </a:r>
            <a:br/>
            <a:r>
              <a:t>    RECORRER la lista</a:t>
            </a:r>
            <a:br/>
            <a:r>
              <a:t>        COMPARAR dos vecinos</a:t>
            </a:r>
            <a:br/>
            <a:r>
              <a:t>        SI izquierda &gt; derecha:</a:t>
            </a:r>
            <a:br/>
            <a:r>
              <a:t>            INTERCAMBIARLOS</a:t>
            </a:r>
          </a:p>
        </p:txBody>
      </p:sp>
      <p:sp>
        <p:nvSpPr>
          <p:cNvPr id="238" name="Rounded Rectangle 8"/>
          <p:cNvSpPr/>
          <p:nvPr/>
        </p:nvSpPr>
        <p:spPr>
          <a:xfrm>
            <a:off x="6217920" y="1325880"/>
            <a:ext cx="521208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Rectangle 9"/>
          <p:cNvSpPr/>
          <p:nvPr/>
        </p:nvSpPr>
        <p:spPr>
          <a:xfrm>
            <a:off x="6217920" y="1325880"/>
            <a:ext cx="73153" cy="1874518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10"/>
          <p:cNvSpPr txBox="1"/>
          <p:nvPr/>
        </p:nvSpPr>
        <p:spPr>
          <a:xfrm>
            <a:off x="6464808" y="1463038"/>
            <a:ext cx="1407553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Ejemplo inicial</a:t>
            </a:r>
          </a:p>
        </p:txBody>
      </p:sp>
      <p:sp>
        <p:nvSpPr>
          <p:cNvPr id="241" name="Rounded Rectangle 12"/>
          <p:cNvSpPr/>
          <p:nvPr/>
        </p:nvSpPr>
        <p:spPr>
          <a:xfrm>
            <a:off x="6217920" y="3429000"/>
            <a:ext cx="521208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13"/>
          <p:cNvSpPr/>
          <p:nvPr/>
        </p:nvSpPr>
        <p:spPr>
          <a:xfrm>
            <a:off x="6217920" y="3429000"/>
            <a:ext cx="73153" cy="22860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4"/>
          <p:cNvSpPr txBox="1"/>
          <p:nvPr/>
        </p:nvSpPr>
        <p:spPr>
          <a:xfrm>
            <a:off x="6464808" y="3566159"/>
            <a:ext cx="1312253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Qué observar</a:t>
            </a:r>
          </a:p>
        </p:txBody>
      </p:sp>
      <p:sp>
        <p:nvSpPr>
          <p:cNvPr id="244" name="TextBox 15"/>
          <p:cNvSpPr txBox="1"/>
          <p:nvPr/>
        </p:nvSpPr>
        <p:spPr>
          <a:xfrm>
            <a:off x="6464808" y="4023359"/>
            <a:ext cx="469117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No intentes memorizar el texto. Sigue qué elementos compara,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mueve o deja resueltos en cada paso.</a:t>
            </a:r>
          </a:p>
        </p:txBody>
      </p:sp>
      <p:sp>
        <p:nvSpPr>
          <p:cNvPr id="245" name="TextBox 11"/>
          <p:cNvSpPr txBox="1"/>
          <p:nvPr/>
        </p:nvSpPr>
        <p:spPr>
          <a:xfrm>
            <a:off x="6606349" y="2096595"/>
            <a:ext cx="130362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75569"/>
                </a:solidFill>
              </a:defRPr>
            </a:lvl1pPr>
          </a:lstStyle>
          <a:p>
            <a:pPr/>
            <a:r>
              <a:t>5   2   4   1   3</a:t>
            </a:r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2"/>
          <p:cNvSpPr txBox="1"/>
          <p:nvPr/>
        </p:nvSpPr>
        <p:spPr>
          <a:xfrm>
            <a:off x="640079" y="256031"/>
            <a:ext cx="486824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Bubble Sort · Burbuja · animación</a:t>
            </a:r>
          </a:p>
        </p:txBody>
      </p:sp>
      <p:sp>
        <p:nvSpPr>
          <p:cNvPr id="250" name="TextBox 3"/>
          <p:cNvSpPr txBox="1"/>
          <p:nvPr/>
        </p:nvSpPr>
        <p:spPr>
          <a:xfrm>
            <a:off x="658367" y="859536"/>
            <a:ext cx="5294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Ejemplo con la misma lista: 5, 2, 4, 1, 3. El GIF se reproduce durante la presentación.</a:t>
            </a:r>
          </a:p>
        </p:txBody>
      </p:sp>
      <p:pic>
        <p:nvPicPr>
          <p:cNvPr id="251" name="Picture 4" descr="Picture 4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62551" y="1964775"/>
            <a:ext cx="7512098" cy="3666191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Rounded Rectangle 4"/>
          <p:cNvSpPr/>
          <p:nvPr/>
        </p:nvSpPr>
        <p:spPr>
          <a:xfrm>
            <a:off x="685800" y="1325880"/>
            <a:ext cx="3431148" cy="2505313"/>
          </a:xfrm>
          <a:prstGeom prst="roundRect">
            <a:avLst>
              <a:gd name="adj" fmla="val 19222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Rectangle 5"/>
          <p:cNvSpPr/>
          <p:nvPr/>
        </p:nvSpPr>
        <p:spPr>
          <a:xfrm>
            <a:off x="694412" y="1325880"/>
            <a:ext cx="64541" cy="250531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6"/>
          <p:cNvSpPr txBox="1"/>
          <p:nvPr/>
        </p:nvSpPr>
        <p:spPr>
          <a:xfrm>
            <a:off x="932687" y="1463038"/>
            <a:ext cx="142316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Pseudocódigo</a:t>
            </a:r>
          </a:p>
        </p:txBody>
      </p:sp>
      <p:sp>
        <p:nvSpPr>
          <p:cNvPr id="255" name="TextBox 7"/>
          <p:cNvSpPr txBox="1"/>
          <p:nvPr/>
        </p:nvSpPr>
        <p:spPr>
          <a:xfrm>
            <a:off x="932687" y="1920239"/>
            <a:ext cx="2434393" cy="131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REPETIR 5 veces:</a:t>
            </a:r>
            <a:br/>
            <a:r>
              <a:t>    RECORRER la lista</a:t>
            </a:r>
            <a:br/>
            <a:r>
              <a:t>        COMPARAR dos vecinos</a:t>
            </a:r>
            <a:br/>
            <a:r>
              <a:t>        SI izquierda &gt; derecha:</a:t>
            </a:r>
            <a:br/>
            <a:r>
              <a:t>            INTERCAMBIARLOS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2"/>
          <p:cNvSpPr txBox="1"/>
          <p:nvPr/>
        </p:nvSpPr>
        <p:spPr>
          <a:xfrm>
            <a:off x="640079" y="256031"/>
            <a:ext cx="78461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Otros algoritmos sencillos que veremos en informática</a:t>
            </a:r>
          </a:p>
        </p:txBody>
      </p:sp>
      <p:sp>
        <p:nvSpPr>
          <p:cNvPr id="259" name="Rounded Rectangle 3"/>
          <p:cNvSpPr/>
          <p:nvPr/>
        </p:nvSpPr>
        <p:spPr>
          <a:xfrm>
            <a:off x="640080" y="137160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4"/>
          <p:cNvSpPr/>
          <p:nvPr/>
        </p:nvSpPr>
        <p:spPr>
          <a:xfrm>
            <a:off x="640080" y="1371600"/>
            <a:ext cx="73153" cy="1874518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5"/>
          <p:cNvSpPr txBox="1"/>
          <p:nvPr/>
        </p:nvSpPr>
        <p:spPr>
          <a:xfrm>
            <a:off x="886966" y="1508760"/>
            <a:ext cx="14451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Búsqueda lineal</a:t>
            </a:r>
          </a:p>
        </p:txBody>
      </p:sp>
      <p:sp>
        <p:nvSpPr>
          <p:cNvPr id="262" name="TextBox 6"/>
          <p:cNvSpPr txBox="1"/>
          <p:nvPr/>
        </p:nvSpPr>
        <p:spPr>
          <a:xfrm>
            <a:off x="886966" y="1965960"/>
            <a:ext cx="2231739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Revisar elementos uno por uno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hasta encontrar el buscado.</a:t>
            </a:r>
          </a:p>
        </p:txBody>
      </p:sp>
      <p:sp>
        <p:nvSpPr>
          <p:cNvPr id="263" name="Rounded Rectangle 7"/>
          <p:cNvSpPr/>
          <p:nvPr/>
        </p:nvSpPr>
        <p:spPr>
          <a:xfrm>
            <a:off x="4358640" y="137160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ectangle 8"/>
          <p:cNvSpPr/>
          <p:nvPr/>
        </p:nvSpPr>
        <p:spPr>
          <a:xfrm>
            <a:off x="4358640" y="1371600"/>
            <a:ext cx="73153" cy="1874518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9"/>
          <p:cNvSpPr txBox="1"/>
          <p:nvPr/>
        </p:nvSpPr>
        <p:spPr>
          <a:xfrm>
            <a:off x="4605528" y="1508760"/>
            <a:ext cx="157456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Búsqueda binaria</a:t>
            </a:r>
          </a:p>
        </p:txBody>
      </p:sp>
      <p:sp>
        <p:nvSpPr>
          <p:cNvPr id="266" name="TextBox 10"/>
          <p:cNvSpPr txBox="1"/>
          <p:nvPr/>
        </p:nvSpPr>
        <p:spPr>
          <a:xfrm>
            <a:off x="4605528" y="1965960"/>
            <a:ext cx="2266483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En una lista ordenada,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descartar la mitad en cada paso.</a:t>
            </a:r>
          </a:p>
        </p:txBody>
      </p:sp>
      <p:sp>
        <p:nvSpPr>
          <p:cNvPr id="267" name="Rounded Rectangle 11"/>
          <p:cNvSpPr/>
          <p:nvPr/>
        </p:nvSpPr>
        <p:spPr>
          <a:xfrm>
            <a:off x="8077199" y="1371600"/>
            <a:ext cx="3489961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12"/>
          <p:cNvSpPr/>
          <p:nvPr/>
        </p:nvSpPr>
        <p:spPr>
          <a:xfrm>
            <a:off x="8077199" y="1371600"/>
            <a:ext cx="73153" cy="1874518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13"/>
          <p:cNvSpPr txBox="1"/>
          <p:nvPr/>
        </p:nvSpPr>
        <p:spPr>
          <a:xfrm>
            <a:off x="8324086" y="1508760"/>
            <a:ext cx="162585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Máximo / mínimo</a:t>
            </a:r>
          </a:p>
        </p:txBody>
      </p:sp>
      <p:sp>
        <p:nvSpPr>
          <p:cNvPr id="270" name="TextBox 14"/>
          <p:cNvSpPr txBox="1"/>
          <p:nvPr/>
        </p:nvSpPr>
        <p:spPr>
          <a:xfrm>
            <a:off x="8324086" y="1965960"/>
            <a:ext cx="202262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Recorrer datos conservando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 mejor valor visto.</a:t>
            </a:r>
          </a:p>
        </p:txBody>
      </p:sp>
      <p:sp>
        <p:nvSpPr>
          <p:cNvPr id="271" name="Rounded Rectangle 15"/>
          <p:cNvSpPr/>
          <p:nvPr/>
        </p:nvSpPr>
        <p:spPr>
          <a:xfrm>
            <a:off x="640080" y="3566159"/>
            <a:ext cx="3489960" cy="187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16"/>
          <p:cNvSpPr/>
          <p:nvPr/>
        </p:nvSpPr>
        <p:spPr>
          <a:xfrm>
            <a:off x="640080" y="3566159"/>
            <a:ext cx="73153" cy="1874519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7"/>
          <p:cNvSpPr txBox="1"/>
          <p:nvPr/>
        </p:nvSpPr>
        <p:spPr>
          <a:xfrm>
            <a:off x="886966" y="3703320"/>
            <a:ext cx="70759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Conteo</a:t>
            </a:r>
          </a:p>
        </p:txBody>
      </p:sp>
      <p:sp>
        <p:nvSpPr>
          <p:cNvPr id="274" name="TextBox 18"/>
          <p:cNvSpPr txBox="1"/>
          <p:nvPr/>
        </p:nvSpPr>
        <p:spPr>
          <a:xfrm>
            <a:off x="886966" y="4160520"/>
            <a:ext cx="1903635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Recorrer datos y acumular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cuántas veces ocurre algo.</a:t>
            </a:r>
          </a:p>
        </p:txBody>
      </p:sp>
      <p:sp>
        <p:nvSpPr>
          <p:cNvPr id="275" name="Rounded Rectangle 19"/>
          <p:cNvSpPr/>
          <p:nvPr/>
        </p:nvSpPr>
        <p:spPr>
          <a:xfrm>
            <a:off x="4358640" y="3566159"/>
            <a:ext cx="3489960" cy="187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Rectangle 20"/>
          <p:cNvSpPr/>
          <p:nvPr/>
        </p:nvSpPr>
        <p:spPr>
          <a:xfrm>
            <a:off x="4358640" y="3566159"/>
            <a:ext cx="73153" cy="1874519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21"/>
          <p:cNvSpPr txBox="1"/>
          <p:nvPr/>
        </p:nvSpPr>
        <p:spPr>
          <a:xfrm>
            <a:off x="4605528" y="3703320"/>
            <a:ext cx="139547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Rutas en grafos</a:t>
            </a:r>
          </a:p>
        </p:txBody>
      </p:sp>
      <p:sp>
        <p:nvSpPr>
          <p:cNvPr id="278" name="TextBox 22"/>
          <p:cNvSpPr txBox="1"/>
          <p:nvPr/>
        </p:nvSpPr>
        <p:spPr>
          <a:xfrm>
            <a:off x="4605528" y="4160520"/>
            <a:ext cx="291019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Encontrar cómo llegar de un punto a otro.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"/>
          <p:cNvSpPr txBox="1"/>
          <p:nvPr/>
        </p:nvSpPr>
        <p:spPr>
          <a:xfrm>
            <a:off x="640079" y="256031"/>
            <a:ext cx="276680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Actividad de cierre</a:t>
            </a:r>
          </a:p>
        </p:txBody>
      </p:sp>
      <p:sp>
        <p:nvSpPr>
          <p:cNvPr id="282" name="Rounded Rectangle 3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Rectangle 4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5"/>
          <p:cNvSpPr txBox="1"/>
          <p:nvPr/>
        </p:nvSpPr>
        <p:spPr>
          <a:xfrm>
            <a:off x="886966" y="1554480"/>
            <a:ext cx="198820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1. Algoritmo cotidiano</a:t>
            </a:r>
          </a:p>
        </p:txBody>
      </p:sp>
      <p:sp>
        <p:nvSpPr>
          <p:cNvPr id="285" name="TextBox 6"/>
          <p:cNvSpPr txBox="1"/>
          <p:nvPr/>
        </p:nvSpPr>
        <p:spPr>
          <a:xfrm>
            <a:off x="886966" y="2011679"/>
            <a:ext cx="314535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Escribe 5–8 pasos para preparar algo sencillo.</a:t>
            </a:r>
          </a:p>
        </p:txBody>
      </p:sp>
      <p:sp>
        <p:nvSpPr>
          <p:cNvPr id="286" name="Rounded Rectangle 7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8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9"/>
          <p:cNvSpPr txBox="1"/>
          <p:nvPr/>
        </p:nvSpPr>
        <p:spPr>
          <a:xfrm>
            <a:off x="6464808" y="1554480"/>
            <a:ext cx="205696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2. Detecta ambigüedad</a:t>
            </a:r>
          </a:p>
        </p:txBody>
      </p:sp>
      <p:sp>
        <p:nvSpPr>
          <p:cNvPr id="289" name="TextBox 10"/>
          <p:cNvSpPr txBox="1"/>
          <p:nvPr/>
        </p:nvSpPr>
        <p:spPr>
          <a:xfrm>
            <a:off x="6464808" y="2011679"/>
            <a:ext cx="3816553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Intercambia tu algoritmo con otra persona.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¿Hay pasos que se puedan interpretar de dos maneras?</a:t>
            </a:r>
          </a:p>
        </p:txBody>
      </p:sp>
      <p:sp>
        <p:nvSpPr>
          <p:cNvPr id="290" name="Rounded Rectangle 11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2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3"/>
          <p:cNvSpPr txBox="1"/>
          <p:nvPr/>
        </p:nvSpPr>
        <p:spPr>
          <a:xfrm>
            <a:off x="886966" y="3840479"/>
            <a:ext cx="2285466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3. Ordenamiento humano</a:t>
            </a:r>
          </a:p>
        </p:txBody>
      </p:sp>
      <p:sp>
        <p:nvSpPr>
          <p:cNvPr id="293" name="TextBox 14"/>
          <p:cNvSpPr txBox="1"/>
          <p:nvPr/>
        </p:nvSpPr>
        <p:spPr>
          <a:xfrm>
            <a:off x="886966" y="4297679"/>
            <a:ext cx="3599295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Cinco estudiantes sostienen números y representan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Bubble Sort físicamente.</a:t>
            </a:r>
          </a:p>
        </p:txBody>
      </p:sp>
      <p:sp>
        <p:nvSpPr>
          <p:cNvPr id="294" name="Rounded Rectangle 15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Rectangle 16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17"/>
          <p:cNvSpPr txBox="1"/>
          <p:nvPr/>
        </p:nvSpPr>
        <p:spPr>
          <a:xfrm>
            <a:off x="6464808" y="3840479"/>
            <a:ext cx="147980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4. Pseudocódigo</a:t>
            </a:r>
          </a:p>
        </p:txBody>
      </p:sp>
      <p:sp>
        <p:nvSpPr>
          <p:cNvPr id="297" name="TextBox 18"/>
          <p:cNvSpPr txBox="1"/>
          <p:nvPr/>
        </p:nvSpPr>
        <p:spPr>
          <a:xfrm>
            <a:off x="6464808" y="4297679"/>
            <a:ext cx="507616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Convierte el algoritmo cotidiano a palabras como SI, REPETIR y MIENTRAS.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