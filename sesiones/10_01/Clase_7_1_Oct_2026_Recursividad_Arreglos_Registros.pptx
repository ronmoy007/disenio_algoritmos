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222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777239" y="1051559"/>
            <a:ext cx="5142755" cy="1201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3900">
                <a:solidFill>
                  <a:srgbClr val="FFFFFF"/>
                </a:solidFill>
              </a:defRPr>
            </a:pPr>
            <a:r>
              <a:t>Recursividad + arreglos,</a:t>
            </a:r>
          </a:p>
          <a:p>
            <a:pPr>
              <a:defRPr b="1" sz="3900">
                <a:solidFill>
                  <a:srgbClr val="FFFFFF"/>
                </a:solidFill>
              </a:defRPr>
            </a:pPr>
            <a:r>
              <a:t>registros y declaraciones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95527" y="3383279"/>
            <a:ext cx="4582628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BFDBFE"/>
                </a:solidFill>
              </a:defRPr>
            </a:lvl1pPr>
          </a:lstStyle>
          <a:p>
            <a:pPr/>
            <a:r>
              <a:t>Clase 7 · Jueves 1 de octubre de 2026 · Aula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2"/>
          <p:cNvSpPr txBox="1"/>
          <p:nvPr/>
        </p:nvSpPr>
        <p:spPr>
          <a:xfrm>
            <a:off x="640079" y="256032"/>
            <a:ext cx="1806754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Noticia tech</a:t>
            </a:r>
          </a:p>
        </p:txBody>
      </p:sp>
      <p:pic>
        <p:nvPicPr>
          <p:cNvPr id="10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66950" y="1543050"/>
            <a:ext cx="7645400" cy="37719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2"/>
          <p:cNvSpPr txBox="1"/>
          <p:nvPr/>
        </p:nvSpPr>
        <p:spPr>
          <a:xfrm>
            <a:off x="640079" y="256031"/>
            <a:ext cx="3614681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Vistazo al mundo laboral</a:t>
            </a:r>
          </a:p>
        </p:txBody>
      </p:sp>
      <p:pic>
        <p:nvPicPr>
          <p:cNvPr id="10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9088" y="1309217"/>
            <a:ext cx="10521124" cy="42395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2"/>
          <p:cNvSpPr txBox="1"/>
          <p:nvPr/>
        </p:nvSpPr>
        <p:spPr>
          <a:xfrm>
            <a:off x="640079" y="256031"/>
            <a:ext cx="3614681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Vistazo al mundo laboral</a:t>
            </a:r>
          </a:p>
        </p:txBody>
      </p:sp>
      <p:pic>
        <p:nvPicPr>
          <p:cNvPr id="1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8950" y="2051050"/>
            <a:ext cx="11201400" cy="27559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2"/>
          <p:cNvSpPr txBox="1"/>
          <p:nvPr/>
        </p:nvSpPr>
        <p:spPr>
          <a:xfrm>
            <a:off x="640079" y="256031"/>
            <a:ext cx="3614681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Vistazo al mundo laboral</a:t>
            </a:r>
          </a:p>
        </p:txBody>
      </p:sp>
      <p:pic>
        <p:nvPicPr>
          <p:cNvPr id="10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2748" y="2124882"/>
            <a:ext cx="10613804" cy="26082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2"/>
          <p:cNvSpPr txBox="1"/>
          <p:nvPr/>
        </p:nvSpPr>
        <p:spPr>
          <a:xfrm>
            <a:off x="640079" y="256031"/>
            <a:ext cx="3614681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Vistazo al mundo laboral</a:t>
            </a:r>
          </a:p>
        </p:txBody>
      </p:sp>
      <p:pic>
        <p:nvPicPr>
          <p:cNvPr id="11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752" y="2123981"/>
            <a:ext cx="10751796" cy="26100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2"/>
          <p:cNvSpPr txBox="1"/>
          <p:nvPr/>
        </p:nvSpPr>
        <p:spPr>
          <a:xfrm>
            <a:off x="640079" y="256031"/>
            <a:ext cx="3614681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Vistazo al mundo laboral</a:t>
            </a:r>
          </a:p>
        </p:txBody>
      </p:sp>
      <p:pic>
        <p:nvPicPr>
          <p:cNvPr id="11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8550" y="2603500"/>
            <a:ext cx="9982200" cy="1651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TextBox 2"/>
          <p:cNvSpPr txBox="1"/>
          <p:nvPr/>
        </p:nvSpPr>
        <p:spPr>
          <a:xfrm>
            <a:off x="640079" y="256031"/>
            <a:ext cx="3218872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¿Qué es recursividad?</a:t>
            </a:r>
          </a:p>
        </p:txBody>
      </p:sp>
      <p:sp>
        <p:nvSpPr>
          <p:cNvPr id="119" name="Rounded Rectangle 3"/>
          <p:cNvSpPr/>
          <p:nvPr/>
        </p:nvSpPr>
        <p:spPr>
          <a:xfrm>
            <a:off x="777240" y="1371600"/>
            <a:ext cx="10607041" cy="137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Rectangle 4"/>
          <p:cNvSpPr/>
          <p:nvPr/>
        </p:nvSpPr>
        <p:spPr>
          <a:xfrm>
            <a:off x="777240" y="1371600"/>
            <a:ext cx="73153" cy="1371600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5"/>
          <p:cNvSpPr txBox="1"/>
          <p:nvPr/>
        </p:nvSpPr>
        <p:spPr>
          <a:xfrm>
            <a:off x="1024127" y="1499616"/>
            <a:ext cx="538552" cy="330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22238"/>
                </a:solidFill>
              </a:defRPr>
            </a:lvl1pPr>
          </a:lstStyle>
          <a:p>
            <a:pPr/>
            <a:r>
              <a:t>Idea</a:t>
            </a:r>
          </a:p>
        </p:txBody>
      </p:sp>
      <p:sp>
        <p:nvSpPr>
          <p:cNvPr id="122" name="TextBox 6"/>
          <p:cNvSpPr txBox="1"/>
          <p:nvPr/>
        </p:nvSpPr>
        <p:spPr>
          <a:xfrm>
            <a:off x="1024127" y="1938527"/>
            <a:ext cx="9488449" cy="554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Una función es recursiva si se llama a sí misma con un valor más pequeño hasta llegar a un caso (base) que puede 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resolver directamente.</a:t>
            </a:r>
          </a:p>
        </p:txBody>
      </p:sp>
      <p:sp>
        <p:nvSpPr>
          <p:cNvPr id="123" name="Rounded Rectangle 7"/>
          <p:cNvSpPr/>
          <p:nvPr/>
        </p:nvSpPr>
        <p:spPr>
          <a:xfrm>
            <a:off x="640080" y="3291840"/>
            <a:ext cx="3489960" cy="1920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Rectangle 8"/>
          <p:cNvSpPr/>
          <p:nvPr/>
        </p:nvSpPr>
        <p:spPr>
          <a:xfrm>
            <a:off x="640080" y="3291840"/>
            <a:ext cx="73153" cy="192024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TextBox 9"/>
          <p:cNvSpPr txBox="1"/>
          <p:nvPr/>
        </p:nvSpPr>
        <p:spPr>
          <a:xfrm>
            <a:off x="886966" y="3419855"/>
            <a:ext cx="769205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Original</a:t>
            </a:r>
          </a:p>
        </p:txBody>
      </p:sp>
      <p:sp>
        <p:nvSpPr>
          <p:cNvPr id="126" name="TextBox 10"/>
          <p:cNvSpPr txBox="1"/>
          <p:nvPr/>
        </p:nvSpPr>
        <p:spPr>
          <a:xfrm>
            <a:off x="886966" y="3858767"/>
            <a:ext cx="1156735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Contar desde 4.</a:t>
            </a:r>
          </a:p>
        </p:txBody>
      </p:sp>
      <p:sp>
        <p:nvSpPr>
          <p:cNvPr id="127" name="Rounded Rectangle 11"/>
          <p:cNvSpPr/>
          <p:nvPr/>
        </p:nvSpPr>
        <p:spPr>
          <a:xfrm>
            <a:off x="4358640" y="3291840"/>
            <a:ext cx="3489960" cy="1920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Rectangle 12"/>
          <p:cNvSpPr/>
          <p:nvPr/>
        </p:nvSpPr>
        <p:spPr>
          <a:xfrm>
            <a:off x="4358640" y="3291840"/>
            <a:ext cx="73153" cy="192024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extBox 13"/>
          <p:cNvSpPr txBox="1"/>
          <p:nvPr/>
        </p:nvSpPr>
        <p:spPr>
          <a:xfrm>
            <a:off x="4605528" y="3419855"/>
            <a:ext cx="1259047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Más pequeño</a:t>
            </a:r>
          </a:p>
        </p:txBody>
      </p:sp>
      <p:sp>
        <p:nvSpPr>
          <p:cNvPr id="130" name="TextBox 14"/>
          <p:cNvSpPr txBox="1"/>
          <p:nvPr/>
        </p:nvSpPr>
        <p:spPr>
          <a:xfrm>
            <a:off x="4605528" y="3858767"/>
            <a:ext cx="1576417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Luego contar desde 3.</a:t>
            </a:r>
          </a:p>
        </p:txBody>
      </p:sp>
      <p:sp>
        <p:nvSpPr>
          <p:cNvPr id="131" name="Rounded Rectangle 15"/>
          <p:cNvSpPr/>
          <p:nvPr/>
        </p:nvSpPr>
        <p:spPr>
          <a:xfrm>
            <a:off x="8077199" y="3291840"/>
            <a:ext cx="3489961" cy="1920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Rectangle 16"/>
          <p:cNvSpPr/>
          <p:nvPr/>
        </p:nvSpPr>
        <p:spPr>
          <a:xfrm>
            <a:off x="8077199" y="3291840"/>
            <a:ext cx="73153" cy="192024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TextBox 17"/>
          <p:cNvSpPr txBox="1"/>
          <p:nvPr/>
        </p:nvSpPr>
        <p:spPr>
          <a:xfrm>
            <a:off x="8324086" y="3419855"/>
            <a:ext cx="506572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Final</a:t>
            </a:r>
          </a:p>
        </p:txBody>
      </p:sp>
      <p:sp>
        <p:nvSpPr>
          <p:cNvPr id="134" name="TextBox 18"/>
          <p:cNvSpPr txBox="1"/>
          <p:nvPr/>
        </p:nvSpPr>
        <p:spPr>
          <a:xfrm>
            <a:off x="8324086" y="3858767"/>
            <a:ext cx="151523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Al llegar a 0, detener.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extBox 2"/>
          <p:cNvSpPr txBox="1"/>
          <p:nvPr/>
        </p:nvSpPr>
        <p:spPr>
          <a:xfrm>
            <a:off x="640079" y="256032"/>
            <a:ext cx="4661296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Dos ingredientes indispensables</a:t>
            </a:r>
          </a:p>
        </p:txBody>
      </p:sp>
      <p:sp>
        <p:nvSpPr>
          <p:cNvPr id="138" name="Rounded Rectangle 3"/>
          <p:cNvSpPr/>
          <p:nvPr/>
        </p:nvSpPr>
        <p:spPr>
          <a:xfrm>
            <a:off x="731519" y="1371600"/>
            <a:ext cx="5166361" cy="34747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Rectangle 4"/>
          <p:cNvSpPr/>
          <p:nvPr/>
        </p:nvSpPr>
        <p:spPr>
          <a:xfrm>
            <a:off x="731519" y="1371599"/>
            <a:ext cx="73153" cy="3474722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TextBox 5"/>
          <p:cNvSpPr txBox="1"/>
          <p:nvPr/>
        </p:nvSpPr>
        <p:spPr>
          <a:xfrm>
            <a:off x="978408" y="1499616"/>
            <a:ext cx="1097854" cy="330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22238"/>
                </a:solidFill>
              </a:defRPr>
            </a:lvl1pPr>
          </a:lstStyle>
          <a:p>
            <a:pPr/>
            <a:r>
              <a:t>Caso base</a:t>
            </a:r>
          </a:p>
        </p:txBody>
      </p:sp>
      <p:sp>
        <p:nvSpPr>
          <p:cNvPr id="141" name="TextBox 6"/>
          <p:cNvSpPr txBox="1"/>
          <p:nvPr/>
        </p:nvSpPr>
        <p:spPr>
          <a:xfrm>
            <a:off x="978408" y="1938527"/>
            <a:ext cx="3063637" cy="1062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Condición que detiene las llamadas.</a:t>
            </a:r>
            <a:br/>
            <a:br/>
            <a:r>
              <a:t>if n == 0:</a:t>
            </a:r>
            <a:br/>
            <a:r>
              <a:t>    return</a:t>
            </a:r>
          </a:p>
        </p:txBody>
      </p:sp>
      <p:sp>
        <p:nvSpPr>
          <p:cNvPr id="142" name="Rounded Rectangle 7"/>
          <p:cNvSpPr/>
          <p:nvPr/>
        </p:nvSpPr>
        <p:spPr>
          <a:xfrm>
            <a:off x="6263640" y="1371600"/>
            <a:ext cx="5314708" cy="34747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Rectangle 8"/>
          <p:cNvSpPr/>
          <p:nvPr/>
        </p:nvSpPr>
        <p:spPr>
          <a:xfrm>
            <a:off x="6263640" y="1371599"/>
            <a:ext cx="73153" cy="347472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TextBox 9"/>
          <p:cNvSpPr txBox="1"/>
          <p:nvPr/>
        </p:nvSpPr>
        <p:spPr>
          <a:xfrm>
            <a:off x="6510526" y="1499616"/>
            <a:ext cx="1546522" cy="330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22238"/>
                </a:solidFill>
              </a:defRPr>
            </a:lvl1pPr>
          </a:lstStyle>
          <a:p>
            <a:pPr/>
            <a:r>
              <a:t>Caso recursivo</a:t>
            </a:r>
          </a:p>
        </p:txBody>
      </p:sp>
      <p:sp>
        <p:nvSpPr>
          <p:cNvPr id="145" name="TextBox 10"/>
          <p:cNvSpPr txBox="1"/>
          <p:nvPr/>
        </p:nvSpPr>
        <p:spPr>
          <a:xfrm>
            <a:off x="6510526" y="1938527"/>
            <a:ext cx="5023209" cy="808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La función vuelve a llamarse con una entrada más pequeña.</a:t>
            </a:r>
            <a:br/>
            <a:br/>
            <a:r>
              <a:t>cuenta(n - 1)</a:t>
            </a:r>
          </a:p>
        </p:txBody>
      </p:sp>
      <p:sp>
        <p:nvSpPr>
          <p:cNvPr id="146" name="Rounded Rectangle 11"/>
          <p:cNvSpPr/>
          <p:nvPr/>
        </p:nvSpPr>
        <p:spPr>
          <a:xfrm>
            <a:off x="1600200" y="5166359"/>
            <a:ext cx="9006841" cy="1053069"/>
          </a:xfrm>
          <a:prstGeom prst="roundRect">
            <a:avLst>
              <a:gd name="adj" fmla="val 12301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Rectangle 12"/>
          <p:cNvSpPr/>
          <p:nvPr/>
        </p:nvSpPr>
        <p:spPr>
          <a:xfrm>
            <a:off x="1600199" y="5166359"/>
            <a:ext cx="73154" cy="1053069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13"/>
          <p:cNvSpPr txBox="1"/>
          <p:nvPr/>
        </p:nvSpPr>
        <p:spPr>
          <a:xfrm>
            <a:off x="1847087" y="5294376"/>
            <a:ext cx="593184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Regla</a:t>
            </a:r>
          </a:p>
        </p:txBody>
      </p:sp>
      <p:sp>
        <p:nvSpPr>
          <p:cNvPr id="149" name="TextBox 14"/>
          <p:cNvSpPr txBox="1"/>
          <p:nvPr/>
        </p:nvSpPr>
        <p:spPr>
          <a:xfrm>
            <a:off x="1847087" y="5733288"/>
            <a:ext cx="325557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Cada llamada debe acercarnos al caso base.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TextBox 2"/>
          <p:cNvSpPr txBox="1"/>
          <p:nvPr/>
        </p:nvSpPr>
        <p:spPr>
          <a:xfrm>
            <a:off x="640079" y="256032"/>
            <a:ext cx="6453317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Ejemplo sencillo en Python: cuenta regresiva</a:t>
            </a:r>
          </a:p>
        </p:txBody>
      </p:sp>
      <p:sp>
        <p:nvSpPr>
          <p:cNvPr id="153" name="Rounded Rectangle 3"/>
          <p:cNvSpPr/>
          <p:nvPr/>
        </p:nvSpPr>
        <p:spPr>
          <a:xfrm>
            <a:off x="685800" y="1325880"/>
            <a:ext cx="5257800" cy="4160521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7C3AE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TextBox 4"/>
          <p:cNvSpPr txBox="1"/>
          <p:nvPr/>
        </p:nvSpPr>
        <p:spPr>
          <a:xfrm>
            <a:off x="914399" y="1435607"/>
            <a:ext cx="51983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155" name="TextBox 5"/>
          <p:cNvSpPr txBox="1"/>
          <p:nvPr/>
        </p:nvSpPr>
        <p:spPr>
          <a:xfrm>
            <a:off x="932687" y="1801367"/>
            <a:ext cx="2984970" cy="180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cuenta_regresiva(n):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n == 0: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print("¡Despegue!")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return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print(n)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cuenta_regresiva(n - 1)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cuenta_regresiva(4)</a:t>
            </a:r>
          </a:p>
        </p:txBody>
      </p:sp>
      <p:sp>
        <p:nvSpPr>
          <p:cNvPr id="156" name="Rounded Rectangle 6"/>
          <p:cNvSpPr/>
          <p:nvPr/>
        </p:nvSpPr>
        <p:spPr>
          <a:xfrm>
            <a:off x="6263640" y="1325880"/>
            <a:ext cx="5212081" cy="30175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Rectangle 7"/>
          <p:cNvSpPr/>
          <p:nvPr/>
        </p:nvSpPr>
        <p:spPr>
          <a:xfrm>
            <a:off x="6263640" y="1325879"/>
            <a:ext cx="73153" cy="3017522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extBox 8"/>
          <p:cNvSpPr txBox="1"/>
          <p:nvPr/>
        </p:nvSpPr>
        <p:spPr>
          <a:xfrm>
            <a:off x="6510526" y="1453894"/>
            <a:ext cx="704446" cy="33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22238"/>
                </a:solidFill>
              </a:defRPr>
            </a:lvl1pPr>
          </a:lstStyle>
          <a:p>
            <a:pPr/>
            <a:r>
              <a:t>Salida</a:t>
            </a:r>
          </a:p>
        </p:txBody>
      </p:sp>
      <p:sp>
        <p:nvSpPr>
          <p:cNvPr id="159" name="TextBox 9"/>
          <p:cNvSpPr txBox="1"/>
          <p:nvPr/>
        </p:nvSpPr>
        <p:spPr>
          <a:xfrm>
            <a:off x="6510526" y="1892806"/>
            <a:ext cx="1172132" cy="1501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475569"/>
                </a:solidFill>
              </a:defRPr>
            </a:pPr>
            <a:r>
              <a:t>4</a:t>
            </a:r>
            <a:br/>
            <a:r>
              <a:t>3</a:t>
            </a:r>
            <a:br/>
            <a:r>
              <a:t>2</a:t>
            </a:r>
            <a:br/>
            <a:r>
              <a:t>1</a:t>
            </a:r>
            <a:br/>
            <a:r>
              <a:t>¡Despegue!</a:t>
            </a:r>
          </a:p>
        </p:txBody>
      </p:sp>
      <p:sp>
        <p:nvSpPr>
          <p:cNvPr id="160" name="Rounded Rectangle 10"/>
          <p:cNvSpPr/>
          <p:nvPr/>
        </p:nvSpPr>
        <p:spPr>
          <a:xfrm>
            <a:off x="6263640" y="4572000"/>
            <a:ext cx="5212081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Rectangle 11"/>
          <p:cNvSpPr/>
          <p:nvPr/>
        </p:nvSpPr>
        <p:spPr>
          <a:xfrm>
            <a:off x="6263640" y="4572000"/>
            <a:ext cx="73153" cy="914400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TextBox 12"/>
          <p:cNvSpPr txBox="1"/>
          <p:nvPr/>
        </p:nvSpPr>
        <p:spPr>
          <a:xfrm>
            <a:off x="6510526" y="4700015"/>
            <a:ext cx="94095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Caso base</a:t>
            </a:r>
          </a:p>
        </p:txBody>
      </p:sp>
      <p:sp>
        <p:nvSpPr>
          <p:cNvPr id="163" name="TextBox 13"/>
          <p:cNvSpPr txBox="1"/>
          <p:nvPr/>
        </p:nvSpPr>
        <p:spPr>
          <a:xfrm>
            <a:off x="6510526" y="5138928"/>
            <a:ext cx="545169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n == 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TextBox 2"/>
          <p:cNvSpPr txBox="1"/>
          <p:nvPr/>
        </p:nvSpPr>
        <p:spPr>
          <a:xfrm>
            <a:off x="640079" y="256032"/>
            <a:ext cx="3711624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Trace: seguir las llamadas</a:t>
            </a:r>
          </a:p>
        </p:txBody>
      </p:sp>
      <p:sp>
        <p:nvSpPr>
          <p:cNvPr id="167" name="Rounded Rectangle 3"/>
          <p:cNvSpPr/>
          <p:nvPr/>
        </p:nvSpPr>
        <p:spPr>
          <a:xfrm>
            <a:off x="640080" y="1371600"/>
            <a:ext cx="348996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Rectangle 4"/>
          <p:cNvSpPr/>
          <p:nvPr/>
        </p:nvSpPr>
        <p:spPr>
          <a:xfrm>
            <a:off x="640080" y="1371600"/>
            <a:ext cx="73153" cy="1828800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TextBox 5"/>
          <p:cNvSpPr txBox="1"/>
          <p:nvPr/>
        </p:nvSpPr>
        <p:spPr>
          <a:xfrm>
            <a:off x="886967" y="1499616"/>
            <a:ext cx="20713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0" name="TextBox 6"/>
          <p:cNvSpPr txBox="1"/>
          <p:nvPr/>
        </p:nvSpPr>
        <p:spPr>
          <a:xfrm>
            <a:off x="886967" y="1938527"/>
            <a:ext cx="744225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cuenta(4)</a:t>
            </a:r>
          </a:p>
        </p:txBody>
      </p:sp>
      <p:sp>
        <p:nvSpPr>
          <p:cNvPr id="171" name="Rounded Rectangle 7"/>
          <p:cNvSpPr/>
          <p:nvPr/>
        </p:nvSpPr>
        <p:spPr>
          <a:xfrm>
            <a:off x="4358640" y="1371600"/>
            <a:ext cx="348996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Rectangle 8"/>
          <p:cNvSpPr/>
          <p:nvPr/>
        </p:nvSpPr>
        <p:spPr>
          <a:xfrm>
            <a:off x="4358640" y="1371600"/>
            <a:ext cx="73153" cy="1828800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TextBox 9"/>
          <p:cNvSpPr txBox="1"/>
          <p:nvPr/>
        </p:nvSpPr>
        <p:spPr>
          <a:xfrm>
            <a:off x="4605528" y="1499616"/>
            <a:ext cx="20713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74" name="TextBox 10"/>
          <p:cNvSpPr txBox="1"/>
          <p:nvPr/>
        </p:nvSpPr>
        <p:spPr>
          <a:xfrm>
            <a:off x="4605528" y="1938527"/>
            <a:ext cx="744226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cuenta(3)</a:t>
            </a:r>
          </a:p>
        </p:txBody>
      </p:sp>
      <p:sp>
        <p:nvSpPr>
          <p:cNvPr id="175" name="Rounded Rectangle 11"/>
          <p:cNvSpPr/>
          <p:nvPr/>
        </p:nvSpPr>
        <p:spPr>
          <a:xfrm>
            <a:off x="8077199" y="1371600"/>
            <a:ext cx="3489961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Rectangle 12"/>
          <p:cNvSpPr/>
          <p:nvPr/>
        </p:nvSpPr>
        <p:spPr>
          <a:xfrm>
            <a:off x="8077199" y="1371600"/>
            <a:ext cx="73153" cy="1828800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13"/>
          <p:cNvSpPr txBox="1"/>
          <p:nvPr/>
        </p:nvSpPr>
        <p:spPr>
          <a:xfrm>
            <a:off x="8324086" y="1499616"/>
            <a:ext cx="20713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78" name="TextBox 14"/>
          <p:cNvSpPr txBox="1"/>
          <p:nvPr/>
        </p:nvSpPr>
        <p:spPr>
          <a:xfrm>
            <a:off x="8324086" y="1938527"/>
            <a:ext cx="744226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cuenta(2)</a:t>
            </a:r>
          </a:p>
        </p:txBody>
      </p:sp>
      <p:sp>
        <p:nvSpPr>
          <p:cNvPr id="179" name="Rounded Rectangle 15"/>
          <p:cNvSpPr/>
          <p:nvPr/>
        </p:nvSpPr>
        <p:spPr>
          <a:xfrm>
            <a:off x="640080" y="3520440"/>
            <a:ext cx="3489960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Rectangle 16"/>
          <p:cNvSpPr/>
          <p:nvPr/>
        </p:nvSpPr>
        <p:spPr>
          <a:xfrm>
            <a:off x="640080" y="3520440"/>
            <a:ext cx="73153" cy="182880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TextBox 17"/>
          <p:cNvSpPr txBox="1"/>
          <p:nvPr/>
        </p:nvSpPr>
        <p:spPr>
          <a:xfrm>
            <a:off x="886967" y="3648455"/>
            <a:ext cx="207130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82" name="TextBox 18"/>
          <p:cNvSpPr txBox="1"/>
          <p:nvPr/>
        </p:nvSpPr>
        <p:spPr>
          <a:xfrm>
            <a:off x="886967" y="4087367"/>
            <a:ext cx="744225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cuenta(1)</a:t>
            </a:r>
          </a:p>
        </p:txBody>
      </p:sp>
      <p:sp>
        <p:nvSpPr>
          <p:cNvPr id="183" name="Rounded Rectangle 19"/>
          <p:cNvSpPr/>
          <p:nvPr/>
        </p:nvSpPr>
        <p:spPr>
          <a:xfrm>
            <a:off x="4358640" y="3520440"/>
            <a:ext cx="3489960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Rectangle 20"/>
          <p:cNvSpPr/>
          <p:nvPr/>
        </p:nvSpPr>
        <p:spPr>
          <a:xfrm>
            <a:off x="4358640" y="3520440"/>
            <a:ext cx="73153" cy="1828801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extBox 21"/>
          <p:cNvSpPr txBox="1"/>
          <p:nvPr/>
        </p:nvSpPr>
        <p:spPr>
          <a:xfrm>
            <a:off x="4605528" y="3648455"/>
            <a:ext cx="534353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BASE</a:t>
            </a:r>
          </a:p>
        </p:txBody>
      </p:sp>
      <p:sp>
        <p:nvSpPr>
          <p:cNvPr id="186" name="TextBox 22"/>
          <p:cNvSpPr txBox="1"/>
          <p:nvPr/>
        </p:nvSpPr>
        <p:spPr>
          <a:xfrm>
            <a:off x="4605528" y="4087367"/>
            <a:ext cx="744226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cuenta(0)</a:t>
            </a:r>
          </a:p>
        </p:txBody>
      </p:sp>
      <p:sp>
        <p:nvSpPr>
          <p:cNvPr id="187" name="Rounded Rectangle 23"/>
          <p:cNvSpPr/>
          <p:nvPr/>
        </p:nvSpPr>
        <p:spPr>
          <a:xfrm>
            <a:off x="1463039" y="5486400"/>
            <a:ext cx="9144001" cy="931154"/>
          </a:xfrm>
          <a:prstGeom prst="roundRect">
            <a:avLst>
              <a:gd name="adj" fmla="val 1145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Rectangle 24"/>
          <p:cNvSpPr/>
          <p:nvPr/>
        </p:nvSpPr>
        <p:spPr>
          <a:xfrm>
            <a:off x="1463039" y="5486399"/>
            <a:ext cx="73153" cy="931155"/>
          </a:xfrm>
          <a:prstGeom prst="rect">
            <a:avLst/>
          </a:prstGeom>
          <a:solidFill>
            <a:srgbClr val="1222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25"/>
          <p:cNvSpPr txBox="1"/>
          <p:nvPr/>
        </p:nvSpPr>
        <p:spPr>
          <a:xfrm>
            <a:off x="1709927" y="5614415"/>
            <a:ext cx="8382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122238"/>
                </a:solidFill>
              </a:defRPr>
            </a:lvl1pPr>
          </a:lstStyle>
          <a:p>
            <a:pPr/>
            <a:r>
              <a:t>Secuencia</a:t>
            </a:r>
          </a:p>
        </p:txBody>
      </p:sp>
      <p:sp>
        <p:nvSpPr>
          <p:cNvPr id="190" name="TextBox 26"/>
          <p:cNvSpPr txBox="1"/>
          <p:nvPr/>
        </p:nvSpPr>
        <p:spPr>
          <a:xfrm>
            <a:off x="1709927" y="6035040"/>
            <a:ext cx="201405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4 → 3 → 2 → 1 → 0 → detener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" name="TextBox 2"/>
          <p:cNvSpPr txBox="1"/>
          <p:nvPr/>
        </p:nvSpPr>
        <p:spPr>
          <a:xfrm>
            <a:off x="640079" y="256032"/>
            <a:ext cx="2805316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La pila de llamadas</a:t>
            </a:r>
          </a:p>
        </p:txBody>
      </p:sp>
      <p:sp>
        <p:nvSpPr>
          <p:cNvPr id="194" name="Rounded Rectangle 3"/>
          <p:cNvSpPr/>
          <p:nvPr/>
        </p:nvSpPr>
        <p:spPr>
          <a:xfrm>
            <a:off x="3931920" y="1234439"/>
            <a:ext cx="4389121" cy="685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Rectangle 4"/>
          <p:cNvSpPr/>
          <p:nvPr/>
        </p:nvSpPr>
        <p:spPr>
          <a:xfrm>
            <a:off x="3931920" y="1234439"/>
            <a:ext cx="73153" cy="68580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TextBox 5"/>
          <p:cNvSpPr txBox="1"/>
          <p:nvPr/>
        </p:nvSpPr>
        <p:spPr>
          <a:xfrm>
            <a:off x="4178806" y="1362455"/>
            <a:ext cx="855909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500">
                <a:solidFill>
                  <a:srgbClr val="122238"/>
                </a:solidFill>
              </a:defRPr>
            </a:lvl1pPr>
          </a:lstStyle>
          <a:p>
            <a:pPr/>
            <a:r>
              <a:t>cuenta(4)</a:t>
            </a:r>
          </a:p>
        </p:txBody>
      </p:sp>
      <p:sp>
        <p:nvSpPr>
          <p:cNvPr id="197" name="Rounded Rectangle 7"/>
          <p:cNvSpPr/>
          <p:nvPr/>
        </p:nvSpPr>
        <p:spPr>
          <a:xfrm>
            <a:off x="3931920" y="2130551"/>
            <a:ext cx="4389121" cy="685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Rectangle 8"/>
          <p:cNvSpPr/>
          <p:nvPr/>
        </p:nvSpPr>
        <p:spPr>
          <a:xfrm>
            <a:off x="3931920" y="2130551"/>
            <a:ext cx="73153" cy="68580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TextBox 9"/>
          <p:cNvSpPr txBox="1"/>
          <p:nvPr/>
        </p:nvSpPr>
        <p:spPr>
          <a:xfrm>
            <a:off x="4178806" y="2258567"/>
            <a:ext cx="855909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500">
                <a:solidFill>
                  <a:srgbClr val="122238"/>
                </a:solidFill>
              </a:defRPr>
            </a:lvl1pPr>
          </a:lstStyle>
          <a:p>
            <a:pPr/>
            <a:r>
              <a:t>cuenta(3)</a:t>
            </a:r>
          </a:p>
        </p:txBody>
      </p:sp>
      <p:sp>
        <p:nvSpPr>
          <p:cNvPr id="200" name="Rounded Rectangle 11"/>
          <p:cNvSpPr/>
          <p:nvPr/>
        </p:nvSpPr>
        <p:spPr>
          <a:xfrm>
            <a:off x="3931920" y="3026664"/>
            <a:ext cx="4389121" cy="685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Rectangle 12"/>
          <p:cNvSpPr/>
          <p:nvPr/>
        </p:nvSpPr>
        <p:spPr>
          <a:xfrm>
            <a:off x="3931920" y="3026664"/>
            <a:ext cx="73153" cy="68580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TextBox 13"/>
          <p:cNvSpPr txBox="1"/>
          <p:nvPr/>
        </p:nvSpPr>
        <p:spPr>
          <a:xfrm>
            <a:off x="4178806" y="3154679"/>
            <a:ext cx="855909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500">
                <a:solidFill>
                  <a:srgbClr val="122238"/>
                </a:solidFill>
              </a:defRPr>
            </a:lvl1pPr>
          </a:lstStyle>
          <a:p>
            <a:pPr/>
            <a:r>
              <a:t>cuenta(2)</a:t>
            </a:r>
          </a:p>
        </p:txBody>
      </p:sp>
      <p:sp>
        <p:nvSpPr>
          <p:cNvPr id="203" name="Rounded Rectangle 15"/>
          <p:cNvSpPr/>
          <p:nvPr/>
        </p:nvSpPr>
        <p:spPr>
          <a:xfrm>
            <a:off x="3931920" y="3922776"/>
            <a:ext cx="4389121" cy="685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Rectangle 16"/>
          <p:cNvSpPr/>
          <p:nvPr/>
        </p:nvSpPr>
        <p:spPr>
          <a:xfrm>
            <a:off x="3931920" y="3922776"/>
            <a:ext cx="73153" cy="68580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TextBox 17"/>
          <p:cNvSpPr txBox="1"/>
          <p:nvPr/>
        </p:nvSpPr>
        <p:spPr>
          <a:xfrm>
            <a:off x="4178806" y="4050791"/>
            <a:ext cx="855909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500">
                <a:solidFill>
                  <a:srgbClr val="122238"/>
                </a:solidFill>
              </a:defRPr>
            </a:lvl1pPr>
          </a:lstStyle>
          <a:p>
            <a:pPr/>
            <a:r>
              <a:t>cuenta(1)</a:t>
            </a:r>
          </a:p>
        </p:txBody>
      </p:sp>
      <p:sp>
        <p:nvSpPr>
          <p:cNvPr id="206" name="Rounded Rectangle 19"/>
          <p:cNvSpPr/>
          <p:nvPr/>
        </p:nvSpPr>
        <p:spPr>
          <a:xfrm>
            <a:off x="3931920" y="4818888"/>
            <a:ext cx="4389121" cy="685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Rectangle 20"/>
          <p:cNvSpPr/>
          <p:nvPr/>
        </p:nvSpPr>
        <p:spPr>
          <a:xfrm>
            <a:off x="3931920" y="4818888"/>
            <a:ext cx="73153" cy="685801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" name="TextBox 21"/>
          <p:cNvSpPr txBox="1"/>
          <p:nvPr/>
        </p:nvSpPr>
        <p:spPr>
          <a:xfrm>
            <a:off x="4178806" y="4946903"/>
            <a:ext cx="139634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500">
                <a:solidFill>
                  <a:srgbClr val="122238"/>
                </a:solidFill>
              </a:defRPr>
            </a:lvl1pPr>
          </a:lstStyle>
          <a:p>
            <a:pPr/>
            <a:r>
              <a:t>cuenta(0) · BASE</a:t>
            </a:r>
          </a:p>
        </p:txBody>
      </p:sp>
      <p:sp>
        <p:nvSpPr>
          <p:cNvPr id="209" name="Rounded Rectangle 23"/>
          <p:cNvSpPr/>
          <p:nvPr/>
        </p:nvSpPr>
        <p:spPr>
          <a:xfrm>
            <a:off x="822960" y="1828800"/>
            <a:ext cx="2651761" cy="25603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" name="Rectangle 24"/>
          <p:cNvSpPr/>
          <p:nvPr/>
        </p:nvSpPr>
        <p:spPr>
          <a:xfrm>
            <a:off x="822960" y="1828799"/>
            <a:ext cx="73153" cy="256032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TextBox 25"/>
          <p:cNvSpPr txBox="1"/>
          <p:nvPr/>
        </p:nvSpPr>
        <p:spPr>
          <a:xfrm>
            <a:off x="1069847" y="1956816"/>
            <a:ext cx="888466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Analogía</a:t>
            </a:r>
          </a:p>
        </p:txBody>
      </p:sp>
      <p:sp>
        <p:nvSpPr>
          <p:cNvPr id="212" name="TextBox 26"/>
          <p:cNvSpPr txBox="1"/>
          <p:nvPr/>
        </p:nvSpPr>
        <p:spPr>
          <a:xfrm>
            <a:off x="1069847" y="2395728"/>
            <a:ext cx="2364667" cy="737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Como una pila de platos: 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cada llamada queda pendiente 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mientras entra la siguiente.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" name="TextBox 2"/>
          <p:cNvSpPr txBox="1"/>
          <p:nvPr/>
        </p:nvSpPr>
        <p:spPr>
          <a:xfrm>
            <a:off x="640079" y="256032"/>
            <a:ext cx="3346120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Otro ejemplo: factorial</a:t>
            </a:r>
          </a:p>
        </p:txBody>
      </p:sp>
      <p:sp>
        <p:nvSpPr>
          <p:cNvPr id="216" name="Rounded Rectangle 3"/>
          <p:cNvSpPr/>
          <p:nvPr/>
        </p:nvSpPr>
        <p:spPr>
          <a:xfrm>
            <a:off x="685800" y="1325880"/>
            <a:ext cx="5212080" cy="15544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Rectangle 4"/>
          <p:cNvSpPr/>
          <p:nvPr/>
        </p:nvSpPr>
        <p:spPr>
          <a:xfrm>
            <a:off x="685799" y="1325880"/>
            <a:ext cx="73154" cy="155448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extBox 5"/>
          <p:cNvSpPr txBox="1"/>
          <p:nvPr/>
        </p:nvSpPr>
        <p:spPr>
          <a:xfrm>
            <a:off x="932687" y="1453894"/>
            <a:ext cx="305028" cy="33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22238"/>
                </a:solidFill>
              </a:defRPr>
            </a:lvl1pPr>
          </a:lstStyle>
          <a:p>
            <a:pPr/>
            <a:r>
              <a:t>4!</a:t>
            </a:r>
          </a:p>
        </p:txBody>
      </p:sp>
      <p:sp>
        <p:nvSpPr>
          <p:cNvPr id="219" name="TextBox 6"/>
          <p:cNvSpPr txBox="1"/>
          <p:nvPr/>
        </p:nvSpPr>
        <p:spPr>
          <a:xfrm>
            <a:off x="932687" y="1892806"/>
            <a:ext cx="1668176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475569"/>
                </a:solidFill>
              </a:defRPr>
            </a:lvl1pPr>
          </a:lstStyle>
          <a:p>
            <a:pPr/>
            <a:r>
              <a:t>4 × 3 × 2 × 1 = 24</a:t>
            </a:r>
          </a:p>
        </p:txBody>
      </p:sp>
      <p:sp>
        <p:nvSpPr>
          <p:cNvPr id="220" name="Rounded Rectangle 7"/>
          <p:cNvSpPr/>
          <p:nvPr/>
        </p:nvSpPr>
        <p:spPr>
          <a:xfrm>
            <a:off x="685800" y="3154679"/>
            <a:ext cx="5212080" cy="2194561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7C3AE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TextBox 8"/>
          <p:cNvSpPr txBox="1"/>
          <p:nvPr/>
        </p:nvSpPr>
        <p:spPr>
          <a:xfrm>
            <a:off x="914399" y="3264408"/>
            <a:ext cx="51983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222" name="TextBox 9"/>
          <p:cNvSpPr txBox="1"/>
          <p:nvPr/>
        </p:nvSpPr>
        <p:spPr>
          <a:xfrm>
            <a:off x="932687" y="3630167"/>
            <a:ext cx="3411760" cy="942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factorial(n):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n == 0: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return 1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n * factorial(n - 1)</a:t>
            </a:r>
          </a:p>
        </p:txBody>
      </p:sp>
      <p:sp>
        <p:nvSpPr>
          <p:cNvPr id="223" name="Rounded Rectangle 10"/>
          <p:cNvSpPr/>
          <p:nvPr/>
        </p:nvSpPr>
        <p:spPr>
          <a:xfrm>
            <a:off x="6217920" y="1325880"/>
            <a:ext cx="5212080" cy="4023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Rectangle 11"/>
          <p:cNvSpPr/>
          <p:nvPr/>
        </p:nvSpPr>
        <p:spPr>
          <a:xfrm>
            <a:off x="6217920" y="1325879"/>
            <a:ext cx="73153" cy="402336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5" name="TextBox 12"/>
          <p:cNvSpPr txBox="1"/>
          <p:nvPr/>
        </p:nvSpPr>
        <p:spPr>
          <a:xfrm>
            <a:off x="6464807" y="1453894"/>
            <a:ext cx="1071785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Expansión</a:t>
            </a:r>
          </a:p>
        </p:txBody>
      </p:sp>
      <p:sp>
        <p:nvSpPr>
          <p:cNvPr id="226" name="TextBox 13"/>
          <p:cNvSpPr txBox="1"/>
          <p:nvPr/>
        </p:nvSpPr>
        <p:spPr>
          <a:xfrm>
            <a:off x="6464807" y="1892807"/>
            <a:ext cx="2198153" cy="142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factorial(4)</a:t>
            </a:r>
            <a:br/>
            <a:r>
              <a:t>= 4 × factorial(3)</a:t>
            </a:r>
            <a:br/>
            <a:r>
              <a:t>= 4 × 3 × factorial(2)</a:t>
            </a:r>
            <a:br/>
            <a:r>
              <a:t>= 4 × 3 × 2 × factorial(1)</a:t>
            </a:r>
            <a:br/>
            <a:r>
              <a:t>= 4 × 3 × 2 × 1 × factorial(0)</a:t>
            </a:r>
            <a:br/>
            <a:r>
              <a:t>= 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TextBox 2"/>
          <p:cNvSpPr txBox="1"/>
          <p:nvPr/>
        </p:nvSpPr>
        <p:spPr>
          <a:xfrm>
            <a:off x="640079" y="256032"/>
            <a:ext cx="3682825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¿Qué pasa sin caso base?</a:t>
            </a:r>
          </a:p>
        </p:txBody>
      </p:sp>
      <p:sp>
        <p:nvSpPr>
          <p:cNvPr id="230" name="Rounded Rectangle 3"/>
          <p:cNvSpPr/>
          <p:nvPr/>
        </p:nvSpPr>
        <p:spPr>
          <a:xfrm>
            <a:off x="685800" y="1325880"/>
            <a:ext cx="5257800" cy="3291841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DC262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1" name="TextBox 4"/>
          <p:cNvSpPr txBox="1"/>
          <p:nvPr/>
        </p:nvSpPr>
        <p:spPr>
          <a:xfrm>
            <a:off x="914399" y="1435607"/>
            <a:ext cx="697935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Incorrecto</a:t>
            </a:r>
          </a:p>
        </p:txBody>
      </p:sp>
      <p:sp>
        <p:nvSpPr>
          <p:cNvPr id="232" name="TextBox 5"/>
          <p:cNvSpPr txBox="1"/>
          <p:nvPr/>
        </p:nvSpPr>
        <p:spPr>
          <a:xfrm>
            <a:off x="932687" y="1801367"/>
            <a:ext cx="2177119" cy="80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contar(n):</a:t>
            </a:r>
          </a:p>
          <a:p>
            <a:pPr>
              <a:spcBef>
                <a:spcPts val="100"/>
              </a:spcBef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print(n)</a:t>
            </a:r>
          </a:p>
          <a:p>
            <a:pPr>
              <a:spcBef>
                <a:spcPts val="100"/>
              </a:spcBef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contar(n - 1)</a:t>
            </a:r>
          </a:p>
        </p:txBody>
      </p:sp>
      <p:sp>
        <p:nvSpPr>
          <p:cNvPr id="233" name="Rounded Rectangle 6"/>
          <p:cNvSpPr/>
          <p:nvPr/>
        </p:nvSpPr>
        <p:spPr>
          <a:xfrm>
            <a:off x="6263640" y="1325880"/>
            <a:ext cx="5212081" cy="1463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Rectangle 7"/>
          <p:cNvSpPr/>
          <p:nvPr/>
        </p:nvSpPr>
        <p:spPr>
          <a:xfrm>
            <a:off x="6263640" y="1325879"/>
            <a:ext cx="73153" cy="1463042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5" name="TextBox 8"/>
          <p:cNvSpPr txBox="1"/>
          <p:nvPr/>
        </p:nvSpPr>
        <p:spPr>
          <a:xfrm>
            <a:off x="6510526" y="1453894"/>
            <a:ext cx="969006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Problema</a:t>
            </a:r>
          </a:p>
        </p:txBody>
      </p:sp>
      <p:sp>
        <p:nvSpPr>
          <p:cNvPr id="236" name="TextBox 9"/>
          <p:cNvSpPr txBox="1"/>
          <p:nvPr/>
        </p:nvSpPr>
        <p:spPr>
          <a:xfrm>
            <a:off x="6510526" y="1892806"/>
            <a:ext cx="147393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4, 3, 2, 1, 0, -1, -2…</a:t>
            </a:r>
          </a:p>
        </p:txBody>
      </p:sp>
      <p:sp>
        <p:nvSpPr>
          <p:cNvPr id="237" name="Rounded Rectangle 10"/>
          <p:cNvSpPr/>
          <p:nvPr/>
        </p:nvSpPr>
        <p:spPr>
          <a:xfrm>
            <a:off x="6263640" y="3063239"/>
            <a:ext cx="5212081" cy="16916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Rectangle 11"/>
          <p:cNvSpPr/>
          <p:nvPr/>
        </p:nvSpPr>
        <p:spPr>
          <a:xfrm>
            <a:off x="6263640" y="3063239"/>
            <a:ext cx="73153" cy="1691641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TextBox 12"/>
          <p:cNvSpPr txBox="1"/>
          <p:nvPr/>
        </p:nvSpPr>
        <p:spPr>
          <a:xfrm>
            <a:off x="6510526" y="3191255"/>
            <a:ext cx="746570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240" name="TextBox 13"/>
          <p:cNvSpPr txBox="1"/>
          <p:nvPr/>
        </p:nvSpPr>
        <p:spPr>
          <a:xfrm>
            <a:off x="6510526" y="3630167"/>
            <a:ext cx="504052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Finalmente aparece RecursionError al alcanzar el límite de recursión.</a:t>
            </a:r>
          </a:p>
        </p:txBody>
      </p:sp>
      <p:sp>
        <p:nvSpPr>
          <p:cNvPr id="241" name="Rounded Rectangle 14"/>
          <p:cNvSpPr/>
          <p:nvPr/>
        </p:nvSpPr>
        <p:spPr>
          <a:xfrm>
            <a:off x="1645920" y="5166359"/>
            <a:ext cx="8961120" cy="777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Rectangle 15"/>
          <p:cNvSpPr/>
          <p:nvPr/>
        </p:nvSpPr>
        <p:spPr>
          <a:xfrm>
            <a:off x="1645920" y="5166359"/>
            <a:ext cx="73153" cy="777241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TextBox 16"/>
          <p:cNvSpPr txBox="1"/>
          <p:nvPr/>
        </p:nvSpPr>
        <p:spPr>
          <a:xfrm>
            <a:off x="1892808" y="5294376"/>
            <a:ext cx="730608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Lección</a:t>
            </a:r>
          </a:p>
        </p:txBody>
      </p:sp>
      <p:sp>
        <p:nvSpPr>
          <p:cNvPr id="244" name="TextBox 17"/>
          <p:cNvSpPr txBox="1"/>
          <p:nvPr/>
        </p:nvSpPr>
        <p:spPr>
          <a:xfrm>
            <a:off x="1892808" y="5733288"/>
            <a:ext cx="2800559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Caso base + progreso hacia el caso base.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TextBox 2"/>
          <p:cNvSpPr txBox="1"/>
          <p:nvPr/>
        </p:nvSpPr>
        <p:spPr>
          <a:xfrm>
            <a:off x="640079" y="256032"/>
            <a:ext cx="3099159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Recursividad vs. ciclo</a:t>
            </a:r>
          </a:p>
        </p:txBody>
      </p:sp>
      <p:sp>
        <p:nvSpPr>
          <p:cNvPr id="248" name="Rounded Rectangle 3"/>
          <p:cNvSpPr/>
          <p:nvPr/>
        </p:nvSpPr>
        <p:spPr>
          <a:xfrm>
            <a:off x="594359" y="1325880"/>
            <a:ext cx="5303522" cy="3474721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7C3AE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TextBox 4"/>
          <p:cNvSpPr txBox="1"/>
          <p:nvPr/>
        </p:nvSpPr>
        <p:spPr>
          <a:xfrm>
            <a:off x="822959" y="1435607"/>
            <a:ext cx="655506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Recursiva</a:t>
            </a:r>
          </a:p>
        </p:txBody>
      </p:sp>
      <p:sp>
        <p:nvSpPr>
          <p:cNvPr id="250" name="TextBox 5"/>
          <p:cNvSpPr txBox="1"/>
          <p:nvPr/>
        </p:nvSpPr>
        <p:spPr>
          <a:xfrm>
            <a:off x="841247" y="1801367"/>
            <a:ext cx="1917997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cuenta(n):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n == 0: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return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print(n)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cuenta(n - 1)</a:t>
            </a:r>
          </a:p>
        </p:txBody>
      </p:sp>
      <p:sp>
        <p:nvSpPr>
          <p:cNvPr id="251" name="Rounded Rectangle 6"/>
          <p:cNvSpPr/>
          <p:nvPr/>
        </p:nvSpPr>
        <p:spPr>
          <a:xfrm>
            <a:off x="6263640" y="1325880"/>
            <a:ext cx="5303521" cy="3474721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TextBox 7"/>
          <p:cNvSpPr txBox="1"/>
          <p:nvPr/>
        </p:nvSpPr>
        <p:spPr>
          <a:xfrm>
            <a:off x="6492240" y="1435607"/>
            <a:ext cx="58845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Iterativa</a:t>
            </a:r>
          </a:p>
        </p:txBody>
      </p:sp>
      <p:sp>
        <p:nvSpPr>
          <p:cNvPr id="253" name="TextBox 8"/>
          <p:cNvSpPr txBox="1"/>
          <p:nvPr/>
        </p:nvSpPr>
        <p:spPr>
          <a:xfrm>
            <a:off x="6510526" y="1801367"/>
            <a:ext cx="1917997" cy="942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cuenta(n):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while n &gt; 0: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print(n)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n = n - 1</a:t>
            </a:r>
          </a:p>
        </p:txBody>
      </p:sp>
      <p:sp>
        <p:nvSpPr>
          <p:cNvPr id="254" name="Rounded Rectangle 9"/>
          <p:cNvSpPr/>
          <p:nvPr/>
        </p:nvSpPr>
        <p:spPr>
          <a:xfrm>
            <a:off x="1417319" y="5166359"/>
            <a:ext cx="9326882" cy="777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Rectangle 10"/>
          <p:cNvSpPr/>
          <p:nvPr/>
        </p:nvSpPr>
        <p:spPr>
          <a:xfrm>
            <a:off x="1417319" y="5166359"/>
            <a:ext cx="73153" cy="77724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TextBox 11"/>
          <p:cNvSpPr txBox="1"/>
          <p:nvPr/>
        </p:nvSpPr>
        <p:spPr>
          <a:xfrm>
            <a:off x="1664208" y="5294376"/>
            <a:ext cx="782053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500">
                <a:solidFill>
                  <a:srgbClr val="122238"/>
                </a:solidFill>
              </a:defRPr>
            </a:lvl1pPr>
          </a:lstStyle>
          <a:p>
            <a:pPr/>
            <a:r>
              <a:t>Objetivo</a:t>
            </a:r>
          </a:p>
        </p:txBody>
      </p:sp>
      <p:sp>
        <p:nvSpPr>
          <p:cNvPr id="257" name="TextBox 12"/>
          <p:cNvSpPr txBox="1"/>
          <p:nvPr/>
        </p:nvSpPr>
        <p:spPr>
          <a:xfrm>
            <a:off x="1664208" y="5733288"/>
            <a:ext cx="303754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Reconocer dos maneras de expresar repetición.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TextBox 2"/>
          <p:cNvSpPr txBox="1"/>
          <p:nvPr/>
        </p:nvSpPr>
        <p:spPr>
          <a:xfrm>
            <a:off x="640079" y="256032"/>
            <a:ext cx="2980617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Recursividad y Big O</a:t>
            </a:r>
          </a:p>
        </p:txBody>
      </p:sp>
      <p:sp>
        <p:nvSpPr>
          <p:cNvPr id="261" name="TextBox 3"/>
          <p:cNvSpPr txBox="1"/>
          <p:nvPr/>
        </p:nvSpPr>
        <p:spPr>
          <a:xfrm>
            <a:off x="658368" y="859536"/>
            <a:ext cx="197967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Conexión con la clase anterior.</a:t>
            </a:r>
          </a:p>
        </p:txBody>
      </p:sp>
      <p:sp>
        <p:nvSpPr>
          <p:cNvPr id="262" name="Rounded Rectangle 4"/>
          <p:cNvSpPr/>
          <p:nvPr/>
        </p:nvSpPr>
        <p:spPr>
          <a:xfrm>
            <a:off x="640080" y="1463039"/>
            <a:ext cx="3489960" cy="2194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" name="Rectangle 5"/>
          <p:cNvSpPr/>
          <p:nvPr/>
        </p:nvSpPr>
        <p:spPr>
          <a:xfrm>
            <a:off x="640080" y="1463039"/>
            <a:ext cx="73153" cy="219456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TextBox 6"/>
          <p:cNvSpPr txBox="1"/>
          <p:nvPr/>
        </p:nvSpPr>
        <p:spPr>
          <a:xfrm>
            <a:off x="886967" y="1591055"/>
            <a:ext cx="1510169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Cuenta regresiva</a:t>
            </a:r>
          </a:p>
        </p:txBody>
      </p:sp>
      <p:sp>
        <p:nvSpPr>
          <p:cNvPr id="265" name="TextBox 7"/>
          <p:cNvSpPr txBox="1"/>
          <p:nvPr/>
        </p:nvSpPr>
        <p:spPr>
          <a:xfrm>
            <a:off x="886967" y="2029967"/>
            <a:ext cx="1468634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~n llamadas → O(n).</a:t>
            </a:r>
          </a:p>
        </p:txBody>
      </p:sp>
      <p:sp>
        <p:nvSpPr>
          <p:cNvPr id="266" name="Rounded Rectangle 8"/>
          <p:cNvSpPr/>
          <p:nvPr/>
        </p:nvSpPr>
        <p:spPr>
          <a:xfrm>
            <a:off x="4358640" y="1463039"/>
            <a:ext cx="3489960" cy="2194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Rectangle 9"/>
          <p:cNvSpPr/>
          <p:nvPr/>
        </p:nvSpPr>
        <p:spPr>
          <a:xfrm>
            <a:off x="4358640" y="1463039"/>
            <a:ext cx="73153" cy="219456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TextBox 10"/>
          <p:cNvSpPr txBox="1"/>
          <p:nvPr/>
        </p:nvSpPr>
        <p:spPr>
          <a:xfrm>
            <a:off x="4605528" y="1591055"/>
            <a:ext cx="827247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Factorial</a:t>
            </a:r>
          </a:p>
        </p:txBody>
      </p:sp>
      <p:sp>
        <p:nvSpPr>
          <p:cNvPr id="269" name="TextBox 11"/>
          <p:cNvSpPr txBox="1"/>
          <p:nvPr/>
        </p:nvSpPr>
        <p:spPr>
          <a:xfrm>
            <a:off x="4605528" y="2029967"/>
            <a:ext cx="1468634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~n llamadas → O(n).</a:t>
            </a:r>
          </a:p>
        </p:txBody>
      </p:sp>
      <p:sp>
        <p:nvSpPr>
          <p:cNvPr id="270" name="Rounded Rectangle 12"/>
          <p:cNvSpPr/>
          <p:nvPr/>
        </p:nvSpPr>
        <p:spPr>
          <a:xfrm>
            <a:off x="8077199" y="1463039"/>
            <a:ext cx="3489961" cy="2194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Rectangle 13"/>
          <p:cNvSpPr/>
          <p:nvPr/>
        </p:nvSpPr>
        <p:spPr>
          <a:xfrm>
            <a:off x="8077199" y="1463039"/>
            <a:ext cx="73153" cy="219456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TextBox 14"/>
          <p:cNvSpPr txBox="1"/>
          <p:nvPr/>
        </p:nvSpPr>
        <p:spPr>
          <a:xfrm>
            <a:off x="8324086" y="1591055"/>
            <a:ext cx="1044239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Merge Sort</a:t>
            </a:r>
          </a:p>
        </p:txBody>
      </p:sp>
      <p:sp>
        <p:nvSpPr>
          <p:cNvPr id="273" name="TextBox 15"/>
          <p:cNvSpPr txBox="1"/>
          <p:nvPr/>
        </p:nvSpPr>
        <p:spPr>
          <a:xfrm>
            <a:off x="8324086" y="2029967"/>
            <a:ext cx="2198203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División recursiva → O(n log n).</a:t>
            </a:r>
          </a:p>
        </p:txBody>
      </p:sp>
      <p:sp>
        <p:nvSpPr>
          <p:cNvPr id="274" name="Rounded Rectangle 16"/>
          <p:cNvSpPr/>
          <p:nvPr/>
        </p:nvSpPr>
        <p:spPr>
          <a:xfrm>
            <a:off x="1371600" y="4389120"/>
            <a:ext cx="9418320" cy="10058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Rectangle 17"/>
          <p:cNvSpPr/>
          <p:nvPr/>
        </p:nvSpPr>
        <p:spPr>
          <a:xfrm>
            <a:off x="1371599" y="4389120"/>
            <a:ext cx="73154" cy="1005840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TextBox 18"/>
          <p:cNvSpPr txBox="1"/>
          <p:nvPr/>
        </p:nvSpPr>
        <p:spPr>
          <a:xfrm>
            <a:off x="1618488" y="4517135"/>
            <a:ext cx="1060312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Importante</a:t>
            </a:r>
          </a:p>
        </p:txBody>
      </p:sp>
      <p:sp>
        <p:nvSpPr>
          <p:cNvPr id="277" name="TextBox 19"/>
          <p:cNvSpPr txBox="1"/>
          <p:nvPr/>
        </p:nvSpPr>
        <p:spPr>
          <a:xfrm>
            <a:off x="1618488" y="4956047"/>
            <a:ext cx="3823405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La recursividad no determina por sí sola la complejidad.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" name="TextBox 2"/>
          <p:cNvSpPr txBox="1"/>
          <p:nvPr/>
        </p:nvSpPr>
        <p:spPr>
          <a:xfrm>
            <a:off x="640079" y="256032"/>
            <a:ext cx="4897207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Contenido oficial del 1 de octubre</a:t>
            </a:r>
          </a:p>
        </p:txBody>
      </p:sp>
      <p:sp>
        <p:nvSpPr>
          <p:cNvPr id="281" name="TextBox 3"/>
          <p:cNvSpPr txBox="1"/>
          <p:nvPr/>
        </p:nvSpPr>
        <p:spPr>
          <a:xfrm>
            <a:off x="658368" y="859536"/>
            <a:ext cx="296387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Unidad 3 · Elementos básicos de un programa.</a:t>
            </a:r>
          </a:p>
        </p:txBody>
      </p:sp>
      <p:sp>
        <p:nvSpPr>
          <p:cNvPr id="282" name="Rounded Rectangle 4"/>
          <p:cNvSpPr/>
          <p:nvPr/>
        </p:nvSpPr>
        <p:spPr>
          <a:xfrm>
            <a:off x="640080" y="1554480"/>
            <a:ext cx="3489960" cy="2194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Rectangle 5"/>
          <p:cNvSpPr/>
          <p:nvPr/>
        </p:nvSpPr>
        <p:spPr>
          <a:xfrm>
            <a:off x="640080" y="1554479"/>
            <a:ext cx="73153" cy="219456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TextBox 6"/>
          <p:cNvSpPr txBox="1"/>
          <p:nvPr/>
        </p:nvSpPr>
        <p:spPr>
          <a:xfrm>
            <a:off x="886967" y="1682494"/>
            <a:ext cx="1415912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Arreglos / listas</a:t>
            </a:r>
          </a:p>
        </p:txBody>
      </p:sp>
      <p:sp>
        <p:nvSpPr>
          <p:cNvPr id="285" name="TextBox 7"/>
          <p:cNvSpPr txBox="1"/>
          <p:nvPr/>
        </p:nvSpPr>
        <p:spPr>
          <a:xfrm>
            <a:off x="886967" y="2121407"/>
            <a:ext cx="1683796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Colecciones ordenadas.</a:t>
            </a:r>
          </a:p>
        </p:txBody>
      </p:sp>
      <p:sp>
        <p:nvSpPr>
          <p:cNvPr id="286" name="Rounded Rectangle 8"/>
          <p:cNvSpPr/>
          <p:nvPr/>
        </p:nvSpPr>
        <p:spPr>
          <a:xfrm>
            <a:off x="4358640" y="1554480"/>
            <a:ext cx="3489960" cy="2194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Rectangle 9"/>
          <p:cNvSpPr/>
          <p:nvPr/>
        </p:nvSpPr>
        <p:spPr>
          <a:xfrm>
            <a:off x="4358640" y="1554479"/>
            <a:ext cx="73153" cy="219456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TextBox 10"/>
          <p:cNvSpPr txBox="1"/>
          <p:nvPr/>
        </p:nvSpPr>
        <p:spPr>
          <a:xfrm>
            <a:off x="4605528" y="1682494"/>
            <a:ext cx="873384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Registros</a:t>
            </a:r>
          </a:p>
        </p:txBody>
      </p:sp>
      <p:sp>
        <p:nvSpPr>
          <p:cNvPr id="289" name="TextBox 11"/>
          <p:cNvSpPr txBox="1"/>
          <p:nvPr/>
        </p:nvSpPr>
        <p:spPr>
          <a:xfrm>
            <a:off x="4605528" y="2121407"/>
            <a:ext cx="2163699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Datos relacionados agrupados.</a:t>
            </a:r>
          </a:p>
        </p:txBody>
      </p:sp>
      <p:sp>
        <p:nvSpPr>
          <p:cNvPr id="290" name="Rounded Rectangle 12"/>
          <p:cNvSpPr/>
          <p:nvPr/>
        </p:nvSpPr>
        <p:spPr>
          <a:xfrm>
            <a:off x="8077199" y="1554480"/>
            <a:ext cx="3489961" cy="2194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Rectangle 13"/>
          <p:cNvSpPr/>
          <p:nvPr/>
        </p:nvSpPr>
        <p:spPr>
          <a:xfrm>
            <a:off x="8077199" y="1554479"/>
            <a:ext cx="73153" cy="2194562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TextBox 14"/>
          <p:cNvSpPr txBox="1"/>
          <p:nvPr/>
        </p:nvSpPr>
        <p:spPr>
          <a:xfrm>
            <a:off x="8324086" y="1682494"/>
            <a:ext cx="1274426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Declaraciones</a:t>
            </a:r>
          </a:p>
        </p:txBody>
      </p:sp>
      <p:sp>
        <p:nvSpPr>
          <p:cNvPr id="293" name="TextBox 15"/>
          <p:cNvSpPr txBox="1"/>
          <p:nvPr/>
        </p:nvSpPr>
        <p:spPr>
          <a:xfrm>
            <a:off x="8324086" y="2121407"/>
            <a:ext cx="2853766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Crear estructuras y asociarlas a nombres.</a:t>
            </a:r>
          </a:p>
        </p:txBody>
      </p:sp>
      <p:sp>
        <p:nvSpPr>
          <p:cNvPr id="294" name="Rounded Rectangle 16"/>
          <p:cNvSpPr/>
          <p:nvPr/>
        </p:nvSpPr>
        <p:spPr>
          <a:xfrm>
            <a:off x="1371600" y="4434840"/>
            <a:ext cx="9418320" cy="9144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Rectangle 17"/>
          <p:cNvSpPr/>
          <p:nvPr/>
        </p:nvSpPr>
        <p:spPr>
          <a:xfrm>
            <a:off x="1371599" y="4434840"/>
            <a:ext cx="73154" cy="91440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TextBox 18"/>
          <p:cNvSpPr txBox="1"/>
          <p:nvPr/>
        </p:nvSpPr>
        <p:spPr>
          <a:xfrm>
            <a:off x="1618488" y="4562854"/>
            <a:ext cx="82724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Objetivo</a:t>
            </a:r>
          </a:p>
        </p:txBody>
      </p:sp>
      <p:sp>
        <p:nvSpPr>
          <p:cNvPr id="297" name="TextBox 19"/>
          <p:cNvSpPr txBox="1"/>
          <p:nvPr/>
        </p:nvSpPr>
        <p:spPr>
          <a:xfrm>
            <a:off x="1618488" y="5001767"/>
            <a:ext cx="5131226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Distinguir arreglos y registros como formas de organizar datos en memoria.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TextBox 2"/>
          <p:cNvSpPr txBox="1"/>
          <p:nvPr/>
        </p:nvSpPr>
        <p:spPr>
          <a:xfrm>
            <a:off x="640079" y="256032"/>
            <a:ext cx="2243750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3.3.3 · Arreglos</a:t>
            </a:r>
          </a:p>
        </p:txBody>
      </p:sp>
      <p:sp>
        <p:nvSpPr>
          <p:cNvPr id="301" name="Rounded Rectangle 3"/>
          <p:cNvSpPr/>
          <p:nvPr/>
        </p:nvSpPr>
        <p:spPr>
          <a:xfrm>
            <a:off x="685800" y="1325880"/>
            <a:ext cx="5257800" cy="3108961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TextBox 4"/>
          <p:cNvSpPr txBox="1"/>
          <p:nvPr/>
        </p:nvSpPr>
        <p:spPr>
          <a:xfrm>
            <a:off x="914399" y="1435607"/>
            <a:ext cx="51983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303" name="TextBox 5"/>
          <p:cNvSpPr txBox="1"/>
          <p:nvPr/>
        </p:nvSpPr>
        <p:spPr>
          <a:xfrm>
            <a:off x="932687" y="1801367"/>
            <a:ext cx="3533700" cy="993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calificaciones = [8, 9, 7, 10]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print(calificaciones[0])  # 8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print(calificaciones[2])  # 7</a:t>
            </a:r>
          </a:p>
        </p:txBody>
      </p:sp>
      <p:sp>
        <p:nvSpPr>
          <p:cNvPr id="304" name="Rounded Rectangle 6"/>
          <p:cNvSpPr/>
          <p:nvPr/>
        </p:nvSpPr>
        <p:spPr>
          <a:xfrm>
            <a:off x="6263640" y="1325880"/>
            <a:ext cx="5212081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Rectangle 7"/>
          <p:cNvSpPr/>
          <p:nvPr/>
        </p:nvSpPr>
        <p:spPr>
          <a:xfrm>
            <a:off x="6263640" y="1325879"/>
            <a:ext cx="73153" cy="1234442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TextBox 8"/>
          <p:cNvSpPr txBox="1"/>
          <p:nvPr/>
        </p:nvSpPr>
        <p:spPr>
          <a:xfrm>
            <a:off x="6510526" y="1453894"/>
            <a:ext cx="961838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Colección</a:t>
            </a:r>
          </a:p>
        </p:txBody>
      </p:sp>
      <p:sp>
        <p:nvSpPr>
          <p:cNvPr id="307" name="TextBox 9"/>
          <p:cNvSpPr txBox="1"/>
          <p:nvPr/>
        </p:nvSpPr>
        <p:spPr>
          <a:xfrm>
            <a:off x="6510526" y="1892806"/>
            <a:ext cx="139258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Varios elementos.</a:t>
            </a:r>
          </a:p>
        </p:txBody>
      </p:sp>
      <p:sp>
        <p:nvSpPr>
          <p:cNvPr id="308" name="Rounded Rectangle 10"/>
          <p:cNvSpPr/>
          <p:nvPr/>
        </p:nvSpPr>
        <p:spPr>
          <a:xfrm>
            <a:off x="6263640" y="2788920"/>
            <a:ext cx="521208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Rectangle 11"/>
          <p:cNvSpPr/>
          <p:nvPr/>
        </p:nvSpPr>
        <p:spPr>
          <a:xfrm>
            <a:off x="6263640" y="2788920"/>
            <a:ext cx="73153" cy="123444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TextBox 12"/>
          <p:cNvSpPr txBox="1"/>
          <p:nvPr/>
        </p:nvSpPr>
        <p:spPr>
          <a:xfrm>
            <a:off x="6510526" y="2916935"/>
            <a:ext cx="664659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Orden</a:t>
            </a:r>
          </a:p>
        </p:txBody>
      </p:sp>
      <p:sp>
        <p:nvSpPr>
          <p:cNvPr id="311" name="TextBox 13"/>
          <p:cNvSpPr txBox="1"/>
          <p:nvPr/>
        </p:nvSpPr>
        <p:spPr>
          <a:xfrm>
            <a:off x="6510526" y="3355847"/>
            <a:ext cx="229113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Cada elemento tiene posición.</a:t>
            </a:r>
          </a:p>
        </p:txBody>
      </p:sp>
      <p:sp>
        <p:nvSpPr>
          <p:cNvPr id="312" name="Rounded Rectangle 14"/>
          <p:cNvSpPr/>
          <p:nvPr/>
        </p:nvSpPr>
        <p:spPr>
          <a:xfrm>
            <a:off x="6263640" y="4251959"/>
            <a:ext cx="521208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Rectangle 15"/>
          <p:cNvSpPr/>
          <p:nvPr/>
        </p:nvSpPr>
        <p:spPr>
          <a:xfrm>
            <a:off x="6263640" y="4251959"/>
            <a:ext cx="73153" cy="123444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TextBox 16"/>
          <p:cNvSpPr txBox="1"/>
          <p:nvPr/>
        </p:nvSpPr>
        <p:spPr>
          <a:xfrm>
            <a:off x="6510526" y="4379976"/>
            <a:ext cx="645473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Índice</a:t>
            </a:r>
          </a:p>
        </p:txBody>
      </p:sp>
      <p:sp>
        <p:nvSpPr>
          <p:cNvPr id="315" name="TextBox 17"/>
          <p:cNvSpPr txBox="1"/>
          <p:nvPr/>
        </p:nvSpPr>
        <p:spPr>
          <a:xfrm>
            <a:off x="6510526" y="4818888"/>
            <a:ext cx="485699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En Python y el 99% de lenguajes de programación, comienza en 0.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TextBox 2"/>
          <p:cNvSpPr txBox="1"/>
          <p:nvPr/>
        </p:nvSpPr>
        <p:spPr>
          <a:xfrm>
            <a:off x="640079" y="256032"/>
            <a:ext cx="2751236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Visualizar una lista</a:t>
            </a:r>
          </a:p>
        </p:txBody>
      </p:sp>
      <p:sp>
        <p:nvSpPr>
          <p:cNvPr id="319" name="Rounded Rectangle 3"/>
          <p:cNvSpPr/>
          <p:nvPr/>
        </p:nvSpPr>
        <p:spPr>
          <a:xfrm>
            <a:off x="1920239" y="1828800"/>
            <a:ext cx="1600201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Rectangle 4"/>
          <p:cNvSpPr/>
          <p:nvPr/>
        </p:nvSpPr>
        <p:spPr>
          <a:xfrm>
            <a:off x="1920239" y="1828800"/>
            <a:ext cx="73153" cy="1417320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" name="TextBox 5"/>
          <p:cNvSpPr txBox="1"/>
          <p:nvPr/>
        </p:nvSpPr>
        <p:spPr>
          <a:xfrm>
            <a:off x="2167127" y="1956816"/>
            <a:ext cx="68025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122238"/>
                </a:solidFill>
              </a:defRPr>
            </a:lvl1pPr>
          </a:lstStyle>
          <a:p>
            <a:pPr/>
            <a:r>
              <a:t>Índice 0</a:t>
            </a:r>
          </a:p>
        </p:txBody>
      </p:sp>
      <p:sp>
        <p:nvSpPr>
          <p:cNvPr id="322" name="TextBox 6"/>
          <p:cNvSpPr txBox="1"/>
          <p:nvPr/>
        </p:nvSpPr>
        <p:spPr>
          <a:xfrm>
            <a:off x="2167127" y="2395727"/>
            <a:ext cx="258625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475569"/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23" name="Rounded Rectangle 7"/>
          <p:cNvSpPr/>
          <p:nvPr/>
        </p:nvSpPr>
        <p:spPr>
          <a:xfrm>
            <a:off x="3977638" y="1828800"/>
            <a:ext cx="1600201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Rectangle 8"/>
          <p:cNvSpPr/>
          <p:nvPr/>
        </p:nvSpPr>
        <p:spPr>
          <a:xfrm>
            <a:off x="3977638" y="1828800"/>
            <a:ext cx="73153" cy="1417320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TextBox 9"/>
          <p:cNvSpPr txBox="1"/>
          <p:nvPr/>
        </p:nvSpPr>
        <p:spPr>
          <a:xfrm>
            <a:off x="4224526" y="1956816"/>
            <a:ext cx="68025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122238"/>
                </a:solidFill>
              </a:defRPr>
            </a:lvl1pPr>
          </a:lstStyle>
          <a:p>
            <a:pPr/>
            <a:r>
              <a:t>Índice 1</a:t>
            </a:r>
          </a:p>
        </p:txBody>
      </p:sp>
      <p:sp>
        <p:nvSpPr>
          <p:cNvPr id="326" name="TextBox 10"/>
          <p:cNvSpPr txBox="1"/>
          <p:nvPr/>
        </p:nvSpPr>
        <p:spPr>
          <a:xfrm>
            <a:off x="4224526" y="2395727"/>
            <a:ext cx="258625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475569"/>
                </a:solid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27" name="Rounded Rectangle 11"/>
          <p:cNvSpPr/>
          <p:nvPr/>
        </p:nvSpPr>
        <p:spPr>
          <a:xfrm>
            <a:off x="6035040" y="1828800"/>
            <a:ext cx="1600201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" name="Rectangle 12"/>
          <p:cNvSpPr/>
          <p:nvPr/>
        </p:nvSpPr>
        <p:spPr>
          <a:xfrm>
            <a:off x="6035040" y="1828800"/>
            <a:ext cx="73153" cy="1417320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TextBox 13"/>
          <p:cNvSpPr txBox="1"/>
          <p:nvPr/>
        </p:nvSpPr>
        <p:spPr>
          <a:xfrm>
            <a:off x="6281926" y="1956816"/>
            <a:ext cx="68025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122238"/>
                </a:solidFill>
              </a:defRPr>
            </a:lvl1pPr>
          </a:lstStyle>
          <a:p>
            <a:pPr/>
            <a:r>
              <a:t>Índice 2</a:t>
            </a:r>
          </a:p>
        </p:txBody>
      </p:sp>
      <p:sp>
        <p:nvSpPr>
          <p:cNvPr id="330" name="TextBox 14"/>
          <p:cNvSpPr txBox="1"/>
          <p:nvPr/>
        </p:nvSpPr>
        <p:spPr>
          <a:xfrm>
            <a:off x="6281926" y="2395727"/>
            <a:ext cx="258625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475569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31" name="Rounded Rectangle 15"/>
          <p:cNvSpPr/>
          <p:nvPr/>
        </p:nvSpPr>
        <p:spPr>
          <a:xfrm>
            <a:off x="8092440" y="1828800"/>
            <a:ext cx="1600201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" name="Rectangle 16"/>
          <p:cNvSpPr/>
          <p:nvPr/>
        </p:nvSpPr>
        <p:spPr>
          <a:xfrm>
            <a:off x="8092440" y="1828800"/>
            <a:ext cx="73153" cy="1417320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TextBox 17"/>
          <p:cNvSpPr txBox="1"/>
          <p:nvPr/>
        </p:nvSpPr>
        <p:spPr>
          <a:xfrm>
            <a:off x="8339327" y="1956816"/>
            <a:ext cx="68025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122238"/>
                </a:solidFill>
              </a:defRPr>
            </a:lvl1pPr>
          </a:lstStyle>
          <a:p>
            <a:pPr/>
            <a:r>
              <a:t>Índice 3</a:t>
            </a:r>
          </a:p>
        </p:txBody>
      </p:sp>
      <p:sp>
        <p:nvSpPr>
          <p:cNvPr id="334" name="TextBox 18"/>
          <p:cNvSpPr txBox="1"/>
          <p:nvPr/>
        </p:nvSpPr>
        <p:spPr>
          <a:xfrm>
            <a:off x="8339327" y="2395727"/>
            <a:ext cx="413108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475569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35" name="Rounded Rectangle 19"/>
          <p:cNvSpPr/>
          <p:nvPr/>
        </p:nvSpPr>
        <p:spPr>
          <a:xfrm>
            <a:off x="1965960" y="4023359"/>
            <a:ext cx="8183879" cy="1143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Rectangle 20"/>
          <p:cNvSpPr/>
          <p:nvPr/>
        </p:nvSpPr>
        <p:spPr>
          <a:xfrm>
            <a:off x="1965960" y="4023359"/>
            <a:ext cx="73153" cy="1143001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TextBox 21"/>
          <p:cNvSpPr txBox="1"/>
          <p:nvPr/>
        </p:nvSpPr>
        <p:spPr>
          <a:xfrm>
            <a:off x="2212848" y="4151376"/>
            <a:ext cx="136289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calificaciones</a:t>
            </a:r>
          </a:p>
        </p:txBody>
      </p:sp>
      <p:sp>
        <p:nvSpPr>
          <p:cNvPr id="338" name="TextBox 22"/>
          <p:cNvSpPr txBox="1"/>
          <p:nvPr/>
        </p:nvSpPr>
        <p:spPr>
          <a:xfrm>
            <a:off x="2212848" y="4590288"/>
            <a:ext cx="48240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Un identificador permite trabajar con varios valores relacionados.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" name="TextBox 2"/>
          <p:cNvSpPr txBox="1"/>
          <p:nvPr/>
        </p:nvSpPr>
        <p:spPr>
          <a:xfrm>
            <a:off x="640079" y="256032"/>
            <a:ext cx="4883310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Arreglo: ejemplo y contraejemplo</a:t>
            </a:r>
          </a:p>
        </p:txBody>
      </p:sp>
      <p:sp>
        <p:nvSpPr>
          <p:cNvPr id="342" name="Rounded Rectangle 3"/>
          <p:cNvSpPr/>
          <p:nvPr/>
        </p:nvSpPr>
        <p:spPr>
          <a:xfrm>
            <a:off x="731519" y="1371600"/>
            <a:ext cx="5166361" cy="34747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Rectangle 4"/>
          <p:cNvSpPr/>
          <p:nvPr/>
        </p:nvSpPr>
        <p:spPr>
          <a:xfrm>
            <a:off x="731519" y="1371599"/>
            <a:ext cx="73153" cy="3474722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4" name="TextBox 5"/>
          <p:cNvSpPr txBox="1"/>
          <p:nvPr/>
        </p:nvSpPr>
        <p:spPr>
          <a:xfrm>
            <a:off x="978408" y="1499616"/>
            <a:ext cx="1095497" cy="388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900">
                <a:solidFill>
                  <a:srgbClr val="122238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Arreglo</a:t>
            </a:r>
          </a:p>
        </p:txBody>
      </p:sp>
      <p:sp>
        <p:nvSpPr>
          <p:cNvPr id="345" name="TextBox 6"/>
          <p:cNvSpPr txBox="1"/>
          <p:nvPr/>
        </p:nvSpPr>
        <p:spPr>
          <a:xfrm>
            <a:off x="978408" y="1938527"/>
            <a:ext cx="3079116" cy="808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calificaciones = [8, 9, 7, 10]</a:t>
            </a:r>
            <a:br/>
            <a:br/>
            <a:r>
              <a:t>Colección ordenada de varios datos.</a:t>
            </a:r>
          </a:p>
        </p:txBody>
      </p:sp>
      <p:sp>
        <p:nvSpPr>
          <p:cNvPr id="346" name="Rounded Rectangle 7"/>
          <p:cNvSpPr/>
          <p:nvPr/>
        </p:nvSpPr>
        <p:spPr>
          <a:xfrm>
            <a:off x="6263640" y="1371600"/>
            <a:ext cx="5166360" cy="34747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Rectangle 8"/>
          <p:cNvSpPr/>
          <p:nvPr/>
        </p:nvSpPr>
        <p:spPr>
          <a:xfrm>
            <a:off x="6263640" y="1371599"/>
            <a:ext cx="73153" cy="3474722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TextBox 9"/>
          <p:cNvSpPr txBox="1"/>
          <p:nvPr/>
        </p:nvSpPr>
        <p:spPr>
          <a:xfrm>
            <a:off x="6510526" y="1499616"/>
            <a:ext cx="1637245" cy="388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900">
                <a:solidFill>
                  <a:srgbClr val="122238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No es arreglo</a:t>
            </a:r>
          </a:p>
        </p:txBody>
      </p:sp>
      <p:sp>
        <p:nvSpPr>
          <p:cNvPr id="349" name="TextBox 10"/>
          <p:cNvSpPr txBox="1"/>
          <p:nvPr/>
        </p:nvSpPr>
        <p:spPr>
          <a:xfrm>
            <a:off x="6510526" y="1938527"/>
            <a:ext cx="3007381" cy="808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calificacion = 8</a:t>
            </a:r>
            <a:br/>
            <a:br/>
            <a:r>
              <a:t>Un único valor no es una colección.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TextBox 2"/>
          <p:cNvSpPr txBox="1"/>
          <p:nvPr/>
        </p:nvSpPr>
        <p:spPr>
          <a:xfrm>
            <a:off x="640079" y="256032"/>
            <a:ext cx="2353586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3.3.4 · Registros</a:t>
            </a:r>
          </a:p>
        </p:txBody>
      </p:sp>
      <p:sp>
        <p:nvSpPr>
          <p:cNvPr id="353" name="Rounded Rectangle 3"/>
          <p:cNvSpPr/>
          <p:nvPr/>
        </p:nvSpPr>
        <p:spPr>
          <a:xfrm>
            <a:off x="685800" y="1325880"/>
            <a:ext cx="5486400" cy="3657601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7C3AE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TextBox 4"/>
          <p:cNvSpPr txBox="1"/>
          <p:nvPr/>
        </p:nvSpPr>
        <p:spPr>
          <a:xfrm>
            <a:off x="914399" y="1435607"/>
            <a:ext cx="755847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Diccionario</a:t>
            </a:r>
          </a:p>
        </p:txBody>
      </p:sp>
      <p:sp>
        <p:nvSpPr>
          <p:cNvPr id="355" name="TextBox 5"/>
          <p:cNvSpPr txBox="1"/>
          <p:nvPr/>
        </p:nvSpPr>
        <p:spPr>
          <a:xfrm>
            <a:off x="932687" y="1801367"/>
            <a:ext cx="2238089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alumno = {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"nombre": "Ana",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"edad": 20,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"promedio": 8.5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356" name="Rounded Rectangle 6"/>
          <p:cNvSpPr/>
          <p:nvPr/>
        </p:nvSpPr>
        <p:spPr>
          <a:xfrm>
            <a:off x="6446520" y="1325880"/>
            <a:ext cx="4846321" cy="1051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Rectangle 7"/>
          <p:cNvSpPr/>
          <p:nvPr/>
        </p:nvSpPr>
        <p:spPr>
          <a:xfrm>
            <a:off x="6446520" y="1325879"/>
            <a:ext cx="73153" cy="105156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TextBox 8"/>
          <p:cNvSpPr txBox="1"/>
          <p:nvPr/>
        </p:nvSpPr>
        <p:spPr>
          <a:xfrm>
            <a:off x="6693407" y="1453894"/>
            <a:ext cx="769006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nombre</a:t>
            </a:r>
          </a:p>
        </p:txBody>
      </p:sp>
      <p:sp>
        <p:nvSpPr>
          <p:cNvPr id="359" name="TextBox 9"/>
          <p:cNvSpPr txBox="1"/>
          <p:nvPr/>
        </p:nvSpPr>
        <p:spPr>
          <a:xfrm>
            <a:off x="6693407" y="1892806"/>
            <a:ext cx="293228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str</a:t>
            </a:r>
          </a:p>
        </p:txBody>
      </p:sp>
      <p:sp>
        <p:nvSpPr>
          <p:cNvPr id="360" name="Rounded Rectangle 10"/>
          <p:cNvSpPr/>
          <p:nvPr/>
        </p:nvSpPr>
        <p:spPr>
          <a:xfrm>
            <a:off x="6446520" y="2606039"/>
            <a:ext cx="4846321" cy="1051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Rectangle 11"/>
          <p:cNvSpPr/>
          <p:nvPr/>
        </p:nvSpPr>
        <p:spPr>
          <a:xfrm>
            <a:off x="6446520" y="2606039"/>
            <a:ext cx="73153" cy="105156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TextBox 12"/>
          <p:cNvSpPr txBox="1"/>
          <p:nvPr/>
        </p:nvSpPr>
        <p:spPr>
          <a:xfrm>
            <a:off x="6693407" y="2734055"/>
            <a:ext cx="524829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edad</a:t>
            </a:r>
          </a:p>
        </p:txBody>
      </p:sp>
      <p:sp>
        <p:nvSpPr>
          <p:cNvPr id="363" name="TextBox 13"/>
          <p:cNvSpPr txBox="1"/>
          <p:nvPr/>
        </p:nvSpPr>
        <p:spPr>
          <a:xfrm>
            <a:off x="6693407" y="3172967"/>
            <a:ext cx="296266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int</a:t>
            </a:r>
          </a:p>
        </p:txBody>
      </p:sp>
      <p:sp>
        <p:nvSpPr>
          <p:cNvPr id="364" name="Rounded Rectangle 14"/>
          <p:cNvSpPr/>
          <p:nvPr/>
        </p:nvSpPr>
        <p:spPr>
          <a:xfrm>
            <a:off x="6446520" y="3886200"/>
            <a:ext cx="4846321" cy="1051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Rectangle 15"/>
          <p:cNvSpPr/>
          <p:nvPr/>
        </p:nvSpPr>
        <p:spPr>
          <a:xfrm>
            <a:off x="6446520" y="3886199"/>
            <a:ext cx="73153" cy="1051562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" name="TextBox 16"/>
          <p:cNvSpPr txBox="1"/>
          <p:nvPr/>
        </p:nvSpPr>
        <p:spPr>
          <a:xfrm>
            <a:off x="6693407" y="4014215"/>
            <a:ext cx="927955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promedio</a:t>
            </a:r>
          </a:p>
        </p:txBody>
      </p:sp>
      <p:sp>
        <p:nvSpPr>
          <p:cNvPr id="367" name="TextBox 17"/>
          <p:cNvSpPr txBox="1"/>
          <p:nvPr/>
        </p:nvSpPr>
        <p:spPr>
          <a:xfrm>
            <a:off x="6693407" y="4453128"/>
            <a:ext cx="43604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float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TextBox 2"/>
          <p:cNvSpPr txBox="1"/>
          <p:nvPr/>
        </p:nvSpPr>
        <p:spPr>
          <a:xfrm>
            <a:off x="640079" y="256032"/>
            <a:ext cx="2791587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Arreglo vs. registro</a:t>
            </a:r>
          </a:p>
        </p:txBody>
      </p:sp>
      <p:sp>
        <p:nvSpPr>
          <p:cNvPr id="371" name="Rounded Rectangle 3"/>
          <p:cNvSpPr/>
          <p:nvPr/>
        </p:nvSpPr>
        <p:spPr>
          <a:xfrm>
            <a:off x="731519" y="1325880"/>
            <a:ext cx="5166361" cy="3840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Rectangle 4"/>
          <p:cNvSpPr/>
          <p:nvPr/>
        </p:nvSpPr>
        <p:spPr>
          <a:xfrm>
            <a:off x="731519" y="1325880"/>
            <a:ext cx="73153" cy="3840480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TextBox 5"/>
          <p:cNvSpPr txBox="1"/>
          <p:nvPr/>
        </p:nvSpPr>
        <p:spPr>
          <a:xfrm>
            <a:off x="978408" y="1453894"/>
            <a:ext cx="844064" cy="33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22238"/>
                </a:solidFill>
              </a:defRPr>
            </a:lvl1pPr>
          </a:lstStyle>
          <a:p>
            <a:pPr/>
            <a:r>
              <a:t>Arreglo</a:t>
            </a:r>
          </a:p>
        </p:txBody>
      </p:sp>
      <p:sp>
        <p:nvSpPr>
          <p:cNvPr id="374" name="TextBox 6"/>
          <p:cNvSpPr txBox="1"/>
          <p:nvPr/>
        </p:nvSpPr>
        <p:spPr>
          <a:xfrm>
            <a:off x="978408" y="1892806"/>
            <a:ext cx="3897373" cy="1062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Varios valores con el mismo papel conceptual.</a:t>
            </a:r>
            <a:br/>
            <a:br/>
            <a:r>
              <a:t>[8, 9, 7, 10]</a:t>
            </a:r>
            <a:br/>
            <a:r>
              <a:t>Todas son calificaciones.</a:t>
            </a:r>
          </a:p>
        </p:txBody>
      </p:sp>
      <p:sp>
        <p:nvSpPr>
          <p:cNvPr id="375" name="Rounded Rectangle 7"/>
          <p:cNvSpPr/>
          <p:nvPr/>
        </p:nvSpPr>
        <p:spPr>
          <a:xfrm>
            <a:off x="6263640" y="1325880"/>
            <a:ext cx="5166360" cy="3840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Rectangle 8"/>
          <p:cNvSpPr/>
          <p:nvPr/>
        </p:nvSpPr>
        <p:spPr>
          <a:xfrm>
            <a:off x="6263640" y="1325880"/>
            <a:ext cx="73153" cy="3840480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7" name="TextBox 9"/>
          <p:cNvSpPr txBox="1"/>
          <p:nvPr/>
        </p:nvSpPr>
        <p:spPr>
          <a:xfrm>
            <a:off x="6510526" y="1453894"/>
            <a:ext cx="921357" cy="33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22238"/>
                </a:solidFill>
              </a:defRPr>
            </a:lvl1pPr>
          </a:lstStyle>
          <a:p>
            <a:pPr/>
            <a:r>
              <a:t>Registro</a:t>
            </a:r>
          </a:p>
        </p:txBody>
      </p:sp>
      <p:sp>
        <p:nvSpPr>
          <p:cNvPr id="378" name="TextBox 10"/>
          <p:cNvSpPr txBox="1"/>
          <p:nvPr/>
        </p:nvSpPr>
        <p:spPr>
          <a:xfrm>
            <a:off x="6510526" y="1892806"/>
            <a:ext cx="3580370" cy="1316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Campos diferentes describen una entidad.</a:t>
            </a:r>
            <a:br/>
            <a:br/>
            <a:r>
              <a:t>nombre = Ana</a:t>
            </a:r>
            <a:br/>
            <a:r>
              <a:t>edad = 20</a:t>
            </a:r>
            <a:br/>
            <a:r>
              <a:t>promedio = 8.5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1" name="TextBox 2"/>
          <p:cNvSpPr txBox="1"/>
          <p:nvPr/>
        </p:nvSpPr>
        <p:spPr>
          <a:xfrm>
            <a:off x="640079" y="256032"/>
            <a:ext cx="4270008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¿Lista de nombres o registro?</a:t>
            </a:r>
          </a:p>
        </p:txBody>
      </p:sp>
      <p:sp>
        <p:nvSpPr>
          <p:cNvPr id="382" name="Rounded Rectangle 3"/>
          <p:cNvSpPr/>
          <p:nvPr/>
        </p:nvSpPr>
        <p:spPr>
          <a:xfrm>
            <a:off x="731519" y="1417319"/>
            <a:ext cx="5166361" cy="32004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3" name="Rectangle 4"/>
          <p:cNvSpPr/>
          <p:nvPr/>
        </p:nvSpPr>
        <p:spPr>
          <a:xfrm>
            <a:off x="731519" y="1417319"/>
            <a:ext cx="73153" cy="320040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4" name="TextBox 5"/>
          <p:cNvSpPr txBox="1"/>
          <p:nvPr/>
        </p:nvSpPr>
        <p:spPr>
          <a:xfrm>
            <a:off x="978408" y="1545336"/>
            <a:ext cx="2139216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["Ana", "Luis", "Eva"]</a:t>
            </a:r>
          </a:p>
        </p:txBody>
      </p:sp>
      <p:sp>
        <p:nvSpPr>
          <p:cNvPr id="385" name="TextBox 6"/>
          <p:cNvSpPr txBox="1"/>
          <p:nvPr/>
        </p:nvSpPr>
        <p:spPr>
          <a:xfrm>
            <a:off x="978408" y="1984248"/>
            <a:ext cx="2079834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Lista: todos son nombres.</a:t>
            </a:r>
          </a:p>
        </p:txBody>
      </p:sp>
      <p:sp>
        <p:nvSpPr>
          <p:cNvPr id="386" name="Rounded Rectangle 7"/>
          <p:cNvSpPr/>
          <p:nvPr/>
        </p:nvSpPr>
        <p:spPr>
          <a:xfrm>
            <a:off x="6263640" y="1417319"/>
            <a:ext cx="5166360" cy="32004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7" name="Rectangle 8"/>
          <p:cNvSpPr/>
          <p:nvPr/>
        </p:nvSpPr>
        <p:spPr>
          <a:xfrm>
            <a:off x="6263640" y="1417319"/>
            <a:ext cx="73153" cy="3200401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8" name="TextBox 9"/>
          <p:cNvSpPr txBox="1"/>
          <p:nvPr/>
        </p:nvSpPr>
        <p:spPr>
          <a:xfrm>
            <a:off x="6510526" y="1545336"/>
            <a:ext cx="29264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{"nombre":"Ana", "edad":20}</a:t>
            </a:r>
          </a:p>
        </p:txBody>
      </p:sp>
      <p:sp>
        <p:nvSpPr>
          <p:cNvPr id="389" name="TextBox 10"/>
          <p:cNvSpPr txBox="1"/>
          <p:nvPr/>
        </p:nvSpPr>
        <p:spPr>
          <a:xfrm>
            <a:off x="6510526" y="1984248"/>
            <a:ext cx="4676700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Registro: los campos representan características diferentes.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2" name="TextBox 2"/>
          <p:cNvSpPr txBox="1"/>
          <p:nvPr/>
        </p:nvSpPr>
        <p:spPr>
          <a:xfrm>
            <a:off x="640079" y="256032"/>
            <a:ext cx="2764965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3.5 · Declaraciones</a:t>
            </a:r>
          </a:p>
        </p:txBody>
      </p:sp>
      <p:sp>
        <p:nvSpPr>
          <p:cNvPr id="393" name="Rounded Rectangle 3"/>
          <p:cNvSpPr/>
          <p:nvPr/>
        </p:nvSpPr>
        <p:spPr>
          <a:xfrm>
            <a:off x="685800" y="1325880"/>
            <a:ext cx="5257800" cy="384048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4" name="TextBox 4"/>
          <p:cNvSpPr txBox="1"/>
          <p:nvPr/>
        </p:nvSpPr>
        <p:spPr>
          <a:xfrm>
            <a:off x="914399" y="1435607"/>
            <a:ext cx="51983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395" name="TextBox 5"/>
          <p:cNvSpPr txBox="1"/>
          <p:nvPr/>
        </p:nvSpPr>
        <p:spPr>
          <a:xfrm>
            <a:off x="932687" y="1801367"/>
            <a:ext cx="3305062" cy="159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edad = 20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calificaciones = [8, 9, 7, 10]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alumno = {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"nombre": "Ana",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"edad": 20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396" name="Rounded Rectangle 6"/>
          <p:cNvSpPr/>
          <p:nvPr/>
        </p:nvSpPr>
        <p:spPr>
          <a:xfrm>
            <a:off x="6263640" y="1325880"/>
            <a:ext cx="5212081" cy="1188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7" name="Rectangle 7"/>
          <p:cNvSpPr/>
          <p:nvPr/>
        </p:nvSpPr>
        <p:spPr>
          <a:xfrm>
            <a:off x="6263640" y="1325880"/>
            <a:ext cx="73153" cy="118872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8" name="TextBox 8"/>
          <p:cNvSpPr txBox="1"/>
          <p:nvPr/>
        </p:nvSpPr>
        <p:spPr>
          <a:xfrm>
            <a:off x="6510526" y="1453894"/>
            <a:ext cx="840394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Variable</a:t>
            </a:r>
          </a:p>
        </p:txBody>
      </p:sp>
      <p:sp>
        <p:nvSpPr>
          <p:cNvPr id="399" name="TextBox 9"/>
          <p:cNvSpPr txBox="1"/>
          <p:nvPr/>
        </p:nvSpPr>
        <p:spPr>
          <a:xfrm>
            <a:off x="6510526" y="1892806"/>
            <a:ext cx="46460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edad</a:t>
            </a:r>
          </a:p>
        </p:txBody>
      </p:sp>
      <p:sp>
        <p:nvSpPr>
          <p:cNvPr id="400" name="Rounded Rectangle 10"/>
          <p:cNvSpPr/>
          <p:nvPr/>
        </p:nvSpPr>
        <p:spPr>
          <a:xfrm>
            <a:off x="6263640" y="2743200"/>
            <a:ext cx="5212081" cy="1188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1" name="Rectangle 11"/>
          <p:cNvSpPr/>
          <p:nvPr/>
        </p:nvSpPr>
        <p:spPr>
          <a:xfrm>
            <a:off x="6263640" y="2743200"/>
            <a:ext cx="73153" cy="1188720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2" name="TextBox 12"/>
          <p:cNvSpPr txBox="1"/>
          <p:nvPr/>
        </p:nvSpPr>
        <p:spPr>
          <a:xfrm>
            <a:off x="6510526" y="2871216"/>
            <a:ext cx="766179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Arreglo</a:t>
            </a:r>
          </a:p>
        </p:txBody>
      </p:sp>
      <p:sp>
        <p:nvSpPr>
          <p:cNvPr id="403" name="TextBox 13"/>
          <p:cNvSpPr txBox="1"/>
          <p:nvPr/>
        </p:nvSpPr>
        <p:spPr>
          <a:xfrm>
            <a:off x="6510526" y="3310128"/>
            <a:ext cx="105973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calificaciones</a:t>
            </a:r>
          </a:p>
        </p:txBody>
      </p:sp>
      <p:sp>
        <p:nvSpPr>
          <p:cNvPr id="404" name="Rounded Rectangle 14"/>
          <p:cNvSpPr/>
          <p:nvPr/>
        </p:nvSpPr>
        <p:spPr>
          <a:xfrm>
            <a:off x="6263640" y="4160520"/>
            <a:ext cx="5212081" cy="11887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5" name="Rectangle 15"/>
          <p:cNvSpPr/>
          <p:nvPr/>
        </p:nvSpPr>
        <p:spPr>
          <a:xfrm>
            <a:off x="6263640" y="4160520"/>
            <a:ext cx="73153" cy="118872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6" name="TextBox 16"/>
          <p:cNvSpPr txBox="1"/>
          <p:nvPr/>
        </p:nvSpPr>
        <p:spPr>
          <a:xfrm>
            <a:off x="6510526" y="4288535"/>
            <a:ext cx="835334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Registro</a:t>
            </a:r>
          </a:p>
        </p:txBody>
      </p:sp>
      <p:sp>
        <p:nvSpPr>
          <p:cNvPr id="407" name="TextBox 17"/>
          <p:cNvSpPr txBox="1"/>
          <p:nvPr/>
        </p:nvSpPr>
        <p:spPr>
          <a:xfrm>
            <a:off x="6510526" y="4727447"/>
            <a:ext cx="65273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alumno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0" name="TextBox 2"/>
          <p:cNvSpPr txBox="1"/>
          <p:nvPr/>
        </p:nvSpPr>
        <p:spPr>
          <a:xfrm>
            <a:off x="640079" y="256032"/>
            <a:ext cx="5367020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Usar una variable antes de declararla</a:t>
            </a:r>
          </a:p>
        </p:txBody>
      </p:sp>
      <p:sp>
        <p:nvSpPr>
          <p:cNvPr id="411" name="Rounded Rectangle 3"/>
          <p:cNvSpPr/>
          <p:nvPr/>
        </p:nvSpPr>
        <p:spPr>
          <a:xfrm>
            <a:off x="685800" y="1325880"/>
            <a:ext cx="5257800" cy="3200401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DC262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2" name="TextBox 4"/>
          <p:cNvSpPr txBox="1"/>
          <p:nvPr/>
        </p:nvSpPr>
        <p:spPr>
          <a:xfrm>
            <a:off x="914399" y="1435607"/>
            <a:ext cx="697935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Incorrecto</a:t>
            </a:r>
          </a:p>
        </p:txBody>
      </p:sp>
      <p:sp>
        <p:nvSpPr>
          <p:cNvPr id="413" name="TextBox 5"/>
          <p:cNvSpPr txBox="1"/>
          <p:nvPr/>
        </p:nvSpPr>
        <p:spPr>
          <a:xfrm>
            <a:off x="932687" y="1801367"/>
            <a:ext cx="1658874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7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print(total)</a:t>
            </a:r>
          </a:p>
          <a:p>
            <a:pPr>
              <a:spcBef>
                <a:spcPts val="100"/>
              </a:spcBef>
              <a:defRPr sz="17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total = 100</a:t>
            </a:r>
          </a:p>
        </p:txBody>
      </p:sp>
      <p:sp>
        <p:nvSpPr>
          <p:cNvPr id="414" name="Rounded Rectangle 6"/>
          <p:cNvSpPr/>
          <p:nvPr/>
        </p:nvSpPr>
        <p:spPr>
          <a:xfrm>
            <a:off x="6263640" y="1325880"/>
            <a:ext cx="5257801" cy="3200401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16A34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5" name="TextBox 7"/>
          <p:cNvSpPr txBox="1"/>
          <p:nvPr/>
        </p:nvSpPr>
        <p:spPr>
          <a:xfrm>
            <a:off x="6492239" y="1435607"/>
            <a:ext cx="60189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Correcto</a:t>
            </a:r>
          </a:p>
        </p:txBody>
      </p:sp>
      <p:sp>
        <p:nvSpPr>
          <p:cNvPr id="416" name="TextBox 8"/>
          <p:cNvSpPr txBox="1"/>
          <p:nvPr/>
        </p:nvSpPr>
        <p:spPr>
          <a:xfrm>
            <a:off x="6510526" y="1801367"/>
            <a:ext cx="1658874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7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total = 100</a:t>
            </a:r>
          </a:p>
          <a:p>
            <a:pPr>
              <a:spcBef>
                <a:spcPts val="100"/>
              </a:spcBef>
              <a:defRPr sz="17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print(total)</a:t>
            </a:r>
          </a:p>
        </p:txBody>
      </p:sp>
      <p:sp>
        <p:nvSpPr>
          <p:cNvPr id="417" name="Rounded Rectangle 9"/>
          <p:cNvSpPr/>
          <p:nvPr/>
        </p:nvSpPr>
        <p:spPr>
          <a:xfrm>
            <a:off x="1554480" y="4983479"/>
            <a:ext cx="9052560" cy="822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8" name="Rectangle 10"/>
          <p:cNvSpPr/>
          <p:nvPr/>
        </p:nvSpPr>
        <p:spPr>
          <a:xfrm>
            <a:off x="1554480" y="4983479"/>
            <a:ext cx="73153" cy="82296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9" name="TextBox 11"/>
          <p:cNvSpPr txBox="1"/>
          <p:nvPr/>
        </p:nvSpPr>
        <p:spPr>
          <a:xfrm>
            <a:off x="1801368" y="5111496"/>
            <a:ext cx="109464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Primer caso</a:t>
            </a:r>
          </a:p>
        </p:txBody>
      </p:sp>
      <p:sp>
        <p:nvSpPr>
          <p:cNvPr id="420" name="TextBox 12"/>
          <p:cNvSpPr txBox="1"/>
          <p:nvPr/>
        </p:nvSpPr>
        <p:spPr>
          <a:xfrm>
            <a:off x="1801368" y="5550408"/>
            <a:ext cx="402865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Python produce NameError porque total todavía no existe.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3" name="TextBox 2"/>
          <p:cNvSpPr txBox="1"/>
          <p:nvPr/>
        </p:nvSpPr>
        <p:spPr>
          <a:xfrm>
            <a:off x="640079" y="256032"/>
            <a:ext cx="1442255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Actividad</a:t>
            </a:r>
          </a:p>
        </p:txBody>
      </p:sp>
      <p:sp>
        <p:nvSpPr>
          <p:cNvPr id="424" name="TextBox 3"/>
          <p:cNvSpPr txBox="1"/>
          <p:nvPr/>
        </p:nvSpPr>
        <p:spPr>
          <a:xfrm>
            <a:off x="658368" y="859536"/>
            <a:ext cx="4667509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Decide si conviene un arreglo o un registro y dibuja los datos en memoria.</a:t>
            </a:r>
          </a:p>
        </p:txBody>
      </p:sp>
      <p:sp>
        <p:nvSpPr>
          <p:cNvPr id="425" name="Rounded Rectangle 4"/>
          <p:cNvSpPr/>
          <p:nvPr/>
        </p:nvSpPr>
        <p:spPr>
          <a:xfrm>
            <a:off x="640080" y="1417319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6" name="Rectangle 5"/>
          <p:cNvSpPr/>
          <p:nvPr/>
        </p:nvSpPr>
        <p:spPr>
          <a:xfrm>
            <a:off x="640080" y="1417319"/>
            <a:ext cx="73153" cy="196596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7" name="TextBox 6"/>
          <p:cNvSpPr txBox="1"/>
          <p:nvPr/>
        </p:nvSpPr>
        <p:spPr>
          <a:xfrm>
            <a:off x="886966" y="1545336"/>
            <a:ext cx="671375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Caso A</a:t>
            </a:r>
          </a:p>
        </p:txBody>
      </p:sp>
      <p:sp>
        <p:nvSpPr>
          <p:cNvPr id="428" name="TextBox 7"/>
          <p:cNvSpPr txBox="1"/>
          <p:nvPr/>
        </p:nvSpPr>
        <p:spPr>
          <a:xfrm>
            <a:off x="886966" y="1984248"/>
            <a:ext cx="27039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Guardar 5 calificaciones de un alumno.</a:t>
            </a:r>
          </a:p>
        </p:txBody>
      </p:sp>
      <p:sp>
        <p:nvSpPr>
          <p:cNvPr id="429" name="Rounded Rectangle 8"/>
          <p:cNvSpPr/>
          <p:nvPr/>
        </p:nvSpPr>
        <p:spPr>
          <a:xfrm>
            <a:off x="6217920" y="1417319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0" name="Rectangle 9"/>
          <p:cNvSpPr/>
          <p:nvPr/>
        </p:nvSpPr>
        <p:spPr>
          <a:xfrm>
            <a:off x="6217920" y="1417319"/>
            <a:ext cx="73153" cy="196596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1" name="TextBox 10"/>
          <p:cNvSpPr txBox="1"/>
          <p:nvPr/>
        </p:nvSpPr>
        <p:spPr>
          <a:xfrm>
            <a:off x="6464807" y="1545336"/>
            <a:ext cx="662148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Caso B</a:t>
            </a:r>
          </a:p>
        </p:txBody>
      </p:sp>
      <p:sp>
        <p:nvSpPr>
          <p:cNvPr id="432" name="TextBox 11"/>
          <p:cNvSpPr txBox="1"/>
          <p:nvPr/>
        </p:nvSpPr>
        <p:spPr>
          <a:xfrm>
            <a:off x="6464807" y="1984248"/>
            <a:ext cx="344258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Guardar nombre, edad y promedio de un alumno.</a:t>
            </a:r>
          </a:p>
        </p:txBody>
      </p:sp>
      <p:sp>
        <p:nvSpPr>
          <p:cNvPr id="433" name="Rounded Rectangle 12"/>
          <p:cNvSpPr/>
          <p:nvPr/>
        </p:nvSpPr>
        <p:spPr>
          <a:xfrm>
            <a:off x="640080" y="3703320"/>
            <a:ext cx="534924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4" name="Rectangle 13"/>
          <p:cNvSpPr/>
          <p:nvPr/>
        </p:nvSpPr>
        <p:spPr>
          <a:xfrm>
            <a:off x="640080" y="3703320"/>
            <a:ext cx="73153" cy="196596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5" name="TextBox 14"/>
          <p:cNvSpPr txBox="1"/>
          <p:nvPr/>
        </p:nvSpPr>
        <p:spPr>
          <a:xfrm>
            <a:off x="886966" y="3831335"/>
            <a:ext cx="655798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Caso C</a:t>
            </a:r>
          </a:p>
        </p:txBody>
      </p:sp>
      <p:sp>
        <p:nvSpPr>
          <p:cNvPr id="436" name="TextBox 15"/>
          <p:cNvSpPr txBox="1"/>
          <p:nvPr/>
        </p:nvSpPr>
        <p:spPr>
          <a:xfrm>
            <a:off x="886966" y="4270247"/>
            <a:ext cx="234855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Guardar nombres de 10 alumnos.</a:t>
            </a:r>
          </a:p>
        </p:txBody>
      </p:sp>
      <p:sp>
        <p:nvSpPr>
          <p:cNvPr id="437" name="Rounded Rectangle 16"/>
          <p:cNvSpPr/>
          <p:nvPr/>
        </p:nvSpPr>
        <p:spPr>
          <a:xfrm>
            <a:off x="6217920" y="3703320"/>
            <a:ext cx="534924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8" name="Rectangle 17"/>
          <p:cNvSpPr/>
          <p:nvPr/>
        </p:nvSpPr>
        <p:spPr>
          <a:xfrm>
            <a:off x="6217920" y="3703320"/>
            <a:ext cx="73153" cy="196596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9" name="TextBox 18"/>
          <p:cNvSpPr txBox="1"/>
          <p:nvPr/>
        </p:nvSpPr>
        <p:spPr>
          <a:xfrm>
            <a:off x="6464807" y="3831335"/>
            <a:ext cx="676336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Caso D</a:t>
            </a:r>
          </a:p>
        </p:txBody>
      </p:sp>
      <p:sp>
        <p:nvSpPr>
          <p:cNvPr id="440" name="TextBox 19"/>
          <p:cNvSpPr txBox="1"/>
          <p:nvPr/>
        </p:nvSpPr>
        <p:spPr>
          <a:xfrm>
            <a:off x="6464807" y="4270247"/>
            <a:ext cx="3569468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Guardar nombre, matrícula y estatus de un alumno.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3" name="TextBox 2"/>
          <p:cNvSpPr txBox="1"/>
          <p:nvPr/>
        </p:nvSpPr>
        <p:spPr>
          <a:xfrm>
            <a:off x="640079" y="256032"/>
            <a:ext cx="3530463" cy="43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Cierre: conecta las ideas</a:t>
            </a:r>
          </a:p>
        </p:txBody>
      </p:sp>
      <p:sp>
        <p:nvSpPr>
          <p:cNvPr id="444" name="Rounded Rectangle 3"/>
          <p:cNvSpPr/>
          <p:nvPr/>
        </p:nvSpPr>
        <p:spPr>
          <a:xfrm>
            <a:off x="640080" y="1417319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5" name="Rectangle 4"/>
          <p:cNvSpPr/>
          <p:nvPr/>
        </p:nvSpPr>
        <p:spPr>
          <a:xfrm>
            <a:off x="640080" y="1417319"/>
            <a:ext cx="73153" cy="196596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6" name="TextBox 5"/>
          <p:cNvSpPr txBox="1"/>
          <p:nvPr/>
        </p:nvSpPr>
        <p:spPr>
          <a:xfrm>
            <a:off x="886966" y="1545336"/>
            <a:ext cx="117709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Recursividad</a:t>
            </a:r>
          </a:p>
        </p:txBody>
      </p:sp>
      <p:sp>
        <p:nvSpPr>
          <p:cNvPr id="447" name="TextBox 6"/>
          <p:cNvSpPr txBox="1"/>
          <p:nvPr/>
        </p:nvSpPr>
        <p:spPr>
          <a:xfrm>
            <a:off x="886966" y="1984248"/>
            <a:ext cx="5392904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Un problema puede resolverse mediante versiones más pequeñas de sí mismo.</a:t>
            </a:r>
          </a:p>
        </p:txBody>
      </p:sp>
      <p:sp>
        <p:nvSpPr>
          <p:cNvPr id="448" name="Rounded Rectangle 7"/>
          <p:cNvSpPr/>
          <p:nvPr/>
        </p:nvSpPr>
        <p:spPr>
          <a:xfrm>
            <a:off x="6217920" y="1417319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9" name="Rectangle 8"/>
          <p:cNvSpPr/>
          <p:nvPr/>
        </p:nvSpPr>
        <p:spPr>
          <a:xfrm>
            <a:off x="6217920" y="1417319"/>
            <a:ext cx="73153" cy="196596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0" name="TextBox 9"/>
          <p:cNvSpPr txBox="1"/>
          <p:nvPr/>
        </p:nvSpPr>
        <p:spPr>
          <a:xfrm>
            <a:off x="6464807" y="1545336"/>
            <a:ext cx="80829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Arreglos</a:t>
            </a:r>
          </a:p>
        </p:txBody>
      </p:sp>
      <p:sp>
        <p:nvSpPr>
          <p:cNvPr id="451" name="TextBox 10"/>
          <p:cNvSpPr txBox="1"/>
          <p:nvPr/>
        </p:nvSpPr>
        <p:spPr>
          <a:xfrm>
            <a:off x="6464807" y="1984248"/>
            <a:ext cx="2372815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Organizan colecciones ordenadas.</a:t>
            </a:r>
          </a:p>
        </p:txBody>
      </p:sp>
      <p:sp>
        <p:nvSpPr>
          <p:cNvPr id="452" name="Rounded Rectangle 11"/>
          <p:cNvSpPr/>
          <p:nvPr/>
        </p:nvSpPr>
        <p:spPr>
          <a:xfrm>
            <a:off x="640080" y="3703320"/>
            <a:ext cx="534924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3" name="Rectangle 12"/>
          <p:cNvSpPr/>
          <p:nvPr/>
        </p:nvSpPr>
        <p:spPr>
          <a:xfrm>
            <a:off x="640080" y="3703320"/>
            <a:ext cx="73153" cy="196596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4" name="TextBox 13"/>
          <p:cNvSpPr txBox="1"/>
          <p:nvPr/>
        </p:nvSpPr>
        <p:spPr>
          <a:xfrm>
            <a:off x="886966" y="3831335"/>
            <a:ext cx="873384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Registros</a:t>
            </a:r>
          </a:p>
        </p:txBody>
      </p:sp>
      <p:sp>
        <p:nvSpPr>
          <p:cNvPr id="455" name="TextBox 14"/>
          <p:cNvSpPr txBox="1"/>
          <p:nvPr/>
        </p:nvSpPr>
        <p:spPr>
          <a:xfrm>
            <a:off x="886966" y="4270247"/>
            <a:ext cx="3309564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Organizan campos relacionados de una entidad.</a:t>
            </a:r>
          </a:p>
        </p:txBody>
      </p:sp>
      <p:sp>
        <p:nvSpPr>
          <p:cNvPr id="456" name="Rounded Rectangle 15"/>
          <p:cNvSpPr/>
          <p:nvPr/>
        </p:nvSpPr>
        <p:spPr>
          <a:xfrm>
            <a:off x="6217920" y="3703320"/>
            <a:ext cx="534924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7" name="Rectangle 16"/>
          <p:cNvSpPr/>
          <p:nvPr/>
        </p:nvSpPr>
        <p:spPr>
          <a:xfrm>
            <a:off x="6217920" y="3703320"/>
            <a:ext cx="73153" cy="196596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8" name="TextBox 17"/>
          <p:cNvSpPr txBox="1"/>
          <p:nvPr/>
        </p:nvSpPr>
        <p:spPr>
          <a:xfrm>
            <a:off x="6464807" y="3831335"/>
            <a:ext cx="127442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Declaraciones</a:t>
            </a:r>
          </a:p>
        </p:txBody>
      </p:sp>
      <p:sp>
        <p:nvSpPr>
          <p:cNvPr id="459" name="TextBox 18"/>
          <p:cNvSpPr txBox="1"/>
          <p:nvPr/>
        </p:nvSpPr>
        <p:spPr>
          <a:xfrm>
            <a:off x="6464807" y="4270247"/>
            <a:ext cx="4148285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Crean nombres y estructuras que el programa puede utilizar.</a:t>
            </a:r>
          </a:p>
        </p:txBody>
      </p:sp>
      <p:sp>
        <p:nvSpPr>
          <p:cNvPr id="460" name="Rounded Rectangle 19"/>
          <p:cNvSpPr/>
          <p:nvPr/>
        </p:nvSpPr>
        <p:spPr>
          <a:xfrm>
            <a:off x="1417319" y="5791200"/>
            <a:ext cx="9326882" cy="6400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1" name="Rectangle 20"/>
          <p:cNvSpPr/>
          <p:nvPr/>
        </p:nvSpPr>
        <p:spPr>
          <a:xfrm>
            <a:off x="1417319" y="5791199"/>
            <a:ext cx="73153" cy="640082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2" name="TextBox 21"/>
          <p:cNvSpPr txBox="1"/>
          <p:nvPr/>
        </p:nvSpPr>
        <p:spPr>
          <a:xfrm>
            <a:off x="1664208" y="5830315"/>
            <a:ext cx="113760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122238"/>
                </a:solidFill>
              </a:defRPr>
            </a:lvl1pPr>
          </a:lstStyle>
          <a:p>
            <a:pPr/>
            <a:r>
              <a:t>Pregunta final</a:t>
            </a:r>
          </a:p>
        </p:txBody>
      </p:sp>
      <p:sp>
        <p:nvSpPr>
          <p:cNvPr id="463" name="TextBox 22"/>
          <p:cNvSpPr txBox="1"/>
          <p:nvPr/>
        </p:nvSpPr>
        <p:spPr>
          <a:xfrm>
            <a:off x="1664208" y="6085840"/>
            <a:ext cx="7034918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¿Qué estructura usarías para guardar una lista de alumnos donde cada alumno tiene nombre, edad y promedio?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