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F172A"/>
        </a:fontRef>
        <a:srgbClr val="0F172A"/>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2F7"/>
          </a:solidFill>
        </a:fill>
      </a:tcStyle>
    </a:wholeTbl>
    <a:band2H>
      <a:tcTxStyle b="def" i="def"/>
      <a:tcStyle>
        <a:tcBdr/>
        <a:fill>
          <a:solidFill>
            <a:srgbClr val="E7EAFB"/>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F172A"/>
        </a:fontRef>
        <a:srgbClr val="0F172A"/>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6CDF8"/>
          </a:solidFill>
        </a:fill>
      </a:tcStyle>
    </a:wholeTbl>
    <a:band2H>
      <a:tcTxStyle b="def" i="def"/>
      <a:tcStyle>
        <a:tcBdr/>
        <a:fill>
          <a:solidFill>
            <a:srgbClr val="ECE7F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F172A"/>
        </a:fontRef>
        <a:srgbClr val="0F172A"/>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1D5CA"/>
          </a:solidFill>
        </a:fill>
      </a:tcStyle>
    </a:wholeTbl>
    <a:band2H>
      <a:tcTxStyle b="def" i="def"/>
      <a:tcStyle>
        <a:tcBdr/>
        <a:fill>
          <a:solidFill>
            <a:srgbClr val="F8EB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F172A"/>
        </a:fontRef>
        <a:srgbClr val="0F172A"/>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7E7"/>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F172A"/>
        </a:fontRef>
        <a:srgbClr val="0F172A"/>
      </a:tcTxStyle>
      <a:tcStyle>
        <a:tcBdr>
          <a:left>
            <a:ln w="12700" cap="flat">
              <a:noFill/>
              <a:miter lim="400000"/>
            </a:ln>
          </a:left>
          <a:right>
            <a:ln w="12700" cap="flat">
              <a:noFill/>
              <a:miter lim="400000"/>
            </a:ln>
          </a:right>
          <a:top>
            <a:ln w="50800" cap="flat">
              <a:solidFill>
                <a:srgbClr val="0F172A"/>
              </a:solidFill>
              <a:prstDash val="solid"/>
              <a:round/>
            </a:ln>
          </a:top>
          <a:bottom>
            <a:ln w="25400" cap="flat">
              <a:solidFill>
                <a:srgbClr val="0F172A"/>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F172A"/>
              </a:solidFill>
              <a:prstDash val="solid"/>
              <a:round/>
            </a:ln>
          </a:top>
          <a:bottom>
            <a:ln w="25400" cap="flat">
              <a:solidFill>
                <a:srgbClr val="0F172A"/>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F172A"/>
        </a:fontRef>
        <a:srgbClr val="0F172A"/>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B"/>
          </a:solidFill>
        </a:fill>
      </a:tcStyle>
    </a:wholeTbl>
    <a:band2H>
      <a:tcTxStyle b="def" i="def"/>
      <a:tcStyle>
        <a:tcBdr/>
        <a:fill>
          <a:solidFill>
            <a:srgbClr val="E6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F172A"/>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F172A"/>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F172A"/>
          </a:solidFill>
        </a:fill>
      </a:tcStyle>
    </a:firstRow>
  </a:tblStyle>
  <a:tblStyle styleId="{2708684C-4D16-4618-839F-0558EEFCDFE6}" styleName="">
    <a:tblBg/>
    <a:wholeTbl>
      <a:tcTxStyle b="off" i="off">
        <a:fontRef idx="minor">
          <a:srgbClr val="0F172A"/>
        </a:fontRef>
        <a:srgbClr val="0F172A"/>
      </a:tcTxStyle>
      <a:tcStyle>
        <a:tcBdr>
          <a:left>
            <a:ln w="12700" cap="flat">
              <a:solidFill>
                <a:srgbClr val="0F172A"/>
              </a:solidFill>
              <a:prstDash val="solid"/>
              <a:round/>
            </a:ln>
          </a:left>
          <a:right>
            <a:ln w="12700" cap="flat">
              <a:solidFill>
                <a:srgbClr val="0F172A"/>
              </a:solidFill>
              <a:prstDash val="solid"/>
              <a:round/>
            </a:ln>
          </a:right>
          <a:top>
            <a:ln w="12700" cap="flat">
              <a:solidFill>
                <a:srgbClr val="0F172A"/>
              </a:solidFill>
              <a:prstDash val="solid"/>
              <a:round/>
            </a:ln>
          </a:top>
          <a:bottom>
            <a:ln w="12700" cap="flat">
              <a:solidFill>
                <a:srgbClr val="0F172A"/>
              </a:solidFill>
              <a:prstDash val="solid"/>
              <a:round/>
            </a:ln>
          </a:bottom>
          <a:insideH>
            <a:ln w="12700" cap="flat">
              <a:solidFill>
                <a:srgbClr val="0F172A"/>
              </a:solidFill>
              <a:prstDash val="solid"/>
              <a:round/>
            </a:ln>
          </a:insideH>
          <a:insideV>
            <a:ln w="12700" cap="flat">
              <a:solidFill>
                <a:srgbClr val="0F172A"/>
              </a:solidFill>
              <a:prstDash val="solid"/>
              <a:round/>
            </a:ln>
          </a:insideV>
        </a:tcBdr>
        <a:fill>
          <a:solidFill>
            <a:srgbClr val="0F172A">
              <a:alpha val="20000"/>
            </a:srgbClr>
          </a:solidFill>
        </a:fill>
      </a:tcStyle>
    </a:wholeTbl>
    <a:band2H>
      <a:tcTxStyle b="def" i="def"/>
      <a:tcStyle>
        <a:tcBdr/>
        <a:fill>
          <a:solidFill>
            <a:srgbClr val="FFFFFF"/>
          </a:solidFill>
        </a:fill>
      </a:tcStyle>
    </a:band2H>
    <a:firstCol>
      <a:tcTxStyle b="on" i="off">
        <a:fontRef idx="minor">
          <a:srgbClr val="0F172A"/>
        </a:fontRef>
        <a:srgbClr val="0F172A"/>
      </a:tcTxStyle>
      <a:tcStyle>
        <a:tcBdr>
          <a:left>
            <a:ln w="12700" cap="flat">
              <a:solidFill>
                <a:srgbClr val="0F172A"/>
              </a:solidFill>
              <a:prstDash val="solid"/>
              <a:round/>
            </a:ln>
          </a:left>
          <a:right>
            <a:ln w="12700" cap="flat">
              <a:solidFill>
                <a:srgbClr val="0F172A"/>
              </a:solidFill>
              <a:prstDash val="solid"/>
              <a:round/>
            </a:ln>
          </a:right>
          <a:top>
            <a:ln w="12700" cap="flat">
              <a:solidFill>
                <a:srgbClr val="0F172A"/>
              </a:solidFill>
              <a:prstDash val="solid"/>
              <a:round/>
            </a:ln>
          </a:top>
          <a:bottom>
            <a:ln w="12700" cap="flat">
              <a:solidFill>
                <a:srgbClr val="0F172A"/>
              </a:solidFill>
              <a:prstDash val="solid"/>
              <a:round/>
            </a:ln>
          </a:bottom>
          <a:insideH>
            <a:ln w="12700" cap="flat">
              <a:solidFill>
                <a:srgbClr val="0F172A"/>
              </a:solidFill>
              <a:prstDash val="solid"/>
              <a:round/>
            </a:ln>
          </a:insideH>
          <a:insideV>
            <a:ln w="12700" cap="flat">
              <a:solidFill>
                <a:srgbClr val="0F172A"/>
              </a:solidFill>
              <a:prstDash val="solid"/>
              <a:round/>
            </a:ln>
          </a:insideV>
        </a:tcBdr>
        <a:fill>
          <a:solidFill>
            <a:srgbClr val="0F172A">
              <a:alpha val="20000"/>
            </a:srgbClr>
          </a:solidFill>
        </a:fill>
      </a:tcStyle>
    </a:firstCol>
    <a:lastRow>
      <a:tcTxStyle b="on" i="off">
        <a:fontRef idx="minor">
          <a:srgbClr val="0F172A"/>
        </a:fontRef>
        <a:srgbClr val="0F172A"/>
      </a:tcTxStyle>
      <a:tcStyle>
        <a:tcBdr>
          <a:left>
            <a:ln w="12700" cap="flat">
              <a:solidFill>
                <a:srgbClr val="0F172A"/>
              </a:solidFill>
              <a:prstDash val="solid"/>
              <a:round/>
            </a:ln>
          </a:left>
          <a:right>
            <a:ln w="12700" cap="flat">
              <a:solidFill>
                <a:srgbClr val="0F172A"/>
              </a:solidFill>
              <a:prstDash val="solid"/>
              <a:round/>
            </a:ln>
          </a:right>
          <a:top>
            <a:ln w="50800" cap="flat">
              <a:solidFill>
                <a:srgbClr val="0F172A"/>
              </a:solidFill>
              <a:prstDash val="solid"/>
              <a:round/>
            </a:ln>
          </a:top>
          <a:bottom>
            <a:ln w="12700" cap="flat">
              <a:solidFill>
                <a:srgbClr val="0F172A"/>
              </a:solidFill>
              <a:prstDash val="solid"/>
              <a:round/>
            </a:ln>
          </a:bottom>
          <a:insideH>
            <a:ln w="12700" cap="flat">
              <a:solidFill>
                <a:srgbClr val="0F172A"/>
              </a:solidFill>
              <a:prstDash val="solid"/>
              <a:round/>
            </a:ln>
          </a:insideH>
          <a:insideV>
            <a:ln w="12700" cap="flat">
              <a:solidFill>
                <a:srgbClr val="0F172A"/>
              </a:solidFill>
              <a:prstDash val="solid"/>
              <a:round/>
            </a:ln>
          </a:insideV>
        </a:tcBdr>
        <a:fill>
          <a:noFill/>
        </a:fill>
      </a:tcStyle>
    </a:lastRow>
    <a:firstRow>
      <a:tcTxStyle b="on" i="off">
        <a:fontRef idx="minor">
          <a:srgbClr val="0F172A"/>
        </a:fontRef>
        <a:srgbClr val="0F172A"/>
      </a:tcTxStyle>
      <a:tcStyle>
        <a:tcBdr>
          <a:left>
            <a:ln w="12700" cap="flat">
              <a:solidFill>
                <a:srgbClr val="0F172A"/>
              </a:solidFill>
              <a:prstDash val="solid"/>
              <a:round/>
            </a:ln>
          </a:left>
          <a:right>
            <a:ln w="12700" cap="flat">
              <a:solidFill>
                <a:srgbClr val="0F172A"/>
              </a:solidFill>
              <a:prstDash val="solid"/>
              <a:round/>
            </a:ln>
          </a:right>
          <a:top>
            <a:ln w="12700" cap="flat">
              <a:solidFill>
                <a:srgbClr val="0F172A"/>
              </a:solidFill>
              <a:prstDash val="solid"/>
              <a:round/>
            </a:ln>
          </a:top>
          <a:bottom>
            <a:ln w="25400" cap="flat">
              <a:solidFill>
                <a:srgbClr val="0F172A"/>
              </a:solidFill>
              <a:prstDash val="solid"/>
              <a:round/>
            </a:ln>
          </a:bottom>
          <a:insideH>
            <a:ln w="12700" cap="flat">
              <a:solidFill>
                <a:srgbClr val="0F172A"/>
              </a:solidFill>
              <a:prstDash val="solid"/>
              <a:round/>
            </a:ln>
          </a:insideH>
          <a:insideV>
            <a:ln w="12700" cap="flat">
              <a:solidFill>
                <a:srgbClr val="0F172A"/>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5" name="Shape 35"/>
          <p:cNvSpPr/>
          <p:nvPr>
            <p:ph type="sldImg"/>
          </p:nvPr>
        </p:nvSpPr>
        <p:spPr>
          <a:xfrm>
            <a:off x="1143000" y="685800"/>
            <a:ext cx="4572000" cy="3429000"/>
          </a:xfrm>
          <a:prstGeom prst="rect">
            <a:avLst/>
          </a:prstGeom>
        </p:spPr>
        <p:txBody>
          <a:bodyPr/>
          <a:lstStyle/>
          <a:p>
            <a:pPr/>
          </a:p>
        </p:txBody>
      </p:sp>
      <p:sp>
        <p:nvSpPr>
          <p:cNvPr id="36" name="Shape 3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0F172A"/>
        </a:solidFill>
        <a:latin typeface="+mn-lt"/>
        <a:ea typeface="+mn-ea"/>
        <a:cs typeface="+mn-cs"/>
        <a:sym typeface="Calibri"/>
      </a:defRPr>
    </a:lvl1pPr>
    <a:lvl2pPr indent="228600" latinLnBrk="0">
      <a:defRPr sz="1200">
        <a:solidFill>
          <a:srgbClr val="0F172A"/>
        </a:solidFill>
        <a:latin typeface="+mn-lt"/>
        <a:ea typeface="+mn-ea"/>
        <a:cs typeface="+mn-cs"/>
        <a:sym typeface="Calibri"/>
      </a:defRPr>
    </a:lvl2pPr>
    <a:lvl3pPr indent="457200" latinLnBrk="0">
      <a:defRPr sz="1200">
        <a:solidFill>
          <a:srgbClr val="0F172A"/>
        </a:solidFill>
        <a:latin typeface="+mn-lt"/>
        <a:ea typeface="+mn-ea"/>
        <a:cs typeface="+mn-cs"/>
        <a:sym typeface="Calibri"/>
      </a:defRPr>
    </a:lvl3pPr>
    <a:lvl4pPr indent="685800" latinLnBrk="0">
      <a:defRPr sz="1200">
        <a:solidFill>
          <a:srgbClr val="0F172A"/>
        </a:solidFill>
        <a:latin typeface="+mn-lt"/>
        <a:ea typeface="+mn-ea"/>
        <a:cs typeface="+mn-cs"/>
        <a:sym typeface="Calibri"/>
      </a:defRPr>
    </a:lvl4pPr>
    <a:lvl5pPr indent="914400" latinLnBrk="0">
      <a:defRPr sz="1200">
        <a:solidFill>
          <a:srgbClr val="0F172A"/>
        </a:solidFill>
        <a:latin typeface="+mn-lt"/>
        <a:ea typeface="+mn-ea"/>
        <a:cs typeface="+mn-cs"/>
        <a:sym typeface="Calibri"/>
      </a:defRPr>
    </a:lvl5pPr>
    <a:lvl6pPr indent="1143000" latinLnBrk="0">
      <a:defRPr sz="1200">
        <a:solidFill>
          <a:srgbClr val="0F172A"/>
        </a:solidFill>
        <a:latin typeface="+mn-lt"/>
        <a:ea typeface="+mn-ea"/>
        <a:cs typeface="+mn-cs"/>
        <a:sym typeface="Calibri"/>
      </a:defRPr>
    </a:lvl6pPr>
    <a:lvl7pPr indent="1371600" latinLnBrk="0">
      <a:defRPr sz="1200">
        <a:solidFill>
          <a:srgbClr val="0F172A"/>
        </a:solidFill>
        <a:latin typeface="+mn-lt"/>
        <a:ea typeface="+mn-ea"/>
        <a:cs typeface="+mn-cs"/>
        <a:sym typeface="Calibri"/>
      </a:defRPr>
    </a:lvl7pPr>
    <a:lvl8pPr indent="1600200" latinLnBrk="0">
      <a:defRPr sz="1200">
        <a:solidFill>
          <a:srgbClr val="0F172A"/>
        </a:solidFill>
        <a:latin typeface="+mn-lt"/>
        <a:ea typeface="+mn-ea"/>
        <a:cs typeface="+mn-cs"/>
        <a:sym typeface="Calibri"/>
      </a:defRPr>
    </a:lvl8pPr>
    <a:lvl9pPr indent="1828800" latinLnBrk="0">
      <a:defRPr sz="1200">
        <a:solidFill>
          <a:srgbClr val="0F172A"/>
        </a:solidFill>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 name="Shape 44"/>
          <p:cNvSpPr/>
          <p:nvPr>
            <p:ph type="sldImg"/>
          </p:nvPr>
        </p:nvSpPr>
        <p:spPr>
          <a:prstGeom prst="rect">
            <a:avLst/>
          </a:prstGeom>
        </p:spPr>
        <p:txBody>
          <a:bodyPr/>
          <a:lstStyle/>
          <a:p>
            <a:pPr/>
          </a:p>
        </p:txBody>
      </p:sp>
      <p:sp>
        <p:nvSpPr>
          <p:cNvPr id="45" name="Shape 45"/>
          <p:cNvSpPr/>
          <p:nvPr>
            <p:ph type="body" sz="quarter" idx="1"/>
          </p:nvPr>
        </p:nvSpPr>
        <p:spPr>
          <a:prstGeom prst="rect">
            <a:avLst/>
          </a:prstGeom>
        </p:spPr>
        <p:txBody>
          <a:bodyPr/>
          <a:lstStyle/>
          <a:p>
            <a:pPr/>
            <a:r>
              <a:t>Hoy: una regla nueva para nombrar funciones y dos formas de dibujar algoritmos (diagrama de flujo y Nassi-Shneiderman). Todo el tiempo vamos a ir de Python al dibujo y del dibujo a Python.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Shape 50"/>
          <p:cNvSpPr/>
          <p:nvPr>
            <p:ph type="sldImg"/>
          </p:nvPr>
        </p:nvSpPr>
        <p:spPr>
          <a:prstGeom prst="rect">
            <a:avLst/>
          </a:prstGeom>
        </p:spPr>
        <p:txBody>
          <a:bodyPr/>
          <a:lstStyle/>
          <a:p>
            <a:pPr/>
          </a:p>
        </p:txBody>
      </p:sp>
      <p:sp>
        <p:nvSpPr>
          <p:cNvPr id="51" name="Shape 51"/>
          <p:cNvSpPr/>
          <p:nvPr>
            <p:ph type="body" sz="quarter" idx="1"/>
          </p:nvPr>
        </p:nvSpPr>
        <p:spPr>
          <a:prstGeom prst="rect">
            <a:avLst/>
          </a:prstGeom>
        </p:spPr>
        <p:txBody>
          <a:bodyPr/>
          <a:lstStyle/>
          <a:p>
            <a:pPr/>
            <a:r>
              <a:t>La meta es que puedan traducir en cualquier dirección: de un enunciado a un nombre, del nombre a un dibujo y del dibujo a Python.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Shape 77"/>
          <p:cNvSpPr/>
          <p:nvPr>
            <p:ph type="sldImg"/>
          </p:nvPr>
        </p:nvSpPr>
        <p:spPr>
          <a:prstGeom prst="rect">
            <a:avLst/>
          </a:prstGeom>
        </p:spPr>
        <p:txBody>
          <a:bodyPr/>
          <a:lstStyle/>
          <a:p>
            <a:pPr/>
          </a:p>
        </p:txBody>
      </p:sp>
      <p:sp>
        <p:nvSpPr>
          <p:cNvPr id="78" name="Shape 78"/>
          <p:cNvSpPr/>
          <p:nvPr>
            <p:ph type="body" sz="quarter" idx="1"/>
          </p:nvPr>
        </p:nvSpPr>
        <p:spPr>
          <a:prstGeom prst="rect">
            <a:avLst/>
          </a:prstGeom>
        </p:spPr>
        <p:txBody>
          <a:bodyPr/>
          <a:lstStyle/>
          <a:p>
            <a:pPr/>
            <a:r>
              <a:t>La meta es que puedan traducir en cualquier dirección: de un enunciado a un nombre, del nombre a un dibujo y del dibujo a Python.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Shape 98"/>
          <p:cNvSpPr/>
          <p:nvPr>
            <p:ph type="sldImg"/>
          </p:nvPr>
        </p:nvSpPr>
        <p:spPr>
          <a:prstGeom prst="rect">
            <a:avLst/>
          </a:prstGeom>
        </p:spPr>
        <p:txBody>
          <a:bodyPr/>
          <a:lstStyle/>
          <a:p>
            <a:pPr/>
          </a:p>
        </p:txBody>
      </p:sp>
      <p:sp>
        <p:nvSpPr>
          <p:cNvPr id="99" name="Shape 99"/>
          <p:cNvSpPr/>
          <p:nvPr>
            <p:ph type="body" sz="quarter" idx="1"/>
          </p:nvPr>
        </p:nvSpPr>
        <p:spPr>
          <a:prstGeom prst="rect">
            <a:avLst/>
          </a:prstGeom>
        </p:spPr>
        <p:txBody>
          <a:bodyPr/>
          <a:lstStyle/>
          <a:p>
            <a:pPr/>
            <a:r>
              <a:t>Versión muy breve. Sapir y Whorf nunca publicaron juntos una 'hipótesis': el nombre se lo pusieron otros después. La versión fuerte (determinismo) está descartada; la débil (relatividad) tiene apoyo experimental en percepción y memoria. Las siguientes diapositivas son la evidencia; la 7 resume qué tan sólida 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Shape 117"/>
          <p:cNvSpPr/>
          <p:nvPr>
            <p:ph type="sldImg"/>
          </p:nvPr>
        </p:nvSpPr>
        <p:spPr>
          <a:prstGeom prst="rect">
            <a:avLst/>
          </a:prstGeom>
        </p:spPr>
        <p:txBody>
          <a:bodyPr/>
          <a:lstStyle/>
          <a:p>
            <a:pPr/>
          </a:p>
        </p:txBody>
      </p:sp>
      <p:sp>
        <p:nvSpPr>
          <p:cNvPr id="118" name="Shape 118"/>
          <p:cNvSpPr/>
          <p:nvPr>
            <p:ph type="body" sz="quarter" idx="1"/>
          </p:nvPr>
        </p:nvSpPr>
        <p:spPr>
          <a:prstGeom prst="rect">
            <a:avLst/>
          </a:prstGeom>
        </p:spPr>
        <p:txBody>
          <a:bodyPr/>
          <a:lstStyle/>
          <a:p>
            <a:pPr/>
            <a:r>
              <a:t>Winawer (azules en ruso): en pantalla aparecían tres cuadros azules, uno arriba y dos abajo, y había que decir cuál de los de abajo era idéntico al de arriba. Los rusos respondían más rápido cuando los dos azules de abajo caían en categorías distintas de su idioma (uno siniy y otro goluboy); los angloparlantes, para quienes ambos son blue, no tenían esa ventaja. Después repitieron la prueba con una tarea extra simultánea: memorizar un número de 8 dígitos repitiéndolo mentalmente en silencio, lo que ocupa el canal verbal. Con esa tarea la ventaja de los rusos desaparecía. Como control usaron otra tarea que ocupa la memoria pero no el lenguaje (recordar un patrón visual en una cuadrícula) y ahí la ventaja se mantenía. Conclusión: los rusos usan sus palabras en el momento de comparar colores; es la evidencia más directa de la versión débil. Fausey y Boroditsky: limitación del estudio de 2008: los grupos de inglés y español se reclutaron en universidades distintas, así que podrían diferir por algo más que el idioma; el estudio de 2011 lo repitió con más cuidado. Lupyan y Ward: la técnica es supresión por destellos continuos (continuous flash suppression): un ojo ve la imagen y el otro ve patrones que parpadean y la tapan. Boroditsky 2001: en mandarín shàng (arriba) se usa para lo pasado y xià (abajo) para lo que sigue. Fuentes: Winawer et al. (2007) PNAS 104(19):7780-7785. Fausey &amp; Boroditsky (2008) CogSci; (2011) Psychonomic Bulletin &amp; Review, 'Who dunnit?'. Lupyan &amp; Ward (2013) PNAS 110(35). Chen (2007) Cognition 104(2):427-436; January &amp; Kako (2007) Cognition 104(2):417-426. El ejemplo del florero es especialmente cercano porque es español.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Shape 134"/>
          <p:cNvSpPr/>
          <p:nvPr>
            <p:ph type="sldImg"/>
          </p:nvPr>
        </p:nvSpPr>
        <p:spPr>
          <a:prstGeom prst="rect">
            <a:avLst/>
          </a:prstGeom>
        </p:spPr>
        <p:txBody>
          <a:bodyPr/>
          <a:lstStyle/>
          <a:p>
            <a:pPr/>
          </a:p>
        </p:txBody>
      </p:sp>
      <p:sp>
        <p:nvSpPr>
          <p:cNvPr id="135" name="Shape 135"/>
          <p:cNvSpPr/>
          <p:nvPr>
            <p:ph type="body" sz="quarter" idx="1"/>
          </p:nvPr>
        </p:nvSpPr>
        <p:spPr>
          <a:prstGeom prst="rect">
            <a:avLst/>
          </a:prstGeom>
        </p:spPr>
        <p:txBody>
          <a:bodyPr/>
          <a:lstStyle/>
          <a:p>
            <a:pPr/>
            <a:r>
              <a:t>Hofmeister, Siegmund &amp; Holt (2017) SANER, pp. 217-227; versión de revista en Empirical Software Engineering 24 (2019). Arnaoudova, Di Penta &amp; Antoniol (2016) Empirical Software Engineering 21(1):104-158. Høst &amp; Østvold (2009) ECOOP, LNCS 5653, pp. 294-317. Los acrónimos son los congresos o revistas donde se publicó (SANER y ECOOP: congresos; EMSE: revista Empirical Software Engineering). El ejemplo de Høst y Østvold viene del proyecto de código abierto AspectJ. En Arnaoudova, el 69% son desarrolladores externos, es decir, que no trabajaban en los proyectos analizados.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Shape 150"/>
          <p:cNvSpPr/>
          <p:nvPr>
            <p:ph type="sldImg"/>
          </p:nvPr>
        </p:nvSpPr>
        <p:spPr>
          <a:prstGeom prst="rect">
            <a:avLst/>
          </a:prstGeom>
        </p:spPr>
        <p:txBody>
          <a:bodyPr/>
          <a:lstStyle/>
          <a:p>
            <a:pPr/>
          </a:p>
        </p:txBody>
      </p:sp>
      <p:sp>
        <p:nvSpPr>
          <p:cNvPr id="151" name="Shape 151"/>
          <p:cNvSpPr/>
          <p:nvPr>
            <p:ph type="body" sz="quarter" idx="1"/>
          </p:nvPr>
        </p:nvSpPr>
        <p:spPr>
          <a:prstGeom prst="rect">
            <a:avLst/>
          </a:prstGeom>
        </p:spPr>
        <p:txBody>
          <a:bodyPr/>
          <a:lstStyle/>
          <a:p>
            <a:pPr/>
            <a:r>
              <a:t>Feitelson, Mizrahi, Noy, Ben Shabat, Eliyahu &amp; Sheffer (2022) 'How Developers Choose Names', IEEE TSE 48(1):37-52. AlSuhaibani, Newman, Decker, Collard &amp; Maletic (2021) 'On the Naming of Methods: A Survey of Professional Developers', ICSE: Verb Phrase = 41.5% muy de acuerdo + 43.1% de acuerdo; junto con Grammatical Structure fue de las normas con más desacuerdo. Kernighan &amp; Pike, The Practice of Programming (1999), cap. 1. McConnell, Code Complete 2a ed. (2004), sec. 7.3.</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Shape 159"/>
          <p:cNvSpPr/>
          <p:nvPr>
            <p:ph type="sldImg"/>
          </p:nvPr>
        </p:nvSpPr>
        <p:spPr>
          <a:prstGeom prst="rect">
            <a:avLst/>
          </a:prstGeom>
        </p:spPr>
        <p:txBody>
          <a:bodyPr/>
          <a:lstStyle/>
          <a:p>
            <a:pPr/>
          </a:p>
        </p:txBody>
      </p:sp>
      <p:sp>
        <p:nvSpPr>
          <p:cNvPr id="160" name="Shape 160"/>
          <p:cNvSpPr/>
          <p:nvPr>
            <p:ph type="body" sz="quarter" idx="1"/>
          </p:nvPr>
        </p:nvSpPr>
        <p:spPr>
          <a:prstGeom prst="rect">
            <a:avLst/>
          </a:prstGeom>
        </p:spPr>
        <p:txBody>
          <a:bodyPr/>
          <a:lstStyle/>
          <a:p>
            <a:pPr/>
            <a:r>
              <a:t>Diapositiva para decidir si se presenta o no el tema. Lo más fuerte: los nombres afectan la comprensión (experimentos). Lo más débil: el salto a 'mejora el pensamiento algorítmico de los alumnos' no tiene evidencia directa; es inferencia.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Shape 186"/>
          <p:cNvSpPr/>
          <p:nvPr>
            <p:ph type="sldImg"/>
          </p:nvPr>
        </p:nvSpPr>
        <p:spPr>
          <a:prstGeom prst="rect">
            <a:avLst/>
          </a:prstGeom>
        </p:spPr>
        <p:txBody>
          <a:bodyPr/>
          <a:lstStyle/>
          <a:p>
            <a:pPr/>
          </a:p>
        </p:txBody>
      </p:sp>
      <p:sp>
        <p:nvSpPr>
          <p:cNvPr id="187" name="Shape 187"/>
          <p:cNvSpPr/>
          <p:nvPr>
            <p:ph type="body" sz="quarter" idx="1"/>
          </p:nvPr>
        </p:nvSpPr>
        <p:spPr>
          <a:prstGeom prst="rect">
            <a:avLst/>
          </a:prstGeom>
        </p:spPr>
        <p:txBody>
          <a:bodyPr/>
          <a:lstStyle/>
          <a:p>
            <a:pPr/>
            <a:r>
              <a:t>Esta es la regla central de hoy. Funciona como la convención lista_ de la clase pasada: con leer el nombre ya sabes algo del código. Con lista_ sabes qué tipo de dato es; con el verbo sabes qué hace la función. Gramaticalmente, en 'calcular el promedio de goles' el complemento directo es 'el promedio de goles' y 'de goles' es complemento del nombre (modifica a promedio, no al verbo). Por eso separamos: verbo + objeto es la acción completa; el contexto dice sobre qué datos. Verbo + objeto son obligatorios; el contexto sólo cuando el objeto solo es ambiguo (calcular_promedio, ¿de qué?).</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hape 197"/>
          <p:cNvSpPr/>
          <p:nvPr>
            <p:ph type="sldImg"/>
          </p:nvPr>
        </p:nvSpPr>
        <p:spPr>
          <a:prstGeom prst="rect">
            <a:avLst/>
          </a:prstGeom>
        </p:spPr>
        <p:txBody>
          <a:bodyPr/>
          <a:lstStyle/>
          <a:p>
            <a:pPr/>
          </a:p>
        </p:txBody>
      </p:sp>
      <p:sp>
        <p:nvSpPr>
          <p:cNvPr id="198" name="Shape 198"/>
          <p:cNvSpPr/>
          <p:nvPr>
            <p:ph type="body" sz="quarter" idx="1"/>
          </p:nvPr>
        </p:nvSpPr>
        <p:spPr>
          <a:prstGeom prst="rect">
            <a:avLst/>
          </a:prstGeom>
        </p:spPr>
        <p:txBody>
          <a:bodyPr/>
          <a:lstStyle/>
          <a:p>
            <a:pPr/>
            <a:r>
              <a:t>PEP 8 no exige verbos; es una convención del curso para estructurar el pensamiento. La única excepción son las funciones booleanas: siguen el estándar de la industria es_complemento (en inglés is_valid, is_empty), porque dentro de un if se leen como una pregunta natural: if es_par(numero).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Shape 231"/>
          <p:cNvSpPr/>
          <p:nvPr>
            <p:ph type="sldImg"/>
          </p:nvPr>
        </p:nvSpPr>
        <p:spPr>
          <a:prstGeom prst="rect">
            <a:avLst/>
          </a:prstGeom>
        </p:spPr>
        <p:txBody>
          <a:bodyPr/>
          <a:lstStyle/>
          <a:p>
            <a:pPr/>
          </a:p>
        </p:txBody>
      </p:sp>
      <p:sp>
        <p:nvSpPr>
          <p:cNvPr id="232" name="Shape 232"/>
          <p:cNvSpPr/>
          <p:nvPr>
            <p:ph type="body" sz="quarter" idx="1"/>
          </p:nvPr>
        </p:nvSpPr>
        <p:spPr>
          <a:prstGeom prst="rect">
            <a:avLst/>
          </a:prstGeom>
        </p:spPr>
        <p:txBody>
          <a:bodyPr/>
          <a:lstStyle/>
          <a:p>
            <a:pPr/>
            <a:r>
              <a:t>Este es el puente con el pensamiento algorítmico: el verbo junto con su objeto sugiere la estructura: calcular solo puede ser cualquier fórmula, pero calcular_promedio ya dice dos acumuladores y una división. El contexto (goles, playlist) no cambia la estructura. No es una regla matemática (encontrar_ también puede ser búsqueda por índice), pero da un punto de partida.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Shape 277"/>
          <p:cNvSpPr/>
          <p:nvPr>
            <p:ph type="sldImg"/>
          </p:nvPr>
        </p:nvSpPr>
        <p:spPr>
          <a:prstGeom prst="rect">
            <a:avLst/>
          </a:prstGeom>
        </p:spPr>
        <p:txBody>
          <a:bodyPr/>
          <a:lstStyle/>
          <a:p>
            <a:pPr/>
          </a:p>
        </p:txBody>
      </p:sp>
      <p:sp>
        <p:nvSpPr>
          <p:cNvPr id="278" name="Shape 278"/>
          <p:cNvSpPr/>
          <p:nvPr>
            <p:ph type="body" sz="quarter" idx="1"/>
          </p:nvPr>
        </p:nvSpPr>
        <p:spPr>
          <a:prstGeom prst="rect">
            <a:avLst/>
          </a:prstGeom>
        </p:spPr>
        <p:txBody>
          <a:bodyPr/>
          <a:lstStyle/>
          <a:p>
            <a:pPr/>
            <a:r>
              <a:t>Dinámica sugerida: leer el enunciado, dar 30 segundos para que escriban el nombre y después mostrar la respuesta. Variantes válidas: sumar_total_carrito, contar_reprobados, encontrar_record_puntajes. Lo importante es que el verbo + objeto anticipen la estructura: total → suma, contar → contador, maximo → acumulador del máximo.</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9" name="Shape 319"/>
          <p:cNvSpPr/>
          <p:nvPr>
            <p:ph type="sldImg"/>
          </p:nvPr>
        </p:nvSpPr>
        <p:spPr>
          <a:prstGeom prst="rect">
            <a:avLst/>
          </a:prstGeom>
        </p:spPr>
        <p:txBody>
          <a:bodyPr/>
          <a:lstStyle/>
          <a:p>
            <a:pPr/>
          </a:p>
        </p:txBody>
      </p:sp>
      <p:sp>
        <p:nvSpPr>
          <p:cNvPr id="320" name="Shape 320"/>
          <p:cNvSpPr/>
          <p:nvPr>
            <p:ph type="body" sz="quarter" idx="1"/>
          </p:nvPr>
        </p:nvSpPr>
        <p:spPr>
          <a:prstGeom prst="rect">
            <a:avLst/>
          </a:prstGeom>
        </p:spPr>
        <p:txBody>
          <a:bodyPr/>
          <a:lstStyle/>
          <a:p>
            <a:pPr/>
            <a:r>
              <a:t>Problema 4: el último elemento es lista_mensajes[len(lista_mensajes) - 1]; primero hay que validar la lista vacía (como obtener_primera_cancion). Problema 5: elegir_saludo no necesita contexto; elegir_saludo_hora sería aceptable pero redundante. Problema 6: es la excepción booleana; se lee como pregunta: if es_bisiesto(anio). Regla de bisiesto: divisible entre 4, excepto los divisibles entre 100 que no lo sean entre 400.</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6" name="Shape 366"/>
          <p:cNvSpPr/>
          <p:nvPr>
            <p:ph type="sldImg"/>
          </p:nvPr>
        </p:nvSpPr>
        <p:spPr>
          <a:prstGeom prst="rect">
            <a:avLst/>
          </a:prstGeom>
        </p:spPr>
        <p:txBody>
          <a:bodyPr/>
          <a:lstStyle/>
          <a:p>
            <a:pPr/>
          </a:p>
        </p:txBody>
      </p:sp>
      <p:sp>
        <p:nvSpPr>
          <p:cNvPr id="367" name="Shape 367"/>
          <p:cNvSpPr/>
          <p:nvPr>
            <p:ph type="body" sz="quarter" idx="1"/>
          </p:nvPr>
        </p:nvSpPr>
        <p:spPr>
          <a:prstGeom prst="rect">
            <a:avLst/>
          </a:prstGeom>
        </p:spPr>
        <p:txBody>
          <a:bodyPr/>
          <a:lstStyle/>
          <a:p>
            <a:pPr/>
            <a:r>
              <a:t>Goldstine &amp; von Neumann, 'Planning and Coding of Problems for an Electronic Computing Instrument' (1947). Nassi &amp; Shneiderman, 'Flowchart techniques for structured programming', SIGPLAN Notices (1973). N-S se diseñó para la programación estructurada: no deja dibujar saltos arbitrarios.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9" name="Shape 409"/>
          <p:cNvSpPr/>
          <p:nvPr>
            <p:ph type="sldImg"/>
          </p:nvPr>
        </p:nvSpPr>
        <p:spPr>
          <a:prstGeom prst="rect">
            <a:avLst/>
          </a:prstGeom>
        </p:spPr>
        <p:txBody>
          <a:bodyPr/>
          <a:lstStyle/>
          <a:p>
            <a:pPr/>
          </a:p>
        </p:txBody>
      </p:sp>
      <p:sp>
        <p:nvSpPr>
          <p:cNvPr id="410" name="Shape 410"/>
          <p:cNvSpPr/>
          <p:nvPr>
            <p:ph type="body" sz="quarter" idx="1"/>
          </p:nvPr>
        </p:nvSpPr>
        <p:spPr>
          <a:prstGeom prst="rect">
            <a:avLst/>
          </a:prstGeom>
        </p:spPr>
        <p:txBody>
          <a:bodyPr/>
          <a:lstStyle/>
          <a:p>
            <a:pPr/>
            <a:r>
              <a:t>Usamos los mismos colores en todos los diagramas de hoy: azul = proceso, amarillo = decisión, verde = ciclo, morado = return. El hexágono para el for es el símbolo de 'preparación' de la norma; algunos libros dibujan el for con un rombo.</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1" name="Shape 461"/>
          <p:cNvSpPr/>
          <p:nvPr>
            <p:ph type="sldImg"/>
          </p:nvPr>
        </p:nvSpPr>
        <p:spPr>
          <a:prstGeom prst="rect">
            <a:avLst/>
          </a:prstGeom>
        </p:spPr>
        <p:txBody>
          <a:bodyPr/>
          <a:lstStyle/>
          <a:p>
            <a:pPr/>
          </a:p>
        </p:txBody>
      </p:sp>
      <p:sp>
        <p:nvSpPr>
          <p:cNvPr id="462" name="Shape 462"/>
          <p:cNvSpPr/>
          <p:nvPr>
            <p:ph type="body" sz="quarter" idx="1"/>
          </p:nvPr>
        </p:nvSpPr>
        <p:spPr>
          <a:prstGeom prst="rect">
            <a:avLst/>
          </a:prstGeom>
        </p:spPr>
        <p:txBody>
          <a:bodyPr/>
          <a:lstStyle/>
          <a:p>
            <a:pPr/>
            <a:r>
              <a:t>Arriba de todo, cada diagrama N-S lleva una barra con el nombre de la función. Ahí también aplica la regla verbo + complemento.</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1" name="Shape 491"/>
          <p:cNvSpPr/>
          <p:nvPr>
            <p:ph type="sldImg"/>
          </p:nvPr>
        </p:nvSpPr>
        <p:spPr>
          <a:prstGeom prst="rect">
            <a:avLst/>
          </a:prstGeom>
        </p:spPr>
        <p:txBody>
          <a:bodyPr/>
          <a:lstStyle/>
          <a:p>
            <a:pPr/>
          </a:p>
        </p:txBody>
      </p:sp>
      <p:sp>
        <p:nvSpPr>
          <p:cNvPr id="492" name="Shape 492"/>
          <p:cNvSpPr/>
          <p:nvPr>
            <p:ph type="body" sz="quarter" idx="1"/>
          </p:nvPr>
        </p:nvSpPr>
        <p:spPr>
          <a:prstGeom prst="rect">
            <a:avLst/>
          </a:prstGeom>
        </p:spPr>
        <p:txBody>
          <a:bodyPr/>
          <a:lstStyle/>
          <a:p>
            <a:pPr/>
            <a:r>
              <a:t>La estructura más simple. La barra superior de N-S y el óvalo de inicio llevan el nombre con verbo: convertir_a_fahrenheit.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4" name="Shape 544"/>
          <p:cNvSpPr/>
          <p:nvPr>
            <p:ph type="sldImg"/>
          </p:nvPr>
        </p:nvSpPr>
        <p:spPr>
          <a:prstGeom prst="rect">
            <a:avLst/>
          </a:prstGeom>
        </p:spPr>
        <p:txBody>
          <a:bodyPr/>
          <a:lstStyle/>
          <a:p>
            <a:pPr/>
          </a:p>
        </p:txBody>
      </p:sp>
      <p:sp>
        <p:nvSpPr>
          <p:cNvPr id="545" name="Shape 545"/>
          <p:cNvSpPr/>
          <p:nvPr>
            <p:ph type="body" sz="quarter" idx="1"/>
          </p:nvPr>
        </p:nvSpPr>
        <p:spPr>
          <a:prstGeom prst="rect">
            <a:avLst/>
          </a:prstGeom>
        </p:spPr>
        <p:txBody>
          <a:bodyPr/>
          <a:lstStyle/>
          <a:p>
            <a:pPr/>
            <a:r>
              <a:t>Igual que el uso 1 de la clase pasada: la variable empieza con un valor por defecto y el if sólo la cambia si hace falta.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2" name="Shape 592"/>
          <p:cNvSpPr/>
          <p:nvPr>
            <p:ph type="sldImg"/>
          </p:nvPr>
        </p:nvSpPr>
        <p:spPr>
          <a:prstGeom prst="rect">
            <a:avLst/>
          </a:prstGeom>
        </p:spPr>
        <p:txBody>
          <a:bodyPr/>
          <a:lstStyle/>
          <a:p>
            <a:pPr/>
          </a:p>
        </p:txBody>
      </p:sp>
      <p:sp>
        <p:nvSpPr>
          <p:cNvPr id="593" name="Shape 593"/>
          <p:cNvSpPr/>
          <p:nvPr>
            <p:ph type="body" sz="quarter" idx="1"/>
          </p:nvPr>
        </p:nvSpPr>
        <p:spPr>
          <a:prstGeom prst="rect">
            <a:avLst/>
          </a:prstGeom>
        </p:spPr>
        <p:txBody>
          <a:bodyPr/>
          <a:lstStyle/>
          <a:p>
            <a:pPr/>
            <a:r>
              <a:t>Observen que en el diagrama de flujo el return None sale por la derecha y termina. En N-S no hay flechas, así que hay que saber que un return dentro de la columna Sí termina la función: lo de abajo ya no se ejecuta.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0" name="Shape 640"/>
          <p:cNvSpPr/>
          <p:nvPr>
            <p:ph type="sldImg"/>
          </p:nvPr>
        </p:nvSpPr>
        <p:spPr>
          <a:prstGeom prst="rect">
            <a:avLst/>
          </a:prstGeom>
        </p:spPr>
        <p:txBody>
          <a:bodyPr/>
          <a:lstStyle/>
          <a:p>
            <a:pPr/>
          </a:p>
        </p:txBody>
      </p:sp>
      <p:sp>
        <p:nvSpPr>
          <p:cNvPr id="641" name="Shape 641"/>
          <p:cNvSpPr/>
          <p:nvPr>
            <p:ph type="body" sz="quarter" idx="1"/>
          </p:nvPr>
        </p:nvSpPr>
        <p:spPr>
          <a:prstGeom prst="rect">
            <a:avLst/>
          </a:prstGeom>
        </p:spPr>
        <p:txBody>
          <a:bodyPr/>
          <a:lstStyle/>
          <a:p>
            <a:pPr/>
            <a:r>
              <a:t>Ambas ramas terminan con return, así que las dos llegan al Fin.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8" name="Shape 728"/>
          <p:cNvSpPr/>
          <p:nvPr>
            <p:ph type="sldImg"/>
          </p:nvPr>
        </p:nvSpPr>
        <p:spPr>
          <a:prstGeom prst="rect">
            <a:avLst/>
          </a:prstGeom>
        </p:spPr>
        <p:txBody>
          <a:bodyPr/>
          <a:lstStyle/>
          <a:p>
            <a:pPr/>
          </a:p>
        </p:txBody>
      </p:sp>
      <p:sp>
        <p:nvSpPr>
          <p:cNvPr id="729" name="Shape 729"/>
          <p:cNvSpPr/>
          <p:nvPr>
            <p:ph type="body" sz="quarter" idx="1"/>
          </p:nvPr>
        </p:nvSpPr>
        <p:spPr>
          <a:prstGeom prst="rect">
            <a:avLst/>
          </a:prstGeom>
        </p:spPr>
        <p:txBody>
          <a:bodyPr/>
          <a:lstStyle/>
          <a:p>
            <a:pPr/>
            <a:r>
              <a:t>El diagrama de flujo muestra una escalera de rombos. Python revisa de arriba a abajo y se queda con el primero que se cumple. En N-S se ve claramente que elif = else + if.</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1" name="Shape 801"/>
          <p:cNvSpPr/>
          <p:nvPr>
            <p:ph type="sldImg"/>
          </p:nvPr>
        </p:nvSpPr>
        <p:spPr>
          <a:prstGeom prst="rect">
            <a:avLst/>
          </a:prstGeom>
        </p:spPr>
        <p:txBody>
          <a:bodyPr/>
          <a:lstStyle/>
          <a:p>
            <a:pPr/>
          </a:p>
        </p:txBody>
      </p:sp>
      <p:sp>
        <p:nvSpPr>
          <p:cNvPr id="802" name="Shape 802"/>
          <p:cNvSpPr/>
          <p:nvPr>
            <p:ph type="body" sz="quarter" idx="1"/>
          </p:nvPr>
        </p:nvSpPr>
        <p:spPr>
          <a:prstGeom prst="rect">
            <a:avLst/>
          </a:prstGeom>
        </p:spPr>
        <p:txBody>
          <a:bodyPr/>
          <a:lstStyle/>
          <a:p>
            <a:pPr/>
            <a:r>
              <a:t>El if interno vive dentro de la rama Sí del externo, igual que en Python vive dentro de su sangría.</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6" name="Shape 886"/>
          <p:cNvSpPr/>
          <p:nvPr>
            <p:ph type="sldImg"/>
          </p:nvPr>
        </p:nvSpPr>
        <p:spPr>
          <a:prstGeom prst="rect">
            <a:avLst/>
          </a:prstGeom>
        </p:spPr>
        <p:txBody>
          <a:bodyPr/>
          <a:lstStyle/>
          <a:p>
            <a:pPr/>
          </a:p>
        </p:txBody>
      </p:sp>
      <p:sp>
        <p:nvSpPr>
          <p:cNvPr id="887" name="Shape 887"/>
          <p:cNvSpPr/>
          <p:nvPr>
            <p:ph type="body" sz="quarter" idx="1"/>
          </p:nvPr>
        </p:nvSpPr>
        <p:spPr>
          <a:prstGeom prst="rect">
            <a:avLst/>
          </a:prstGeom>
        </p:spPr>
        <p:txBody>
          <a:bodyPr/>
          <a:lstStyle/>
          <a:p>
            <a:pPr/>
            <a:r>
              <a:t>1 valor inicial (antes del ciclo), 2 recorrer (hexágono / L), 3 actualizar (dentro del ciclo), 4 regresar (fuera del ciclo, después de la flecha 'terminó').</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3" name="Shape 953"/>
          <p:cNvSpPr/>
          <p:nvPr>
            <p:ph type="sldImg"/>
          </p:nvPr>
        </p:nvSpPr>
        <p:spPr>
          <a:prstGeom prst="rect">
            <a:avLst/>
          </a:prstGeom>
        </p:spPr>
        <p:txBody>
          <a:bodyPr/>
          <a:lstStyle/>
          <a:p>
            <a:pPr/>
          </a:p>
        </p:txBody>
      </p:sp>
      <p:sp>
        <p:nvSpPr>
          <p:cNvPr id="954" name="Shape 954"/>
          <p:cNvSpPr/>
          <p:nvPr>
            <p:ph type="body" sz="quarter" idx="1"/>
          </p:nvPr>
        </p:nvSpPr>
        <p:spPr>
          <a:prstGeom prst="rect">
            <a:avLst/>
          </a:prstGeom>
        </p:spPr>
        <p:txBody>
          <a:bodyPr/>
          <a:lstStyle/>
          <a:p>
            <a:pPr/>
            <a:r>
              <a:t>El rombo vive dentro del ciclo: la flecha de regreso sale de abajo del if, después de que las dos ramas se juntan.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0" name="Shape 1020"/>
          <p:cNvSpPr/>
          <p:nvPr>
            <p:ph type="sldImg"/>
          </p:nvPr>
        </p:nvSpPr>
        <p:spPr>
          <a:prstGeom prst="rect">
            <a:avLst/>
          </a:prstGeom>
        </p:spPr>
        <p:txBody>
          <a:bodyPr/>
          <a:lstStyle/>
          <a:p>
            <a:pPr/>
          </a:p>
        </p:txBody>
      </p:sp>
      <p:sp>
        <p:nvSpPr>
          <p:cNvPr id="1021" name="Shape 1021"/>
          <p:cNvSpPr/>
          <p:nvPr>
            <p:ph type="body" sz="quarter" idx="1"/>
          </p:nvPr>
        </p:nvSpPr>
        <p:spPr>
          <a:prstGeom prst="rect">
            <a:avLst/>
          </a:prstGeom>
        </p:spPr>
        <p:txBody>
          <a:bodyPr/>
          <a:lstStyle/>
          <a:p>
            <a:pPr/>
            <a:r>
              <a:t>Es la misma forma que el contador; sólo cambian la condición y la instrucción. Por eso conviene reconocer la forma del diagrama.</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3" name="Shape 1113"/>
          <p:cNvSpPr/>
          <p:nvPr>
            <p:ph type="sldImg"/>
          </p:nvPr>
        </p:nvSpPr>
        <p:spPr>
          <a:prstGeom prst="rect">
            <a:avLst/>
          </a:prstGeom>
        </p:spPr>
        <p:txBody>
          <a:bodyPr/>
          <a:lstStyle/>
          <a:p>
            <a:pPr/>
          </a:p>
        </p:txBody>
      </p:sp>
      <p:sp>
        <p:nvSpPr>
          <p:cNvPr id="1114" name="Shape 1114"/>
          <p:cNvSpPr/>
          <p:nvPr>
            <p:ph type="body" sz="quarter" idx="1"/>
          </p:nvPr>
        </p:nvSpPr>
        <p:spPr>
          <a:prstGeom prst="rect">
            <a:avLst/>
          </a:prstGeom>
        </p:spPr>
        <p:txBody>
          <a:bodyPr/>
          <a:lstStyle/>
          <a:p>
            <a:pPr/>
            <a:r>
              <a:t>Sin la validación, lista_temps[0] truena con una lista vacía. El diagrama deja ver que la validación va ANTES de tocar la lista.</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2" name="Shape 1172"/>
          <p:cNvSpPr/>
          <p:nvPr>
            <p:ph type="sldImg"/>
          </p:nvPr>
        </p:nvSpPr>
        <p:spPr>
          <a:prstGeom prst="rect">
            <a:avLst/>
          </a:prstGeom>
        </p:spPr>
        <p:txBody>
          <a:bodyPr/>
          <a:lstStyle/>
          <a:p>
            <a:pPr/>
          </a:p>
        </p:txBody>
      </p:sp>
      <p:sp>
        <p:nvSpPr>
          <p:cNvPr id="1173" name="Shape 1173"/>
          <p:cNvSpPr/>
          <p:nvPr>
            <p:ph type="body" sz="quarter" idx="1"/>
          </p:nvPr>
        </p:nvSpPr>
        <p:spPr>
          <a:prstGeom prst="rect">
            <a:avLst/>
          </a:prstGeom>
        </p:spPr>
        <p:txBody>
          <a:bodyPr/>
          <a:lstStyle/>
          <a:p>
            <a:pPr/>
            <a:r>
              <a:t>Pregunta para la clase: ¿qué pasa con una lista vacía? ZeroDivisionError. ¿Dónde agregarían el edge case en los dos diagramas?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1" name="Shape 1181"/>
          <p:cNvSpPr/>
          <p:nvPr>
            <p:ph type="sldImg"/>
          </p:nvPr>
        </p:nvSpPr>
        <p:spPr>
          <a:prstGeom prst="rect">
            <a:avLst/>
          </a:prstGeom>
        </p:spPr>
        <p:txBody>
          <a:bodyPr/>
          <a:lstStyle/>
          <a:p>
            <a:pPr/>
          </a:p>
        </p:txBody>
      </p:sp>
      <p:sp>
        <p:nvSpPr>
          <p:cNvPr id="1182" name="Shape 1182"/>
          <p:cNvSpPr/>
          <p:nvPr>
            <p:ph type="body" sz="quarter" idx="1"/>
          </p:nvPr>
        </p:nvSpPr>
        <p:spPr>
          <a:prstGeom prst="rect">
            <a:avLst/>
          </a:prstGeom>
        </p:spPr>
        <p:txBody>
          <a:bodyPr/>
          <a:lstStyle/>
          <a:p>
            <a:pPr/>
            <a:r>
              <a:t>Buena diapositiva para tomar foto. Pidan que la usen como acordeón para la práctica.</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9" name="Shape 1199"/>
          <p:cNvSpPr/>
          <p:nvPr>
            <p:ph type="sldImg"/>
          </p:nvPr>
        </p:nvSpPr>
        <p:spPr>
          <a:prstGeom prst="rect">
            <a:avLst/>
          </a:prstGeom>
        </p:spPr>
        <p:txBody>
          <a:bodyPr/>
          <a:lstStyle/>
          <a:p>
            <a:pPr/>
          </a:p>
        </p:txBody>
      </p:sp>
      <p:sp>
        <p:nvSpPr>
          <p:cNvPr id="1200" name="Shape 1200"/>
          <p:cNvSpPr/>
          <p:nvPr>
            <p:ph type="body" sz="quarter" idx="1"/>
          </p:nvPr>
        </p:nvSpPr>
        <p:spPr>
          <a:prstGeom prst="rect">
            <a:avLst/>
          </a:prstGeom>
        </p:spPr>
        <p:txBody>
          <a:bodyPr/>
          <a:lstStyle/>
          <a:p>
            <a:pPr/>
            <a:r>
              <a:t>También: flechas en N-S (no llevan) y bloques N-S que se cruzan.</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2" name="Shape 1232"/>
          <p:cNvSpPr/>
          <p:nvPr>
            <p:ph type="sldImg"/>
          </p:nvPr>
        </p:nvSpPr>
        <p:spPr>
          <a:prstGeom prst="rect">
            <a:avLst/>
          </a:prstGeom>
        </p:spPr>
        <p:txBody>
          <a:bodyPr/>
          <a:lstStyle/>
          <a:p>
            <a:pPr/>
          </a:p>
        </p:txBody>
      </p:sp>
      <p:sp>
        <p:nvSpPr>
          <p:cNvPr id="1233" name="Shape 1233"/>
          <p:cNvSpPr/>
          <p:nvPr>
            <p:ph type="body" sz="quarter" idx="1"/>
          </p:nvPr>
        </p:nvSpPr>
        <p:spPr>
          <a:prstGeom prst="rect">
            <a:avLst/>
          </a:prstGeom>
        </p:spPr>
        <p:txBody>
          <a:bodyPr/>
          <a:lstStyle/>
          <a:p>
            <a:pPr/>
            <a:r>
              <a:t>Nombres sugeridos: A contar_precios_altos (contador), B encontrar_minimo_calificaciones (edge case + mínimo), C clasificar_temperatura (if/elif/else), D calcular_promedio_sueno (dos acumuladores o len). Pedir que primero escriban sólo el nombre y discutan qué estructura sugiere el verbo.</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3" name="Shape 1243"/>
          <p:cNvSpPr/>
          <p:nvPr>
            <p:ph type="sldImg"/>
          </p:nvPr>
        </p:nvSpPr>
        <p:spPr>
          <a:prstGeom prst="rect">
            <a:avLst/>
          </a:prstGeom>
        </p:spPr>
        <p:txBody>
          <a:bodyPr/>
          <a:lstStyle/>
          <a:p>
            <a:pPr/>
          </a:p>
        </p:txBody>
      </p:sp>
      <p:sp>
        <p:nvSpPr>
          <p:cNvPr id="1244" name="Shape 1244"/>
          <p:cNvSpPr/>
          <p:nvPr>
            <p:ph type="body" sz="quarter" idx="1"/>
          </p:nvPr>
        </p:nvSpPr>
        <p:spPr>
          <a:prstGeom prst="rect">
            <a:avLst/>
          </a:prstGeom>
        </p:spPr>
        <p:txBody>
          <a:bodyPr/>
          <a:lstStyle/>
          <a:p>
            <a:pPr/>
            <a:r>
              <a:t>Cierre: el nombre define qué hace la función; el diagrama define cómo; Python sólo es la traducción final.</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RTADA">
    <p:bg>
      <p:bgPr>
        <a:solidFill>
          <a:srgbClr val="122238"/>
        </a:solidFill>
      </p:bgPr>
    </p:bg>
    <p:spTree>
      <p:nvGrpSpPr>
        <p:cNvPr id="1" name=""/>
        <p:cNvGrpSpPr/>
        <p:nvPr/>
      </p:nvGrpSpPr>
      <p:grpSpPr>
        <a:xfrm>
          <a:off x="0" y="0"/>
          <a:ext cx="0" cy="0"/>
          <a:chOff x="0" y="0"/>
          <a:chExt cx="0" cy="0"/>
        </a:xfrm>
      </p:grpSpPr>
      <p:sp>
        <p:nvSpPr>
          <p:cNvPr id="18" name="Click to add title"/>
          <p:cNvSpPr txBox="1"/>
          <p:nvPr>
            <p:ph type="title" hasCustomPrompt="1"/>
          </p:nvPr>
        </p:nvSpPr>
        <p:spPr>
          <a:xfrm>
            <a:off x="685800" y="1371600"/>
            <a:ext cx="10515600" cy="1737361"/>
          </a:xfrm>
          <a:prstGeom prst="rect">
            <a:avLst/>
          </a:prstGeom>
        </p:spPr>
        <p:txBody>
          <a:bodyPr anchor="t">
            <a:normAutofit fontScale="100000" lnSpcReduction="0"/>
          </a:bodyPr>
          <a:lstStyle>
            <a:lvl1pPr algn="l">
              <a:defRPr b="1" sz="4000">
                <a:solidFill>
                  <a:srgbClr val="FFFFFF"/>
                </a:solidFill>
              </a:defRPr>
            </a:lvl1pPr>
          </a:lstStyle>
          <a:p>
            <a:pPr/>
            <a:r>
              <a:t>Click to add title</a:t>
            </a:r>
          </a:p>
        </p:txBody>
      </p:sp>
      <p:sp>
        <p:nvSpPr>
          <p:cNvPr id="19" name="Body Level One…"/>
          <p:cNvSpPr txBox="1"/>
          <p:nvPr>
            <p:ph type="body" sz="quarter" idx="1" hasCustomPrompt="1"/>
          </p:nvPr>
        </p:nvSpPr>
        <p:spPr>
          <a:xfrm>
            <a:off x="685800" y="3383279"/>
            <a:ext cx="10515600" cy="457201"/>
          </a:xfrm>
          <a:prstGeom prst="rect">
            <a:avLst/>
          </a:prstGeom>
        </p:spPr>
        <p:txBody>
          <a:bodyPr>
            <a:normAutofit fontScale="100000" lnSpcReduction="0"/>
          </a:bodyPr>
          <a:lstStyle>
            <a:lvl1pPr marL="0" indent="0">
              <a:spcBef>
                <a:spcPts val="300"/>
              </a:spcBef>
              <a:buSzTx/>
              <a:buFontTx/>
              <a:buNone/>
              <a:defRPr sz="1600">
                <a:solidFill>
                  <a:srgbClr val="CBD5E1"/>
                </a:solidFill>
              </a:defRPr>
            </a:lvl1pPr>
            <a:lvl2pPr marL="620485" indent="-163285">
              <a:spcBef>
                <a:spcPts val="300"/>
              </a:spcBef>
              <a:buFontTx/>
              <a:defRPr sz="1600">
                <a:solidFill>
                  <a:srgbClr val="CBD5E1"/>
                </a:solidFill>
              </a:defRPr>
            </a:lvl2pPr>
            <a:lvl3pPr marL="1066800" indent="-152400">
              <a:spcBef>
                <a:spcPts val="300"/>
              </a:spcBef>
              <a:buFontTx/>
              <a:defRPr sz="1600">
                <a:solidFill>
                  <a:srgbClr val="CBD5E1"/>
                </a:solidFill>
              </a:defRPr>
            </a:lvl3pPr>
            <a:lvl4pPr marL="1554480" indent="-182880">
              <a:spcBef>
                <a:spcPts val="300"/>
              </a:spcBef>
              <a:buFontTx/>
              <a:defRPr sz="1600">
                <a:solidFill>
                  <a:srgbClr val="CBD5E1"/>
                </a:solidFill>
              </a:defRPr>
            </a:lvl4pPr>
            <a:lvl5pPr marL="2011679" indent="-182879">
              <a:spcBef>
                <a:spcPts val="300"/>
              </a:spcBef>
              <a:buFontTx/>
              <a:defRPr sz="1600">
                <a:solidFill>
                  <a:srgbClr val="CBD5E1"/>
                </a:solidFill>
              </a:defRPr>
            </a:lvl5pPr>
          </a:lstStyle>
          <a:p>
            <a:pPr/>
            <a:r>
              <a:t>Click to add text</a:t>
            </a:r>
          </a:p>
          <a:p>
            <a:pPr lvl="1"/>
            <a:r>
              <a:t/>
            </a:r>
          </a:p>
          <a:p>
            <a:pPr lvl="2"/>
            <a:r>
              <a:t/>
            </a:r>
          </a:p>
          <a:p>
            <a:pPr lvl="3"/>
            <a:r>
              <a:t/>
            </a:r>
          </a:p>
          <a:p>
            <a:pPr lvl="4"/>
            <a:r>
              <a:t/>
            </a: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IDO">
    <p:bg>
      <p:bgPr>
        <a:solidFill>
          <a:srgbClr val="F8FAFC"/>
        </a:solidFill>
      </p:bgPr>
    </p:bg>
    <p:spTree>
      <p:nvGrpSpPr>
        <p:cNvPr id="1" name=""/>
        <p:cNvGrpSpPr/>
        <p:nvPr/>
      </p:nvGrpSpPr>
      <p:grpSpPr>
        <a:xfrm>
          <a:off x="0" y="0"/>
          <a:ext cx="0" cy="0"/>
          <a:chOff x="0" y="0"/>
          <a:chExt cx="0" cy="0"/>
        </a:xfrm>
      </p:grpSpPr>
      <p:sp>
        <p:nvSpPr>
          <p:cNvPr id="27" name="Click to add title"/>
          <p:cNvSpPr txBox="1"/>
          <p:nvPr>
            <p:ph type="title" hasCustomPrompt="1"/>
          </p:nvPr>
        </p:nvSpPr>
        <p:spPr>
          <a:xfrm>
            <a:off x="594359" y="274320"/>
            <a:ext cx="10972801" cy="548641"/>
          </a:xfrm>
          <a:prstGeom prst="rect">
            <a:avLst/>
          </a:prstGeom>
        </p:spPr>
        <p:txBody>
          <a:bodyPr anchor="t">
            <a:normAutofit fontScale="100000" lnSpcReduction="0"/>
          </a:bodyPr>
          <a:lstStyle>
            <a:lvl1pPr algn="l">
              <a:defRPr b="1" sz="2700">
                <a:solidFill>
                  <a:srgbClr val="122238"/>
                </a:solidFill>
              </a:defRPr>
            </a:lvl1pPr>
          </a:lstStyle>
          <a:p>
            <a:pPr/>
            <a:r>
              <a:t>Click to add title</a:t>
            </a:r>
          </a:p>
        </p:txBody>
      </p:sp>
      <p:sp>
        <p:nvSpPr>
          <p:cNvPr id="28" name="Body Level One…"/>
          <p:cNvSpPr txBox="1"/>
          <p:nvPr>
            <p:ph type="body" sz="quarter" idx="1" hasCustomPrompt="1"/>
          </p:nvPr>
        </p:nvSpPr>
        <p:spPr>
          <a:xfrm>
            <a:off x="594359" y="822960"/>
            <a:ext cx="10972801" cy="384049"/>
          </a:xfrm>
          <a:prstGeom prst="rect">
            <a:avLst/>
          </a:prstGeom>
        </p:spPr>
        <p:txBody>
          <a:bodyPr>
            <a:normAutofit fontScale="100000" lnSpcReduction="0"/>
          </a:bodyPr>
          <a:lstStyle>
            <a:lvl1pPr marL="0" indent="0">
              <a:spcBef>
                <a:spcPts val="300"/>
              </a:spcBef>
              <a:buSzTx/>
              <a:buFontTx/>
              <a:buNone/>
              <a:defRPr sz="1400">
                <a:solidFill>
                  <a:srgbClr val="475569"/>
                </a:solidFill>
              </a:defRPr>
            </a:lvl1pPr>
            <a:lvl2pPr marL="600075" indent="-142875">
              <a:spcBef>
                <a:spcPts val="300"/>
              </a:spcBef>
              <a:buFontTx/>
              <a:defRPr sz="1400">
                <a:solidFill>
                  <a:srgbClr val="475569"/>
                </a:solidFill>
              </a:defRPr>
            </a:lvl2pPr>
            <a:lvl3pPr marL="1047750" indent="-133350">
              <a:spcBef>
                <a:spcPts val="300"/>
              </a:spcBef>
              <a:buFontTx/>
              <a:defRPr sz="1400">
                <a:solidFill>
                  <a:srgbClr val="475569"/>
                </a:solidFill>
              </a:defRPr>
            </a:lvl3pPr>
            <a:lvl4pPr marL="1531619" indent="-160019">
              <a:spcBef>
                <a:spcPts val="300"/>
              </a:spcBef>
              <a:buFontTx/>
              <a:defRPr sz="1400">
                <a:solidFill>
                  <a:srgbClr val="475569"/>
                </a:solidFill>
              </a:defRPr>
            </a:lvl4pPr>
            <a:lvl5pPr marL="1988820" indent="-160020">
              <a:spcBef>
                <a:spcPts val="300"/>
              </a:spcBef>
              <a:buFontTx/>
              <a:defRPr sz="1400">
                <a:solidFill>
                  <a:srgbClr val="475569"/>
                </a:solidFill>
              </a:defRPr>
            </a:lvl5pPr>
          </a:lstStyle>
          <a:p>
            <a:pPr/>
            <a:r>
              <a:t>Click to add text</a:t>
            </a:r>
          </a:p>
          <a:p>
            <a:pPr lvl="1"/>
            <a:r>
              <a:t/>
            </a:r>
          </a:p>
          <a:p>
            <a:pPr lvl="2"/>
            <a:r>
              <a:t/>
            </a:r>
          </a:p>
          <a:p>
            <a:pPr lvl="3"/>
            <a:r>
              <a:t/>
            </a:r>
          </a:p>
          <a:p>
            <a:pPr lvl="4"/>
            <a:r>
              <a:t/>
            </a:r>
          </a:p>
        </p:txBody>
      </p:sp>
      <p:sp>
        <p:nvSpPr>
          <p:cNvPr id="29" name="Slide Number"/>
          <p:cNvSpPr txBox="1"/>
          <p:nvPr>
            <p:ph type="sldNum" sz="quarter" idx="2"/>
          </p:nvPr>
        </p:nvSpPr>
        <p:spPr>
          <a:xfrm>
            <a:off x="11511749" y="6473952"/>
            <a:ext cx="220004" cy="205914"/>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900">
                <a:solidFill>
                  <a:srgbClr val="94A3B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F172A"/>
          </a:solidFill>
          <a:uFillTx/>
          <a:latin typeface="+mn-lt"/>
          <a:ea typeface="+mn-ea"/>
          <a:cs typeface="+mn-cs"/>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F172A"/>
          </a:solidFill>
          <a:uFillTx/>
          <a:latin typeface="+mn-lt"/>
          <a:ea typeface="+mn-ea"/>
          <a:cs typeface="+mn-cs"/>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F172A"/>
          </a:solidFill>
          <a:uFillTx/>
          <a:latin typeface="+mn-lt"/>
          <a:ea typeface="+mn-ea"/>
          <a:cs typeface="+mn-cs"/>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F172A"/>
          </a:solidFill>
          <a:uFillTx/>
          <a:latin typeface="+mn-lt"/>
          <a:ea typeface="+mn-ea"/>
          <a:cs typeface="+mn-cs"/>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F172A"/>
          </a:solidFill>
          <a:uFillTx/>
          <a:latin typeface="+mn-lt"/>
          <a:ea typeface="+mn-ea"/>
          <a:cs typeface="+mn-cs"/>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F172A"/>
          </a:solidFill>
          <a:uFillTx/>
          <a:latin typeface="+mn-lt"/>
          <a:ea typeface="+mn-ea"/>
          <a:cs typeface="+mn-cs"/>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F172A"/>
          </a:solidFill>
          <a:uFillTx/>
          <a:latin typeface="+mn-lt"/>
          <a:ea typeface="+mn-ea"/>
          <a:cs typeface="+mn-cs"/>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F172A"/>
          </a:solidFill>
          <a:uFillTx/>
          <a:latin typeface="+mn-lt"/>
          <a:ea typeface="+mn-ea"/>
          <a:cs typeface="+mn-cs"/>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F172A"/>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F172A"/>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F172A"/>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F172A"/>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F172A"/>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F172A"/>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F172A"/>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F172A"/>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F172A"/>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F172A"/>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 name="Text 0"/>
          <p:cNvSpPr txBox="1"/>
          <p:nvPr>
            <p:ph type="title"/>
          </p:nvPr>
        </p:nvSpPr>
        <p:spPr>
          <a:prstGeom prst="rect">
            <a:avLst/>
          </a:prstGeom>
        </p:spPr>
        <p:txBody>
          <a:bodyPr lIns="0" tIns="0" rIns="0" bIns="0" anchor="ctr"/>
          <a:lstStyle/>
          <a:p>
            <a:pPr/>
            <a:r>
              <a:t>Diagramas de flujo y Nassi-Shneiderman:</a:t>
            </a:r>
          </a:p>
          <a:p>
            <a:pPr/>
            <a:r>
              <a:t>del código al dibujo</a:t>
            </a:r>
          </a:p>
        </p:txBody>
      </p:sp>
      <p:sp>
        <p:nvSpPr>
          <p:cNvPr id="39" name="Text 0"/>
          <p:cNvSpPr txBox="1"/>
          <p:nvPr>
            <p:ph type="body" sz="quarter" idx="1"/>
          </p:nvPr>
        </p:nvSpPr>
        <p:spPr>
          <a:prstGeom prst="rect">
            <a:avLst/>
          </a:prstGeom>
        </p:spPr>
        <p:txBody>
          <a:bodyPr lIns="0" tIns="0" rIns="0" bIns="0"/>
          <a:lstStyle/>
          <a:p>
            <a:pPr/>
            <a:r>
              <a:t>Clase 15 · Jueves 29 de octubre de 2026 · Aula</a:t>
            </a:r>
          </a:p>
        </p:txBody>
      </p:sp>
      <p:sp>
        <p:nvSpPr>
          <p:cNvPr id="40" name="Shape 2"/>
          <p:cNvSpPr/>
          <p:nvPr/>
        </p:nvSpPr>
        <p:spPr>
          <a:xfrm>
            <a:off x="685800" y="4754879"/>
            <a:ext cx="1188720" cy="548641"/>
          </a:xfrm>
          <a:prstGeom prst="rect">
            <a:avLst/>
          </a:prstGeom>
          <a:solidFill>
            <a:srgbClr val="DBEAFE"/>
          </a:solidFill>
          <a:ln w="19050">
            <a:solidFill>
              <a:schemeClr val="accent1"/>
            </a:solidFill>
          </a:ln>
        </p:spPr>
        <p:txBody>
          <a:bodyPr lIns="45719" rIns="45719"/>
          <a:lstStyle/>
          <a:p>
            <a:pPr/>
          </a:p>
        </p:txBody>
      </p:sp>
      <p:sp>
        <p:nvSpPr>
          <p:cNvPr id="41" name="Shape 3"/>
          <p:cNvSpPr/>
          <p:nvPr/>
        </p:nvSpPr>
        <p:spPr>
          <a:xfrm>
            <a:off x="2148839" y="4663440"/>
            <a:ext cx="1280161" cy="731521"/>
          </a:xfrm>
          <a:prstGeom prst="diamond">
            <a:avLst/>
          </a:prstGeom>
          <a:solidFill>
            <a:srgbClr val="FEF3C7"/>
          </a:solidFill>
          <a:ln w="19050">
            <a:solidFill>
              <a:schemeClr val="accent6"/>
            </a:solidFill>
          </a:ln>
        </p:spPr>
        <p:txBody>
          <a:bodyPr lIns="45719" rIns="45719"/>
          <a:lstStyle/>
          <a:p>
            <a:pPr/>
          </a:p>
        </p:txBody>
      </p:sp>
      <p:sp>
        <p:nvSpPr>
          <p:cNvPr id="42" name="Shape 4"/>
          <p:cNvSpPr/>
          <p:nvPr/>
        </p:nvSpPr>
        <p:spPr>
          <a:xfrm>
            <a:off x="3703320" y="4754879"/>
            <a:ext cx="1280161" cy="548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2314" y="0"/>
                </a:lnTo>
                <a:lnTo>
                  <a:pt x="19286" y="0"/>
                </a:lnTo>
                <a:lnTo>
                  <a:pt x="21600" y="10800"/>
                </a:lnTo>
                <a:lnTo>
                  <a:pt x="19286" y="21600"/>
                </a:lnTo>
                <a:lnTo>
                  <a:pt x="2314" y="21600"/>
                </a:lnTo>
                <a:close/>
              </a:path>
            </a:pathLst>
          </a:custGeom>
          <a:solidFill>
            <a:srgbClr val="DCFCE7"/>
          </a:solidFill>
          <a:ln w="19050">
            <a:solidFill>
              <a:schemeClr val="accent2"/>
            </a:solidFill>
          </a:ln>
        </p:spPr>
        <p:txBody>
          <a:bodyPr lIns="45719" rIns="45719"/>
          <a:lstStyle/>
          <a:p>
            <a:pPr/>
          </a:p>
        </p:txBody>
      </p:sp>
      <p:sp>
        <p:nvSpPr>
          <p:cNvPr id="43" name="Shape 5"/>
          <p:cNvSpPr/>
          <p:nvPr/>
        </p:nvSpPr>
        <p:spPr>
          <a:xfrm>
            <a:off x="5257800" y="4754879"/>
            <a:ext cx="1280161" cy="5486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314" y="0"/>
                </a:lnTo>
                <a:lnTo>
                  <a:pt x="21600" y="0"/>
                </a:lnTo>
                <a:lnTo>
                  <a:pt x="19286" y="21600"/>
                </a:lnTo>
                <a:close/>
              </a:path>
            </a:pathLst>
          </a:custGeom>
          <a:solidFill>
            <a:srgbClr val="EDE9FE"/>
          </a:solidFill>
          <a:ln w="19050">
            <a:solidFill>
              <a:schemeClr val="accent3"/>
            </a:solidFill>
          </a:ln>
        </p:spPr>
        <p:txBody>
          <a:bodyPr lIns="45719" rIns="45719"/>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 name="Text 0"/>
          <p:cNvSpPr txBox="1"/>
          <p:nvPr>
            <p:ph type="title"/>
          </p:nvPr>
        </p:nvSpPr>
        <p:spPr>
          <a:prstGeom prst="rect">
            <a:avLst/>
          </a:prstGeom>
        </p:spPr>
        <p:txBody>
          <a:bodyPr lIns="0" tIns="0" rIns="0" bIns="0" anchor="ctr"/>
          <a:lstStyle/>
          <a:p>
            <a:pPr/>
            <a:r>
              <a:t>Notica tech</a:t>
            </a:r>
          </a:p>
        </p:txBody>
      </p:sp>
      <p:sp>
        <p:nvSpPr>
          <p:cNvPr id="48" name="Slide Number Placeholder 0"/>
          <p:cNvSpPr txBox="1"/>
          <p:nvPr>
            <p:ph type="sldNum" sz="quarter" idx="4294967295"/>
          </p:nvPr>
        </p:nvSpPr>
        <p:spPr>
          <a:xfrm>
            <a:off x="11569680" y="6473952"/>
            <a:ext cx="162073"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9" name="pasted-movie.png" descr="pasted-movie.png"/>
          <p:cNvPicPr>
            <a:picLocks noChangeAspect="1"/>
          </p:cNvPicPr>
          <p:nvPr/>
        </p:nvPicPr>
        <p:blipFill>
          <a:blip r:embed="rId3">
            <a:extLst/>
          </a:blip>
          <a:stretch>
            <a:fillRect/>
          </a:stretch>
        </p:blipFill>
        <p:spPr>
          <a:xfrm>
            <a:off x="1873250" y="882650"/>
            <a:ext cx="8445500" cy="5092700"/>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Text 0"/>
          <p:cNvSpPr txBox="1"/>
          <p:nvPr>
            <p:ph type="title"/>
          </p:nvPr>
        </p:nvSpPr>
        <p:spPr>
          <a:prstGeom prst="rect">
            <a:avLst/>
          </a:prstGeom>
        </p:spPr>
        <p:txBody>
          <a:bodyPr lIns="0" tIns="0" rIns="0" bIns="0" anchor="ctr"/>
          <a:lstStyle/>
          <a:p>
            <a:pPr/>
            <a:r>
              <a:t>Objetivo de la sesión</a:t>
            </a:r>
          </a:p>
        </p:txBody>
      </p:sp>
      <p:sp>
        <p:nvSpPr>
          <p:cNvPr id="54" name="Text 0"/>
          <p:cNvSpPr txBox="1"/>
          <p:nvPr>
            <p:ph type="body" sz="quarter" idx="1"/>
          </p:nvPr>
        </p:nvSpPr>
        <p:spPr>
          <a:prstGeom prst="rect">
            <a:avLst/>
          </a:prstGeom>
        </p:spPr>
        <p:txBody>
          <a:bodyPr lIns="0" tIns="0" rIns="0" bIns="0" anchor="ctr"/>
          <a:lstStyle/>
          <a:p>
            <a:pPr/>
            <a:r>
              <a:t>Ver el mismo algoritmo de tres formas y pasar de una a otra sin perder nada.</a:t>
            </a:r>
          </a:p>
        </p:txBody>
      </p:sp>
      <p:sp>
        <p:nvSpPr>
          <p:cNvPr id="55" name="Shape 2"/>
          <p:cNvSpPr/>
          <p:nvPr/>
        </p:nvSpPr>
        <p:spPr>
          <a:xfrm>
            <a:off x="594359" y="3304540"/>
            <a:ext cx="3520442" cy="1874521"/>
          </a:xfrm>
          <a:prstGeom prst="roundRect">
            <a:avLst>
              <a:gd name="adj" fmla="val 3902"/>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56" name="Text 3"/>
          <p:cNvSpPr txBox="1"/>
          <p:nvPr/>
        </p:nvSpPr>
        <p:spPr>
          <a:xfrm>
            <a:off x="795527" y="350246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1 · Código</a:t>
            </a:r>
          </a:p>
        </p:txBody>
      </p:sp>
      <p:sp>
        <p:nvSpPr>
          <p:cNvPr id="57" name="Text 4"/>
          <p:cNvSpPr txBox="1"/>
          <p:nvPr/>
        </p:nvSpPr>
        <p:spPr>
          <a:xfrm>
            <a:off x="795527" y="3816604"/>
            <a:ext cx="3118105" cy="463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400"/>
              </a:spcBef>
              <a:defRPr sz="1600">
                <a:solidFill>
                  <a:srgbClr val="334155"/>
                </a:solidFill>
              </a:defRPr>
            </a:lvl1pPr>
          </a:lstStyle>
          <a:p>
            <a:pPr/>
            <a:r>
              <a:t>Instrucciones en un lenguaje de programación en particular</a:t>
            </a:r>
          </a:p>
        </p:txBody>
      </p:sp>
      <p:sp>
        <p:nvSpPr>
          <p:cNvPr id="58" name="Shape 5"/>
          <p:cNvSpPr/>
          <p:nvPr/>
        </p:nvSpPr>
        <p:spPr>
          <a:xfrm>
            <a:off x="4343400" y="3304540"/>
            <a:ext cx="3520441" cy="1874521"/>
          </a:xfrm>
          <a:prstGeom prst="roundRect">
            <a:avLst>
              <a:gd name="adj" fmla="val 3902"/>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59" name="Text 6"/>
          <p:cNvSpPr txBox="1"/>
          <p:nvPr/>
        </p:nvSpPr>
        <p:spPr>
          <a:xfrm>
            <a:off x="4544567" y="3502468"/>
            <a:ext cx="3118106"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2"/>
                </a:solidFill>
              </a:defRPr>
            </a:lvl1pPr>
          </a:lstStyle>
          <a:p>
            <a:pPr/>
            <a:r>
              <a:t>2 · Dibujar el camino</a:t>
            </a:r>
          </a:p>
        </p:txBody>
      </p:sp>
      <p:sp>
        <p:nvSpPr>
          <p:cNvPr id="60" name="Text 7"/>
          <p:cNvSpPr txBox="1"/>
          <p:nvPr/>
        </p:nvSpPr>
        <p:spPr>
          <a:xfrm>
            <a:off x="4544567" y="3816604"/>
            <a:ext cx="3118106" cy="717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600">
                <a:solidFill>
                  <a:srgbClr val="334155"/>
                </a:solidFill>
              </a:defRPr>
            </a:pPr>
            <a:r>
              <a:t>Diagrama de flujo</a:t>
            </a:r>
            <a:r>
              <a:rPr b="0"/>
              <a:t>: figuras unidas por flechas que muestran por dónde va la ejecución.</a:t>
            </a:r>
          </a:p>
        </p:txBody>
      </p:sp>
      <p:sp>
        <p:nvSpPr>
          <p:cNvPr id="61" name="Shape 8"/>
          <p:cNvSpPr/>
          <p:nvPr/>
        </p:nvSpPr>
        <p:spPr>
          <a:xfrm>
            <a:off x="8092440" y="3304540"/>
            <a:ext cx="3520441" cy="1874521"/>
          </a:xfrm>
          <a:prstGeom prst="roundRect">
            <a:avLst>
              <a:gd name="adj" fmla="val 3902"/>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62" name="Text 9"/>
          <p:cNvSpPr txBox="1"/>
          <p:nvPr/>
        </p:nvSpPr>
        <p:spPr>
          <a:xfrm>
            <a:off x="8293607" y="350246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3"/>
                </a:solidFill>
              </a:defRPr>
            </a:lvl1pPr>
          </a:lstStyle>
          <a:p>
            <a:pPr/>
            <a:r>
              <a:t>3 · Encajar bloques</a:t>
            </a:r>
          </a:p>
        </p:txBody>
      </p:sp>
      <p:sp>
        <p:nvSpPr>
          <p:cNvPr id="63" name="Text 10"/>
          <p:cNvSpPr txBox="1"/>
          <p:nvPr/>
        </p:nvSpPr>
        <p:spPr>
          <a:xfrm>
            <a:off x="8293607" y="3816604"/>
            <a:ext cx="3118105" cy="717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600">
                <a:solidFill>
                  <a:srgbClr val="334155"/>
                </a:solidFill>
              </a:defRPr>
            </a:pPr>
            <a:r>
              <a:t>Nassi-Shneiderman</a:t>
            </a:r>
            <a:r>
              <a:rPr b="0"/>
              <a:t>: bloques que se meten unos dentro de otros, sin flechas.</a:t>
            </a:r>
          </a:p>
        </p:txBody>
      </p:sp>
      <p:grpSp>
        <p:nvGrpSpPr>
          <p:cNvPr id="66" name="Text 11"/>
          <p:cNvGrpSpPr/>
          <p:nvPr/>
        </p:nvGrpSpPr>
        <p:grpSpPr>
          <a:xfrm>
            <a:off x="929827" y="2205132"/>
            <a:ext cx="2743201" cy="731521"/>
            <a:chOff x="0" y="0"/>
            <a:chExt cx="2743200" cy="731519"/>
          </a:xfrm>
        </p:grpSpPr>
        <p:sp>
          <p:nvSpPr>
            <p:cNvPr id="64" name="Rounded Rectangle"/>
            <p:cNvSpPr/>
            <p:nvPr/>
          </p:nvSpPr>
          <p:spPr>
            <a:xfrm>
              <a:off x="0" y="0"/>
              <a:ext cx="2743200" cy="731520"/>
            </a:xfrm>
            <a:prstGeom prst="roundRect">
              <a:avLst>
                <a:gd name="adj" fmla="val 50000"/>
              </a:avLst>
            </a:prstGeom>
            <a:solidFill>
              <a:srgbClr val="0F172A"/>
            </a:solidFill>
            <a:ln w="9525" cap="flat">
              <a:solidFill>
                <a:srgbClr val="0F172A"/>
              </a:solidFill>
              <a:prstDash val="solid"/>
              <a:round/>
            </a:ln>
            <a:effectLst/>
          </p:spPr>
          <p:txBody>
            <a:bodyPr wrap="square" lIns="45719" tIns="45719" rIns="45719" bIns="45719" numCol="1" anchor="ctr">
              <a:noAutofit/>
            </a:bodyPr>
            <a:lstStyle/>
            <a:p>
              <a:pPr algn="ctr"/>
            </a:p>
          </p:txBody>
        </p:sp>
        <p:sp>
          <p:nvSpPr>
            <p:cNvPr id="65" name="Python"/>
            <p:cNvSpPr txBox="1"/>
            <p:nvPr/>
          </p:nvSpPr>
          <p:spPr>
            <a:xfrm>
              <a:off x="157609" y="199216"/>
              <a:ext cx="2427982"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a:solidFill>
                    <a:srgbClr val="D4D4D4"/>
                  </a:solidFill>
                </a:defRPr>
              </a:lvl1pPr>
            </a:lstStyle>
            <a:p>
              <a:pPr/>
              <a:r>
                <a:t>Python</a:t>
              </a:r>
            </a:p>
          </p:txBody>
        </p:sp>
      </p:grpSp>
      <p:sp>
        <p:nvSpPr>
          <p:cNvPr id="67" name="Text 12"/>
          <p:cNvSpPr txBox="1"/>
          <p:nvPr/>
        </p:nvSpPr>
        <p:spPr>
          <a:xfrm>
            <a:off x="3718747" y="2380392"/>
            <a:ext cx="82296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3000">
                <a:solidFill>
                  <a:srgbClr val="475569"/>
                </a:solidFill>
              </a:defRPr>
            </a:lvl1pPr>
          </a:lstStyle>
          <a:p>
            <a:pPr/>
            <a:r>
              <a:t>⇄</a:t>
            </a:r>
          </a:p>
        </p:txBody>
      </p:sp>
      <p:grpSp>
        <p:nvGrpSpPr>
          <p:cNvPr id="70" name="Text 13"/>
          <p:cNvGrpSpPr/>
          <p:nvPr/>
        </p:nvGrpSpPr>
        <p:grpSpPr>
          <a:xfrm>
            <a:off x="4587426" y="2205132"/>
            <a:ext cx="2743201" cy="731521"/>
            <a:chOff x="0" y="0"/>
            <a:chExt cx="2743200" cy="731519"/>
          </a:xfrm>
        </p:grpSpPr>
        <p:sp>
          <p:nvSpPr>
            <p:cNvPr id="68" name="Rounded Rectangle"/>
            <p:cNvSpPr/>
            <p:nvPr/>
          </p:nvSpPr>
          <p:spPr>
            <a:xfrm>
              <a:off x="0" y="0"/>
              <a:ext cx="2743200" cy="731520"/>
            </a:xfrm>
            <a:prstGeom prst="roundRect">
              <a:avLst>
                <a:gd name="adj" fmla="val 50000"/>
              </a:avLst>
            </a:prstGeom>
            <a:solidFill>
              <a:srgbClr val="DCFCE7"/>
            </a:solidFill>
            <a:ln w="9525" cap="flat">
              <a:solidFill>
                <a:srgbClr val="DCFCE7"/>
              </a:solidFill>
              <a:prstDash val="solid"/>
              <a:round/>
            </a:ln>
            <a:effectLst/>
          </p:spPr>
          <p:txBody>
            <a:bodyPr wrap="square" lIns="45719" tIns="45719" rIns="45719" bIns="45719" numCol="1" anchor="ctr">
              <a:noAutofit/>
            </a:bodyPr>
            <a:lstStyle/>
            <a:p>
              <a:pPr algn="ctr"/>
            </a:p>
          </p:txBody>
        </p:sp>
        <p:sp>
          <p:nvSpPr>
            <p:cNvPr id="69" name="Diagrama de flujo"/>
            <p:cNvSpPr txBox="1"/>
            <p:nvPr/>
          </p:nvSpPr>
          <p:spPr>
            <a:xfrm>
              <a:off x="157609" y="199216"/>
              <a:ext cx="2427982"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a:solidFill>
                    <a:srgbClr val="14532D"/>
                  </a:solidFill>
                </a:defRPr>
              </a:lvl1pPr>
            </a:lstStyle>
            <a:p>
              <a:pPr/>
              <a:r>
                <a:t>Diagrama de flujo</a:t>
              </a:r>
            </a:p>
          </p:txBody>
        </p:sp>
      </p:grpSp>
      <p:sp>
        <p:nvSpPr>
          <p:cNvPr id="71" name="Text 14"/>
          <p:cNvSpPr txBox="1"/>
          <p:nvPr/>
        </p:nvSpPr>
        <p:spPr>
          <a:xfrm>
            <a:off x="7376347" y="2380392"/>
            <a:ext cx="82296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3000">
                <a:solidFill>
                  <a:srgbClr val="475569"/>
                </a:solidFill>
              </a:defRPr>
            </a:lvl1pPr>
          </a:lstStyle>
          <a:p>
            <a:pPr/>
            <a:r>
              <a:t>⇄</a:t>
            </a:r>
          </a:p>
        </p:txBody>
      </p:sp>
      <p:grpSp>
        <p:nvGrpSpPr>
          <p:cNvPr id="74" name="Text 15"/>
          <p:cNvGrpSpPr/>
          <p:nvPr/>
        </p:nvGrpSpPr>
        <p:grpSpPr>
          <a:xfrm>
            <a:off x="8245026" y="2205132"/>
            <a:ext cx="2743201" cy="731521"/>
            <a:chOff x="0" y="0"/>
            <a:chExt cx="2743200" cy="731519"/>
          </a:xfrm>
        </p:grpSpPr>
        <p:sp>
          <p:nvSpPr>
            <p:cNvPr id="72" name="Rounded Rectangle"/>
            <p:cNvSpPr/>
            <p:nvPr/>
          </p:nvSpPr>
          <p:spPr>
            <a:xfrm>
              <a:off x="0" y="0"/>
              <a:ext cx="2743200" cy="731520"/>
            </a:xfrm>
            <a:prstGeom prst="roundRect">
              <a:avLst>
                <a:gd name="adj" fmla="val 50000"/>
              </a:avLst>
            </a:prstGeom>
            <a:solidFill>
              <a:srgbClr val="EDE9FE"/>
            </a:solidFill>
            <a:ln w="9525" cap="flat">
              <a:solidFill>
                <a:srgbClr val="EDE9FE"/>
              </a:solidFill>
              <a:prstDash val="solid"/>
              <a:round/>
            </a:ln>
            <a:effectLst/>
          </p:spPr>
          <p:txBody>
            <a:bodyPr wrap="square" lIns="45719" tIns="45719" rIns="45719" bIns="45719" numCol="1" anchor="ctr">
              <a:noAutofit/>
            </a:bodyPr>
            <a:lstStyle/>
            <a:p>
              <a:pPr algn="ctr"/>
            </a:p>
          </p:txBody>
        </p:sp>
        <p:sp>
          <p:nvSpPr>
            <p:cNvPr id="73" name="Nassi-Shneiderman"/>
            <p:cNvSpPr txBox="1"/>
            <p:nvPr/>
          </p:nvSpPr>
          <p:spPr>
            <a:xfrm>
              <a:off x="157609" y="199216"/>
              <a:ext cx="2427982" cy="3330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a:solidFill>
                    <a:srgbClr val="4C1D95"/>
                  </a:solidFill>
                </a:defRPr>
              </a:lvl1pPr>
            </a:lstStyle>
            <a:p>
              <a:pPr/>
              <a:r>
                <a:t>Nassi-Shneiderman</a:t>
              </a:r>
            </a:p>
          </p:txBody>
        </p:sp>
      </p:grpSp>
      <p:sp>
        <p:nvSpPr>
          <p:cNvPr id="75" name="Text 16"/>
          <p:cNvSpPr txBox="1"/>
          <p:nvPr/>
        </p:nvSpPr>
        <p:spPr>
          <a:xfrm>
            <a:off x="594359" y="6499790"/>
            <a:ext cx="109728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475569"/>
                </a:solidFill>
              </a:defRPr>
            </a:pPr>
            <a:r>
              <a:t>Tres formas de escribir </a:t>
            </a:r>
            <a:r>
              <a:rPr b="1"/>
              <a:t>lo mismo</a:t>
            </a:r>
            <a:r>
              <a:t>: si cambias una, las otras dos deben cambiar igual.</a:t>
            </a:r>
          </a:p>
        </p:txBody>
      </p:sp>
      <p:sp>
        <p:nvSpPr>
          <p:cNvPr id="76" name="Slide Number Placeholder 0"/>
          <p:cNvSpPr txBox="1"/>
          <p:nvPr>
            <p:ph type="sldNum" sz="quarter" idx="4294967295"/>
          </p:nvPr>
        </p:nvSpPr>
        <p:spPr>
          <a:xfrm>
            <a:off x="11569680" y="6473952"/>
            <a:ext cx="162073"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Text 0"/>
          <p:cNvSpPr txBox="1"/>
          <p:nvPr>
            <p:ph type="title"/>
          </p:nvPr>
        </p:nvSpPr>
        <p:spPr>
          <a:prstGeom prst="rect">
            <a:avLst/>
          </a:prstGeom>
        </p:spPr>
        <p:txBody>
          <a:bodyPr lIns="0" tIns="0" rIns="0" bIns="0" anchor="ctr"/>
          <a:lstStyle/>
          <a:p>
            <a:pPr/>
            <a:r>
              <a:t>Antes de empezar: ¿el idioma moldea el pensamiento?</a:t>
            </a:r>
          </a:p>
        </p:txBody>
      </p:sp>
      <p:sp>
        <p:nvSpPr>
          <p:cNvPr id="81" name="Text 0"/>
          <p:cNvSpPr txBox="1"/>
          <p:nvPr>
            <p:ph type="body" sz="quarter" idx="1"/>
          </p:nvPr>
        </p:nvSpPr>
        <p:spPr>
          <a:prstGeom prst="rect">
            <a:avLst/>
          </a:prstGeom>
        </p:spPr>
        <p:txBody>
          <a:bodyPr lIns="0" tIns="0" rIns="0" bIns="0" anchor="ctr"/>
          <a:lstStyle/>
          <a:p>
            <a:pPr/>
            <a:r>
              <a:t>La hipótesis de Sapir-Whorf: Edward Sapir y su alumno Benjamin Lee Whorf (décadas de 1920 a 1940).</a:t>
            </a:r>
          </a:p>
        </p:txBody>
      </p:sp>
      <p:sp>
        <p:nvSpPr>
          <p:cNvPr id="82" name="Shape 2"/>
          <p:cNvSpPr/>
          <p:nvPr/>
        </p:nvSpPr>
        <p:spPr>
          <a:xfrm>
            <a:off x="594359" y="1463039"/>
            <a:ext cx="5349242" cy="2651761"/>
          </a:xfrm>
          <a:prstGeom prst="roundRect">
            <a:avLst>
              <a:gd name="adj" fmla="val 2759"/>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83" name="Text 3"/>
          <p:cNvSpPr txBox="1"/>
          <p:nvPr/>
        </p:nvSpPr>
        <p:spPr>
          <a:xfrm>
            <a:off x="795527" y="1660968"/>
            <a:ext cx="4946906"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4"/>
                </a:solidFill>
              </a:defRPr>
            </a:lvl1pPr>
          </a:lstStyle>
          <a:p>
            <a:pPr/>
            <a:r>
              <a:t>Versión fuerte · determinismo lingüístico</a:t>
            </a:r>
          </a:p>
        </p:txBody>
      </p:sp>
      <p:sp>
        <p:nvSpPr>
          <p:cNvPr id="84" name="Text 4"/>
          <p:cNvSpPr txBox="1"/>
          <p:nvPr/>
        </p:nvSpPr>
        <p:spPr>
          <a:xfrm>
            <a:off x="795527" y="1975104"/>
            <a:ext cx="4946906" cy="85834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2000">
                <a:solidFill>
                  <a:srgbClr val="334155"/>
                </a:solidFill>
              </a:defRPr>
            </a:pPr>
            <a:r>
              <a:t>El idioma </a:t>
            </a:r>
            <a:r>
              <a:rPr b="1"/>
              <a:t>determina</a:t>
            </a:r>
            <a:r>
              <a:t> lo que puedes pensar: si no tienes la palabra, no puedes tener el concepto.</a:t>
            </a:r>
          </a:p>
        </p:txBody>
      </p:sp>
      <p:grpSp>
        <p:nvGrpSpPr>
          <p:cNvPr id="87" name="Text 5"/>
          <p:cNvGrpSpPr/>
          <p:nvPr/>
        </p:nvGrpSpPr>
        <p:grpSpPr>
          <a:xfrm>
            <a:off x="795527" y="3429000"/>
            <a:ext cx="2926081" cy="457200"/>
            <a:chOff x="0" y="0"/>
            <a:chExt cx="2926079" cy="457200"/>
          </a:xfrm>
        </p:grpSpPr>
        <p:sp>
          <p:nvSpPr>
            <p:cNvPr id="85" name="Rounded Rectangle"/>
            <p:cNvSpPr/>
            <p:nvPr/>
          </p:nvSpPr>
          <p:spPr>
            <a:xfrm>
              <a:off x="0" y="0"/>
              <a:ext cx="2926080" cy="457200"/>
            </a:xfrm>
            <a:prstGeom prst="roundRect">
              <a:avLst>
                <a:gd name="adj" fmla="val 50000"/>
              </a:avLst>
            </a:prstGeom>
            <a:solidFill>
              <a:srgbClr val="FEE2E2"/>
            </a:solidFill>
            <a:ln w="9525" cap="flat">
              <a:solidFill>
                <a:srgbClr val="FEE2E2"/>
              </a:solidFill>
              <a:prstDash val="solid"/>
              <a:round/>
            </a:ln>
            <a:effectLst/>
          </p:spPr>
          <p:txBody>
            <a:bodyPr wrap="square" lIns="45719" tIns="45719" rIns="45719" bIns="45719" numCol="1" anchor="ctr">
              <a:noAutofit/>
            </a:bodyPr>
            <a:lstStyle/>
            <a:p>
              <a:pPr algn="ctr">
                <a:defRPr sz="1400"/>
              </a:pPr>
            </a:p>
          </p:txBody>
        </p:sp>
        <p:sp>
          <p:nvSpPr>
            <p:cNvPr id="86" name="Descartada"/>
            <p:cNvSpPr txBox="1"/>
            <p:nvPr/>
          </p:nvSpPr>
          <p:spPr>
            <a:xfrm>
              <a:off x="117437" y="88200"/>
              <a:ext cx="2691206" cy="2808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400">
                  <a:solidFill>
                    <a:schemeClr val="accent4"/>
                  </a:solidFill>
                </a:defRPr>
              </a:lvl1pPr>
            </a:lstStyle>
            <a:p>
              <a:pPr/>
              <a:r>
                <a:t>Descartada</a:t>
              </a:r>
            </a:p>
          </p:txBody>
        </p:sp>
      </p:grpSp>
      <p:sp>
        <p:nvSpPr>
          <p:cNvPr id="88" name="Shape 6"/>
          <p:cNvSpPr/>
          <p:nvPr/>
        </p:nvSpPr>
        <p:spPr>
          <a:xfrm>
            <a:off x="6172200" y="1463039"/>
            <a:ext cx="5349241" cy="2651761"/>
          </a:xfrm>
          <a:prstGeom prst="roundRect">
            <a:avLst>
              <a:gd name="adj" fmla="val 2759"/>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89" name="Text 7"/>
          <p:cNvSpPr txBox="1"/>
          <p:nvPr/>
        </p:nvSpPr>
        <p:spPr>
          <a:xfrm>
            <a:off x="6373367" y="1660968"/>
            <a:ext cx="4946906"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2"/>
                </a:solidFill>
              </a:defRPr>
            </a:lvl1pPr>
          </a:lstStyle>
          <a:p>
            <a:pPr/>
            <a:r>
              <a:t>Versión débil · relatividad lingüística</a:t>
            </a:r>
          </a:p>
        </p:txBody>
      </p:sp>
      <p:sp>
        <p:nvSpPr>
          <p:cNvPr id="90" name="Text 8"/>
          <p:cNvSpPr txBox="1"/>
          <p:nvPr/>
        </p:nvSpPr>
        <p:spPr>
          <a:xfrm>
            <a:off x="6373367" y="1975104"/>
            <a:ext cx="4946906" cy="85834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2000">
                <a:solidFill>
                  <a:srgbClr val="334155"/>
                </a:solidFill>
              </a:defRPr>
            </a:pPr>
            <a:r>
              <a:t>El idioma </a:t>
            </a:r>
            <a:r>
              <a:rPr b="1"/>
              <a:t>influye</a:t>
            </a:r>
            <a:r>
              <a:t> en lo que notas, recuerdas y en cómo agrupas las cosas, sin impedirte pensar lo demás.</a:t>
            </a:r>
          </a:p>
        </p:txBody>
      </p:sp>
      <p:grpSp>
        <p:nvGrpSpPr>
          <p:cNvPr id="93" name="Text 9"/>
          <p:cNvGrpSpPr/>
          <p:nvPr/>
        </p:nvGrpSpPr>
        <p:grpSpPr>
          <a:xfrm>
            <a:off x="6373367" y="3429000"/>
            <a:ext cx="2926081" cy="457200"/>
            <a:chOff x="0" y="0"/>
            <a:chExt cx="2926079" cy="457200"/>
          </a:xfrm>
        </p:grpSpPr>
        <p:sp>
          <p:nvSpPr>
            <p:cNvPr id="91" name="Rounded Rectangle"/>
            <p:cNvSpPr/>
            <p:nvPr/>
          </p:nvSpPr>
          <p:spPr>
            <a:xfrm>
              <a:off x="0" y="0"/>
              <a:ext cx="2926080" cy="457200"/>
            </a:xfrm>
            <a:prstGeom prst="roundRect">
              <a:avLst>
                <a:gd name="adj" fmla="val 50000"/>
              </a:avLst>
            </a:prstGeom>
            <a:solidFill>
              <a:srgbClr val="DCFCE7"/>
            </a:solidFill>
            <a:ln w="9525" cap="flat">
              <a:solidFill>
                <a:srgbClr val="DCFCE7"/>
              </a:solidFill>
              <a:prstDash val="solid"/>
              <a:round/>
            </a:ln>
            <a:effectLst/>
          </p:spPr>
          <p:txBody>
            <a:bodyPr wrap="square" lIns="45719" tIns="45719" rIns="45719" bIns="45719" numCol="1" anchor="ctr">
              <a:noAutofit/>
            </a:bodyPr>
            <a:lstStyle/>
            <a:p>
              <a:pPr algn="ctr">
                <a:defRPr sz="1400"/>
              </a:pPr>
            </a:p>
          </p:txBody>
        </p:sp>
        <p:sp>
          <p:nvSpPr>
            <p:cNvPr id="92" name="Con evidencia experimental"/>
            <p:cNvSpPr txBox="1"/>
            <p:nvPr/>
          </p:nvSpPr>
          <p:spPr>
            <a:xfrm>
              <a:off x="117437" y="88200"/>
              <a:ext cx="2691206" cy="2808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400">
                  <a:solidFill>
                    <a:schemeClr val="accent2"/>
                  </a:solidFill>
                </a:defRPr>
              </a:lvl1pPr>
            </a:lstStyle>
            <a:p>
              <a:pPr/>
              <a:r>
                <a:t>Con evidencia experimental</a:t>
              </a:r>
            </a:p>
          </p:txBody>
        </p:sp>
      </p:grpSp>
      <p:sp>
        <p:nvSpPr>
          <p:cNvPr id="94" name="Shape 10"/>
          <p:cNvSpPr/>
          <p:nvPr/>
        </p:nvSpPr>
        <p:spPr>
          <a:xfrm>
            <a:off x="594359" y="4389120"/>
            <a:ext cx="10927082" cy="1463041"/>
          </a:xfrm>
          <a:prstGeom prst="roundRect">
            <a:avLst>
              <a:gd name="adj" fmla="val 5000"/>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95" name="Text 11"/>
          <p:cNvSpPr txBox="1"/>
          <p:nvPr/>
        </p:nvSpPr>
        <p:spPr>
          <a:xfrm>
            <a:off x="795528" y="4587048"/>
            <a:ext cx="1052474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La pregunta para hoy</a:t>
            </a:r>
          </a:p>
        </p:txBody>
      </p:sp>
      <p:sp>
        <p:nvSpPr>
          <p:cNvPr id="96" name="Text 12"/>
          <p:cNvSpPr txBox="1"/>
          <p:nvPr/>
        </p:nvSpPr>
        <p:spPr>
          <a:xfrm>
            <a:off x="795528" y="4901184"/>
            <a:ext cx="10524744" cy="55354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2000">
                <a:solidFill>
                  <a:srgbClr val="334155"/>
                </a:solidFill>
              </a:defRPr>
            </a:pPr>
            <a:r>
              <a:t>Si el idioma influye en cómo pensamos, ¿influye también </a:t>
            </a:r>
            <a:r>
              <a:rPr b="1"/>
              <a:t>el nombre</a:t>
            </a:r>
            <a:r>
              <a:t> que le ponemos a una función en cómo pensamos el algoritmo?</a:t>
            </a:r>
          </a:p>
        </p:txBody>
      </p:sp>
      <p:sp>
        <p:nvSpPr>
          <p:cNvPr id="97" name="Slide Number Placeholder 0"/>
          <p:cNvSpPr txBox="1"/>
          <p:nvPr>
            <p:ph type="sldNum" sz="quarter" idx="4294967295"/>
          </p:nvPr>
        </p:nvSpPr>
        <p:spPr>
          <a:xfrm>
            <a:off x="11569680" y="6473952"/>
            <a:ext cx="162073"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Text 0"/>
          <p:cNvSpPr txBox="1"/>
          <p:nvPr>
            <p:ph type="title"/>
          </p:nvPr>
        </p:nvSpPr>
        <p:spPr>
          <a:prstGeom prst="rect">
            <a:avLst/>
          </a:prstGeom>
        </p:spPr>
        <p:txBody>
          <a:bodyPr lIns="0" tIns="0" rIns="0" bIns="0" anchor="ctr"/>
          <a:lstStyle/>
          <a:p>
            <a:pPr/>
            <a:r>
              <a:t>Evidencia: el idioma sí influye (versión débil)</a:t>
            </a:r>
          </a:p>
        </p:txBody>
      </p:sp>
      <p:sp>
        <p:nvSpPr>
          <p:cNvPr id="102" name="Text 0"/>
          <p:cNvSpPr txBox="1"/>
          <p:nvPr>
            <p:ph type="body" sz="quarter" idx="1"/>
          </p:nvPr>
        </p:nvSpPr>
        <p:spPr>
          <a:prstGeom prst="rect">
            <a:avLst/>
          </a:prstGeom>
        </p:spPr>
        <p:txBody>
          <a:bodyPr lIns="0" tIns="0" rIns="0" bIns="0" anchor="ctr"/>
          <a:lstStyle/>
          <a:p>
            <a:pPr/>
            <a:r>
              <a:t>Tres estudios a favor y uno que no resistió la réplica.</a:t>
            </a:r>
          </a:p>
        </p:txBody>
      </p:sp>
      <p:sp>
        <p:nvSpPr>
          <p:cNvPr id="103" name="Shape 2"/>
          <p:cNvSpPr/>
          <p:nvPr/>
        </p:nvSpPr>
        <p:spPr>
          <a:xfrm>
            <a:off x="594359" y="1417319"/>
            <a:ext cx="2606041" cy="4160522"/>
          </a:xfrm>
          <a:prstGeom prst="roundRect">
            <a:avLst>
              <a:gd name="adj" fmla="val 2807"/>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04" name="Text 3"/>
          <p:cNvSpPr txBox="1"/>
          <p:nvPr/>
        </p:nvSpPr>
        <p:spPr>
          <a:xfrm>
            <a:off x="795527" y="1615248"/>
            <a:ext cx="22037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Azules en ruso</a:t>
            </a:r>
          </a:p>
        </p:txBody>
      </p:sp>
      <p:sp>
        <p:nvSpPr>
          <p:cNvPr id="105" name="Text 4"/>
          <p:cNvSpPr txBox="1"/>
          <p:nvPr/>
        </p:nvSpPr>
        <p:spPr>
          <a:xfrm>
            <a:off x="795527" y="1929383"/>
            <a:ext cx="2203705" cy="143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300">
                <a:solidFill>
                  <a:srgbClr val="334155"/>
                </a:solidFill>
              </a:defRPr>
            </a:pPr>
            <a:r>
              <a:t>Winawer et al., 2007 · PNAS</a:t>
            </a:r>
          </a:p>
          <a:p>
            <a:pPr>
              <a:spcBef>
                <a:spcPts val="400"/>
              </a:spcBef>
              <a:defRPr sz="1300">
                <a:solidFill>
                  <a:srgbClr val="334155"/>
                </a:solidFill>
              </a:defRPr>
            </a:pPr>
            <a:r>
              <a:t>El ruso obliga a distinguir </a:t>
            </a:r>
            <a:r>
              <a:rPr i="1"/>
              <a:t>siniy</a:t>
            </a:r>
            <a:r>
              <a:t> (azul oscuro) de </a:t>
            </a:r>
            <a:r>
              <a:rPr i="1"/>
              <a:t>goluboy</a:t>
            </a:r>
            <a:r>
              <a:t> (azul claro). Los hablantes de ruso distinguen más rápido dos azules que cruzan esa frontera; los de inglés, no.</a:t>
            </a:r>
          </a:p>
        </p:txBody>
      </p:sp>
      <p:sp>
        <p:nvSpPr>
          <p:cNvPr id="106" name="Shape 5"/>
          <p:cNvSpPr/>
          <p:nvPr/>
        </p:nvSpPr>
        <p:spPr>
          <a:xfrm>
            <a:off x="3364991" y="1417319"/>
            <a:ext cx="2606041" cy="4160522"/>
          </a:xfrm>
          <a:prstGeom prst="roundRect">
            <a:avLst>
              <a:gd name="adj" fmla="val 2807"/>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07" name="Text 6"/>
          <p:cNvSpPr txBox="1"/>
          <p:nvPr/>
        </p:nvSpPr>
        <p:spPr>
          <a:xfrm>
            <a:off x="3566159" y="1615248"/>
            <a:ext cx="22037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2"/>
                </a:solidFill>
              </a:defRPr>
            </a:lvl1pPr>
          </a:lstStyle>
          <a:p>
            <a:pPr/>
            <a:r>
              <a:t>«Se rompió el florero»</a:t>
            </a:r>
          </a:p>
        </p:txBody>
      </p:sp>
      <p:sp>
        <p:nvSpPr>
          <p:cNvPr id="108" name="Text 7"/>
          <p:cNvSpPr txBox="1"/>
          <p:nvPr/>
        </p:nvSpPr>
        <p:spPr>
          <a:xfrm>
            <a:off x="3566159" y="1929383"/>
            <a:ext cx="2203705" cy="2452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300">
                <a:solidFill>
                  <a:srgbClr val="334155"/>
                </a:solidFill>
              </a:defRPr>
            </a:pPr>
            <a:r>
              <a:t>Fausey y Boroditsky, 2008 y 2011</a:t>
            </a:r>
          </a:p>
          <a:p>
            <a:pPr>
              <a:spcBef>
                <a:spcPts val="400"/>
              </a:spcBef>
              <a:defRPr sz="1300">
                <a:solidFill>
                  <a:srgbClr val="334155"/>
                </a:solidFill>
              </a:defRPr>
            </a:pPr>
            <a:r>
              <a:t>En inglés se usualmente se dice </a:t>
            </a:r>
            <a:r>
              <a:rPr i="1"/>
              <a:t>He broke the vase</a:t>
            </a:r>
            <a:r>
              <a:t>; en español, </a:t>
            </a:r>
            <a:r>
              <a:rPr i="1"/>
              <a:t>se rompió el florero</a:t>
            </a:r>
            <a:r>
              <a:t>. Vieron videos de personas que rompían cosas a propósito o sin querer. Cuando fue </a:t>
            </a:r>
            <a:r>
              <a:rPr b="1"/>
              <a:t>sin querer</a:t>
            </a:r>
            <a:r>
              <a:t>, los hablantes de inglés recordaron mejor </a:t>
            </a:r>
            <a:r>
              <a:rPr b="1"/>
              <a:t>quién</a:t>
            </a:r>
            <a:r>
              <a:t> lo hizo; cuando fue a propósito, ambos grupos recordaron igual.</a:t>
            </a:r>
          </a:p>
        </p:txBody>
      </p:sp>
      <p:sp>
        <p:nvSpPr>
          <p:cNvPr id="109" name="Shape 8"/>
          <p:cNvSpPr/>
          <p:nvPr/>
        </p:nvSpPr>
        <p:spPr>
          <a:xfrm>
            <a:off x="6135623" y="1417319"/>
            <a:ext cx="2606041" cy="4160522"/>
          </a:xfrm>
          <a:prstGeom prst="roundRect">
            <a:avLst>
              <a:gd name="adj" fmla="val 2807"/>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10" name="Text 9"/>
          <p:cNvSpPr txBox="1"/>
          <p:nvPr/>
        </p:nvSpPr>
        <p:spPr>
          <a:xfrm>
            <a:off x="6336791" y="1615248"/>
            <a:ext cx="22037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3"/>
                </a:solidFill>
              </a:defRPr>
            </a:lvl1pPr>
          </a:lstStyle>
          <a:p>
            <a:pPr/>
            <a:r>
              <a:t>La palabra ayuda a ver</a:t>
            </a:r>
          </a:p>
        </p:txBody>
      </p:sp>
      <p:sp>
        <p:nvSpPr>
          <p:cNvPr id="111" name="Text 10"/>
          <p:cNvSpPr txBox="1"/>
          <p:nvPr/>
        </p:nvSpPr>
        <p:spPr>
          <a:xfrm>
            <a:off x="6336791" y="1929383"/>
            <a:ext cx="2203705" cy="16399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300">
                <a:solidFill>
                  <a:srgbClr val="334155"/>
                </a:solidFill>
              </a:defRPr>
            </a:pPr>
            <a:r>
              <a:t>Lupyan y Ward, 2013 · PNAS</a:t>
            </a:r>
          </a:p>
          <a:p>
            <a:pPr>
              <a:spcBef>
                <a:spcPts val="400"/>
              </a:spcBef>
              <a:defRPr sz="1300">
                <a:solidFill>
                  <a:srgbClr val="334155"/>
                </a:solidFill>
              </a:defRPr>
            </a:pPr>
            <a:r>
              <a:t>Mostraron imágenes con una técnica que las vuelve invisibles (otro ojo ve destellos que las tapan). Oír antes la palabra correcta («calabaza») hizo que la gente </a:t>
            </a:r>
            <a:r>
              <a:rPr b="1"/>
              <a:t>sí notara</a:t>
            </a:r>
            <a:r>
              <a:t> la imagen más veces.</a:t>
            </a:r>
          </a:p>
        </p:txBody>
      </p:sp>
      <p:sp>
        <p:nvSpPr>
          <p:cNvPr id="112" name="Shape 11"/>
          <p:cNvSpPr/>
          <p:nvPr/>
        </p:nvSpPr>
        <p:spPr>
          <a:xfrm>
            <a:off x="8906256" y="1417319"/>
            <a:ext cx="2606041" cy="4160522"/>
          </a:xfrm>
          <a:prstGeom prst="roundRect">
            <a:avLst>
              <a:gd name="adj" fmla="val 2807"/>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13" name="Text 12"/>
          <p:cNvSpPr txBox="1"/>
          <p:nvPr/>
        </p:nvSpPr>
        <p:spPr>
          <a:xfrm>
            <a:off x="9107423" y="1563877"/>
            <a:ext cx="2203705"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4"/>
                </a:solidFill>
              </a:defRPr>
            </a:lvl1pPr>
          </a:lstStyle>
          <a:p>
            <a:pPr/>
            <a:r>
              <a:t>⚠️ Experimento fallido</a:t>
            </a:r>
          </a:p>
        </p:txBody>
      </p:sp>
      <p:sp>
        <p:nvSpPr>
          <p:cNvPr id="114" name="Text 13"/>
          <p:cNvSpPr txBox="1"/>
          <p:nvPr/>
        </p:nvSpPr>
        <p:spPr>
          <a:xfrm>
            <a:off x="9107423" y="1929383"/>
            <a:ext cx="2203705" cy="2046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300">
                <a:solidFill>
                  <a:srgbClr val="334155"/>
                </a:solidFill>
              </a:defRPr>
            </a:pPr>
            <a:r>
              <a:t>Boroditsky, 2001</a:t>
            </a:r>
          </a:p>
          <a:p>
            <a:pPr>
              <a:spcBef>
                <a:spcPts val="400"/>
              </a:spcBef>
              <a:defRPr sz="1300">
                <a:solidFill>
                  <a:srgbClr val="334155"/>
                </a:solidFill>
              </a:defRPr>
            </a:pPr>
            <a:r>
              <a:t>El mandarín usa «arriba / abajo» para el tiempo (el mes pasado es «el mes de arriba»). Boroditsky reportó que por eso sus hablantes piensan el tiempo en vertical. Otros equipos repitieron el experimento y no obtuvieron lo mismo (Chen, 2007; January y Kako, 2007).</a:t>
            </a:r>
          </a:p>
        </p:txBody>
      </p:sp>
      <p:sp>
        <p:nvSpPr>
          <p:cNvPr id="115" name="Text 14"/>
          <p:cNvSpPr txBox="1"/>
          <p:nvPr/>
        </p:nvSpPr>
        <p:spPr>
          <a:xfrm>
            <a:off x="594359" y="5887651"/>
            <a:ext cx="109728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475569"/>
                </a:solidFill>
              </a:defRPr>
            </a:pPr>
            <a:r>
              <a:t>Lo que sí está respaldado: las palabras guían </a:t>
            </a:r>
            <a:r>
              <a:rPr b="1"/>
              <a:t>qué notamos y qué recordamos</a:t>
            </a:r>
            <a:r>
              <a:t>. No que sin palabra no haya idea.</a:t>
            </a:r>
          </a:p>
        </p:txBody>
      </p:sp>
      <p:sp>
        <p:nvSpPr>
          <p:cNvPr id="116" name="Slide Number Placeholder 0"/>
          <p:cNvSpPr txBox="1"/>
          <p:nvPr>
            <p:ph type="sldNum" sz="quarter" idx="4294967295"/>
          </p:nvPr>
        </p:nvSpPr>
        <p:spPr>
          <a:xfrm>
            <a:off x="11569680" y="6473952"/>
            <a:ext cx="162073"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Text 0"/>
          <p:cNvSpPr txBox="1"/>
          <p:nvPr>
            <p:ph type="title"/>
          </p:nvPr>
        </p:nvSpPr>
        <p:spPr>
          <a:prstGeom prst="rect">
            <a:avLst/>
          </a:prstGeom>
        </p:spPr>
        <p:txBody>
          <a:bodyPr lIns="0" tIns="0" rIns="0" bIns="0" anchor="ctr"/>
          <a:lstStyle/>
          <a:p>
            <a:pPr/>
            <a:r>
              <a:t>¿Y en programación? El nombre cambia cómo se entiende el código</a:t>
            </a:r>
          </a:p>
        </p:txBody>
      </p:sp>
      <p:sp>
        <p:nvSpPr>
          <p:cNvPr id="121" name="Text 0"/>
          <p:cNvSpPr txBox="1"/>
          <p:nvPr>
            <p:ph type="body" sz="quarter" idx="1"/>
          </p:nvPr>
        </p:nvSpPr>
        <p:spPr>
          <a:prstGeom prst="rect">
            <a:avLst/>
          </a:prstGeom>
        </p:spPr>
        <p:txBody>
          <a:bodyPr lIns="0" tIns="0" rIns="0" bIns="0" anchor="ctr"/>
          <a:lstStyle/>
          <a:p>
            <a:pPr/>
            <a:r>
              <a:t>Experimentos y estudios con programadores profesionales.</a:t>
            </a:r>
          </a:p>
        </p:txBody>
      </p:sp>
      <p:sp>
        <p:nvSpPr>
          <p:cNvPr id="122" name="Shape 2"/>
          <p:cNvSpPr/>
          <p:nvPr/>
        </p:nvSpPr>
        <p:spPr>
          <a:xfrm>
            <a:off x="594359" y="1417319"/>
            <a:ext cx="3520442" cy="3611881"/>
          </a:xfrm>
          <a:prstGeom prst="roundRect">
            <a:avLst>
              <a:gd name="adj" fmla="val 2078"/>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23" name="Text 3"/>
          <p:cNvSpPr txBox="1"/>
          <p:nvPr/>
        </p:nvSpPr>
        <p:spPr>
          <a:xfrm>
            <a:off x="795527" y="161524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Palabras completas</a:t>
            </a:r>
          </a:p>
        </p:txBody>
      </p:sp>
      <p:sp>
        <p:nvSpPr>
          <p:cNvPr id="124" name="Text 4"/>
          <p:cNvSpPr txBox="1"/>
          <p:nvPr/>
        </p:nvSpPr>
        <p:spPr>
          <a:xfrm>
            <a:off x="795527" y="1929383"/>
            <a:ext cx="3118105" cy="20632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600">
                <a:solidFill>
                  <a:srgbClr val="334155"/>
                </a:solidFill>
              </a:defRPr>
            </a:pPr>
            <a:r>
              <a:t>Hofmeister, Siegmund y Holt, 2017 · SANER</a:t>
            </a:r>
          </a:p>
          <a:p>
            <a:pPr>
              <a:spcBef>
                <a:spcPts val="400"/>
              </a:spcBef>
              <a:defRPr sz="1600">
                <a:solidFill>
                  <a:srgbClr val="334155"/>
                </a:solidFill>
              </a:defRPr>
            </a:pPr>
            <a:r>
              <a:t>72 programadores profesionales buscaron errores en código. Con identificadores de palabras completas fueron </a:t>
            </a:r>
            <a:r>
              <a:rPr b="1"/>
              <a:t>~19% más rápidos</a:t>
            </a:r>
            <a:r>
              <a:t> que con nombres de una sola letra (</a:t>
            </a:r>
            <a:r>
              <a:rPr sz="1500">
                <a:latin typeface="Menlo Regular"/>
                <a:ea typeface="Menlo Regular"/>
                <a:cs typeface="Menlo Regular"/>
                <a:sym typeface="Menlo Regular"/>
              </a:rPr>
              <a:t>c</a:t>
            </a:r>
            <a:r>
              <a:t>) o abreviaturas (</a:t>
            </a:r>
            <a:r>
              <a:rPr sz="1500">
                <a:latin typeface="Menlo Regular"/>
                <a:ea typeface="Menlo Regular"/>
                <a:cs typeface="Menlo Regular"/>
                <a:sym typeface="Menlo Regular"/>
              </a:rPr>
              <a:t>cnt</a:t>
            </a:r>
            <a:r>
              <a:t>).</a:t>
            </a:r>
          </a:p>
        </p:txBody>
      </p:sp>
      <p:sp>
        <p:nvSpPr>
          <p:cNvPr id="125" name="Shape 5"/>
          <p:cNvSpPr/>
          <p:nvPr/>
        </p:nvSpPr>
        <p:spPr>
          <a:xfrm>
            <a:off x="4297679" y="1417319"/>
            <a:ext cx="3520442" cy="3611881"/>
          </a:xfrm>
          <a:prstGeom prst="roundRect">
            <a:avLst>
              <a:gd name="adj" fmla="val 2078"/>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26" name="Text 6"/>
          <p:cNvSpPr txBox="1"/>
          <p:nvPr/>
        </p:nvSpPr>
        <p:spPr>
          <a:xfrm>
            <a:off x="4498847" y="161524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5"/>
                </a:solidFill>
              </a:defRPr>
            </a:lvl1pPr>
          </a:lstStyle>
          <a:p>
            <a:pPr/>
            <a:r>
              <a:t>Nombres que mienten</a:t>
            </a:r>
          </a:p>
        </p:txBody>
      </p:sp>
      <p:sp>
        <p:nvSpPr>
          <p:cNvPr id="127" name="Text 7"/>
          <p:cNvSpPr txBox="1"/>
          <p:nvPr/>
        </p:nvSpPr>
        <p:spPr>
          <a:xfrm>
            <a:off x="4498847" y="1929383"/>
            <a:ext cx="3118105" cy="20632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600">
                <a:solidFill>
                  <a:srgbClr val="334155"/>
                </a:solidFill>
              </a:defRPr>
            </a:pPr>
            <a:r>
              <a:t>Arnaoudova, Di Penta y Antoniol, 2016 · EMSE</a:t>
            </a:r>
          </a:p>
          <a:p>
            <a:pPr>
              <a:spcBef>
                <a:spcPts val="400"/>
              </a:spcBef>
              <a:defRPr sz="1600">
                <a:solidFill>
                  <a:srgbClr val="334155"/>
                </a:solidFill>
              </a:defRPr>
            </a:pPr>
            <a:r>
              <a:t>Catálogo de </a:t>
            </a:r>
            <a:r>
              <a:rPr b="1"/>
              <a:t>17 antipatrones lingüísticos</a:t>
            </a:r>
            <a:r>
              <a:t>: el nombre promete una cosa y el código hace otra (p. ej. un </a:t>
            </a:r>
            <a:r>
              <a:rPr sz="1500">
                <a:latin typeface="Menlo Regular"/>
                <a:ea typeface="Menlo Regular"/>
                <a:cs typeface="Menlo Regular"/>
                <a:sym typeface="Menlo Regular"/>
              </a:rPr>
              <a:t>get…</a:t>
            </a:r>
            <a:r>
              <a:t> que no regresa nada). De los desarrolladores encuestados, 69% los calificó como mala práctica.</a:t>
            </a:r>
          </a:p>
        </p:txBody>
      </p:sp>
      <p:sp>
        <p:nvSpPr>
          <p:cNvPr id="128" name="Shape 8"/>
          <p:cNvSpPr/>
          <p:nvPr/>
        </p:nvSpPr>
        <p:spPr>
          <a:xfrm>
            <a:off x="8001000" y="1417319"/>
            <a:ext cx="3520441" cy="3611881"/>
          </a:xfrm>
          <a:prstGeom prst="roundRect">
            <a:avLst>
              <a:gd name="adj" fmla="val 2078"/>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29" name="Text 9"/>
          <p:cNvSpPr txBox="1"/>
          <p:nvPr/>
        </p:nvSpPr>
        <p:spPr>
          <a:xfrm>
            <a:off x="8202168" y="161524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3"/>
                </a:solidFill>
              </a:defRPr>
            </a:lvl1pPr>
          </a:lstStyle>
          <a:p>
            <a:pPr/>
            <a:r>
              <a:t>Bugs de nombre</a:t>
            </a:r>
          </a:p>
        </p:txBody>
      </p:sp>
      <p:sp>
        <p:nvSpPr>
          <p:cNvPr id="130" name="Text 10"/>
          <p:cNvSpPr txBox="1"/>
          <p:nvPr/>
        </p:nvSpPr>
        <p:spPr>
          <a:xfrm>
            <a:off x="8202168" y="1929383"/>
            <a:ext cx="3118105" cy="234259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600">
                <a:solidFill>
                  <a:srgbClr val="334155"/>
                </a:solidFill>
              </a:defRPr>
            </a:pPr>
            <a:r>
              <a:t>Høst y Østvold, 2009 · ECOOP</a:t>
            </a:r>
          </a:p>
          <a:p>
            <a:pPr>
              <a:spcBef>
                <a:spcPts val="400"/>
              </a:spcBef>
              <a:defRPr sz="1600">
                <a:solidFill>
                  <a:srgbClr val="334155"/>
                </a:solidFill>
              </a:defRPr>
            </a:pPr>
            <a:r>
              <a:t>Proponen tratar un nombre que no corresponde con lo que hace el código como </a:t>
            </a:r>
            <a:r>
              <a:rPr b="1"/>
              <a:t>un bug más</a:t>
            </a:r>
            <a:r>
              <a:t>, que se puede detectar. Ejemplo real: un método llamado </a:t>
            </a:r>
            <a:r>
              <a:rPr sz="1500">
                <a:latin typeface="Menlo Regular"/>
                <a:ea typeface="Menlo Regular"/>
                <a:cs typeface="Menlo Regular"/>
                <a:sym typeface="Menlo Regular"/>
              </a:rPr>
              <a:t>containsField</a:t>
            </a:r>
            <a:r>
              <a:t> («¿contiene el campo?») en realidad </a:t>
            </a:r>
            <a:r>
              <a:rPr i="1"/>
              <a:t>buscaba y regresaba</a:t>
            </a:r>
            <a:r>
              <a:t> el campo; debió llamarse </a:t>
            </a:r>
            <a:r>
              <a:rPr sz="1500">
                <a:latin typeface="Menlo Regular"/>
                <a:ea typeface="Menlo Regular"/>
                <a:cs typeface="Menlo Regular"/>
                <a:sym typeface="Menlo Regular"/>
              </a:rPr>
              <a:t>findField</a:t>
            </a:r>
            <a:r>
              <a:t>.</a:t>
            </a:r>
          </a:p>
        </p:txBody>
      </p:sp>
      <p:sp>
        <p:nvSpPr>
          <p:cNvPr id="131" name="Shape 11"/>
          <p:cNvSpPr/>
          <p:nvPr/>
        </p:nvSpPr>
        <p:spPr>
          <a:xfrm>
            <a:off x="594359" y="5257800"/>
            <a:ext cx="10927082" cy="868681"/>
          </a:xfrm>
          <a:prstGeom prst="roundRect">
            <a:avLst>
              <a:gd name="adj" fmla="val 8421"/>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32" name="Text 12"/>
          <p:cNvSpPr txBox="1"/>
          <p:nvPr/>
        </p:nvSpPr>
        <p:spPr>
          <a:xfrm>
            <a:off x="822959" y="5598862"/>
            <a:ext cx="1046988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E293B"/>
                </a:solidFill>
              </a:defRPr>
            </a:lvl1pPr>
          </a:lstStyle>
          <a:p>
            <a:pPr/>
            <a:r>
              <a:t>El verbo es una promesa sobre lo que hace la función: si el código no la cumple, confunde a quien lo lee.</a:t>
            </a:r>
          </a:p>
        </p:txBody>
      </p:sp>
      <p:sp>
        <p:nvSpPr>
          <p:cNvPr id="133" name="Slide Number Placeholder 0"/>
          <p:cNvSpPr txBox="1"/>
          <p:nvPr>
            <p:ph type="sldNum" sz="quarter" idx="4294967295"/>
          </p:nvPr>
        </p:nvSpPr>
        <p:spPr>
          <a:xfrm>
            <a:off x="11569680" y="6473952"/>
            <a:ext cx="162073"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Text 0"/>
          <p:cNvSpPr txBox="1"/>
          <p:nvPr>
            <p:ph type="title"/>
          </p:nvPr>
        </p:nvSpPr>
        <p:spPr>
          <a:prstGeom prst="rect">
            <a:avLst/>
          </a:prstGeom>
        </p:spPr>
        <p:txBody>
          <a:bodyPr lIns="0" tIns="0" rIns="0" bIns="0" anchor="ctr"/>
          <a:lstStyle/>
          <a:p>
            <a:pPr/>
            <a:r>
              <a:t>Nombrar con estructura</a:t>
            </a:r>
          </a:p>
        </p:txBody>
      </p:sp>
      <p:sp>
        <p:nvSpPr>
          <p:cNvPr id="138" name="Text 0"/>
          <p:cNvSpPr txBox="1"/>
          <p:nvPr>
            <p:ph type="body" sz="quarter" idx="1"/>
          </p:nvPr>
        </p:nvSpPr>
        <p:spPr>
          <a:prstGeom prst="rect">
            <a:avLst/>
          </a:prstGeom>
        </p:spPr>
        <p:txBody>
          <a:bodyPr lIns="0" tIns="0" rIns="0" bIns="0" anchor="ctr"/>
          <a:lstStyle/>
          <a:p>
            <a:pPr/>
            <a:r>
              <a:t>¿Una plantilla para el nombre ayuda a pensar mejor qué hace la función?</a:t>
            </a:r>
          </a:p>
        </p:txBody>
      </p:sp>
      <p:sp>
        <p:nvSpPr>
          <p:cNvPr id="139" name="Shape 2"/>
          <p:cNvSpPr/>
          <p:nvPr/>
        </p:nvSpPr>
        <p:spPr>
          <a:xfrm>
            <a:off x="594359" y="1417319"/>
            <a:ext cx="3520442" cy="3886201"/>
          </a:xfrm>
          <a:prstGeom prst="roundRect">
            <a:avLst>
              <a:gd name="adj" fmla="val 2078"/>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40" name="Text 3"/>
          <p:cNvSpPr txBox="1"/>
          <p:nvPr/>
        </p:nvSpPr>
        <p:spPr>
          <a:xfrm>
            <a:off x="795527" y="161524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Nombrar es difícil</a:t>
            </a:r>
          </a:p>
        </p:txBody>
      </p:sp>
      <p:sp>
        <p:nvSpPr>
          <p:cNvPr id="141" name="Text 4"/>
          <p:cNvSpPr txBox="1"/>
          <p:nvPr/>
        </p:nvSpPr>
        <p:spPr>
          <a:xfrm>
            <a:off x="795527" y="1929383"/>
            <a:ext cx="3118105" cy="22947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500">
                <a:solidFill>
                  <a:srgbClr val="334155"/>
                </a:solidFill>
              </a:defRPr>
            </a:pPr>
            <a:r>
              <a:t>Feitelson et al., 2022 · IEEE TSE</a:t>
            </a:r>
          </a:p>
          <a:p>
            <a:pPr>
              <a:spcBef>
                <a:spcPts val="400"/>
              </a:spcBef>
              <a:defRPr sz="1500">
                <a:solidFill>
                  <a:srgbClr val="334155"/>
                </a:solidFill>
              </a:defRPr>
            </a:pPr>
            <a:r>
              <a:t>334 participantes. Ante la misma variable, sólo </a:t>
            </a:r>
            <a:r>
              <a:rPr b="1"/>
              <a:t>6.9%</a:t>
            </a:r>
            <a:r>
              <a:t> de las veces dos personas eligieron el mismo nombre. Propusieron 3 pasos: decidir qué conceptos incluir → elegir una palabra para cada uno → armar el nombre. Quienes usaron los pasos hicieron nombres que otros jueces prefirieron </a:t>
            </a:r>
            <a:r>
              <a:rPr b="1"/>
              <a:t>2 a 1</a:t>
            </a:r>
            <a:r>
              <a:t>.</a:t>
            </a:r>
          </a:p>
        </p:txBody>
      </p:sp>
      <p:sp>
        <p:nvSpPr>
          <p:cNvPr id="142" name="Shape 5"/>
          <p:cNvSpPr/>
          <p:nvPr/>
        </p:nvSpPr>
        <p:spPr>
          <a:xfrm>
            <a:off x="4297679" y="1417319"/>
            <a:ext cx="3520442" cy="3886201"/>
          </a:xfrm>
          <a:prstGeom prst="roundRect">
            <a:avLst>
              <a:gd name="adj" fmla="val 2078"/>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43" name="Text 6"/>
          <p:cNvSpPr txBox="1"/>
          <p:nvPr/>
        </p:nvSpPr>
        <p:spPr>
          <a:xfrm>
            <a:off x="4498847" y="161524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2"/>
                </a:solidFill>
              </a:defRPr>
            </a:lvl1pPr>
          </a:lstStyle>
          <a:p>
            <a:pPr/>
            <a:r>
              <a:t>El verbo es la norma</a:t>
            </a:r>
          </a:p>
        </p:txBody>
      </p:sp>
      <p:sp>
        <p:nvSpPr>
          <p:cNvPr id="144" name="Text 7"/>
          <p:cNvSpPr txBox="1"/>
          <p:nvPr/>
        </p:nvSpPr>
        <p:spPr>
          <a:xfrm>
            <a:off x="4498847" y="1929383"/>
            <a:ext cx="3118105" cy="16089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500">
                <a:solidFill>
                  <a:srgbClr val="334155"/>
                </a:solidFill>
              </a:defRPr>
            </a:pPr>
            <a:r>
              <a:t>AlSuhaibani et al., 2021 · ICSE</a:t>
            </a:r>
          </a:p>
          <a:p>
            <a:pPr>
              <a:spcBef>
                <a:spcPts val="400"/>
              </a:spcBef>
              <a:defRPr sz="1500">
                <a:solidFill>
                  <a:srgbClr val="334155"/>
                </a:solidFill>
              </a:defRPr>
            </a:pPr>
            <a:r>
              <a:t>Encuesta a más de 1,100 desarrolladores profesionales: </a:t>
            </a:r>
            <a:r>
              <a:rPr b="1"/>
              <a:t>84.6%</a:t>
            </a:r>
            <a:r>
              <a:t> está de acuerdo en que el nombre de un método debe contener un verbo que describa su comportamiento (12.7% en desacuerdo).</a:t>
            </a:r>
          </a:p>
        </p:txBody>
      </p:sp>
      <p:sp>
        <p:nvSpPr>
          <p:cNvPr id="145" name="Shape 8"/>
          <p:cNvSpPr/>
          <p:nvPr/>
        </p:nvSpPr>
        <p:spPr>
          <a:xfrm>
            <a:off x="8001000" y="1417319"/>
            <a:ext cx="3520441" cy="3886201"/>
          </a:xfrm>
          <a:prstGeom prst="roundRect">
            <a:avLst>
              <a:gd name="adj" fmla="val 2078"/>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46" name="Text 9"/>
          <p:cNvSpPr txBox="1"/>
          <p:nvPr/>
        </p:nvSpPr>
        <p:spPr>
          <a:xfrm>
            <a:off x="8202168" y="161524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3"/>
                </a:solidFill>
              </a:defRPr>
            </a:lvl1pPr>
          </a:lstStyle>
          <a:p>
            <a:pPr/>
            <a:r>
              <a:t>Lo que dicen los expertos</a:t>
            </a:r>
          </a:p>
        </p:txBody>
      </p:sp>
      <p:sp>
        <p:nvSpPr>
          <p:cNvPr id="147" name="Text 10"/>
          <p:cNvSpPr txBox="1"/>
          <p:nvPr/>
        </p:nvSpPr>
        <p:spPr>
          <a:xfrm>
            <a:off x="8202168" y="1929383"/>
            <a:ext cx="3118105" cy="18883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500">
                <a:solidFill>
                  <a:srgbClr val="334155"/>
                </a:solidFill>
              </a:defRPr>
            </a:pPr>
            <a:r>
              <a:t>Kernighan y Pike, 1999</a:t>
            </a:r>
            <a:r>
              <a:rPr b="0"/>
              <a:t>: usa nombres activos para funciones, un verbo seguido quizá de un sustantivo.</a:t>
            </a:r>
          </a:p>
          <a:p>
            <a:pPr>
              <a:spcBef>
                <a:spcPts val="400"/>
              </a:spcBef>
              <a:defRPr b="1" sz="1500">
                <a:solidFill>
                  <a:srgbClr val="334155"/>
                </a:solidFill>
              </a:defRPr>
            </a:pPr>
            <a:r>
              <a:t>McConnell, 2004</a:t>
            </a:r>
            <a:r>
              <a:rPr b="0"/>
              <a:t>: verbo fuerte + objeto; si cuesta nombrar la rutina, quizá su propósito no está claro.</a:t>
            </a:r>
          </a:p>
          <a:p>
            <a:pPr>
              <a:spcBef>
                <a:spcPts val="400"/>
              </a:spcBef>
              <a:defRPr i="1" sz="1500">
                <a:solidFill>
                  <a:srgbClr val="334155"/>
                </a:solidFill>
              </a:defRPr>
            </a:pPr>
            <a:r>
              <a:t>(Recomendaciones, no experimentos. Paráfrasis.)</a:t>
            </a:r>
          </a:p>
        </p:txBody>
      </p:sp>
      <p:sp>
        <p:nvSpPr>
          <p:cNvPr id="148" name="Text 11"/>
          <p:cNvSpPr txBox="1"/>
          <p:nvPr/>
        </p:nvSpPr>
        <p:spPr>
          <a:xfrm>
            <a:off x="594359" y="5841931"/>
            <a:ext cx="109728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475569"/>
                </a:solidFill>
              </a:defRPr>
            </a:pPr>
            <a:r>
              <a:t>Lo más cercano a nuestra regla: </a:t>
            </a:r>
            <a:r>
              <a:rPr b="1"/>
              <a:t>seguir una estructura para nombrar produjo mejores nombres</a:t>
            </a:r>
            <a:r>
              <a:t> (Feitelson et al.).</a:t>
            </a:r>
          </a:p>
        </p:txBody>
      </p:sp>
      <p:sp>
        <p:nvSpPr>
          <p:cNvPr id="149" name="Slide Number Placeholder 0"/>
          <p:cNvSpPr txBox="1"/>
          <p:nvPr>
            <p:ph type="sldNum" sz="quarter" idx="4294967295"/>
          </p:nvPr>
        </p:nvSpPr>
        <p:spPr>
          <a:xfrm>
            <a:off x="11569680" y="6473952"/>
            <a:ext cx="162073"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Text 0"/>
          <p:cNvSpPr txBox="1"/>
          <p:nvPr>
            <p:ph type="title"/>
          </p:nvPr>
        </p:nvSpPr>
        <p:spPr>
          <a:prstGeom prst="rect">
            <a:avLst/>
          </a:prstGeom>
        </p:spPr>
        <p:txBody>
          <a:bodyPr lIns="0" tIns="0" rIns="0" bIns="0" anchor="ctr"/>
          <a:lstStyle/>
          <a:p>
            <a:pPr/>
            <a:r>
              <a:t>¿Qué tan sólida es la evidencia?</a:t>
            </a:r>
          </a:p>
        </p:txBody>
      </p:sp>
      <p:sp>
        <p:nvSpPr>
          <p:cNvPr id="154" name="Text 0"/>
          <p:cNvSpPr txBox="1"/>
          <p:nvPr>
            <p:ph type="body" sz="quarter" idx="1"/>
          </p:nvPr>
        </p:nvSpPr>
        <p:spPr>
          <a:prstGeom prst="rect">
            <a:avLst/>
          </a:prstGeom>
        </p:spPr>
        <p:txBody>
          <a:bodyPr lIns="0" tIns="0" rIns="0" bIns="0" anchor="ctr"/>
          <a:lstStyle/>
          <a:p>
            <a:pPr/>
            <a:r>
              <a:t>Para decidir cuánto peso darle a la idea.</a:t>
            </a:r>
          </a:p>
        </p:txBody>
      </p:sp>
      <p:graphicFrame>
        <p:nvGraphicFramePr>
          <p:cNvPr id="155" name="Table 0"/>
          <p:cNvGraphicFramePr/>
          <p:nvPr/>
        </p:nvGraphicFramePr>
        <p:xfrm>
          <a:off x="594359" y="1417319"/>
          <a:ext cx="10927082" cy="358445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120640"/>
                <a:gridCol w="3977640"/>
                <a:gridCol w="1828800"/>
              </a:tblGrid>
              <a:tr h="512064">
                <a:tc>
                  <a:txBody>
                    <a:bodyPr/>
                    <a:lstStyle/>
                    <a:p>
                      <a:pPr algn="l">
                        <a:defRPr sz="1800">
                          <a:solidFill>
                            <a:srgbClr val="000000"/>
                          </a:solidFill>
                        </a:defRPr>
                      </a:pPr>
                      <a:r>
                        <a:rPr b="1" sz="1300">
                          <a:solidFill>
                            <a:srgbClr val="FFFFFF"/>
                          </a:solidFill>
                        </a:rPr>
                        <a:t>Afirmación</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122238"/>
                    </a:solidFill>
                  </a:tcPr>
                </a:tc>
                <a:tc>
                  <a:txBody>
                    <a:bodyPr/>
                    <a:lstStyle/>
                    <a:p>
                      <a:pPr algn="l">
                        <a:defRPr sz="1800">
                          <a:solidFill>
                            <a:srgbClr val="000000"/>
                          </a:solidFill>
                        </a:defRPr>
                      </a:pPr>
                      <a:r>
                        <a:rPr b="1" sz="1300">
                          <a:solidFill>
                            <a:srgbClr val="FFFFFF"/>
                          </a:solidFill>
                        </a:rPr>
                        <a:t>Tipo de evidencia</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122238"/>
                    </a:solidFill>
                  </a:tcPr>
                </a:tc>
                <a:tc>
                  <a:txBody>
                    <a:bodyPr/>
                    <a:lstStyle/>
                    <a:p>
                      <a:pPr algn="l">
                        <a:defRPr sz="1800">
                          <a:solidFill>
                            <a:srgbClr val="000000"/>
                          </a:solidFill>
                        </a:defRPr>
                      </a:pPr>
                      <a:r>
                        <a:rPr b="1" sz="1300">
                          <a:solidFill>
                            <a:srgbClr val="FFFFFF"/>
                          </a:solidFill>
                        </a:rPr>
                        <a:t>Solidez</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122238"/>
                    </a:solidFill>
                  </a:tcPr>
                </a:tc>
              </a:tr>
              <a:tr h="512064">
                <a:tc>
                  <a:txBody>
                    <a:bodyPr/>
                    <a:lstStyle/>
                    <a:p>
                      <a:pPr algn="l">
                        <a:defRPr sz="1800">
                          <a:solidFill>
                            <a:srgbClr val="000000"/>
                          </a:solidFill>
                        </a:defRPr>
                      </a:pPr>
                      <a:r>
                        <a:rPr sz="1300">
                          <a:solidFill>
                            <a:srgbClr val="334155"/>
                          </a:solidFill>
                        </a:rPr>
                        <a:t>El idioma determina lo que puedes pensar (Whorf fuerte)</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300">
                          <a:solidFill>
                            <a:srgbClr val="334155"/>
                          </a:solidFill>
                        </a:rPr>
                        <a:t>Contraejemplos; consenso en lingüística</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b="1" sz="1300">
                          <a:solidFill>
                            <a:schemeClr val="accent4"/>
                          </a:solidFill>
                        </a:rPr>
                        <a:t>✗ Descartada</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r>
              <a:tr h="512064">
                <a:tc>
                  <a:txBody>
                    <a:bodyPr/>
                    <a:lstStyle/>
                    <a:p>
                      <a:pPr algn="l">
                        <a:defRPr sz="1800">
                          <a:solidFill>
                            <a:srgbClr val="000000"/>
                          </a:solidFill>
                        </a:defRPr>
                      </a:pPr>
                      <a:r>
                        <a:rPr sz="1300">
                          <a:solidFill>
                            <a:srgbClr val="334155"/>
                          </a:solidFill>
                        </a:rPr>
                        <a:t>El idioma influye en percepción y memoria (Whorf débil)</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300">
                          <a:solidFill>
                            <a:srgbClr val="334155"/>
                          </a:solidFill>
                        </a:rPr>
                        <a:t>Experimentos controlados; algunos no se replican</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b="1" sz="1300">
                          <a:solidFill>
                            <a:schemeClr val="accent6"/>
                          </a:solidFill>
                        </a:rPr>
                        <a:t>◐ Moderada</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r>
              <a:tr h="512064">
                <a:tc>
                  <a:txBody>
                    <a:bodyPr/>
                    <a:lstStyle/>
                    <a:p>
                      <a:pPr algn="l">
                        <a:defRPr sz="1800">
                          <a:solidFill>
                            <a:srgbClr val="000000"/>
                          </a:solidFill>
                        </a:defRPr>
                      </a:pPr>
                      <a:r>
                        <a:rPr sz="1300">
                          <a:solidFill>
                            <a:srgbClr val="334155"/>
                          </a:solidFill>
                        </a:rPr>
                        <a:t>Los nombres afectan qué tan rápido y bien se entiende el código</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300">
                          <a:solidFill>
                            <a:srgbClr val="334155"/>
                          </a:solidFill>
                        </a:rPr>
                        <a:t>Experimentos controlados con programadores</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b="1" sz="1300">
                          <a:solidFill>
                            <a:schemeClr val="accent2"/>
                          </a:solidFill>
                        </a:rPr>
                        <a:t>● Sólida</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r>
              <a:tr h="512064">
                <a:tc>
                  <a:txBody>
                    <a:bodyPr/>
                    <a:lstStyle/>
                    <a:p>
                      <a:pPr algn="l">
                        <a:defRPr sz="1800">
                          <a:solidFill>
                            <a:srgbClr val="000000"/>
                          </a:solidFill>
                        </a:defRPr>
                      </a:pPr>
                      <a:r>
                        <a:rPr sz="1300">
                          <a:solidFill>
                            <a:srgbClr val="334155"/>
                          </a:solidFill>
                        </a:rPr>
                        <a:t>Seguir una estructura al nombrar produce mejores nombres</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300">
                          <a:solidFill>
                            <a:srgbClr val="334155"/>
                          </a:solidFill>
                        </a:rPr>
                        <a:t>Un experimento (Feitelson et al., 2022)</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b="1" sz="1300">
                          <a:solidFill>
                            <a:schemeClr val="accent6"/>
                          </a:solidFill>
                        </a:rPr>
                        <a:t>◐ Prometedora</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r>
              <a:tr h="512064">
                <a:tc>
                  <a:txBody>
                    <a:bodyPr/>
                    <a:lstStyle/>
                    <a:p>
                      <a:pPr algn="l">
                        <a:defRPr sz="1800">
                          <a:solidFill>
                            <a:srgbClr val="000000"/>
                          </a:solidFill>
                        </a:defRPr>
                      </a:pPr>
                      <a:r>
                        <a:rPr sz="1300">
                          <a:solidFill>
                            <a:srgbClr val="334155"/>
                          </a:solidFill>
                        </a:rPr>
                        <a:t>«Verbo + complemento» es la convención aceptada</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300">
                          <a:solidFill>
                            <a:srgbClr val="334155"/>
                          </a:solidFill>
                        </a:rPr>
                        <a:t>Encuesta y guías de estilo: opinión, no causa</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b="1" sz="1300">
                          <a:solidFill>
                            <a:schemeClr val="accent6"/>
                          </a:solidFill>
                        </a:rPr>
                        <a:t>◐ Consenso</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r>
              <a:tr h="512064">
                <a:tc>
                  <a:txBody>
                    <a:bodyPr/>
                    <a:lstStyle/>
                    <a:p>
                      <a:pPr algn="l">
                        <a:defRPr sz="1800">
                          <a:solidFill>
                            <a:srgbClr val="000000"/>
                          </a:solidFill>
                        </a:defRPr>
                      </a:pPr>
                      <a:r>
                        <a:rPr sz="1300">
                          <a:solidFill>
                            <a:srgbClr val="334155"/>
                          </a:solidFill>
                        </a:rPr>
                        <a:t>Nombrar con verbo + complemento mejora el pensamiento algorítmico de estudiantes</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300">
                          <a:solidFill>
                            <a:srgbClr val="334155"/>
                          </a:solidFill>
                        </a:rPr>
                        <a:t>No encontré un estudio que lo pruebe directamente</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b="1" sz="1300">
                          <a:solidFill>
                            <a:srgbClr val="475569"/>
                          </a:solidFill>
                        </a:rPr>
                        <a:t>○ Hipótesis</a:t>
                      </a:r>
                    </a:p>
                  </a:txBody>
                  <a:tcPr marL="54864" marR="54864" marT="54864" marB="54864"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r>
            </a:tbl>
          </a:graphicData>
        </a:graphic>
      </p:graphicFrame>
      <p:sp>
        <p:nvSpPr>
          <p:cNvPr id="156" name="Shape 2"/>
          <p:cNvSpPr/>
          <p:nvPr/>
        </p:nvSpPr>
        <p:spPr>
          <a:xfrm>
            <a:off x="594359" y="5212079"/>
            <a:ext cx="10927082" cy="868681"/>
          </a:xfrm>
          <a:prstGeom prst="roundRect">
            <a:avLst>
              <a:gd name="adj" fmla="val 8421"/>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57" name="Text 3"/>
          <p:cNvSpPr txBox="1"/>
          <p:nvPr/>
        </p:nvSpPr>
        <p:spPr>
          <a:xfrm>
            <a:off x="822959" y="5553142"/>
            <a:ext cx="1046988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E293B"/>
                </a:solidFill>
              </a:defRPr>
            </a:lvl1pPr>
          </a:lstStyle>
          <a:p>
            <a:pPr/>
            <a:r>
              <a:t>Conclusión: es una analogía razonable, no un resultado demostrado. La usamos como guía para pensar, no como ley.</a:t>
            </a:r>
          </a:p>
        </p:txBody>
      </p:sp>
      <p:sp>
        <p:nvSpPr>
          <p:cNvPr id="158" name="Slide Number Placeholder 0"/>
          <p:cNvSpPr txBox="1"/>
          <p:nvPr>
            <p:ph type="sldNum" sz="quarter" idx="4294967295"/>
          </p:nvPr>
        </p:nvSpPr>
        <p:spPr>
          <a:xfrm>
            <a:off x="11569680" y="6473952"/>
            <a:ext cx="162073"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Text 0"/>
          <p:cNvSpPr txBox="1"/>
          <p:nvPr>
            <p:ph type="title"/>
          </p:nvPr>
        </p:nvSpPr>
        <p:spPr>
          <a:prstGeom prst="rect">
            <a:avLst/>
          </a:prstGeom>
        </p:spPr>
        <p:txBody>
          <a:bodyPr lIns="0" tIns="0" rIns="0" bIns="0" anchor="ctr"/>
          <a:lstStyle/>
          <a:p>
            <a:pPr/>
            <a:r>
              <a:t>A partir de hoy: verbo en infinitivo + complemento</a:t>
            </a:r>
          </a:p>
        </p:txBody>
      </p:sp>
      <p:sp>
        <p:nvSpPr>
          <p:cNvPr id="163" name="Text 0"/>
          <p:cNvSpPr txBox="1"/>
          <p:nvPr>
            <p:ph type="body" sz="quarter" idx="1"/>
          </p:nvPr>
        </p:nvSpPr>
        <p:spPr>
          <a:prstGeom prst="rect">
            <a:avLst/>
          </a:prstGeom>
        </p:spPr>
        <p:txBody>
          <a:bodyPr lIns="0" tIns="0" rIns="0" bIns="0" anchor="ctr"/>
          <a:lstStyle/>
          <a:p>
            <a:pPr/>
            <a:r>
              <a:t>Aplica a todas las funciones del curso. </a:t>
            </a:r>
            <a:r>
              <a:rPr b="1"/>
              <a:t>Única excepción:</a:t>
            </a:r>
            <a:r>
              <a:t> las que regresan True / False se nombran </a:t>
            </a:r>
            <a:r>
              <a:rPr sz="1300">
                <a:latin typeface="Menlo Regular"/>
                <a:ea typeface="Menlo Regular"/>
                <a:cs typeface="Menlo Regular"/>
                <a:sym typeface="Menlo Regular"/>
              </a:rPr>
              <a:t>es_</a:t>
            </a:r>
            <a:r>
              <a:t> + complemento.</a:t>
            </a:r>
          </a:p>
        </p:txBody>
      </p:sp>
      <p:sp>
        <p:nvSpPr>
          <p:cNvPr id="164" name="Shape 2"/>
          <p:cNvSpPr/>
          <p:nvPr/>
        </p:nvSpPr>
        <p:spPr>
          <a:xfrm>
            <a:off x="594359" y="1417319"/>
            <a:ext cx="10927082" cy="2240281"/>
          </a:xfrm>
          <a:prstGeom prst="roundRect">
            <a:avLst>
              <a:gd name="adj" fmla="val 3265"/>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65" name="Shape 3"/>
          <p:cNvSpPr/>
          <p:nvPr/>
        </p:nvSpPr>
        <p:spPr>
          <a:xfrm>
            <a:off x="4033265" y="1783079"/>
            <a:ext cx="3211069" cy="1"/>
          </a:xfrm>
          <a:prstGeom prst="line">
            <a:avLst/>
          </a:prstGeom>
          <a:ln w="12700">
            <a:solidFill>
              <a:srgbClr val="64748B"/>
            </a:solidFill>
          </a:ln>
        </p:spPr>
        <p:txBody>
          <a:bodyPr lIns="45719" rIns="45719"/>
          <a:lstStyle/>
          <a:p>
            <a:pPr/>
          </a:p>
        </p:txBody>
      </p:sp>
      <p:sp>
        <p:nvSpPr>
          <p:cNvPr id="166" name="Text 4"/>
          <p:cNvSpPr txBox="1"/>
          <p:nvPr/>
        </p:nvSpPr>
        <p:spPr>
          <a:xfrm>
            <a:off x="4033265" y="1540055"/>
            <a:ext cx="321106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200">
                <a:solidFill>
                  <a:srgbClr val="CBD5E1"/>
                </a:solidFill>
              </a:defRPr>
            </a:lvl1pPr>
          </a:lstStyle>
          <a:p>
            <a:pPr/>
            <a:r>
              <a:t>complemento</a:t>
            </a:r>
          </a:p>
        </p:txBody>
      </p:sp>
      <p:sp>
        <p:nvSpPr>
          <p:cNvPr id="167" name="Text 5"/>
          <p:cNvSpPr txBox="1"/>
          <p:nvPr/>
        </p:nvSpPr>
        <p:spPr>
          <a:xfrm>
            <a:off x="1051560" y="1926590"/>
            <a:ext cx="1005840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000">
                <a:solidFill>
                  <a:srgbClr val="569CD6"/>
                </a:solidFill>
                <a:latin typeface="Menlo Regular"/>
                <a:ea typeface="Menlo Regular"/>
                <a:cs typeface="Menlo Regular"/>
                <a:sym typeface="Menlo Regular"/>
              </a:defRPr>
            </a:pPr>
            <a:r>
              <a:t>def </a:t>
            </a:r>
            <a:r>
              <a:rPr>
                <a:solidFill>
                  <a:srgbClr val="DCDCAA"/>
                </a:solidFill>
              </a:rPr>
              <a:t>calcular</a:t>
            </a:r>
            <a:r>
              <a:rPr>
                <a:solidFill>
                  <a:srgbClr val="D4D4D4"/>
                </a:solidFill>
              </a:rPr>
              <a:t>_</a:t>
            </a:r>
            <a:r>
              <a:rPr>
                <a:solidFill>
                  <a:srgbClr val="DCDCAA"/>
                </a:solidFill>
              </a:rPr>
              <a:t>promedio</a:t>
            </a:r>
            <a:r>
              <a:rPr>
                <a:solidFill>
                  <a:srgbClr val="D4D4D4"/>
                </a:solidFill>
              </a:rPr>
              <a:t>_</a:t>
            </a:r>
            <a:r>
              <a:rPr>
                <a:solidFill>
                  <a:srgbClr val="DCDCAA"/>
                </a:solidFill>
              </a:rPr>
              <a:t>goles</a:t>
            </a:r>
            <a:r>
              <a:rPr>
                <a:solidFill>
                  <a:srgbClr val="9CDCFE"/>
                </a:solidFill>
              </a:rPr>
              <a:t>(lista_goles):</a:t>
            </a:r>
          </a:p>
        </p:txBody>
      </p:sp>
      <p:sp>
        <p:nvSpPr>
          <p:cNvPr id="168" name="Shape 6"/>
          <p:cNvSpPr/>
          <p:nvPr/>
        </p:nvSpPr>
        <p:spPr>
          <a:xfrm>
            <a:off x="1969007" y="2532888"/>
            <a:ext cx="1834897" cy="64009"/>
          </a:xfrm>
          <a:prstGeom prst="rect">
            <a:avLst/>
          </a:prstGeom>
          <a:solidFill>
            <a:srgbClr val="60A5FA"/>
          </a:solidFill>
          <a:ln w="12700">
            <a:solidFill>
              <a:srgbClr val="60A5FA"/>
            </a:solidFill>
          </a:ln>
        </p:spPr>
        <p:txBody>
          <a:bodyPr lIns="45719" rIns="45719"/>
          <a:lstStyle/>
          <a:p>
            <a:pPr/>
          </a:p>
        </p:txBody>
      </p:sp>
      <p:sp>
        <p:nvSpPr>
          <p:cNvPr id="169" name="Text 7"/>
          <p:cNvSpPr txBox="1"/>
          <p:nvPr/>
        </p:nvSpPr>
        <p:spPr>
          <a:xfrm>
            <a:off x="1694688" y="2697479"/>
            <a:ext cx="2383536"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400">
                <a:solidFill>
                  <a:srgbClr val="93C5FD"/>
                </a:solidFill>
              </a:defRPr>
            </a:pPr>
            <a:r>
              <a:t>Verbo en infinitivo</a:t>
            </a:r>
          </a:p>
          <a:p>
            <a:pPr algn="ctr">
              <a:defRPr sz="1400">
                <a:solidFill>
                  <a:srgbClr val="E2E8F0"/>
                </a:solidFill>
              </a:defRPr>
            </a:pPr>
            <a:r>
              <a:t>¿qué hace?</a:t>
            </a:r>
          </a:p>
        </p:txBody>
      </p:sp>
      <p:sp>
        <p:nvSpPr>
          <p:cNvPr id="170" name="Shape 8"/>
          <p:cNvSpPr/>
          <p:nvPr/>
        </p:nvSpPr>
        <p:spPr>
          <a:xfrm>
            <a:off x="4033265" y="2532888"/>
            <a:ext cx="1834897" cy="64009"/>
          </a:xfrm>
          <a:prstGeom prst="rect">
            <a:avLst/>
          </a:prstGeom>
          <a:solidFill>
            <a:srgbClr val="4ADE80"/>
          </a:solidFill>
          <a:ln w="12700">
            <a:solidFill>
              <a:srgbClr val="4ADE80"/>
            </a:solidFill>
          </a:ln>
        </p:spPr>
        <p:txBody>
          <a:bodyPr lIns="45719" rIns="45719"/>
          <a:lstStyle/>
          <a:p>
            <a:pPr/>
          </a:p>
        </p:txBody>
      </p:sp>
      <p:sp>
        <p:nvSpPr>
          <p:cNvPr id="171" name="Text 9"/>
          <p:cNvSpPr txBox="1"/>
          <p:nvPr/>
        </p:nvSpPr>
        <p:spPr>
          <a:xfrm>
            <a:off x="3758946" y="2697479"/>
            <a:ext cx="2383537"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400">
                <a:solidFill>
                  <a:srgbClr val="86EFAC"/>
                </a:solidFill>
              </a:defRPr>
            </a:pPr>
            <a:r>
              <a:t>Objeto</a:t>
            </a:r>
          </a:p>
          <a:p>
            <a:pPr algn="ctr">
              <a:defRPr sz="1400">
                <a:solidFill>
                  <a:srgbClr val="E2E8F0"/>
                </a:solidFill>
              </a:defRPr>
            </a:pPr>
            <a:r>
              <a:t>¿qué obtiene?</a:t>
            </a:r>
          </a:p>
        </p:txBody>
      </p:sp>
      <p:sp>
        <p:nvSpPr>
          <p:cNvPr id="172" name="Shape 10"/>
          <p:cNvSpPr/>
          <p:nvPr/>
        </p:nvSpPr>
        <p:spPr>
          <a:xfrm>
            <a:off x="6097523" y="2532888"/>
            <a:ext cx="1146811" cy="64009"/>
          </a:xfrm>
          <a:prstGeom prst="rect">
            <a:avLst/>
          </a:prstGeom>
          <a:solidFill>
            <a:srgbClr val="FBBF24"/>
          </a:solidFill>
          <a:ln w="12700">
            <a:solidFill>
              <a:srgbClr val="FBBF24"/>
            </a:solidFill>
          </a:ln>
        </p:spPr>
        <p:txBody>
          <a:bodyPr lIns="45719" rIns="45719"/>
          <a:lstStyle/>
          <a:p>
            <a:pPr/>
          </a:p>
        </p:txBody>
      </p:sp>
      <p:sp>
        <p:nvSpPr>
          <p:cNvPr id="173" name="Text 11"/>
          <p:cNvSpPr txBox="1"/>
          <p:nvPr/>
        </p:nvSpPr>
        <p:spPr>
          <a:xfrm>
            <a:off x="5823203" y="2697479"/>
            <a:ext cx="169545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400">
                <a:solidFill>
                  <a:srgbClr val="FDE68A"/>
                </a:solidFill>
              </a:defRPr>
            </a:pPr>
            <a:r>
              <a:t>Contexto</a:t>
            </a:r>
          </a:p>
          <a:p>
            <a:pPr algn="ctr">
              <a:defRPr sz="1400">
                <a:solidFill>
                  <a:srgbClr val="E2E8F0"/>
                </a:solidFill>
              </a:defRPr>
            </a:pPr>
            <a:r>
              <a:t>¿de qué?</a:t>
            </a:r>
          </a:p>
        </p:txBody>
      </p:sp>
      <p:sp>
        <p:nvSpPr>
          <p:cNvPr id="174" name="Shape 12"/>
          <p:cNvSpPr/>
          <p:nvPr/>
        </p:nvSpPr>
        <p:spPr>
          <a:xfrm>
            <a:off x="7336079" y="2532888"/>
            <a:ext cx="3119324" cy="64009"/>
          </a:xfrm>
          <a:prstGeom prst="rect">
            <a:avLst/>
          </a:prstGeom>
          <a:solidFill>
            <a:srgbClr val="94A3B8"/>
          </a:solidFill>
          <a:ln w="12700">
            <a:solidFill>
              <a:srgbClr val="94A3B8"/>
            </a:solidFill>
          </a:ln>
        </p:spPr>
        <p:txBody>
          <a:bodyPr lIns="45719" rIns="45719"/>
          <a:lstStyle/>
          <a:p>
            <a:pPr/>
          </a:p>
        </p:txBody>
      </p:sp>
      <p:sp>
        <p:nvSpPr>
          <p:cNvPr id="175" name="Text 13"/>
          <p:cNvSpPr txBox="1"/>
          <p:nvPr/>
        </p:nvSpPr>
        <p:spPr>
          <a:xfrm>
            <a:off x="7061758" y="2697479"/>
            <a:ext cx="3667964"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400">
                <a:solidFill>
                  <a:srgbClr val="CBD5E1"/>
                </a:solidFill>
              </a:defRPr>
            </a:pPr>
            <a:r>
              <a:t>Parámetros</a:t>
            </a:r>
          </a:p>
          <a:p>
            <a:pPr algn="ctr">
              <a:defRPr sz="1400">
                <a:solidFill>
                  <a:srgbClr val="E2E8F0"/>
                </a:solidFill>
              </a:defRPr>
            </a:pPr>
            <a:r>
              <a:t>¿con qué datos?</a:t>
            </a:r>
          </a:p>
        </p:txBody>
      </p:sp>
      <p:sp>
        <p:nvSpPr>
          <p:cNvPr id="176" name="Shape 14"/>
          <p:cNvSpPr/>
          <p:nvPr/>
        </p:nvSpPr>
        <p:spPr>
          <a:xfrm>
            <a:off x="594359" y="3840479"/>
            <a:ext cx="3520442" cy="2240281"/>
          </a:xfrm>
          <a:prstGeom prst="roundRect">
            <a:avLst>
              <a:gd name="adj" fmla="val 326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77" name="Text 15"/>
          <p:cNvSpPr txBox="1"/>
          <p:nvPr/>
        </p:nvSpPr>
        <p:spPr>
          <a:xfrm>
            <a:off x="795527" y="403840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Por qué</a:t>
            </a:r>
          </a:p>
        </p:txBody>
      </p:sp>
      <p:sp>
        <p:nvSpPr>
          <p:cNvPr id="178" name="Text 16"/>
          <p:cNvSpPr txBox="1"/>
          <p:nvPr/>
        </p:nvSpPr>
        <p:spPr>
          <a:xfrm>
            <a:off x="795527" y="4352544"/>
            <a:ext cx="3118105" cy="8723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500">
                <a:solidFill>
                  <a:srgbClr val="334155"/>
                </a:solidFill>
              </a:defRPr>
            </a:pPr>
            <a:r>
              <a:t>El verbo te obliga a responder </a:t>
            </a:r>
            <a:r>
              <a:rPr b="1"/>
              <a:t>¿qué hace?</a:t>
            </a:r>
            <a:r>
              <a:t> antes de pensar </a:t>
            </a:r>
            <a:r>
              <a:rPr b="1"/>
              <a:t>¿cómo lo hace?</a:t>
            </a:r>
            <a:r>
              <a:t> Si no encuentras el verbo, todavía no entiendes el problema.</a:t>
            </a:r>
          </a:p>
        </p:txBody>
      </p:sp>
      <p:sp>
        <p:nvSpPr>
          <p:cNvPr id="179" name="Shape 17"/>
          <p:cNvSpPr/>
          <p:nvPr/>
        </p:nvSpPr>
        <p:spPr>
          <a:xfrm>
            <a:off x="4297679" y="3840479"/>
            <a:ext cx="3520442" cy="2240281"/>
          </a:xfrm>
          <a:prstGeom prst="roundRect">
            <a:avLst>
              <a:gd name="adj" fmla="val 326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80" name="Text 18"/>
          <p:cNvSpPr txBox="1"/>
          <p:nvPr/>
        </p:nvSpPr>
        <p:spPr>
          <a:xfrm>
            <a:off x="4498847" y="403840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2"/>
                </a:solidFill>
              </a:defRPr>
            </a:lvl1pPr>
          </a:lstStyle>
          <a:p>
            <a:pPr/>
            <a:r>
              <a:t>Infinitivo</a:t>
            </a:r>
          </a:p>
        </p:txBody>
      </p:sp>
      <p:sp>
        <p:nvSpPr>
          <p:cNvPr id="181" name="Text 19"/>
          <p:cNvSpPr txBox="1"/>
          <p:nvPr/>
        </p:nvSpPr>
        <p:spPr>
          <a:xfrm>
            <a:off x="4498847" y="4352544"/>
            <a:ext cx="3118105" cy="9901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500">
                <a:solidFill>
                  <a:srgbClr val="334155"/>
                </a:solidFill>
              </a:defRPr>
            </a:pPr>
            <a:r>
              <a:t>Termina en </a:t>
            </a:r>
            <a:r>
              <a:rPr b="1"/>
              <a:t>-ar, -er, -ir</a:t>
            </a:r>
            <a:r>
              <a:t>: </a:t>
            </a:r>
            <a:r>
              <a:rPr sz="1400">
                <a:latin typeface="Menlo Regular"/>
                <a:ea typeface="Menlo Regular"/>
                <a:cs typeface="Menlo Regular"/>
                <a:sym typeface="Menlo Regular"/>
              </a:rPr>
              <a:t>contar</a:t>
            </a:r>
            <a:r>
              <a:t>, </a:t>
            </a:r>
            <a:r>
              <a:rPr sz="1400">
                <a:latin typeface="Menlo Regular"/>
                <a:ea typeface="Menlo Regular"/>
                <a:cs typeface="Menlo Regular"/>
                <a:sym typeface="Menlo Regular"/>
              </a:rPr>
              <a:t>obtener</a:t>
            </a:r>
            <a:r>
              <a:t>, </a:t>
            </a:r>
            <a:r>
              <a:rPr sz="1400">
                <a:latin typeface="Menlo Regular"/>
                <a:ea typeface="Menlo Regular"/>
                <a:cs typeface="Menlo Regular"/>
                <a:sym typeface="Menlo Regular"/>
              </a:rPr>
              <a:t>convertir</a:t>
            </a:r>
            <a:r>
              <a:t>.</a:t>
            </a:r>
          </a:p>
          <a:p>
            <a:pPr>
              <a:spcBef>
                <a:spcPts val="400"/>
              </a:spcBef>
              <a:defRPr sz="1500">
                <a:solidFill>
                  <a:srgbClr val="334155"/>
                </a:solidFill>
              </a:defRPr>
            </a:pPr>
            <a:r>
              <a:t>No </a:t>
            </a:r>
            <a:r>
              <a:rPr sz="1400">
                <a:latin typeface="Menlo Regular"/>
                <a:ea typeface="Menlo Regular"/>
                <a:cs typeface="Menlo Regular"/>
                <a:sym typeface="Menlo Regular"/>
              </a:rPr>
              <a:t>cuenta</a:t>
            </a:r>
            <a:r>
              <a:t> (conjugado) ni </a:t>
            </a:r>
            <a:r>
              <a:rPr sz="1400">
                <a:latin typeface="Menlo Regular"/>
                <a:ea typeface="Menlo Regular"/>
                <a:cs typeface="Menlo Regular"/>
                <a:sym typeface="Menlo Regular"/>
              </a:rPr>
              <a:t>contando</a:t>
            </a:r>
            <a:r>
              <a:t> (gerundio).</a:t>
            </a:r>
          </a:p>
        </p:txBody>
      </p:sp>
      <p:sp>
        <p:nvSpPr>
          <p:cNvPr id="182" name="Shape 20"/>
          <p:cNvSpPr/>
          <p:nvPr/>
        </p:nvSpPr>
        <p:spPr>
          <a:xfrm>
            <a:off x="8001000" y="3840479"/>
            <a:ext cx="3520441" cy="2240281"/>
          </a:xfrm>
          <a:prstGeom prst="roundRect">
            <a:avLst>
              <a:gd name="adj" fmla="val 326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83" name="Text 21"/>
          <p:cNvSpPr txBox="1"/>
          <p:nvPr/>
        </p:nvSpPr>
        <p:spPr>
          <a:xfrm>
            <a:off x="8202168" y="403840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3"/>
                </a:solidFill>
              </a:defRPr>
            </a:lvl1pPr>
          </a:lstStyle>
          <a:p>
            <a:pPr/>
            <a:r>
              <a:t>Complemento = objeto + contexto</a:t>
            </a:r>
          </a:p>
        </p:txBody>
      </p:sp>
      <p:sp>
        <p:nvSpPr>
          <p:cNvPr id="184" name="Text 22"/>
          <p:cNvSpPr txBox="1"/>
          <p:nvPr/>
        </p:nvSpPr>
        <p:spPr>
          <a:xfrm>
            <a:off x="8202168" y="4352544"/>
            <a:ext cx="3118105" cy="14981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b="1" sz="1500">
                <a:solidFill>
                  <a:srgbClr val="334155"/>
                </a:solidFill>
              </a:defRPr>
            </a:pPr>
            <a:r>
              <a:t>Objeto</a:t>
            </a:r>
            <a:r>
              <a:rPr b="0"/>
              <a:t> (obligatorio): lo que obtiene, </a:t>
            </a:r>
            <a:r>
              <a:rPr b="0" sz="1400">
                <a:latin typeface="Menlo Regular"/>
                <a:ea typeface="Menlo Regular"/>
                <a:cs typeface="Menlo Regular"/>
                <a:sym typeface="Menlo Regular"/>
              </a:rPr>
              <a:t>promedio</a:t>
            </a:r>
            <a:r>
              <a:rPr b="0"/>
              <a:t>.</a:t>
            </a:r>
          </a:p>
          <a:p>
            <a:pPr>
              <a:spcBef>
                <a:spcPts val="400"/>
              </a:spcBef>
              <a:defRPr b="1" sz="1500">
                <a:solidFill>
                  <a:srgbClr val="334155"/>
                </a:solidFill>
              </a:defRPr>
            </a:pPr>
            <a:r>
              <a:t>Contexto</a:t>
            </a:r>
            <a:r>
              <a:rPr b="0"/>
              <a:t> (si hace falta): ¿de qué?, </a:t>
            </a:r>
            <a:r>
              <a:rPr b="0" sz="1400">
                <a:latin typeface="Menlo Regular"/>
                <a:ea typeface="Menlo Regular"/>
                <a:cs typeface="Menlo Regular"/>
                <a:sym typeface="Menlo Regular"/>
              </a:rPr>
              <a:t>goles</a:t>
            </a:r>
            <a:r>
              <a:rPr b="0"/>
              <a:t>.</a:t>
            </a:r>
          </a:p>
          <a:p>
            <a:pPr>
              <a:spcBef>
                <a:spcPts val="400"/>
              </a:spcBef>
              <a:defRPr sz="1500">
                <a:solidFill>
                  <a:srgbClr val="334155"/>
                </a:solidFill>
              </a:defRPr>
            </a:pPr>
            <a:r>
              <a:t>En </a:t>
            </a:r>
            <a:r>
              <a:rPr sz="1400">
                <a:latin typeface="Menlo Regular"/>
                <a:ea typeface="Menlo Regular"/>
                <a:cs typeface="Menlo Regular"/>
                <a:sym typeface="Menlo Regular"/>
              </a:rPr>
              <a:t>contar_victorias</a:t>
            </a:r>
            <a:r>
              <a:t> el contexto sobra.</a:t>
            </a:r>
          </a:p>
        </p:txBody>
      </p:sp>
      <p:sp>
        <p:nvSpPr>
          <p:cNvPr id="185" name="Slide Number Placeholder 0"/>
          <p:cNvSpPr txBox="1"/>
          <p:nvPr>
            <p:ph type="sldNum" sz="quarter" idx="4294967295"/>
          </p:nvPr>
        </p:nvSpPr>
        <p:spPr>
          <a:xfrm>
            <a:off x="11569680" y="6473952"/>
            <a:ext cx="162073"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Text 0"/>
          <p:cNvSpPr txBox="1"/>
          <p:nvPr>
            <p:ph type="title"/>
          </p:nvPr>
        </p:nvSpPr>
        <p:spPr>
          <a:prstGeom prst="rect">
            <a:avLst/>
          </a:prstGeom>
        </p:spPr>
        <p:txBody>
          <a:bodyPr lIns="0" tIns="0" rIns="0" bIns="0" anchor="ctr"/>
          <a:lstStyle/>
          <a:p>
            <a:pPr/>
            <a:r>
              <a:t>Antes → después: los ejemplos de la clase pasada</a:t>
            </a:r>
          </a:p>
        </p:txBody>
      </p:sp>
      <p:sp>
        <p:nvSpPr>
          <p:cNvPr id="190" name="Text 0"/>
          <p:cNvSpPr txBox="1"/>
          <p:nvPr>
            <p:ph type="body" sz="quarter" idx="1"/>
          </p:nvPr>
        </p:nvSpPr>
        <p:spPr>
          <a:prstGeom prst="rect">
            <a:avLst/>
          </a:prstGeom>
        </p:spPr>
        <p:txBody>
          <a:bodyPr lIns="0" tIns="0" rIns="0" bIns="0" anchor="ctr"/>
          <a:lstStyle/>
          <a:p>
            <a:pPr/>
            <a:r>
              <a:t>Mismo código, nombre nuevo. El verbo dice qué hace la función.</a:t>
            </a:r>
          </a:p>
        </p:txBody>
      </p:sp>
      <p:graphicFrame>
        <p:nvGraphicFramePr>
          <p:cNvPr id="191" name="Table 0"/>
          <p:cNvGraphicFramePr/>
          <p:nvPr/>
        </p:nvGraphicFramePr>
        <p:xfrm>
          <a:off x="594359" y="1417319"/>
          <a:ext cx="7589521" cy="41148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377440"/>
                <a:gridCol w="3017520"/>
                <a:gridCol w="2194560"/>
              </a:tblGrid>
              <a:tr h="457200">
                <a:tc>
                  <a:txBody>
                    <a:bodyPr/>
                    <a:lstStyle/>
                    <a:p>
                      <a:pPr algn="l">
                        <a:defRPr sz="1800">
                          <a:solidFill>
                            <a:srgbClr val="000000"/>
                          </a:solidFill>
                        </a:defRPr>
                      </a:pPr>
                      <a:r>
                        <a:rPr b="1" sz="1300">
                          <a:solidFill>
                            <a:srgbClr val="FFFFFF"/>
                          </a:solidFill>
                        </a:rPr>
                        <a:t>Antes</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122238"/>
                    </a:solidFill>
                  </a:tcPr>
                </a:tc>
                <a:tc>
                  <a:txBody>
                    <a:bodyPr/>
                    <a:lstStyle/>
                    <a:p>
                      <a:pPr algn="l">
                        <a:defRPr sz="1800">
                          <a:solidFill>
                            <a:srgbClr val="000000"/>
                          </a:solidFill>
                        </a:defRPr>
                      </a:pPr>
                      <a:r>
                        <a:rPr b="1" sz="1300">
                          <a:solidFill>
                            <a:srgbClr val="FFFFFF"/>
                          </a:solidFill>
                        </a:rPr>
                        <a:t>Después</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122238"/>
                    </a:solidFill>
                  </a:tcPr>
                </a:tc>
                <a:tc>
                  <a:txBody>
                    <a:bodyPr/>
                    <a:lstStyle/>
                    <a:p>
                      <a:pPr algn="l">
                        <a:defRPr sz="1800">
                          <a:solidFill>
                            <a:srgbClr val="000000"/>
                          </a:solidFill>
                        </a:defRPr>
                      </a:pPr>
                      <a:r>
                        <a:rPr b="1" sz="1300">
                          <a:solidFill>
                            <a:srgbClr val="FFFFFF"/>
                          </a:solidFill>
                        </a:rPr>
                        <a:t>Comentario</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122238"/>
                    </a:solidFill>
                  </a:tcPr>
                </a:tc>
              </a:tr>
              <a:tr h="457200">
                <a:tc>
                  <a:txBody>
                    <a:bodyPr/>
                    <a:lstStyle/>
                    <a:p>
                      <a:pPr algn="l">
                        <a:defRPr sz="1800">
                          <a:solidFill>
                            <a:srgbClr val="000000"/>
                          </a:solidFill>
                        </a:defRPr>
                      </a:pPr>
                      <a:r>
                        <a:rPr strike="sngStrike" sz="1300">
                          <a:solidFill>
                            <a:schemeClr val="accent4"/>
                          </a:solidFill>
                          <a:latin typeface="Menlo Regular"/>
                          <a:ea typeface="Menlo Regular"/>
                          <a:cs typeface="Menlo Regular"/>
                          <a:sym typeface="Menlo Regular"/>
                        </a:rPr>
                        <a:t>primera_cancion</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b="1" sz="1300">
                          <a:solidFill>
                            <a:schemeClr val="accent1"/>
                          </a:solidFill>
                          <a:latin typeface="Menlo Regular"/>
                          <a:ea typeface="Menlo Regular"/>
                          <a:cs typeface="Menlo Regular"/>
                          <a:sym typeface="Menlo Regular"/>
                        </a:defRPr>
                      </a:pPr>
                      <a:r>
                        <a:t>obtener</a:t>
                      </a:r>
                      <a:r>
                        <a:rPr>
                          <a:solidFill>
                            <a:srgbClr val="94A3B8"/>
                          </a:solidFill>
                        </a:rPr>
                        <a:t>_</a:t>
                      </a:r>
                      <a:r>
                        <a:rPr>
                          <a:solidFill>
                            <a:schemeClr val="accent2"/>
                          </a:solidFill>
                        </a:rPr>
                        <a:t>primera</a:t>
                      </a:r>
                      <a:r>
                        <a:rPr>
                          <a:solidFill>
                            <a:srgbClr val="94A3B8"/>
                          </a:solidFill>
                        </a:rPr>
                        <a:t>_</a:t>
                      </a:r>
                      <a:r>
                        <a:rPr>
                          <a:solidFill>
                            <a:schemeClr val="accent6"/>
                          </a:solidFill>
                        </a:rPr>
                        <a:t>cancion</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300">
                          <a:solidFill>
                            <a:srgbClr val="334155"/>
                          </a:solidFill>
                        </a:rPr>
                        <a:t>Era sólo un sustantivo</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r>
              <a:tr h="457200">
                <a:tc>
                  <a:txBody>
                    <a:bodyPr/>
                    <a:lstStyle/>
                    <a:p>
                      <a:pPr algn="l">
                        <a:defRPr sz="1800">
                          <a:solidFill>
                            <a:srgbClr val="000000"/>
                          </a:solidFill>
                        </a:defRPr>
                      </a:pPr>
                      <a:r>
                        <a:rPr sz="1300">
                          <a:solidFill>
                            <a:srgbClr val="475569"/>
                          </a:solidFill>
                          <a:latin typeface="Menlo Regular"/>
                          <a:ea typeface="Menlo Regular"/>
                          <a:cs typeface="Menlo Regular"/>
                          <a:sym typeface="Menlo Regular"/>
                        </a:rPr>
                        <a:t>es_mayor_edad</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b="1" sz="1300">
                          <a:solidFill>
                            <a:schemeClr val="accent5"/>
                          </a:solidFill>
                          <a:latin typeface="Menlo Regular"/>
                          <a:ea typeface="Menlo Regular"/>
                          <a:cs typeface="Menlo Regular"/>
                          <a:sym typeface="Menlo Regular"/>
                        </a:defRPr>
                      </a:pPr>
                      <a:r>
                        <a:t>es</a:t>
                      </a:r>
                      <a:r>
                        <a:rPr>
                          <a:solidFill>
                            <a:srgbClr val="94A3B8"/>
                          </a:solidFill>
                        </a:rPr>
                        <a:t>_</a:t>
                      </a:r>
                      <a:r>
                        <a:rPr>
                          <a:solidFill>
                            <a:srgbClr val="475569"/>
                          </a:solidFill>
                        </a:rPr>
                        <a:t>mayor_edad</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300">
                          <a:solidFill>
                            <a:srgbClr val="334155"/>
                          </a:solidFill>
                        </a:rPr>
                        <a:t>✓ Excepción: regresa True / False</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r>
              <a:tr h="457200">
                <a:tc>
                  <a:txBody>
                    <a:bodyPr/>
                    <a:lstStyle/>
                    <a:p>
                      <a:pPr algn="l">
                        <a:defRPr sz="1800">
                          <a:solidFill>
                            <a:srgbClr val="000000"/>
                          </a:solidFill>
                        </a:defRPr>
                      </a:pPr>
                      <a:r>
                        <a:rPr strike="sngStrike" sz="1300">
                          <a:solidFill>
                            <a:schemeClr val="accent4"/>
                          </a:solidFill>
                          <a:latin typeface="Menlo Regular"/>
                          <a:ea typeface="Menlo Regular"/>
                          <a:cs typeface="Menlo Regular"/>
                          <a:sym typeface="Menlo Regular"/>
                        </a:rPr>
                        <a:t>plan_de_viernes</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b="1" sz="1300">
                          <a:solidFill>
                            <a:schemeClr val="accent1"/>
                          </a:solidFill>
                          <a:latin typeface="Menlo Regular"/>
                          <a:ea typeface="Menlo Regular"/>
                          <a:cs typeface="Menlo Regular"/>
                          <a:sym typeface="Menlo Regular"/>
                        </a:defRPr>
                      </a:pPr>
                      <a:r>
                        <a:t>elegir</a:t>
                      </a:r>
                      <a:r>
                        <a:rPr>
                          <a:solidFill>
                            <a:srgbClr val="94A3B8"/>
                          </a:solidFill>
                        </a:rPr>
                        <a:t>_</a:t>
                      </a:r>
                      <a:r>
                        <a:rPr>
                          <a:solidFill>
                            <a:schemeClr val="accent2"/>
                          </a:solidFill>
                        </a:rPr>
                        <a:t>plan</a:t>
                      </a:r>
                      <a:r>
                        <a:rPr>
                          <a:solidFill>
                            <a:srgbClr val="94A3B8"/>
                          </a:solidFill>
                        </a:rPr>
                        <a:t>_</a:t>
                      </a:r>
                      <a:r>
                        <a:rPr>
                          <a:solidFill>
                            <a:schemeClr val="accent6"/>
                          </a:solidFill>
                        </a:rPr>
                        <a:t>viernes</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300">
                          <a:solidFill>
                            <a:srgbClr val="334155"/>
                          </a:solidFill>
                        </a:rPr>
                        <a:t>if / elif / else: elige un camino</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r>
              <a:tr h="457200">
                <a:tc>
                  <a:txBody>
                    <a:bodyPr/>
                    <a:lstStyle/>
                    <a:p>
                      <a:pPr algn="l">
                        <a:defRPr sz="1800">
                          <a:solidFill>
                            <a:srgbClr val="000000"/>
                          </a:solidFill>
                        </a:defRPr>
                      </a:pPr>
                      <a:r>
                        <a:rPr strike="sngStrike" sz="1300">
                          <a:solidFill>
                            <a:schemeClr val="accent4"/>
                          </a:solidFill>
                          <a:latin typeface="Menlo Regular"/>
                          <a:ea typeface="Menlo Regular"/>
                          <a:cs typeface="Menlo Regular"/>
                          <a:sym typeface="Menlo Regular"/>
                        </a:rPr>
                        <a:t>acceso_concierto</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b="1" sz="1300">
                          <a:solidFill>
                            <a:schemeClr val="accent1"/>
                          </a:solidFill>
                          <a:latin typeface="Menlo Regular"/>
                          <a:ea typeface="Menlo Regular"/>
                          <a:cs typeface="Menlo Regular"/>
                          <a:sym typeface="Menlo Regular"/>
                        </a:defRPr>
                      </a:pPr>
                      <a:r>
                        <a:t>revisar</a:t>
                      </a:r>
                      <a:r>
                        <a:rPr>
                          <a:solidFill>
                            <a:srgbClr val="94A3B8"/>
                          </a:solidFill>
                        </a:rPr>
                        <a:t>_</a:t>
                      </a:r>
                      <a:r>
                        <a:rPr>
                          <a:solidFill>
                            <a:schemeClr val="accent2"/>
                          </a:solidFill>
                        </a:rPr>
                        <a:t>acceso</a:t>
                      </a:r>
                      <a:r>
                        <a:rPr>
                          <a:solidFill>
                            <a:srgbClr val="94A3B8"/>
                          </a:solidFill>
                        </a:rPr>
                        <a:t>_</a:t>
                      </a:r>
                      <a:r>
                        <a:rPr>
                          <a:solidFill>
                            <a:schemeClr val="accent6"/>
                          </a:solidFill>
                        </a:rPr>
                        <a:t>concierto</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300">
                          <a:solidFill>
                            <a:srgbClr val="334155"/>
                          </a:solidFill>
                        </a:rPr>
                        <a:t>ifs anidados: revisa paso a paso</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r>
              <a:tr h="457200">
                <a:tc>
                  <a:txBody>
                    <a:bodyPr/>
                    <a:lstStyle/>
                    <a:p>
                      <a:pPr algn="l">
                        <a:defRPr sz="1800">
                          <a:solidFill>
                            <a:srgbClr val="000000"/>
                          </a:solidFill>
                        </a:defRPr>
                      </a:pPr>
                      <a:r>
                        <a:rPr strike="sngStrike" sz="1300">
                          <a:solidFill>
                            <a:schemeClr val="accent4"/>
                          </a:solidFill>
                          <a:latin typeface="Menlo Regular"/>
                          <a:ea typeface="Menlo Regular"/>
                          <a:cs typeface="Menlo Regular"/>
                          <a:sym typeface="Menlo Regular"/>
                        </a:rPr>
                        <a:t>duracion_playlist</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b="1" sz="1300">
                          <a:solidFill>
                            <a:schemeClr val="accent1"/>
                          </a:solidFill>
                          <a:latin typeface="Menlo Regular"/>
                          <a:ea typeface="Menlo Regular"/>
                          <a:cs typeface="Menlo Regular"/>
                          <a:sym typeface="Menlo Regular"/>
                        </a:defRPr>
                      </a:pPr>
                      <a:r>
                        <a:t>sumar</a:t>
                      </a:r>
                      <a:r>
                        <a:rPr>
                          <a:solidFill>
                            <a:srgbClr val="94A3B8"/>
                          </a:solidFill>
                        </a:rPr>
                        <a:t>_</a:t>
                      </a:r>
                      <a:r>
                        <a:rPr>
                          <a:solidFill>
                            <a:schemeClr val="accent2"/>
                          </a:solidFill>
                        </a:rPr>
                        <a:t>duracion</a:t>
                      </a:r>
                      <a:r>
                        <a:rPr>
                          <a:solidFill>
                            <a:srgbClr val="94A3B8"/>
                          </a:solidFill>
                        </a:rPr>
                        <a:t>_</a:t>
                      </a:r>
                      <a:r>
                        <a:rPr>
                          <a:solidFill>
                            <a:schemeClr val="accent6"/>
                          </a:solidFill>
                        </a:rPr>
                        <a:t>playlist</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300">
                          <a:solidFill>
                            <a:srgbClr val="334155"/>
                          </a:solidFill>
                        </a:rPr>
                        <a:t>Acumulador de suma</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r>
              <a:tr h="457200">
                <a:tc>
                  <a:txBody>
                    <a:bodyPr/>
                    <a:lstStyle/>
                    <a:p>
                      <a:pPr algn="l">
                        <a:defRPr sz="1800">
                          <a:solidFill>
                            <a:srgbClr val="000000"/>
                          </a:solidFill>
                        </a:defRPr>
                      </a:pPr>
                      <a:r>
                        <a:rPr strike="sngStrike" sz="1300">
                          <a:solidFill>
                            <a:schemeClr val="accent4"/>
                          </a:solidFill>
                          <a:latin typeface="Menlo Regular"/>
                          <a:ea typeface="Menlo Regular"/>
                          <a:cs typeface="Menlo Regular"/>
                          <a:sym typeface="Menlo Regular"/>
                        </a:rPr>
                        <a:t>mejor_vuelta</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b="1" sz="1300">
                          <a:solidFill>
                            <a:schemeClr val="accent1"/>
                          </a:solidFill>
                          <a:latin typeface="Menlo Regular"/>
                          <a:ea typeface="Menlo Regular"/>
                          <a:cs typeface="Menlo Regular"/>
                          <a:sym typeface="Menlo Regular"/>
                        </a:defRPr>
                      </a:pPr>
                      <a:r>
                        <a:t>encontrar</a:t>
                      </a:r>
                      <a:r>
                        <a:rPr>
                          <a:solidFill>
                            <a:srgbClr val="94A3B8"/>
                          </a:solidFill>
                        </a:rPr>
                        <a:t>_</a:t>
                      </a:r>
                      <a:r>
                        <a:rPr>
                          <a:solidFill>
                            <a:schemeClr val="accent2"/>
                          </a:solidFill>
                        </a:rPr>
                        <a:t>mejor</a:t>
                      </a:r>
                      <a:r>
                        <a:rPr>
                          <a:solidFill>
                            <a:srgbClr val="94A3B8"/>
                          </a:solidFill>
                        </a:rPr>
                        <a:t>_</a:t>
                      </a:r>
                      <a:r>
                        <a:rPr>
                          <a:solidFill>
                            <a:schemeClr val="accent6"/>
                          </a:solidFill>
                        </a:rPr>
                        <a:t>vuelta</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300">
                          <a:solidFill>
                            <a:srgbClr val="334155"/>
                          </a:solidFill>
                        </a:rPr>
                        <a:t>Acumulador del mínimo</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r>
              <a:tr h="457200">
                <a:tc>
                  <a:txBody>
                    <a:bodyPr/>
                    <a:lstStyle/>
                    <a:p>
                      <a:pPr algn="l">
                        <a:defRPr sz="1800">
                          <a:solidFill>
                            <a:srgbClr val="000000"/>
                          </a:solidFill>
                        </a:defRPr>
                      </a:pPr>
                      <a:r>
                        <a:rPr strike="sngStrike" sz="1300">
                          <a:solidFill>
                            <a:schemeClr val="accent4"/>
                          </a:solidFill>
                          <a:latin typeface="Menlo Regular"/>
                          <a:ea typeface="Menlo Regular"/>
                          <a:cs typeface="Menlo Regular"/>
                          <a:sym typeface="Menlo Regular"/>
                        </a:rPr>
                        <a:t>promedio_goles</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b="1" sz="1300">
                          <a:solidFill>
                            <a:schemeClr val="accent1"/>
                          </a:solidFill>
                          <a:latin typeface="Menlo Regular"/>
                          <a:ea typeface="Menlo Regular"/>
                          <a:cs typeface="Menlo Regular"/>
                          <a:sym typeface="Menlo Regular"/>
                        </a:defRPr>
                      </a:pPr>
                      <a:r>
                        <a:t>calcular</a:t>
                      </a:r>
                      <a:r>
                        <a:rPr>
                          <a:solidFill>
                            <a:srgbClr val="94A3B8"/>
                          </a:solidFill>
                        </a:rPr>
                        <a:t>_</a:t>
                      </a:r>
                      <a:r>
                        <a:rPr>
                          <a:solidFill>
                            <a:schemeClr val="accent2"/>
                          </a:solidFill>
                        </a:rPr>
                        <a:t>promedio</a:t>
                      </a:r>
                      <a:r>
                        <a:rPr>
                          <a:solidFill>
                            <a:srgbClr val="94A3B8"/>
                          </a:solidFill>
                        </a:rPr>
                        <a:t>_</a:t>
                      </a:r>
                      <a:r>
                        <a:rPr>
                          <a:solidFill>
                            <a:schemeClr val="accent6"/>
                          </a:solidFill>
                        </a:rPr>
                        <a:t>goles</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300">
                          <a:solidFill>
                            <a:srgbClr val="334155"/>
                          </a:solidFill>
                        </a:rPr>
                        <a:t>Varios acumuladores + fórmula</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r>
              <a:tr h="457200">
                <a:tc>
                  <a:txBody>
                    <a:bodyPr/>
                    <a:lstStyle/>
                    <a:p>
                      <a:pPr algn="l">
                        <a:defRPr sz="1800">
                          <a:solidFill>
                            <a:srgbClr val="000000"/>
                          </a:solidFill>
                        </a:defRPr>
                      </a:pPr>
                      <a:r>
                        <a:rPr sz="1300">
                          <a:solidFill>
                            <a:srgbClr val="475569"/>
                          </a:solidFill>
                          <a:latin typeface="Menlo Regular"/>
                          <a:ea typeface="Menlo Regular"/>
                          <a:cs typeface="Menlo Regular"/>
                          <a:sym typeface="Menlo Regular"/>
                        </a:rPr>
                        <a:t>contar_victorias</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b="1" sz="1300">
                          <a:solidFill>
                            <a:schemeClr val="accent1"/>
                          </a:solidFill>
                          <a:latin typeface="Menlo Regular"/>
                          <a:ea typeface="Menlo Regular"/>
                          <a:cs typeface="Menlo Regular"/>
                          <a:sym typeface="Menlo Regular"/>
                        </a:defRPr>
                      </a:pPr>
                      <a:r>
                        <a:t>contar</a:t>
                      </a:r>
                      <a:r>
                        <a:rPr>
                          <a:solidFill>
                            <a:srgbClr val="94A3B8"/>
                          </a:solidFill>
                        </a:rPr>
                        <a:t>_</a:t>
                      </a:r>
                      <a:r>
                        <a:rPr>
                          <a:solidFill>
                            <a:schemeClr val="accent2"/>
                          </a:solidFill>
                        </a:rPr>
                        <a:t>victorias</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300">
                          <a:solidFill>
                            <a:srgbClr val="334155"/>
                          </a:solidFill>
                        </a:rPr>
                        <a:t>✓ Ya cumplía la regla (sin contexto)</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r>
            </a:tbl>
          </a:graphicData>
        </a:graphic>
      </p:graphicFrame>
      <p:sp>
        <p:nvSpPr>
          <p:cNvPr id="192" name="Text 2"/>
          <p:cNvSpPr txBox="1"/>
          <p:nvPr/>
        </p:nvSpPr>
        <p:spPr>
          <a:xfrm>
            <a:off x="594360" y="5734620"/>
            <a:ext cx="758951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chemeClr val="accent1"/>
                </a:solidFill>
              </a:defRPr>
            </a:pPr>
            <a:r>
              <a:t>verbo</a:t>
            </a:r>
            <a:r>
              <a:rPr b="0">
                <a:solidFill>
                  <a:srgbClr val="475569"/>
                </a:solidFill>
              </a:rPr>
              <a:t>  +  </a:t>
            </a:r>
            <a:r>
              <a:rPr>
                <a:solidFill>
                  <a:schemeClr val="accent2"/>
                </a:solidFill>
              </a:rPr>
              <a:t>objeto</a:t>
            </a:r>
            <a:r>
              <a:rPr b="0">
                <a:solidFill>
                  <a:srgbClr val="475569"/>
                </a:solidFill>
              </a:rPr>
              <a:t>  +  </a:t>
            </a:r>
            <a:r>
              <a:rPr>
                <a:solidFill>
                  <a:schemeClr val="accent6"/>
                </a:solidFill>
              </a:rPr>
              <a:t>contexto</a:t>
            </a:r>
            <a:r>
              <a:rPr b="0">
                <a:solidFill>
                  <a:srgbClr val="475569"/>
                </a:solidFill>
              </a:rPr>
              <a:t> (si hace falta)</a:t>
            </a:r>
          </a:p>
        </p:txBody>
      </p:sp>
      <p:sp>
        <p:nvSpPr>
          <p:cNvPr id="193" name="Shape 3"/>
          <p:cNvSpPr/>
          <p:nvPr/>
        </p:nvSpPr>
        <p:spPr>
          <a:xfrm>
            <a:off x="8412480" y="1417319"/>
            <a:ext cx="3108961" cy="4114801"/>
          </a:xfrm>
          <a:prstGeom prst="roundRect">
            <a:avLst>
              <a:gd name="adj" fmla="val 235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94" name="Text 4"/>
          <p:cNvSpPr txBox="1"/>
          <p:nvPr/>
        </p:nvSpPr>
        <p:spPr>
          <a:xfrm>
            <a:off x="8613647" y="1615248"/>
            <a:ext cx="2706626"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5"/>
                </a:solidFill>
              </a:defRPr>
            </a:lvl1pPr>
          </a:lstStyle>
          <a:p>
            <a:pPr/>
            <a:r>
              <a:t>Única excepción: True / False</a:t>
            </a:r>
          </a:p>
        </p:txBody>
      </p:sp>
      <p:sp>
        <p:nvSpPr>
          <p:cNvPr id="195" name="Text 5"/>
          <p:cNvSpPr txBox="1"/>
          <p:nvPr/>
        </p:nvSpPr>
        <p:spPr>
          <a:xfrm>
            <a:off x="8613647" y="1929383"/>
            <a:ext cx="2706626" cy="15567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300">
                <a:solidFill>
                  <a:srgbClr val="334155"/>
                </a:solidFill>
              </a:defRPr>
            </a:pPr>
            <a:r>
              <a:t>Si la función regresa </a:t>
            </a:r>
            <a:r>
              <a:rPr b="1"/>
              <a:t>True</a:t>
            </a:r>
            <a:r>
              <a:t> o </a:t>
            </a:r>
            <a:r>
              <a:rPr b="1"/>
              <a:t>False</a:t>
            </a:r>
            <a:r>
              <a:t>, se nombra como en la industria: </a:t>
            </a:r>
            <a:r>
              <a:rPr sz="1200">
                <a:latin typeface="Menlo Regular"/>
                <a:ea typeface="Menlo Regular"/>
                <a:cs typeface="Menlo Regular"/>
                <a:sym typeface="Menlo Regular"/>
              </a:rPr>
              <a:t>es_</a:t>
            </a:r>
            <a:r>
              <a:t> + </a:t>
            </a:r>
            <a:r>
              <a:rPr b="1"/>
              <a:t>complemento</a:t>
            </a:r>
            <a:r>
              <a:t>.</a:t>
            </a:r>
          </a:p>
          <a:p>
            <a:pPr>
              <a:spcBef>
                <a:spcPts val="400"/>
              </a:spcBef>
              <a:defRPr sz="1200">
                <a:solidFill>
                  <a:srgbClr val="334155"/>
                </a:solidFill>
                <a:latin typeface="Menlo Regular"/>
                <a:ea typeface="Menlo Regular"/>
                <a:cs typeface="Menlo Regular"/>
                <a:sym typeface="Menlo Regular"/>
              </a:defRPr>
            </a:pPr>
            <a:r>
              <a:t>es_mayor_edad</a:t>
            </a:r>
            <a:r>
              <a:rPr sz="1300">
                <a:latin typeface="+mn-lt"/>
                <a:ea typeface="+mn-ea"/>
                <a:cs typeface="+mn-cs"/>
                <a:sym typeface="Calibri"/>
              </a:rPr>
              <a:t>, </a:t>
            </a:r>
            <a:r>
              <a:t>es_par</a:t>
            </a:r>
            <a:r>
              <a:rPr sz="1300">
                <a:latin typeface="+mn-lt"/>
                <a:ea typeface="+mn-ea"/>
                <a:cs typeface="+mn-cs"/>
                <a:sym typeface="Calibri"/>
              </a:rPr>
              <a:t>, </a:t>
            </a:r>
            <a:r>
              <a:t>es_valida</a:t>
            </a:r>
            <a:endParaRPr sz="1300"/>
          </a:p>
          <a:p>
            <a:pPr>
              <a:spcBef>
                <a:spcPts val="400"/>
              </a:spcBef>
              <a:defRPr sz="1300">
                <a:solidFill>
                  <a:srgbClr val="334155"/>
                </a:solidFill>
              </a:defRPr>
            </a:pPr>
            <a:r>
              <a:t>Se lee como una pregunta:</a:t>
            </a:r>
          </a:p>
          <a:p>
            <a:pPr>
              <a:spcBef>
                <a:spcPts val="400"/>
              </a:spcBef>
              <a:defRPr sz="1200">
                <a:solidFill>
                  <a:srgbClr val="334155"/>
                </a:solidFill>
                <a:latin typeface="Menlo Regular"/>
                <a:ea typeface="Menlo Regular"/>
                <a:cs typeface="Menlo Regular"/>
                <a:sym typeface="Menlo Regular"/>
              </a:defRPr>
            </a:pPr>
            <a:r>
              <a:t>if es_par(numero):</a:t>
            </a:r>
          </a:p>
        </p:txBody>
      </p:sp>
      <p:sp>
        <p:nvSpPr>
          <p:cNvPr id="196"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Text 0"/>
          <p:cNvSpPr txBox="1"/>
          <p:nvPr>
            <p:ph type="title"/>
          </p:nvPr>
        </p:nvSpPr>
        <p:spPr>
          <a:prstGeom prst="rect">
            <a:avLst/>
          </a:prstGeom>
        </p:spPr>
        <p:txBody>
          <a:bodyPr lIns="0" tIns="0" rIns="0" bIns="0" anchor="ctr"/>
          <a:lstStyle/>
          <a:p>
            <a:pPr/>
            <a:r>
              <a:t>El verbo y su objeto casi te dicen la estructura</a:t>
            </a:r>
          </a:p>
        </p:txBody>
      </p:sp>
      <p:sp>
        <p:nvSpPr>
          <p:cNvPr id="201" name="Text 0"/>
          <p:cNvSpPr txBox="1"/>
          <p:nvPr>
            <p:ph type="body" sz="quarter" idx="1"/>
          </p:nvPr>
        </p:nvSpPr>
        <p:spPr>
          <a:prstGeom prst="rect">
            <a:avLst/>
          </a:prstGeom>
        </p:spPr>
        <p:txBody>
          <a:bodyPr lIns="0" tIns="0" rIns="0" bIns="0" anchor="ctr"/>
          <a:lstStyle/>
          <a:p>
            <a:pPr/>
            <a:r>
              <a:t>Elegir verbo + objeto es el primer paso del algoritmo.</a:t>
            </a:r>
          </a:p>
        </p:txBody>
      </p:sp>
      <p:sp>
        <p:nvSpPr>
          <p:cNvPr id="202" name="Shape 2"/>
          <p:cNvSpPr/>
          <p:nvPr/>
        </p:nvSpPr>
        <p:spPr>
          <a:xfrm>
            <a:off x="594359" y="1417319"/>
            <a:ext cx="1828801" cy="1783081"/>
          </a:xfrm>
          <a:prstGeom prst="roundRect">
            <a:avLst>
              <a:gd name="adj" fmla="val 410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03" name="Text 3"/>
          <p:cNvSpPr txBox="1"/>
          <p:nvPr/>
        </p:nvSpPr>
        <p:spPr>
          <a:xfrm>
            <a:off x="731519" y="1554480"/>
            <a:ext cx="155448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chemeClr val="accent1"/>
                </a:solidFill>
                <a:latin typeface="Menlo Regular"/>
                <a:ea typeface="Menlo Regular"/>
                <a:cs typeface="Menlo Regular"/>
                <a:sym typeface="Menlo Regular"/>
              </a:defRPr>
            </a:pPr>
            <a:r>
              <a:t>obtener_primero</a:t>
            </a:r>
          </a:p>
          <a:p>
            <a:pPr>
              <a:defRPr b="1" sz="1100">
                <a:solidFill>
                  <a:schemeClr val="accent1"/>
                </a:solidFill>
                <a:latin typeface="Menlo Regular"/>
                <a:ea typeface="Menlo Regular"/>
                <a:cs typeface="Menlo Regular"/>
                <a:sym typeface="Menlo Regular"/>
              </a:defRPr>
            </a:pPr>
            <a:r>
              <a:t>obtener_ultimo</a:t>
            </a:r>
          </a:p>
        </p:txBody>
      </p:sp>
      <p:sp>
        <p:nvSpPr>
          <p:cNvPr id="204" name="Text 4"/>
          <p:cNvSpPr txBox="1"/>
          <p:nvPr/>
        </p:nvSpPr>
        <p:spPr>
          <a:xfrm>
            <a:off x="731519" y="2221992"/>
            <a:ext cx="1554481" cy="5731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334155"/>
                </a:solidFill>
              </a:defRPr>
            </a:lvl1pPr>
          </a:lstStyle>
          <a:p>
            <a:pPr/>
            <a:r>
              <a:t>Sacar un dato (validando antes el edge case)</a:t>
            </a:r>
          </a:p>
        </p:txBody>
      </p:sp>
      <p:sp>
        <p:nvSpPr>
          <p:cNvPr id="205" name="Shape 5"/>
          <p:cNvSpPr/>
          <p:nvPr/>
        </p:nvSpPr>
        <p:spPr>
          <a:xfrm>
            <a:off x="2578607" y="1417319"/>
            <a:ext cx="1828801" cy="1783081"/>
          </a:xfrm>
          <a:prstGeom prst="roundRect">
            <a:avLst>
              <a:gd name="adj" fmla="val 410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06" name="Text 6"/>
          <p:cNvSpPr txBox="1"/>
          <p:nvPr/>
        </p:nvSpPr>
        <p:spPr>
          <a:xfrm>
            <a:off x="2715767" y="1554480"/>
            <a:ext cx="155448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chemeClr val="accent5"/>
                </a:solidFill>
                <a:latin typeface="Menlo Regular"/>
                <a:ea typeface="Menlo Regular"/>
                <a:cs typeface="Menlo Regular"/>
                <a:sym typeface="Menlo Regular"/>
              </a:defRPr>
            </a:pPr>
            <a:r>
              <a:t>es_</a:t>
            </a:r>
          </a:p>
          <a:p>
            <a:pPr>
              <a:defRPr b="1" sz="1100">
                <a:solidFill>
                  <a:schemeClr val="accent5"/>
                </a:solidFill>
                <a:latin typeface="Menlo Regular"/>
                <a:ea typeface="Menlo Regular"/>
                <a:cs typeface="Menlo Regular"/>
                <a:sym typeface="Menlo Regular"/>
              </a:defRPr>
            </a:pPr>
            <a:r>
              <a:t>(excepción)</a:t>
            </a:r>
          </a:p>
        </p:txBody>
      </p:sp>
      <p:sp>
        <p:nvSpPr>
          <p:cNvPr id="207" name="Text 7"/>
          <p:cNvSpPr txBox="1"/>
          <p:nvPr/>
        </p:nvSpPr>
        <p:spPr>
          <a:xfrm>
            <a:off x="2715767" y="2221992"/>
            <a:ext cx="155448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334155"/>
                </a:solidFill>
              </a:defRPr>
            </a:lvl1pPr>
          </a:lstStyle>
          <a:p>
            <a:pPr/>
            <a:r>
              <a:t>Pregunta de sí / no → regresa True o False</a:t>
            </a:r>
          </a:p>
        </p:txBody>
      </p:sp>
      <p:sp>
        <p:nvSpPr>
          <p:cNvPr id="208" name="Shape 8"/>
          <p:cNvSpPr/>
          <p:nvPr/>
        </p:nvSpPr>
        <p:spPr>
          <a:xfrm>
            <a:off x="4562855" y="1417319"/>
            <a:ext cx="1828801" cy="1783081"/>
          </a:xfrm>
          <a:prstGeom prst="roundRect">
            <a:avLst>
              <a:gd name="adj" fmla="val 410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09" name="Text 9"/>
          <p:cNvSpPr txBox="1"/>
          <p:nvPr/>
        </p:nvSpPr>
        <p:spPr>
          <a:xfrm>
            <a:off x="4700015" y="1554480"/>
            <a:ext cx="155448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chemeClr val="accent6"/>
                </a:solidFill>
                <a:latin typeface="Menlo Regular"/>
                <a:ea typeface="Menlo Regular"/>
                <a:cs typeface="Menlo Regular"/>
                <a:sym typeface="Menlo Regular"/>
              </a:defRPr>
            </a:lvl1pPr>
          </a:lstStyle>
          <a:p>
            <a:pPr/>
            <a:r>
              <a:t>asignar_medalla</a:t>
            </a:r>
          </a:p>
        </p:txBody>
      </p:sp>
      <p:sp>
        <p:nvSpPr>
          <p:cNvPr id="210" name="Text 10"/>
          <p:cNvSpPr txBox="1"/>
          <p:nvPr/>
        </p:nvSpPr>
        <p:spPr>
          <a:xfrm>
            <a:off x="4700015" y="2221992"/>
            <a:ext cx="155448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334155"/>
                </a:solidFill>
              </a:defRPr>
            </a:lvl1pPr>
          </a:lstStyle>
          <a:p>
            <a:pPr/>
            <a:r>
              <a:t>Varios caminos → if / elif / else</a:t>
            </a:r>
          </a:p>
        </p:txBody>
      </p:sp>
      <p:sp>
        <p:nvSpPr>
          <p:cNvPr id="211" name="Shape 11"/>
          <p:cNvSpPr/>
          <p:nvPr/>
        </p:nvSpPr>
        <p:spPr>
          <a:xfrm>
            <a:off x="6547104" y="1417319"/>
            <a:ext cx="1828801" cy="1783081"/>
          </a:xfrm>
          <a:prstGeom prst="roundRect">
            <a:avLst>
              <a:gd name="adj" fmla="val 410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12" name="Text 12"/>
          <p:cNvSpPr txBox="1"/>
          <p:nvPr/>
        </p:nvSpPr>
        <p:spPr>
          <a:xfrm>
            <a:off x="6684264" y="1554480"/>
            <a:ext cx="155448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chemeClr val="accent2"/>
                </a:solidFill>
                <a:latin typeface="Menlo Regular"/>
                <a:ea typeface="Menlo Regular"/>
                <a:cs typeface="Menlo Regular"/>
                <a:sym typeface="Menlo Regular"/>
              </a:defRPr>
            </a:pPr>
            <a:r>
              <a:t>contar_victorias</a:t>
            </a:r>
          </a:p>
          <a:p>
            <a:pPr>
              <a:defRPr b="1" sz="1100">
                <a:solidFill>
                  <a:schemeClr val="accent2"/>
                </a:solidFill>
                <a:latin typeface="Menlo Regular"/>
                <a:ea typeface="Menlo Regular"/>
                <a:cs typeface="Menlo Regular"/>
                <a:sym typeface="Menlo Regular"/>
              </a:defRPr>
            </a:pPr>
            <a:r>
              <a:t>contar_reprobados</a:t>
            </a:r>
          </a:p>
        </p:txBody>
      </p:sp>
      <p:sp>
        <p:nvSpPr>
          <p:cNvPr id="213" name="Text 13"/>
          <p:cNvSpPr txBox="1"/>
          <p:nvPr/>
        </p:nvSpPr>
        <p:spPr>
          <a:xfrm>
            <a:off x="6684264" y="2221992"/>
            <a:ext cx="1554481" cy="5731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334155"/>
                </a:solidFill>
              </a:defRPr>
            </a:lvl1pPr>
          </a:lstStyle>
          <a:p>
            <a:pPr/>
            <a:r>
              <a:t>Contador: empieza en 0, suma 1 si se cumple algo</a:t>
            </a:r>
          </a:p>
        </p:txBody>
      </p:sp>
      <p:sp>
        <p:nvSpPr>
          <p:cNvPr id="214" name="Shape 14"/>
          <p:cNvSpPr/>
          <p:nvPr/>
        </p:nvSpPr>
        <p:spPr>
          <a:xfrm>
            <a:off x="594359" y="3383279"/>
            <a:ext cx="1828801" cy="1783081"/>
          </a:xfrm>
          <a:prstGeom prst="roundRect">
            <a:avLst>
              <a:gd name="adj" fmla="val 410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15" name="Text 15"/>
          <p:cNvSpPr txBox="1"/>
          <p:nvPr/>
        </p:nvSpPr>
        <p:spPr>
          <a:xfrm>
            <a:off x="731519" y="3520440"/>
            <a:ext cx="155448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chemeClr val="accent2"/>
                </a:solidFill>
                <a:latin typeface="Menlo Regular"/>
                <a:ea typeface="Menlo Regular"/>
                <a:cs typeface="Menlo Regular"/>
                <a:sym typeface="Menlo Regular"/>
              </a:defRPr>
            </a:pPr>
            <a:r>
              <a:t>sumar_total</a:t>
            </a:r>
          </a:p>
          <a:p>
            <a:pPr>
              <a:defRPr b="1" sz="1100">
                <a:solidFill>
                  <a:schemeClr val="accent2"/>
                </a:solidFill>
                <a:latin typeface="Menlo Regular"/>
                <a:ea typeface="Menlo Regular"/>
                <a:cs typeface="Menlo Regular"/>
                <a:sym typeface="Menlo Regular"/>
              </a:defRPr>
            </a:pPr>
            <a:r>
              <a:t>sumar_duracion</a:t>
            </a:r>
          </a:p>
        </p:txBody>
      </p:sp>
      <p:sp>
        <p:nvSpPr>
          <p:cNvPr id="216" name="Text 16"/>
          <p:cNvSpPr txBox="1"/>
          <p:nvPr/>
        </p:nvSpPr>
        <p:spPr>
          <a:xfrm>
            <a:off x="731519" y="4187952"/>
            <a:ext cx="1554481" cy="3699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334155"/>
                </a:solidFill>
              </a:defRPr>
            </a:lvl1pPr>
          </a:lstStyle>
          <a:p>
            <a:pPr/>
            <a:r>
              <a:t>Acumulador de suma: total = total + x</a:t>
            </a:r>
          </a:p>
        </p:txBody>
      </p:sp>
      <p:sp>
        <p:nvSpPr>
          <p:cNvPr id="217" name="Shape 17"/>
          <p:cNvSpPr/>
          <p:nvPr/>
        </p:nvSpPr>
        <p:spPr>
          <a:xfrm>
            <a:off x="2578607" y="3383279"/>
            <a:ext cx="1828801" cy="1783081"/>
          </a:xfrm>
          <a:prstGeom prst="roundRect">
            <a:avLst>
              <a:gd name="adj" fmla="val 410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18" name="Text 18"/>
          <p:cNvSpPr txBox="1"/>
          <p:nvPr/>
        </p:nvSpPr>
        <p:spPr>
          <a:xfrm>
            <a:off x="2715767" y="3520440"/>
            <a:ext cx="155448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100">
                <a:solidFill>
                  <a:schemeClr val="accent2"/>
                </a:solidFill>
                <a:latin typeface="Menlo Regular"/>
                <a:ea typeface="Menlo Regular"/>
                <a:cs typeface="Menlo Regular"/>
                <a:sym typeface="Menlo Regular"/>
              </a:defRPr>
            </a:pPr>
            <a:r>
              <a:t>encontrar_minimo</a:t>
            </a:r>
          </a:p>
          <a:p>
            <a:pPr>
              <a:defRPr b="1" sz="1100">
                <a:solidFill>
                  <a:schemeClr val="accent2"/>
                </a:solidFill>
                <a:latin typeface="Menlo Regular"/>
                <a:ea typeface="Menlo Regular"/>
                <a:cs typeface="Menlo Regular"/>
                <a:sym typeface="Menlo Regular"/>
              </a:defRPr>
            </a:pPr>
            <a:r>
              <a:t>encontrar_maximo</a:t>
            </a:r>
          </a:p>
        </p:txBody>
      </p:sp>
      <p:sp>
        <p:nvSpPr>
          <p:cNvPr id="219" name="Text 19"/>
          <p:cNvSpPr txBox="1"/>
          <p:nvPr/>
        </p:nvSpPr>
        <p:spPr>
          <a:xfrm>
            <a:off x="2715767" y="4187952"/>
            <a:ext cx="1554481" cy="5731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334155"/>
                </a:solidFill>
              </a:defRPr>
            </a:lvl1pPr>
          </a:lstStyle>
          <a:p>
            <a:pPr/>
            <a:r>
              <a:t>Mínimo o máximo: empieza con el primer elemento</a:t>
            </a:r>
          </a:p>
        </p:txBody>
      </p:sp>
      <p:sp>
        <p:nvSpPr>
          <p:cNvPr id="220" name="Shape 20"/>
          <p:cNvSpPr/>
          <p:nvPr/>
        </p:nvSpPr>
        <p:spPr>
          <a:xfrm>
            <a:off x="4562855" y="3383279"/>
            <a:ext cx="1828801" cy="1783081"/>
          </a:xfrm>
          <a:prstGeom prst="roundRect">
            <a:avLst>
              <a:gd name="adj" fmla="val 410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21" name="Text 21"/>
          <p:cNvSpPr txBox="1"/>
          <p:nvPr/>
        </p:nvSpPr>
        <p:spPr>
          <a:xfrm>
            <a:off x="4700015" y="3520440"/>
            <a:ext cx="155448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chemeClr val="accent3"/>
                </a:solidFill>
                <a:latin typeface="Menlo Regular"/>
                <a:ea typeface="Menlo Regular"/>
                <a:cs typeface="Menlo Regular"/>
                <a:sym typeface="Menlo Regular"/>
              </a:defRPr>
            </a:lvl1pPr>
          </a:lstStyle>
          <a:p>
            <a:pPr/>
            <a:r>
              <a:t>calcular_promedio</a:t>
            </a:r>
          </a:p>
        </p:txBody>
      </p:sp>
      <p:sp>
        <p:nvSpPr>
          <p:cNvPr id="222" name="Text 22"/>
          <p:cNvSpPr txBox="1"/>
          <p:nvPr/>
        </p:nvSpPr>
        <p:spPr>
          <a:xfrm>
            <a:off x="4700015" y="4187952"/>
            <a:ext cx="1554481" cy="5731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334155"/>
                </a:solidFill>
              </a:defRPr>
            </a:lvl1pPr>
          </a:lstStyle>
          <a:p>
            <a:pPr/>
            <a:r>
              <a:t>Dos acumuladores (total y cantidad) + división</a:t>
            </a:r>
          </a:p>
        </p:txBody>
      </p:sp>
      <p:sp>
        <p:nvSpPr>
          <p:cNvPr id="223" name="Shape 23"/>
          <p:cNvSpPr/>
          <p:nvPr/>
        </p:nvSpPr>
        <p:spPr>
          <a:xfrm>
            <a:off x="6547104" y="3383279"/>
            <a:ext cx="1828801" cy="1783081"/>
          </a:xfrm>
          <a:prstGeom prst="roundRect">
            <a:avLst>
              <a:gd name="adj" fmla="val 410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24" name="Text 24"/>
          <p:cNvSpPr txBox="1"/>
          <p:nvPr/>
        </p:nvSpPr>
        <p:spPr>
          <a:xfrm>
            <a:off x="6684264" y="3520440"/>
            <a:ext cx="155448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chemeClr val="accent3"/>
                </a:solidFill>
                <a:latin typeface="Menlo Regular"/>
                <a:ea typeface="Menlo Regular"/>
                <a:cs typeface="Menlo Regular"/>
                <a:sym typeface="Menlo Regular"/>
              </a:defRPr>
            </a:lvl1pPr>
          </a:lstStyle>
          <a:p>
            <a:pPr/>
            <a:r>
              <a:t>filtrar_aprobados</a:t>
            </a:r>
          </a:p>
        </p:txBody>
      </p:sp>
      <p:sp>
        <p:nvSpPr>
          <p:cNvPr id="225" name="Text 25"/>
          <p:cNvSpPr txBox="1"/>
          <p:nvPr/>
        </p:nvSpPr>
        <p:spPr>
          <a:xfrm>
            <a:off x="6684264" y="4187952"/>
            <a:ext cx="1554481" cy="3699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334155"/>
                </a:solidFill>
              </a:defRPr>
            </a:lvl1pPr>
          </a:lstStyle>
          <a:p>
            <a:pPr/>
            <a:r>
              <a:t>Lista nueva: empieza en [] y hace append</a:t>
            </a:r>
          </a:p>
        </p:txBody>
      </p:sp>
      <p:sp>
        <p:nvSpPr>
          <p:cNvPr id="226" name="Shape 26"/>
          <p:cNvSpPr/>
          <p:nvPr/>
        </p:nvSpPr>
        <p:spPr>
          <a:xfrm>
            <a:off x="8595359" y="1417319"/>
            <a:ext cx="2926081" cy="3749042"/>
          </a:xfrm>
          <a:prstGeom prst="roundRect">
            <a:avLst>
              <a:gd name="adj" fmla="val 2500"/>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27" name="Text 27"/>
          <p:cNvSpPr txBox="1"/>
          <p:nvPr/>
        </p:nvSpPr>
        <p:spPr>
          <a:xfrm>
            <a:off x="8796528" y="1563877"/>
            <a:ext cx="2523745"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4"/>
                </a:solidFill>
              </a:defRPr>
            </a:lvl1pPr>
          </a:lstStyle>
          <a:p>
            <a:pPr/>
            <a:r>
              <a:t>⚠️ Evita</a:t>
            </a:r>
          </a:p>
        </p:txBody>
      </p:sp>
      <p:sp>
        <p:nvSpPr>
          <p:cNvPr id="228" name="Text 28"/>
          <p:cNvSpPr txBox="1"/>
          <p:nvPr/>
        </p:nvSpPr>
        <p:spPr>
          <a:xfrm>
            <a:off x="8796528" y="1929383"/>
            <a:ext cx="2523745" cy="15754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300">
                <a:solidFill>
                  <a:srgbClr val="334155"/>
                </a:solidFill>
                <a:latin typeface="Menlo Regular"/>
                <a:ea typeface="Menlo Regular"/>
                <a:cs typeface="Menlo Regular"/>
                <a:sym typeface="Menlo Regular"/>
              </a:defRPr>
            </a:pPr>
            <a:r>
              <a:t>hacer_cosas</a:t>
            </a:r>
            <a:r>
              <a:rPr sz="1400">
                <a:latin typeface="+mn-lt"/>
                <a:ea typeface="+mn-ea"/>
                <a:cs typeface="+mn-cs"/>
                <a:sym typeface="Calibri"/>
              </a:rPr>
              <a:t>, </a:t>
            </a:r>
            <a:r>
              <a:t>procesar_datos</a:t>
            </a:r>
            <a:r>
              <a:rPr sz="1400">
                <a:latin typeface="+mn-lt"/>
                <a:ea typeface="+mn-ea"/>
                <a:cs typeface="+mn-cs"/>
                <a:sym typeface="Calibri"/>
              </a:rPr>
              <a:t>: verbo vacío</a:t>
            </a:r>
          </a:p>
          <a:p>
            <a:pPr>
              <a:spcBef>
                <a:spcPts val="400"/>
              </a:spcBef>
              <a:defRPr sz="1300">
                <a:solidFill>
                  <a:srgbClr val="334155"/>
                </a:solidFill>
                <a:latin typeface="Menlo Regular"/>
                <a:ea typeface="Menlo Regular"/>
                <a:cs typeface="Menlo Regular"/>
                <a:sym typeface="Menlo Regular"/>
              </a:defRPr>
            </a:pPr>
            <a:r>
              <a:t>calculando_total</a:t>
            </a:r>
            <a:r>
              <a:rPr sz="1400">
                <a:latin typeface="+mn-lt"/>
                <a:ea typeface="+mn-ea"/>
                <a:cs typeface="+mn-cs"/>
                <a:sym typeface="Calibri"/>
              </a:rPr>
              <a:t>: gerundio</a:t>
            </a:r>
          </a:p>
          <a:p>
            <a:pPr>
              <a:spcBef>
                <a:spcPts val="400"/>
              </a:spcBef>
              <a:defRPr sz="1300">
                <a:solidFill>
                  <a:srgbClr val="334155"/>
                </a:solidFill>
                <a:latin typeface="Menlo Regular"/>
                <a:ea typeface="Menlo Regular"/>
                <a:cs typeface="Menlo Regular"/>
                <a:sym typeface="Menlo Regular"/>
              </a:defRPr>
            </a:pPr>
            <a:r>
              <a:t>calcula_total</a:t>
            </a:r>
            <a:r>
              <a:rPr sz="1400">
                <a:latin typeface="+mn-lt"/>
                <a:ea typeface="+mn-ea"/>
                <a:cs typeface="+mn-cs"/>
                <a:sym typeface="Calibri"/>
              </a:rPr>
              <a:t>: conjugado</a:t>
            </a:r>
          </a:p>
          <a:p>
            <a:pPr>
              <a:spcBef>
                <a:spcPts val="400"/>
              </a:spcBef>
              <a:defRPr sz="1300">
                <a:solidFill>
                  <a:srgbClr val="334155"/>
                </a:solidFill>
                <a:latin typeface="Menlo Regular"/>
                <a:ea typeface="Menlo Regular"/>
                <a:cs typeface="Menlo Regular"/>
                <a:sym typeface="Menlo Regular"/>
              </a:defRPr>
            </a:pPr>
            <a:r>
              <a:t>total</a:t>
            </a:r>
            <a:r>
              <a:rPr sz="1400">
                <a:latin typeface="+mn-lt"/>
                <a:ea typeface="+mn-ea"/>
                <a:cs typeface="+mn-cs"/>
                <a:sym typeface="Calibri"/>
              </a:rPr>
              <a:t>: sin verbo</a:t>
            </a:r>
          </a:p>
          <a:p>
            <a:pPr>
              <a:spcBef>
                <a:spcPts val="400"/>
              </a:spcBef>
              <a:defRPr sz="1300">
                <a:solidFill>
                  <a:srgbClr val="334155"/>
                </a:solidFill>
                <a:latin typeface="Menlo Regular"/>
                <a:ea typeface="Menlo Regular"/>
                <a:cs typeface="Menlo Regular"/>
                <a:sym typeface="Menlo Regular"/>
              </a:defRPr>
            </a:pPr>
            <a:r>
              <a:t>funcion_1</a:t>
            </a:r>
            <a:r>
              <a:rPr sz="1400">
                <a:latin typeface="+mn-lt"/>
                <a:ea typeface="+mn-ea"/>
                <a:cs typeface="+mn-cs"/>
                <a:sym typeface="Calibri"/>
              </a:rPr>
              <a:t>: no dice nada</a:t>
            </a:r>
          </a:p>
        </p:txBody>
      </p:sp>
      <p:sp>
        <p:nvSpPr>
          <p:cNvPr id="229" name="Text 29"/>
          <p:cNvSpPr txBox="1"/>
          <p:nvPr/>
        </p:nvSpPr>
        <p:spPr>
          <a:xfrm>
            <a:off x="594359" y="5659051"/>
            <a:ext cx="109728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475569"/>
                </a:solidFill>
              </a:defRPr>
            </a:pPr>
            <a:r>
              <a:t>«</a:t>
            </a:r>
            <a:r>
              <a:rPr b="1"/>
              <a:t>Contar</a:t>
            </a:r>
            <a:r>
              <a:t> victorias» → contador. «</a:t>
            </a:r>
            <a:r>
              <a:rPr b="1"/>
              <a:t>Encontrar</a:t>
            </a:r>
            <a:r>
              <a:t> la mejor vuelta» → acumulador del mínimo. El nombre ya es medio algoritmo.</a:t>
            </a:r>
          </a:p>
        </p:txBody>
      </p:sp>
      <p:sp>
        <p:nvSpPr>
          <p:cNvPr id="230"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Text 0"/>
          <p:cNvSpPr txBox="1"/>
          <p:nvPr>
            <p:ph type="title"/>
          </p:nvPr>
        </p:nvSpPr>
        <p:spPr>
          <a:prstGeom prst="rect">
            <a:avLst/>
          </a:prstGeom>
        </p:spPr>
        <p:txBody>
          <a:bodyPr lIns="0" tIns="0" rIns="0" bIns="0" anchor="ctr"/>
          <a:lstStyle/>
          <a:p>
            <a:pPr/>
            <a:r>
              <a:t>Del problema al nombre (1)</a:t>
            </a:r>
          </a:p>
        </p:txBody>
      </p:sp>
      <p:sp>
        <p:nvSpPr>
          <p:cNvPr id="235" name="Text 0"/>
          <p:cNvSpPr txBox="1"/>
          <p:nvPr>
            <p:ph type="body" sz="quarter" idx="1"/>
          </p:nvPr>
        </p:nvSpPr>
        <p:spPr>
          <a:prstGeom prst="rect">
            <a:avLst/>
          </a:prstGeom>
        </p:spPr>
        <p:txBody>
          <a:bodyPr lIns="0" tIns="0" rIns="0" bIns="0" anchor="ctr"/>
          <a:lstStyle/>
          <a:p>
            <a:pPr/>
            <a:r>
              <a:t>Lee el problema y piensa el nombre antes de ver la respuesta: </a:t>
            </a:r>
            <a:r>
              <a:rPr b="1"/>
              <a:t>verbo + objeto + contexto</a:t>
            </a:r>
            <a:r>
              <a:t>.</a:t>
            </a:r>
          </a:p>
        </p:txBody>
      </p:sp>
      <p:sp>
        <p:nvSpPr>
          <p:cNvPr id="236" name="Shape 2"/>
          <p:cNvSpPr/>
          <p:nvPr/>
        </p:nvSpPr>
        <p:spPr>
          <a:xfrm>
            <a:off x="594359" y="1417319"/>
            <a:ext cx="3520442" cy="4023361"/>
          </a:xfrm>
          <a:prstGeom prst="roundRect">
            <a:avLst>
              <a:gd name="adj" fmla="val 2078"/>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37" name="Text 3"/>
          <p:cNvSpPr txBox="1"/>
          <p:nvPr/>
        </p:nvSpPr>
        <p:spPr>
          <a:xfrm>
            <a:off x="795527" y="161524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Problema 1</a:t>
            </a:r>
          </a:p>
        </p:txBody>
      </p:sp>
      <p:sp>
        <p:nvSpPr>
          <p:cNvPr id="238" name="Text 4"/>
          <p:cNvSpPr txBox="1"/>
          <p:nvPr/>
        </p:nvSpPr>
        <p:spPr>
          <a:xfrm>
            <a:off x="795527" y="1929383"/>
            <a:ext cx="3118105" cy="7524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334155"/>
                </a:solidFill>
              </a:defRPr>
            </a:pPr>
            <a:r>
              <a:t>Recibe la lista de precios de un carrito de compras y regresa </a:t>
            </a:r>
            <a:r>
              <a:rPr b="1"/>
              <a:t>cuánto hay que pagar</a:t>
            </a:r>
            <a:r>
              <a:t> en total.</a:t>
            </a:r>
          </a:p>
        </p:txBody>
      </p:sp>
      <p:sp>
        <p:nvSpPr>
          <p:cNvPr id="239" name="Shape 5"/>
          <p:cNvSpPr/>
          <p:nvPr/>
        </p:nvSpPr>
        <p:spPr>
          <a:xfrm>
            <a:off x="731519" y="3611879"/>
            <a:ext cx="3246122" cy="1188721"/>
          </a:xfrm>
          <a:prstGeom prst="roundRect">
            <a:avLst>
              <a:gd name="adj" fmla="val 6154"/>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40" name="Text 6"/>
          <p:cNvSpPr txBox="1"/>
          <p:nvPr/>
        </p:nvSpPr>
        <p:spPr>
          <a:xfrm>
            <a:off x="868680" y="3726224"/>
            <a:ext cx="29718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Nombre propuesto</a:t>
            </a:r>
          </a:p>
        </p:txBody>
      </p:sp>
      <p:sp>
        <p:nvSpPr>
          <p:cNvPr id="241" name="Shape 7"/>
          <p:cNvSpPr/>
          <p:nvPr/>
        </p:nvSpPr>
        <p:spPr>
          <a:xfrm>
            <a:off x="1107338" y="4325111"/>
            <a:ext cx="907086" cy="36577"/>
          </a:xfrm>
          <a:prstGeom prst="rect">
            <a:avLst/>
          </a:prstGeom>
          <a:solidFill>
            <a:srgbClr val="60A5FA"/>
          </a:solidFill>
          <a:ln w="12700">
            <a:solidFill>
              <a:srgbClr val="60A5FA"/>
            </a:solidFill>
          </a:ln>
        </p:spPr>
        <p:txBody>
          <a:bodyPr lIns="45719" rIns="45719"/>
          <a:lstStyle/>
          <a:p>
            <a:pPr/>
          </a:p>
        </p:txBody>
      </p:sp>
      <p:sp>
        <p:nvSpPr>
          <p:cNvPr id="242" name="Text 8"/>
          <p:cNvSpPr txBox="1"/>
          <p:nvPr/>
        </p:nvSpPr>
        <p:spPr>
          <a:xfrm>
            <a:off x="1107338" y="4439456"/>
            <a:ext cx="907086"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60A5FA"/>
                </a:solidFill>
              </a:defRPr>
            </a:lvl1pPr>
          </a:lstStyle>
          <a:p>
            <a:pPr/>
            <a:r>
              <a:t>verbo</a:t>
            </a:r>
          </a:p>
        </p:txBody>
      </p:sp>
      <p:sp>
        <p:nvSpPr>
          <p:cNvPr id="243" name="Shape 9"/>
          <p:cNvSpPr/>
          <p:nvPr/>
        </p:nvSpPr>
        <p:spPr>
          <a:xfrm>
            <a:off x="2127809" y="4325111"/>
            <a:ext cx="566929" cy="36577"/>
          </a:xfrm>
          <a:prstGeom prst="rect">
            <a:avLst/>
          </a:prstGeom>
          <a:solidFill>
            <a:srgbClr val="4ADE80"/>
          </a:solidFill>
          <a:ln w="12700">
            <a:solidFill>
              <a:srgbClr val="4ADE80"/>
            </a:solidFill>
          </a:ln>
        </p:spPr>
        <p:txBody>
          <a:bodyPr lIns="45719" rIns="45719"/>
          <a:lstStyle/>
          <a:p>
            <a:pPr/>
          </a:p>
        </p:txBody>
      </p:sp>
      <p:sp>
        <p:nvSpPr>
          <p:cNvPr id="244" name="Text 10"/>
          <p:cNvSpPr txBox="1"/>
          <p:nvPr/>
        </p:nvSpPr>
        <p:spPr>
          <a:xfrm>
            <a:off x="1976933" y="4439456"/>
            <a:ext cx="8686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4ADE80"/>
                </a:solidFill>
              </a:defRPr>
            </a:lvl1pPr>
          </a:lstStyle>
          <a:p>
            <a:pPr/>
            <a:r>
              <a:t>objeto</a:t>
            </a:r>
          </a:p>
        </p:txBody>
      </p:sp>
      <p:sp>
        <p:nvSpPr>
          <p:cNvPr id="245" name="Shape 11"/>
          <p:cNvSpPr/>
          <p:nvPr/>
        </p:nvSpPr>
        <p:spPr>
          <a:xfrm>
            <a:off x="2808122" y="4325111"/>
            <a:ext cx="793700" cy="36577"/>
          </a:xfrm>
          <a:prstGeom prst="rect">
            <a:avLst/>
          </a:prstGeom>
          <a:solidFill>
            <a:srgbClr val="FBBF24"/>
          </a:solidFill>
          <a:ln w="12700">
            <a:solidFill>
              <a:srgbClr val="FBBF24"/>
            </a:solidFill>
          </a:ln>
        </p:spPr>
        <p:txBody>
          <a:bodyPr lIns="45719" rIns="45719"/>
          <a:lstStyle/>
          <a:p>
            <a:pPr/>
          </a:p>
        </p:txBody>
      </p:sp>
      <p:sp>
        <p:nvSpPr>
          <p:cNvPr id="246" name="Text 12"/>
          <p:cNvSpPr txBox="1"/>
          <p:nvPr/>
        </p:nvSpPr>
        <p:spPr>
          <a:xfrm>
            <a:off x="2770632" y="4439456"/>
            <a:ext cx="8686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BBF24"/>
                </a:solidFill>
              </a:defRPr>
            </a:lvl1pPr>
          </a:lstStyle>
          <a:p>
            <a:pPr/>
            <a:r>
              <a:t>contexto</a:t>
            </a:r>
          </a:p>
        </p:txBody>
      </p:sp>
      <p:sp>
        <p:nvSpPr>
          <p:cNvPr id="247" name="Text 13"/>
          <p:cNvSpPr txBox="1"/>
          <p:nvPr/>
        </p:nvSpPr>
        <p:spPr>
          <a:xfrm>
            <a:off x="1061617" y="4022344"/>
            <a:ext cx="2585924"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60A5FA"/>
                </a:solidFill>
                <a:latin typeface="Menlo Regular"/>
                <a:ea typeface="Menlo Regular"/>
                <a:cs typeface="Menlo Regular"/>
                <a:sym typeface="Menlo Regular"/>
              </a:defRPr>
            </a:pPr>
            <a:r>
              <a:t>calcular</a:t>
            </a:r>
            <a:r>
              <a:rPr>
                <a:solidFill>
                  <a:srgbClr val="94A3B8"/>
                </a:solidFill>
              </a:rPr>
              <a:t>_</a:t>
            </a:r>
            <a:r>
              <a:rPr>
                <a:solidFill>
                  <a:srgbClr val="4ADE80"/>
                </a:solidFill>
              </a:rPr>
              <a:t>total</a:t>
            </a:r>
            <a:r>
              <a:rPr>
                <a:solidFill>
                  <a:srgbClr val="94A3B8"/>
                </a:solidFill>
              </a:rPr>
              <a:t>_</a:t>
            </a:r>
            <a:r>
              <a:rPr>
                <a:solidFill>
                  <a:srgbClr val="FBBF24"/>
                </a:solidFill>
              </a:rPr>
              <a:t>carrito</a:t>
            </a:r>
          </a:p>
        </p:txBody>
      </p:sp>
      <p:sp>
        <p:nvSpPr>
          <p:cNvPr id="248" name="Text 14"/>
          <p:cNvSpPr txBox="1"/>
          <p:nvPr/>
        </p:nvSpPr>
        <p:spPr>
          <a:xfrm>
            <a:off x="795527" y="4910328"/>
            <a:ext cx="3118105"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475569"/>
                </a:solidFill>
              </a:defRPr>
            </a:pPr>
            <a:r>
              <a:t>Estructura:</a:t>
            </a:r>
            <a:r>
              <a:rPr b="0"/>
              <a:t> acumulador de suma</a:t>
            </a:r>
          </a:p>
        </p:txBody>
      </p:sp>
      <p:sp>
        <p:nvSpPr>
          <p:cNvPr id="249" name="Shape 15"/>
          <p:cNvSpPr/>
          <p:nvPr/>
        </p:nvSpPr>
        <p:spPr>
          <a:xfrm>
            <a:off x="4297679" y="1417319"/>
            <a:ext cx="3520442" cy="4023361"/>
          </a:xfrm>
          <a:prstGeom prst="roundRect">
            <a:avLst>
              <a:gd name="adj" fmla="val 2078"/>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50" name="Text 16"/>
          <p:cNvSpPr txBox="1"/>
          <p:nvPr/>
        </p:nvSpPr>
        <p:spPr>
          <a:xfrm>
            <a:off x="4498847" y="161524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Problema 2</a:t>
            </a:r>
          </a:p>
        </p:txBody>
      </p:sp>
      <p:sp>
        <p:nvSpPr>
          <p:cNvPr id="251" name="Text 17"/>
          <p:cNvSpPr txBox="1"/>
          <p:nvPr/>
        </p:nvSpPr>
        <p:spPr>
          <a:xfrm>
            <a:off x="4498847" y="1929383"/>
            <a:ext cx="3118105" cy="7524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334155"/>
                </a:solidFill>
              </a:defRPr>
            </a:pPr>
            <a:r>
              <a:t>Recibe las calificaciones de un grupo y regresa </a:t>
            </a:r>
            <a:r>
              <a:rPr b="1"/>
              <a:t>cuántos alumnos reprobaron</a:t>
            </a:r>
            <a:r>
              <a:t> (menos de 6).</a:t>
            </a:r>
          </a:p>
        </p:txBody>
      </p:sp>
      <p:sp>
        <p:nvSpPr>
          <p:cNvPr id="252" name="Shape 18"/>
          <p:cNvSpPr/>
          <p:nvPr/>
        </p:nvSpPr>
        <p:spPr>
          <a:xfrm>
            <a:off x="4434840" y="3611879"/>
            <a:ext cx="3246121" cy="1188721"/>
          </a:xfrm>
          <a:prstGeom prst="roundRect">
            <a:avLst>
              <a:gd name="adj" fmla="val 6154"/>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53" name="Text 19"/>
          <p:cNvSpPr txBox="1"/>
          <p:nvPr/>
        </p:nvSpPr>
        <p:spPr>
          <a:xfrm>
            <a:off x="4572000" y="3726224"/>
            <a:ext cx="297180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Nombre propuesto</a:t>
            </a:r>
          </a:p>
        </p:txBody>
      </p:sp>
      <p:sp>
        <p:nvSpPr>
          <p:cNvPr id="254" name="Shape 20"/>
          <p:cNvSpPr/>
          <p:nvPr/>
        </p:nvSpPr>
        <p:spPr>
          <a:xfrm>
            <a:off x="4753966" y="4325111"/>
            <a:ext cx="680315" cy="36577"/>
          </a:xfrm>
          <a:prstGeom prst="rect">
            <a:avLst/>
          </a:prstGeom>
          <a:solidFill>
            <a:srgbClr val="60A5FA"/>
          </a:solidFill>
          <a:ln w="12700">
            <a:solidFill>
              <a:srgbClr val="60A5FA"/>
            </a:solidFill>
          </a:ln>
        </p:spPr>
        <p:txBody>
          <a:bodyPr lIns="45719" rIns="45719"/>
          <a:lstStyle/>
          <a:p>
            <a:pPr/>
          </a:p>
        </p:txBody>
      </p:sp>
      <p:sp>
        <p:nvSpPr>
          <p:cNvPr id="255" name="Text 21"/>
          <p:cNvSpPr txBox="1"/>
          <p:nvPr/>
        </p:nvSpPr>
        <p:spPr>
          <a:xfrm>
            <a:off x="4659781" y="4439456"/>
            <a:ext cx="8686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60A5FA"/>
                </a:solidFill>
              </a:defRPr>
            </a:lvl1pPr>
          </a:lstStyle>
          <a:p>
            <a:pPr/>
            <a:r>
              <a:t>verbo</a:t>
            </a:r>
          </a:p>
        </p:txBody>
      </p:sp>
      <p:sp>
        <p:nvSpPr>
          <p:cNvPr id="256" name="Shape 22"/>
          <p:cNvSpPr/>
          <p:nvPr/>
        </p:nvSpPr>
        <p:spPr>
          <a:xfrm>
            <a:off x="5547664" y="4325111"/>
            <a:ext cx="1133857" cy="36577"/>
          </a:xfrm>
          <a:prstGeom prst="rect">
            <a:avLst/>
          </a:prstGeom>
          <a:solidFill>
            <a:srgbClr val="4ADE80"/>
          </a:solidFill>
          <a:ln w="12700">
            <a:solidFill>
              <a:srgbClr val="4ADE80"/>
            </a:solidFill>
          </a:ln>
        </p:spPr>
        <p:txBody>
          <a:bodyPr lIns="45719" rIns="45719"/>
          <a:lstStyle/>
          <a:p>
            <a:pPr/>
          </a:p>
        </p:txBody>
      </p:sp>
      <p:sp>
        <p:nvSpPr>
          <p:cNvPr id="257" name="Text 23"/>
          <p:cNvSpPr txBox="1"/>
          <p:nvPr/>
        </p:nvSpPr>
        <p:spPr>
          <a:xfrm>
            <a:off x="5547664" y="4439456"/>
            <a:ext cx="1133857"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4ADE80"/>
                </a:solidFill>
              </a:defRPr>
            </a:lvl1pPr>
          </a:lstStyle>
          <a:p>
            <a:pPr/>
            <a:r>
              <a:t>objeto</a:t>
            </a:r>
          </a:p>
        </p:txBody>
      </p:sp>
      <p:sp>
        <p:nvSpPr>
          <p:cNvPr id="258" name="Shape 24"/>
          <p:cNvSpPr/>
          <p:nvPr/>
        </p:nvSpPr>
        <p:spPr>
          <a:xfrm>
            <a:off x="6794906" y="4325111"/>
            <a:ext cx="566929" cy="36577"/>
          </a:xfrm>
          <a:prstGeom prst="rect">
            <a:avLst/>
          </a:prstGeom>
          <a:solidFill>
            <a:srgbClr val="FBBF24"/>
          </a:solidFill>
          <a:ln w="12700">
            <a:solidFill>
              <a:srgbClr val="FBBF24"/>
            </a:solidFill>
          </a:ln>
        </p:spPr>
        <p:txBody>
          <a:bodyPr lIns="45719" rIns="45719"/>
          <a:lstStyle/>
          <a:p>
            <a:pPr/>
          </a:p>
        </p:txBody>
      </p:sp>
      <p:sp>
        <p:nvSpPr>
          <p:cNvPr id="259" name="Text 25"/>
          <p:cNvSpPr txBox="1"/>
          <p:nvPr/>
        </p:nvSpPr>
        <p:spPr>
          <a:xfrm>
            <a:off x="6644030" y="4439456"/>
            <a:ext cx="8686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BBF24"/>
                </a:solidFill>
              </a:defRPr>
            </a:lvl1pPr>
          </a:lstStyle>
          <a:p>
            <a:pPr/>
            <a:r>
              <a:t>contexto</a:t>
            </a:r>
          </a:p>
        </p:txBody>
      </p:sp>
      <p:sp>
        <p:nvSpPr>
          <p:cNvPr id="260" name="Text 26"/>
          <p:cNvSpPr txBox="1"/>
          <p:nvPr/>
        </p:nvSpPr>
        <p:spPr>
          <a:xfrm>
            <a:off x="4708245" y="4022344"/>
            <a:ext cx="269931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60A5FA"/>
                </a:solidFill>
                <a:latin typeface="Menlo Regular"/>
                <a:ea typeface="Menlo Regular"/>
                <a:cs typeface="Menlo Regular"/>
                <a:sym typeface="Menlo Regular"/>
              </a:defRPr>
            </a:pPr>
            <a:r>
              <a:t>contar</a:t>
            </a:r>
            <a:r>
              <a:rPr>
                <a:solidFill>
                  <a:srgbClr val="94A3B8"/>
                </a:solidFill>
              </a:rPr>
              <a:t>_</a:t>
            </a:r>
            <a:r>
              <a:rPr>
                <a:solidFill>
                  <a:srgbClr val="4ADE80"/>
                </a:solidFill>
              </a:rPr>
              <a:t>reprobados</a:t>
            </a:r>
            <a:r>
              <a:rPr>
                <a:solidFill>
                  <a:srgbClr val="94A3B8"/>
                </a:solidFill>
              </a:rPr>
              <a:t>_</a:t>
            </a:r>
            <a:r>
              <a:rPr>
                <a:solidFill>
                  <a:srgbClr val="FBBF24"/>
                </a:solidFill>
              </a:rPr>
              <a:t>grupo</a:t>
            </a:r>
          </a:p>
        </p:txBody>
      </p:sp>
      <p:sp>
        <p:nvSpPr>
          <p:cNvPr id="261" name="Text 27"/>
          <p:cNvSpPr txBox="1"/>
          <p:nvPr/>
        </p:nvSpPr>
        <p:spPr>
          <a:xfrm>
            <a:off x="4498847" y="4910328"/>
            <a:ext cx="3118105" cy="1831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475569"/>
                </a:solidFill>
              </a:defRPr>
            </a:pPr>
            <a:r>
              <a:t>Estructura:</a:t>
            </a:r>
            <a:r>
              <a:rPr b="0"/>
              <a:t> contador con un </a:t>
            </a:r>
            <a:r>
              <a:rPr b="0" sz="1200">
                <a:latin typeface="Menlo Regular"/>
                <a:ea typeface="Menlo Regular"/>
                <a:cs typeface="Menlo Regular"/>
                <a:sym typeface="Menlo Regular"/>
              </a:rPr>
              <a:t>if</a:t>
            </a:r>
          </a:p>
        </p:txBody>
      </p:sp>
      <p:sp>
        <p:nvSpPr>
          <p:cNvPr id="262" name="Shape 28"/>
          <p:cNvSpPr/>
          <p:nvPr/>
        </p:nvSpPr>
        <p:spPr>
          <a:xfrm>
            <a:off x="8001000" y="1417319"/>
            <a:ext cx="3520441" cy="4023361"/>
          </a:xfrm>
          <a:prstGeom prst="roundRect">
            <a:avLst>
              <a:gd name="adj" fmla="val 2078"/>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63" name="Text 29"/>
          <p:cNvSpPr txBox="1"/>
          <p:nvPr/>
        </p:nvSpPr>
        <p:spPr>
          <a:xfrm>
            <a:off x="8202168" y="161524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Problema 3</a:t>
            </a:r>
          </a:p>
        </p:txBody>
      </p:sp>
      <p:sp>
        <p:nvSpPr>
          <p:cNvPr id="264" name="Text 30"/>
          <p:cNvSpPr txBox="1"/>
          <p:nvPr/>
        </p:nvSpPr>
        <p:spPr>
          <a:xfrm>
            <a:off x="8202168" y="1929383"/>
            <a:ext cx="3118105" cy="7524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334155"/>
                </a:solidFill>
              </a:defRPr>
            </a:pPr>
            <a:r>
              <a:t>Recibe los puntajes de un videojuego y regresa </a:t>
            </a:r>
            <a:r>
              <a:rPr b="1"/>
              <a:t>el más alto</a:t>
            </a:r>
            <a:r>
              <a:t> (el récord).</a:t>
            </a:r>
          </a:p>
        </p:txBody>
      </p:sp>
      <p:sp>
        <p:nvSpPr>
          <p:cNvPr id="265" name="Shape 31"/>
          <p:cNvSpPr/>
          <p:nvPr/>
        </p:nvSpPr>
        <p:spPr>
          <a:xfrm>
            <a:off x="8138159" y="3611879"/>
            <a:ext cx="3246121" cy="1188721"/>
          </a:xfrm>
          <a:prstGeom prst="roundRect">
            <a:avLst>
              <a:gd name="adj" fmla="val 6154"/>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66" name="Text 32"/>
          <p:cNvSpPr txBox="1"/>
          <p:nvPr/>
        </p:nvSpPr>
        <p:spPr>
          <a:xfrm>
            <a:off x="8275319" y="3726224"/>
            <a:ext cx="29718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Nombre propuesto</a:t>
            </a:r>
          </a:p>
        </p:txBody>
      </p:sp>
      <p:sp>
        <p:nvSpPr>
          <p:cNvPr id="267" name="Shape 33"/>
          <p:cNvSpPr/>
          <p:nvPr/>
        </p:nvSpPr>
        <p:spPr>
          <a:xfrm>
            <a:off x="8343900" y="4325111"/>
            <a:ext cx="1020470" cy="36577"/>
          </a:xfrm>
          <a:prstGeom prst="rect">
            <a:avLst/>
          </a:prstGeom>
          <a:solidFill>
            <a:srgbClr val="60A5FA"/>
          </a:solidFill>
          <a:ln w="12700">
            <a:solidFill>
              <a:srgbClr val="60A5FA"/>
            </a:solidFill>
          </a:ln>
        </p:spPr>
        <p:txBody>
          <a:bodyPr lIns="45719" rIns="45719"/>
          <a:lstStyle/>
          <a:p>
            <a:pPr/>
          </a:p>
        </p:txBody>
      </p:sp>
      <p:sp>
        <p:nvSpPr>
          <p:cNvPr id="268" name="Text 34"/>
          <p:cNvSpPr txBox="1"/>
          <p:nvPr/>
        </p:nvSpPr>
        <p:spPr>
          <a:xfrm>
            <a:off x="8343900" y="4439456"/>
            <a:ext cx="102047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60A5FA"/>
                </a:solidFill>
              </a:defRPr>
            </a:lvl1pPr>
          </a:lstStyle>
          <a:p>
            <a:pPr/>
            <a:r>
              <a:t>verbo</a:t>
            </a:r>
          </a:p>
        </p:txBody>
      </p:sp>
      <p:sp>
        <p:nvSpPr>
          <p:cNvPr id="269" name="Shape 35"/>
          <p:cNvSpPr/>
          <p:nvPr/>
        </p:nvSpPr>
        <p:spPr>
          <a:xfrm>
            <a:off x="9477756" y="4325111"/>
            <a:ext cx="680315" cy="36577"/>
          </a:xfrm>
          <a:prstGeom prst="rect">
            <a:avLst/>
          </a:prstGeom>
          <a:solidFill>
            <a:srgbClr val="4ADE80"/>
          </a:solidFill>
          <a:ln w="12700">
            <a:solidFill>
              <a:srgbClr val="4ADE80"/>
            </a:solidFill>
          </a:ln>
        </p:spPr>
        <p:txBody>
          <a:bodyPr lIns="45719" rIns="45719"/>
          <a:lstStyle/>
          <a:p>
            <a:pPr/>
          </a:p>
        </p:txBody>
      </p:sp>
      <p:sp>
        <p:nvSpPr>
          <p:cNvPr id="270" name="Text 36"/>
          <p:cNvSpPr txBox="1"/>
          <p:nvPr/>
        </p:nvSpPr>
        <p:spPr>
          <a:xfrm>
            <a:off x="9383572" y="4439456"/>
            <a:ext cx="8686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4ADE80"/>
                </a:solidFill>
              </a:defRPr>
            </a:lvl1pPr>
          </a:lstStyle>
          <a:p>
            <a:pPr/>
            <a:r>
              <a:t>objeto</a:t>
            </a:r>
          </a:p>
        </p:txBody>
      </p:sp>
      <p:sp>
        <p:nvSpPr>
          <p:cNvPr id="271" name="Shape 37"/>
          <p:cNvSpPr/>
          <p:nvPr/>
        </p:nvSpPr>
        <p:spPr>
          <a:xfrm>
            <a:off x="10271455" y="4325111"/>
            <a:ext cx="907086" cy="36577"/>
          </a:xfrm>
          <a:prstGeom prst="rect">
            <a:avLst/>
          </a:prstGeom>
          <a:solidFill>
            <a:srgbClr val="FBBF24"/>
          </a:solidFill>
          <a:ln w="12700">
            <a:solidFill>
              <a:srgbClr val="FBBF24"/>
            </a:solidFill>
          </a:ln>
        </p:spPr>
        <p:txBody>
          <a:bodyPr lIns="45719" rIns="45719"/>
          <a:lstStyle/>
          <a:p>
            <a:pPr/>
          </a:p>
        </p:txBody>
      </p:sp>
      <p:sp>
        <p:nvSpPr>
          <p:cNvPr id="272" name="Text 38"/>
          <p:cNvSpPr txBox="1"/>
          <p:nvPr/>
        </p:nvSpPr>
        <p:spPr>
          <a:xfrm>
            <a:off x="10271455" y="4439456"/>
            <a:ext cx="907086"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BBF24"/>
                </a:solidFill>
              </a:defRPr>
            </a:lvl1pPr>
          </a:lstStyle>
          <a:p>
            <a:pPr/>
            <a:r>
              <a:t>contexto</a:t>
            </a:r>
          </a:p>
        </p:txBody>
      </p:sp>
      <p:sp>
        <p:nvSpPr>
          <p:cNvPr id="273" name="Text 39"/>
          <p:cNvSpPr txBox="1"/>
          <p:nvPr/>
        </p:nvSpPr>
        <p:spPr>
          <a:xfrm>
            <a:off x="8298180" y="4022344"/>
            <a:ext cx="292608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60A5FA"/>
                </a:solidFill>
                <a:latin typeface="Menlo Regular"/>
                <a:ea typeface="Menlo Regular"/>
                <a:cs typeface="Menlo Regular"/>
                <a:sym typeface="Menlo Regular"/>
              </a:defRPr>
            </a:pPr>
            <a:r>
              <a:t>encontrar</a:t>
            </a:r>
            <a:r>
              <a:rPr>
                <a:solidFill>
                  <a:srgbClr val="94A3B8"/>
                </a:solidFill>
              </a:rPr>
              <a:t>_</a:t>
            </a:r>
            <a:r>
              <a:rPr>
                <a:solidFill>
                  <a:srgbClr val="4ADE80"/>
                </a:solidFill>
              </a:rPr>
              <a:t>maximo</a:t>
            </a:r>
            <a:r>
              <a:rPr>
                <a:solidFill>
                  <a:srgbClr val="94A3B8"/>
                </a:solidFill>
              </a:rPr>
              <a:t>_</a:t>
            </a:r>
            <a:r>
              <a:rPr>
                <a:solidFill>
                  <a:srgbClr val="FBBF24"/>
                </a:solidFill>
              </a:rPr>
              <a:t>puntajes</a:t>
            </a:r>
          </a:p>
        </p:txBody>
      </p:sp>
      <p:sp>
        <p:nvSpPr>
          <p:cNvPr id="274" name="Text 40"/>
          <p:cNvSpPr txBox="1"/>
          <p:nvPr/>
        </p:nvSpPr>
        <p:spPr>
          <a:xfrm>
            <a:off x="8202168" y="4910328"/>
            <a:ext cx="3118105"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475569"/>
                </a:solidFill>
              </a:defRPr>
            </a:pPr>
            <a:r>
              <a:t>Estructura:</a:t>
            </a:r>
            <a:r>
              <a:rPr b="0"/>
              <a:t> acumulador del máximo</a:t>
            </a:r>
          </a:p>
        </p:txBody>
      </p:sp>
      <p:sp>
        <p:nvSpPr>
          <p:cNvPr id="275" name="Text 41"/>
          <p:cNvSpPr txBox="1"/>
          <p:nvPr/>
        </p:nvSpPr>
        <p:spPr>
          <a:xfrm>
            <a:off x="594359" y="5841931"/>
            <a:ext cx="109728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475569"/>
                </a:solidFill>
              </a:defRPr>
            </a:pPr>
            <a:r>
              <a:t>Primero </a:t>
            </a:r>
            <a:r>
              <a:rPr b="1"/>
              <a:t>verbo + objeto</a:t>
            </a:r>
            <a:r>
              <a:t>: ya dicen la estructura. El contexto dice sobre qué datos.</a:t>
            </a:r>
          </a:p>
        </p:txBody>
      </p:sp>
      <p:sp>
        <p:nvSpPr>
          <p:cNvPr id="276"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Text 0"/>
          <p:cNvSpPr txBox="1"/>
          <p:nvPr>
            <p:ph type="title"/>
          </p:nvPr>
        </p:nvSpPr>
        <p:spPr>
          <a:prstGeom prst="rect">
            <a:avLst/>
          </a:prstGeom>
        </p:spPr>
        <p:txBody>
          <a:bodyPr lIns="0" tIns="0" rIns="0" bIns="0" anchor="ctr"/>
          <a:lstStyle/>
          <a:p>
            <a:pPr/>
            <a:r>
              <a:t>Del problema al nombre (2)</a:t>
            </a:r>
          </a:p>
        </p:txBody>
      </p:sp>
      <p:sp>
        <p:nvSpPr>
          <p:cNvPr id="281" name="Text 0"/>
          <p:cNvSpPr txBox="1"/>
          <p:nvPr>
            <p:ph type="body" sz="quarter" idx="1"/>
          </p:nvPr>
        </p:nvSpPr>
        <p:spPr>
          <a:prstGeom prst="rect">
            <a:avLst/>
          </a:prstGeom>
        </p:spPr>
        <p:txBody>
          <a:bodyPr lIns="0" tIns="0" rIns="0" bIns="0" anchor="ctr"/>
          <a:lstStyle/>
          <a:p>
            <a:pPr/>
            <a:r>
              <a:t>El contexto se agrega sólo si hace falta. Y si regresa True / False, se usa </a:t>
            </a:r>
            <a:r>
              <a:rPr b="1"/>
              <a:t>es_</a:t>
            </a:r>
            <a:r>
              <a:t>.</a:t>
            </a:r>
          </a:p>
        </p:txBody>
      </p:sp>
      <p:sp>
        <p:nvSpPr>
          <p:cNvPr id="282" name="Shape 2"/>
          <p:cNvSpPr/>
          <p:nvPr/>
        </p:nvSpPr>
        <p:spPr>
          <a:xfrm>
            <a:off x="594359" y="1417319"/>
            <a:ext cx="3520442" cy="4023361"/>
          </a:xfrm>
          <a:prstGeom prst="roundRect">
            <a:avLst>
              <a:gd name="adj" fmla="val 2078"/>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83" name="Text 3"/>
          <p:cNvSpPr txBox="1"/>
          <p:nvPr/>
        </p:nvSpPr>
        <p:spPr>
          <a:xfrm>
            <a:off x="795527" y="161524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Problema 4</a:t>
            </a:r>
          </a:p>
        </p:txBody>
      </p:sp>
      <p:sp>
        <p:nvSpPr>
          <p:cNvPr id="284" name="Text 4"/>
          <p:cNvSpPr txBox="1"/>
          <p:nvPr/>
        </p:nvSpPr>
        <p:spPr>
          <a:xfrm>
            <a:off x="795527" y="1929383"/>
            <a:ext cx="3118105" cy="7807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334155"/>
                </a:solidFill>
              </a:defRPr>
            </a:pPr>
            <a:r>
              <a:t>Recibe los mensajes de un chat y regresa </a:t>
            </a:r>
            <a:r>
              <a:rPr b="1"/>
              <a:t>el último</a:t>
            </a:r>
            <a:r>
              <a:t>. Si el chat está vacío, regresa </a:t>
            </a:r>
            <a:r>
              <a:rPr sz="1600">
                <a:latin typeface="Menlo Regular"/>
                <a:ea typeface="Menlo Regular"/>
                <a:cs typeface="Menlo Regular"/>
                <a:sym typeface="Menlo Regular"/>
              </a:rPr>
              <a:t>None</a:t>
            </a:r>
            <a:r>
              <a:t>.</a:t>
            </a:r>
          </a:p>
        </p:txBody>
      </p:sp>
      <p:sp>
        <p:nvSpPr>
          <p:cNvPr id="285" name="Shape 5"/>
          <p:cNvSpPr/>
          <p:nvPr/>
        </p:nvSpPr>
        <p:spPr>
          <a:xfrm>
            <a:off x="731519" y="3611879"/>
            <a:ext cx="3246122" cy="1188721"/>
          </a:xfrm>
          <a:prstGeom prst="roundRect">
            <a:avLst>
              <a:gd name="adj" fmla="val 6154"/>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86" name="Text 6"/>
          <p:cNvSpPr txBox="1"/>
          <p:nvPr/>
        </p:nvSpPr>
        <p:spPr>
          <a:xfrm>
            <a:off x="868680" y="3726224"/>
            <a:ext cx="29718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Nombre propuesto</a:t>
            </a:r>
          </a:p>
        </p:txBody>
      </p:sp>
      <p:sp>
        <p:nvSpPr>
          <p:cNvPr id="287" name="Shape 7"/>
          <p:cNvSpPr/>
          <p:nvPr/>
        </p:nvSpPr>
        <p:spPr>
          <a:xfrm>
            <a:off x="1008989" y="4325111"/>
            <a:ext cx="856287" cy="36577"/>
          </a:xfrm>
          <a:prstGeom prst="rect">
            <a:avLst/>
          </a:prstGeom>
          <a:solidFill>
            <a:srgbClr val="60A5FA"/>
          </a:solidFill>
          <a:ln w="12700">
            <a:solidFill>
              <a:srgbClr val="60A5FA"/>
            </a:solidFill>
          </a:ln>
        </p:spPr>
        <p:txBody>
          <a:bodyPr lIns="45719" rIns="45719"/>
          <a:lstStyle/>
          <a:p>
            <a:pPr/>
          </a:p>
        </p:txBody>
      </p:sp>
      <p:sp>
        <p:nvSpPr>
          <p:cNvPr id="288" name="Text 8"/>
          <p:cNvSpPr txBox="1"/>
          <p:nvPr/>
        </p:nvSpPr>
        <p:spPr>
          <a:xfrm>
            <a:off x="1002791" y="4439456"/>
            <a:ext cx="86868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60A5FA"/>
                </a:solidFill>
              </a:defRPr>
            </a:lvl1pPr>
          </a:lstStyle>
          <a:p>
            <a:pPr/>
            <a:r>
              <a:t>verbo</a:t>
            </a:r>
          </a:p>
        </p:txBody>
      </p:sp>
      <p:sp>
        <p:nvSpPr>
          <p:cNvPr id="289" name="Shape 9"/>
          <p:cNvSpPr/>
          <p:nvPr/>
        </p:nvSpPr>
        <p:spPr>
          <a:xfrm>
            <a:off x="1987600" y="4325111"/>
            <a:ext cx="733959" cy="36577"/>
          </a:xfrm>
          <a:prstGeom prst="rect">
            <a:avLst/>
          </a:prstGeom>
          <a:solidFill>
            <a:srgbClr val="4ADE80"/>
          </a:solidFill>
          <a:ln w="12700">
            <a:solidFill>
              <a:srgbClr val="4ADE80"/>
            </a:solidFill>
          </a:ln>
        </p:spPr>
        <p:txBody>
          <a:bodyPr lIns="45719" rIns="45719"/>
          <a:lstStyle/>
          <a:p>
            <a:pPr/>
          </a:p>
        </p:txBody>
      </p:sp>
      <p:sp>
        <p:nvSpPr>
          <p:cNvPr id="290" name="Text 10"/>
          <p:cNvSpPr txBox="1"/>
          <p:nvPr/>
        </p:nvSpPr>
        <p:spPr>
          <a:xfrm>
            <a:off x="1920239" y="4439456"/>
            <a:ext cx="8686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4ADE80"/>
                </a:solidFill>
              </a:defRPr>
            </a:lvl1pPr>
          </a:lstStyle>
          <a:p>
            <a:pPr/>
            <a:r>
              <a:t>objeto</a:t>
            </a:r>
          </a:p>
        </p:txBody>
      </p:sp>
      <p:sp>
        <p:nvSpPr>
          <p:cNvPr id="291" name="Shape 11"/>
          <p:cNvSpPr/>
          <p:nvPr/>
        </p:nvSpPr>
        <p:spPr>
          <a:xfrm>
            <a:off x="2843885" y="4325111"/>
            <a:ext cx="856286" cy="36577"/>
          </a:xfrm>
          <a:prstGeom prst="rect">
            <a:avLst/>
          </a:prstGeom>
          <a:solidFill>
            <a:srgbClr val="FBBF24"/>
          </a:solidFill>
          <a:ln w="12700">
            <a:solidFill>
              <a:srgbClr val="FBBF24"/>
            </a:solidFill>
          </a:ln>
        </p:spPr>
        <p:txBody>
          <a:bodyPr lIns="45719" rIns="45719"/>
          <a:lstStyle/>
          <a:p>
            <a:pPr/>
          </a:p>
        </p:txBody>
      </p:sp>
      <p:sp>
        <p:nvSpPr>
          <p:cNvPr id="292" name="Text 12"/>
          <p:cNvSpPr txBox="1"/>
          <p:nvPr/>
        </p:nvSpPr>
        <p:spPr>
          <a:xfrm>
            <a:off x="2837688" y="4439456"/>
            <a:ext cx="8686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BBF24"/>
                </a:solidFill>
              </a:defRPr>
            </a:lvl1pPr>
          </a:lstStyle>
          <a:p>
            <a:pPr/>
            <a:r>
              <a:t>contexto</a:t>
            </a:r>
          </a:p>
        </p:txBody>
      </p:sp>
      <p:sp>
        <p:nvSpPr>
          <p:cNvPr id="293" name="Text 13"/>
          <p:cNvSpPr txBox="1"/>
          <p:nvPr/>
        </p:nvSpPr>
        <p:spPr>
          <a:xfrm>
            <a:off x="963269" y="4003294"/>
            <a:ext cx="2782623"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60A5FA"/>
                </a:solidFill>
                <a:latin typeface="Menlo Regular"/>
                <a:ea typeface="Menlo Regular"/>
                <a:cs typeface="Menlo Regular"/>
                <a:sym typeface="Menlo Regular"/>
              </a:defRPr>
            </a:pPr>
            <a:r>
              <a:t>obtener</a:t>
            </a:r>
            <a:r>
              <a:rPr>
                <a:solidFill>
                  <a:srgbClr val="94A3B8"/>
                </a:solidFill>
              </a:rPr>
              <a:t>_</a:t>
            </a:r>
            <a:r>
              <a:rPr>
                <a:solidFill>
                  <a:srgbClr val="4ADE80"/>
                </a:solidFill>
              </a:rPr>
              <a:t>ultimo</a:t>
            </a:r>
            <a:r>
              <a:rPr>
                <a:solidFill>
                  <a:srgbClr val="94A3B8"/>
                </a:solidFill>
              </a:rPr>
              <a:t>_</a:t>
            </a:r>
            <a:r>
              <a:rPr>
                <a:solidFill>
                  <a:srgbClr val="FBBF24"/>
                </a:solidFill>
              </a:rPr>
              <a:t>mensaje</a:t>
            </a:r>
          </a:p>
        </p:txBody>
      </p:sp>
      <p:sp>
        <p:nvSpPr>
          <p:cNvPr id="294" name="Text 14"/>
          <p:cNvSpPr txBox="1"/>
          <p:nvPr/>
        </p:nvSpPr>
        <p:spPr>
          <a:xfrm>
            <a:off x="795527" y="4910328"/>
            <a:ext cx="3118105"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475569"/>
                </a:solidFill>
              </a:defRPr>
            </a:pPr>
            <a:r>
              <a:t>Estructura:</a:t>
            </a:r>
            <a:r>
              <a:rPr b="0"/>
              <a:t> edge case + acceso por índice</a:t>
            </a:r>
          </a:p>
        </p:txBody>
      </p:sp>
      <p:sp>
        <p:nvSpPr>
          <p:cNvPr id="295" name="Shape 15"/>
          <p:cNvSpPr/>
          <p:nvPr/>
        </p:nvSpPr>
        <p:spPr>
          <a:xfrm>
            <a:off x="4297679" y="1417319"/>
            <a:ext cx="3520442" cy="4023361"/>
          </a:xfrm>
          <a:prstGeom prst="roundRect">
            <a:avLst>
              <a:gd name="adj" fmla="val 2078"/>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96" name="Text 16"/>
          <p:cNvSpPr txBox="1"/>
          <p:nvPr/>
        </p:nvSpPr>
        <p:spPr>
          <a:xfrm>
            <a:off x="4498847" y="161524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Problema 5</a:t>
            </a:r>
          </a:p>
        </p:txBody>
      </p:sp>
      <p:sp>
        <p:nvSpPr>
          <p:cNvPr id="297" name="Text 17"/>
          <p:cNvSpPr txBox="1"/>
          <p:nvPr/>
        </p:nvSpPr>
        <p:spPr>
          <a:xfrm>
            <a:off x="4498847" y="1929383"/>
            <a:ext cx="3118105" cy="11040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334155"/>
                </a:solidFill>
              </a:defRPr>
            </a:pPr>
            <a:r>
              <a:t>Recibe la hora del día (0 a 23) y regresa </a:t>
            </a:r>
            <a:r>
              <a:rPr sz="1600">
                <a:latin typeface="Menlo Regular"/>
                <a:ea typeface="Menlo Regular"/>
                <a:cs typeface="Menlo Regular"/>
                <a:sym typeface="Menlo Regular"/>
              </a:rPr>
              <a:t>"buenos días"</a:t>
            </a:r>
            <a:r>
              <a:t>, </a:t>
            </a:r>
            <a:r>
              <a:rPr sz="1600">
                <a:latin typeface="Menlo Regular"/>
                <a:ea typeface="Menlo Regular"/>
                <a:cs typeface="Menlo Regular"/>
                <a:sym typeface="Menlo Regular"/>
              </a:rPr>
              <a:t>"buenas tardes"</a:t>
            </a:r>
            <a:r>
              <a:t> o </a:t>
            </a:r>
            <a:r>
              <a:rPr sz="1600">
                <a:latin typeface="Menlo Regular"/>
                <a:ea typeface="Menlo Regular"/>
                <a:cs typeface="Menlo Regular"/>
                <a:sym typeface="Menlo Regular"/>
              </a:rPr>
              <a:t>"buenas noches"</a:t>
            </a:r>
            <a:r>
              <a:t>.</a:t>
            </a:r>
          </a:p>
        </p:txBody>
      </p:sp>
      <p:sp>
        <p:nvSpPr>
          <p:cNvPr id="298" name="Shape 18"/>
          <p:cNvSpPr/>
          <p:nvPr/>
        </p:nvSpPr>
        <p:spPr>
          <a:xfrm>
            <a:off x="4434840" y="3611879"/>
            <a:ext cx="3246121" cy="1188721"/>
          </a:xfrm>
          <a:prstGeom prst="roundRect">
            <a:avLst>
              <a:gd name="adj" fmla="val 6154"/>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299" name="Text 19"/>
          <p:cNvSpPr txBox="1"/>
          <p:nvPr/>
        </p:nvSpPr>
        <p:spPr>
          <a:xfrm>
            <a:off x="4572000" y="3726224"/>
            <a:ext cx="297180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Nombre propuesto</a:t>
            </a:r>
          </a:p>
        </p:txBody>
      </p:sp>
      <p:sp>
        <p:nvSpPr>
          <p:cNvPr id="300" name="Shape 20"/>
          <p:cNvSpPr/>
          <p:nvPr/>
        </p:nvSpPr>
        <p:spPr>
          <a:xfrm>
            <a:off x="5262777" y="4325111"/>
            <a:ext cx="733960" cy="36577"/>
          </a:xfrm>
          <a:prstGeom prst="rect">
            <a:avLst/>
          </a:prstGeom>
          <a:solidFill>
            <a:srgbClr val="60A5FA"/>
          </a:solidFill>
          <a:ln w="12700">
            <a:solidFill>
              <a:srgbClr val="60A5FA"/>
            </a:solidFill>
          </a:ln>
        </p:spPr>
        <p:txBody>
          <a:bodyPr lIns="45719" rIns="45719"/>
          <a:lstStyle/>
          <a:p>
            <a:pPr/>
          </a:p>
        </p:txBody>
      </p:sp>
      <p:sp>
        <p:nvSpPr>
          <p:cNvPr id="301" name="Text 21"/>
          <p:cNvSpPr txBox="1"/>
          <p:nvPr/>
        </p:nvSpPr>
        <p:spPr>
          <a:xfrm>
            <a:off x="5195418" y="4439456"/>
            <a:ext cx="8686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60A5FA"/>
                </a:solidFill>
              </a:defRPr>
            </a:lvl1pPr>
          </a:lstStyle>
          <a:p>
            <a:pPr/>
            <a:r>
              <a:t>verbo</a:t>
            </a:r>
          </a:p>
        </p:txBody>
      </p:sp>
      <p:sp>
        <p:nvSpPr>
          <p:cNvPr id="302" name="Shape 22"/>
          <p:cNvSpPr/>
          <p:nvPr/>
        </p:nvSpPr>
        <p:spPr>
          <a:xfrm>
            <a:off x="6119062" y="4325111"/>
            <a:ext cx="733959" cy="36577"/>
          </a:xfrm>
          <a:prstGeom prst="rect">
            <a:avLst/>
          </a:prstGeom>
          <a:solidFill>
            <a:srgbClr val="4ADE80"/>
          </a:solidFill>
          <a:ln w="12700">
            <a:solidFill>
              <a:srgbClr val="4ADE80"/>
            </a:solidFill>
          </a:ln>
        </p:spPr>
        <p:txBody>
          <a:bodyPr lIns="45719" rIns="45719"/>
          <a:lstStyle/>
          <a:p>
            <a:pPr/>
          </a:p>
        </p:txBody>
      </p:sp>
      <p:sp>
        <p:nvSpPr>
          <p:cNvPr id="303" name="Text 23"/>
          <p:cNvSpPr txBox="1"/>
          <p:nvPr/>
        </p:nvSpPr>
        <p:spPr>
          <a:xfrm>
            <a:off x="6051701" y="4439456"/>
            <a:ext cx="8686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4ADE80"/>
                </a:solidFill>
              </a:defRPr>
            </a:lvl1pPr>
          </a:lstStyle>
          <a:p>
            <a:pPr/>
            <a:r>
              <a:t>objeto</a:t>
            </a:r>
          </a:p>
        </p:txBody>
      </p:sp>
      <p:sp>
        <p:nvSpPr>
          <p:cNvPr id="304" name="Text 24"/>
          <p:cNvSpPr txBox="1"/>
          <p:nvPr/>
        </p:nvSpPr>
        <p:spPr>
          <a:xfrm>
            <a:off x="5217057" y="4003294"/>
            <a:ext cx="1681684"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60A5FA"/>
                </a:solidFill>
                <a:latin typeface="Menlo Regular"/>
                <a:ea typeface="Menlo Regular"/>
                <a:cs typeface="Menlo Regular"/>
                <a:sym typeface="Menlo Regular"/>
              </a:defRPr>
            </a:pPr>
            <a:r>
              <a:t>elegir</a:t>
            </a:r>
            <a:r>
              <a:rPr>
                <a:solidFill>
                  <a:srgbClr val="94A3B8"/>
                </a:solidFill>
              </a:rPr>
              <a:t>_</a:t>
            </a:r>
            <a:r>
              <a:rPr>
                <a:solidFill>
                  <a:srgbClr val="4ADE80"/>
                </a:solidFill>
              </a:rPr>
              <a:t>saludo</a:t>
            </a:r>
          </a:p>
        </p:txBody>
      </p:sp>
      <p:sp>
        <p:nvSpPr>
          <p:cNvPr id="305" name="Text 25"/>
          <p:cNvSpPr txBox="1"/>
          <p:nvPr/>
        </p:nvSpPr>
        <p:spPr>
          <a:xfrm>
            <a:off x="4498847" y="4910328"/>
            <a:ext cx="3118105" cy="1831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475569"/>
                </a:solidFill>
              </a:defRPr>
            </a:pPr>
            <a:r>
              <a:t>Estructura:</a:t>
            </a:r>
            <a:r>
              <a:rPr b="0"/>
              <a:t> </a:t>
            </a:r>
            <a:r>
              <a:rPr b="0" sz="1200">
                <a:latin typeface="Menlo Regular"/>
                <a:ea typeface="Menlo Regular"/>
                <a:cs typeface="Menlo Regular"/>
                <a:sym typeface="Menlo Regular"/>
              </a:rPr>
              <a:t>if / elif / else</a:t>
            </a:r>
          </a:p>
        </p:txBody>
      </p:sp>
      <p:sp>
        <p:nvSpPr>
          <p:cNvPr id="306" name="Shape 26"/>
          <p:cNvSpPr/>
          <p:nvPr/>
        </p:nvSpPr>
        <p:spPr>
          <a:xfrm>
            <a:off x="8001000" y="1417319"/>
            <a:ext cx="3520441" cy="4023361"/>
          </a:xfrm>
          <a:prstGeom prst="roundRect">
            <a:avLst>
              <a:gd name="adj" fmla="val 2078"/>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307" name="Text 27"/>
          <p:cNvSpPr txBox="1"/>
          <p:nvPr/>
        </p:nvSpPr>
        <p:spPr>
          <a:xfrm>
            <a:off x="8202168" y="1615248"/>
            <a:ext cx="311810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Problema 6</a:t>
            </a:r>
          </a:p>
        </p:txBody>
      </p:sp>
      <p:sp>
        <p:nvSpPr>
          <p:cNvPr id="308" name="Text 28"/>
          <p:cNvSpPr txBox="1"/>
          <p:nvPr/>
        </p:nvSpPr>
        <p:spPr>
          <a:xfrm>
            <a:off x="8202168" y="1929383"/>
            <a:ext cx="3118105" cy="5423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334155"/>
                </a:solidFill>
              </a:defRPr>
            </a:pPr>
            <a:r>
              <a:t>Recibe un año y regresa </a:t>
            </a:r>
            <a:r>
              <a:rPr sz="1600">
                <a:latin typeface="Menlo Regular"/>
                <a:ea typeface="Menlo Regular"/>
                <a:cs typeface="Menlo Regular"/>
                <a:sym typeface="Menlo Regular"/>
              </a:rPr>
              <a:t>True</a:t>
            </a:r>
            <a:r>
              <a:t> si es bisiesto y </a:t>
            </a:r>
            <a:r>
              <a:rPr sz="1600">
                <a:latin typeface="Menlo Regular"/>
                <a:ea typeface="Menlo Regular"/>
                <a:cs typeface="Menlo Regular"/>
                <a:sym typeface="Menlo Regular"/>
              </a:rPr>
              <a:t>False</a:t>
            </a:r>
            <a:r>
              <a:t> si no.</a:t>
            </a:r>
          </a:p>
        </p:txBody>
      </p:sp>
      <p:sp>
        <p:nvSpPr>
          <p:cNvPr id="309" name="Shape 29"/>
          <p:cNvSpPr/>
          <p:nvPr/>
        </p:nvSpPr>
        <p:spPr>
          <a:xfrm>
            <a:off x="8138159" y="3611879"/>
            <a:ext cx="3246121" cy="1188721"/>
          </a:xfrm>
          <a:prstGeom prst="roundRect">
            <a:avLst>
              <a:gd name="adj" fmla="val 6154"/>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310" name="Text 30"/>
          <p:cNvSpPr txBox="1"/>
          <p:nvPr/>
        </p:nvSpPr>
        <p:spPr>
          <a:xfrm>
            <a:off x="8275319" y="3726224"/>
            <a:ext cx="29718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Nombre propuesto</a:t>
            </a:r>
          </a:p>
        </p:txBody>
      </p:sp>
      <p:sp>
        <p:nvSpPr>
          <p:cNvPr id="311" name="Shape 31"/>
          <p:cNvSpPr/>
          <p:nvPr/>
        </p:nvSpPr>
        <p:spPr>
          <a:xfrm>
            <a:off x="9088425" y="4325111"/>
            <a:ext cx="244654" cy="36577"/>
          </a:xfrm>
          <a:prstGeom prst="rect">
            <a:avLst/>
          </a:prstGeom>
          <a:solidFill>
            <a:srgbClr val="FB923C"/>
          </a:solidFill>
          <a:ln w="12700">
            <a:solidFill>
              <a:srgbClr val="FB923C"/>
            </a:solidFill>
          </a:ln>
        </p:spPr>
        <p:txBody>
          <a:bodyPr lIns="45719" rIns="45719"/>
          <a:lstStyle/>
          <a:p>
            <a:pPr/>
          </a:p>
        </p:txBody>
      </p:sp>
      <p:sp>
        <p:nvSpPr>
          <p:cNvPr id="312" name="Text 32"/>
          <p:cNvSpPr txBox="1"/>
          <p:nvPr/>
        </p:nvSpPr>
        <p:spPr>
          <a:xfrm>
            <a:off x="8776410" y="4439456"/>
            <a:ext cx="8686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FB923C"/>
                </a:solidFill>
              </a:defRPr>
            </a:lvl1pPr>
          </a:lstStyle>
          <a:p>
            <a:pPr/>
            <a:r>
              <a:t>es_</a:t>
            </a:r>
          </a:p>
        </p:txBody>
      </p:sp>
      <p:sp>
        <p:nvSpPr>
          <p:cNvPr id="313" name="Shape 33"/>
          <p:cNvSpPr/>
          <p:nvPr/>
        </p:nvSpPr>
        <p:spPr>
          <a:xfrm>
            <a:off x="9455404" y="4325111"/>
            <a:ext cx="978612" cy="36577"/>
          </a:xfrm>
          <a:prstGeom prst="rect">
            <a:avLst/>
          </a:prstGeom>
          <a:solidFill>
            <a:srgbClr val="4ADE80"/>
          </a:solidFill>
          <a:ln w="12700">
            <a:solidFill>
              <a:srgbClr val="4ADE80"/>
            </a:solidFill>
          </a:ln>
        </p:spPr>
        <p:txBody>
          <a:bodyPr lIns="45719" rIns="45719"/>
          <a:lstStyle/>
          <a:p>
            <a:pPr/>
          </a:p>
        </p:txBody>
      </p:sp>
      <p:sp>
        <p:nvSpPr>
          <p:cNvPr id="314" name="Text 34"/>
          <p:cNvSpPr txBox="1"/>
          <p:nvPr/>
        </p:nvSpPr>
        <p:spPr>
          <a:xfrm>
            <a:off x="9455404" y="4439456"/>
            <a:ext cx="97861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4ADE80"/>
                </a:solidFill>
              </a:defRPr>
            </a:lvl1pPr>
          </a:lstStyle>
          <a:p>
            <a:pPr/>
            <a:r>
              <a:t>complemento</a:t>
            </a:r>
          </a:p>
        </p:txBody>
      </p:sp>
      <p:sp>
        <p:nvSpPr>
          <p:cNvPr id="315" name="Text 35"/>
          <p:cNvSpPr txBox="1"/>
          <p:nvPr/>
        </p:nvSpPr>
        <p:spPr>
          <a:xfrm>
            <a:off x="9042704" y="4003294"/>
            <a:ext cx="143703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FB923C"/>
                </a:solidFill>
                <a:latin typeface="Menlo Regular"/>
                <a:ea typeface="Menlo Regular"/>
                <a:cs typeface="Menlo Regular"/>
                <a:sym typeface="Menlo Regular"/>
              </a:defRPr>
            </a:pPr>
            <a:r>
              <a:t>es</a:t>
            </a:r>
            <a:r>
              <a:rPr>
                <a:solidFill>
                  <a:srgbClr val="94A3B8"/>
                </a:solidFill>
              </a:rPr>
              <a:t>_</a:t>
            </a:r>
            <a:r>
              <a:rPr>
                <a:solidFill>
                  <a:srgbClr val="4ADE80"/>
                </a:solidFill>
              </a:rPr>
              <a:t>bisiesto</a:t>
            </a:r>
          </a:p>
        </p:txBody>
      </p:sp>
      <p:sp>
        <p:nvSpPr>
          <p:cNvPr id="316" name="Text 36"/>
          <p:cNvSpPr txBox="1"/>
          <p:nvPr/>
        </p:nvSpPr>
        <p:spPr>
          <a:xfrm>
            <a:off x="8202168" y="4910328"/>
            <a:ext cx="3118105" cy="18313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475569"/>
                </a:solidFill>
              </a:defRPr>
            </a:pPr>
            <a:r>
              <a:t>Estructura:</a:t>
            </a:r>
            <a:r>
              <a:rPr b="0"/>
              <a:t> </a:t>
            </a:r>
            <a:r>
              <a:rPr b="0" sz="1200">
                <a:latin typeface="Menlo Regular"/>
                <a:ea typeface="Menlo Regular"/>
                <a:cs typeface="Menlo Regular"/>
                <a:sym typeface="Menlo Regular"/>
              </a:rPr>
              <a:t>if</a:t>
            </a:r>
            <a:r>
              <a:rPr b="0"/>
              <a:t> anidados; regresa True / False</a:t>
            </a:r>
          </a:p>
        </p:txBody>
      </p:sp>
      <p:sp>
        <p:nvSpPr>
          <p:cNvPr id="317" name="Text 37"/>
          <p:cNvSpPr txBox="1"/>
          <p:nvPr/>
        </p:nvSpPr>
        <p:spPr>
          <a:xfrm>
            <a:off x="594359" y="5833745"/>
            <a:ext cx="10972801" cy="18313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475569"/>
                </a:solidFill>
              </a:defRPr>
            </a:pPr>
            <a:r>
              <a:t>En </a:t>
            </a:r>
            <a:r>
              <a:rPr sz="1200">
                <a:latin typeface="Menlo Regular"/>
                <a:ea typeface="Menlo Regular"/>
                <a:cs typeface="Menlo Regular"/>
                <a:sym typeface="Menlo Regular"/>
              </a:rPr>
              <a:t>elegir_saludo</a:t>
            </a:r>
            <a:r>
              <a:t> no hace falta contexto: el objeto ya lo dice todo. Igual que en </a:t>
            </a:r>
            <a:r>
              <a:rPr sz="1200">
                <a:latin typeface="Menlo Regular"/>
                <a:ea typeface="Menlo Regular"/>
                <a:cs typeface="Menlo Regular"/>
                <a:sym typeface="Menlo Regular"/>
              </a:rPr>
              <a:t>contar_victorias</a:t>
            </a:r>
            <a:r>
              <a:t>.</a:t>
            </a:r>
          </a:p>
        </p:txBody>
      </p:sp>
      <p:sp>
        <p:nvSpPr>
          <p:cNvPr id="318"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Text 0"/>
          <p:cNvSpPr txBox="1"/>
          <p:nvPr>
            <p:ph type="title"/>
          </p:nvPr>
        </p:nvSpPr>
        <p:spPr>
          <a:prstGeom prst="rect">
            <a:avLst/>
          </a:prstGeom>
        </p:spPr>
        <p:txBody>
          <a:bodyPr lIns="0" tIns="0" rIns="0" bIns="0" anchor="ctr"/>
          <a:lstStyle/>
          <a:p>
            <a:pPr/>
            <a:r>
              <a:t>Dos formas de dibujar un algoritmo</a:t>
            </a:r>
          </a:p>
        </p:txBody>
      </p:sp>
      <p:sp>
        <p:nvSpPr>
          <p:cNvPr id="323" name="Text 0"/>
          <p:cNvSpPr txBox="1"/>
          <p:nvPr>
            <p:ph type="body" sz="quarter" idx="1"/>
          </p:nvPr>
        </p:nvSpPr>
        <p:spPr>
          <a:prstGeom prst="rect">
            <a:avLst/>
          </a:prstGeom>
        </p:spPr>
        <p:txBody>
          <a:bodyPr lIns="0" tIns="0" rIns="0" bIns="0" anchor="ctr"/>
          <a:lstStyle/>
          <a:p>
            <a:pPr/>
            <a:r>
              <a:t>El mismo </a:t>
            </a:r>
            <a:r>
              <a:rPr sz="1300">
                <a:latin typeface="Menlo Regular"/>
                <a:ea typeface="Menlo Regular"/>
                <a:cs typeface="Menlo Regular"/>
                <a:sym typeface="Menlo Regular"/>
              </a:rPr>
              <a:t>clasificar_paridad</a:t>
            </a:r>
            <a:r>
              <a:t> dibujado de las dos maneras.</a:t>
            </a:r>
          </a:p>
        </p:txBody>
      </p:sp>
      <p:sp>
        <p:nvSpPr>
          <p:cNvPr id="324" name="Shape 2"/>
          <p:cNvSpPr/>
          <p:nvPr/>
        </p:nvSpPr>
        <p:spPr>
          <a:xfrm>
            <a:off x="594359" y="1417319"/>
            <a:ext cx="5349242" cy="4709161"/>
          </a:xfrm>
          <a:prstGeom prst="roundRect">
            <a:avLst>
              <a:gd name="adj" fmla="val 155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325" name="Text 3"/>
          <p:cNvSpPr txBox="1"/>
          <p:nvPr/>
        </p:nvSpPr>
        <p:spPr>
          <a:xfrm>
            <a:off x="795527" y="1615248"/>
            <a:ext cx="4946906"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2"/>
                </a:solidFill>
              </a:defRPr>
            </a:lvl1pPr>
          </a:lstStyle>
          <a:p>
            <a:pPr/>
            <a:r>
              <a:t>Diagrama de flujo</a:t>
            </a:r>
          </a:p>
        </p:txBody>
      </p:sp>
      <p:sp>
        <p:nvSpPr>
          <p:cNvPr id="326" name="Text 4"/>
          <p:cNvSpPr txBox="1"/>
          <p:nvPr/>
        </p:nvSpPr>
        <p:spPr>
          <a:xfrm>
            <a:off x="795527" y="1929383"/>
            <a:ext cx="4946906" cy="6239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300">
                <a:solidFill>
                  <a:srgbClr val="334155"/>
                </a:solidFill>
              </a:defRPr>
            </a:pPr>
            <a:r>
              <a:t>Goldstine y von Neumann, 1947 · norma ISO 5807.</a:t>
            </a:r>
          </a:p>
          <a:p>
            <a:pPr>
              <a:spcBef>
                <a:spcPts val="400"/>
              </a:spcBef>
              <a:defRPr sz="1300">
                <a:solidFill>
                  <a:srgbClr val="334155"/>
                </a:solidFill>
              </a:defRPr>
            </a:pPr>
            <a:r>
              <a:t>Muestra </a:t>
            </a:r>
            <a:r>
              <a:rPr b="1"/>
              <a:t>el camino</a:t>
            </a:r>
            <a:r>
              <a:t>: figuras unidas por flechas. Las flechas pueden ir a cualquier parte, así que también permite dibujar saltos desordenados.</a:t>
            </a:r>
          </a:p>
        </p:txBody>
      </p:sp>
      <p:sp>
        <p:nvSpPr>
          <p:cNvPr id="327" name="Shape 5"/>
          <p:cNvSpPr/>
          <p:nvPr/>
        </p:nvSpPr>
        <p:spPr>
          <a:xfrm>
            <a:off x="6172200" y="1417319"/>
            <a:ext cx="5349241" cy="4709161"/>
          </a:xfrm>
          <a:prstGeom prst="roundRect">
            <a:avLst>
              <a:gd name="adj" fmla="val 155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328" name="Text 6"/>
          <p:cNvSpPr txBox="1"/>
          <p:nvPr/>
        </p:nvSpPr>
        <p:spPr>
          <a:xfrm>
            <a:off x="6373367" y="1615248"/>
            <a:ext cx="4946906"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3"/>
                </a:solidFill>
              </a:defRPr>
            </a:lvl1pPr>
          </a:lstStyle>
          <a:p>
            <a:pPr/>
            <a:r>
              <a:t>Nassi-Shneiderman</a:t>
            </a:r>
          </a:p>
        </p:txBody>
      </p:sp>
      <p:sp>
        <p:nvSpPr>
          <p:cNvPr id="329" name="Text 7"/>
          <p:cNvSpPr txBox="1"/>
          <p:nvPr/>
        </p:nvSpPr>
        <p:spPr>
          <a:xfrm>
            <a:off x="6373367" y="1929383"/>
            <a:ext cx="4946906" cy="6239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300">
                <a:solidFill>
                  <a:srgbClr val="334155"/>
                </a:solidFill>
              </a:defRPr>
            </a:pPr>
            <a:r>
              <a:t>Isaac Nassi y Ben Shneiderman, 1973.</a:t>
            </a:r>
          </a:p>
          <a:p>
            <a:pPr>
              <a:spcBef>
                <a:spcPts val="400"/>
              </a:spcBef>
              <a:defRPr sz="1300">
                <a:solidFill>
                  <a:srgbClr val="334155"/>
                </a:solidFill>
              </a:defRPr>
            </a:pPr>
            <a:r>
              <a:t>Muestra </a:t>
            </a:r>
            <a:r>
              <a:rPr b="1"/>
              <a:t>la estructura</a:t>
            </a:r>
            <a:r>
              <a:t>: bloques que se anidan, sin flechas. Sólo permite secuencia, decisión y ciclo.</a:t>
            </a:r>
          </a:p>
        </p:txBody>
      </p:sp>
      <p:sp>
        <p:nvSpPr>
          <p:cNvPr id="330" name="Shape 8"/>
          <p:cNvSpPr/>
          <p:nvPr/>
        </p:nvSpPr>
        <p:spPr>
          <a:xfrm>
            <a:off x="2029636" y="3187140"/>
            <a:ext cx="2379407" cy="345644"/>
          </a:xfrm>
          <a:prstGeom prst="roundRect">
            <a:avLst>
              <a:gd name="adj" fmla="val 50000"/>
            </a:avLst>
          </a:prstGeom>
          <a:solidFill>
            <a:srgbClr val="1E293B"/>
          </a:solidFill>
          <a:ln w="15875">
            <a:solidFill>
              <a:srgbClr val="1E293B"/>
            </a:solidFill>
          </a:ln>
        </p:spPr>
        <p:txBody>
          <a:bodyPr lIns="45719" rIns="45719"/>
          <a:lstStyle/>
          <a:p>
            <a:pPr/>
          </a:p>
        </p:txBody>
      </p:sp>
      <p:sp>
        <p:nvSpPr>
          <p:cNvPr id="331" name="Text 9"/>
          <p:cNvSpPr txBox="1"/>
          <p:nvPr/>
        </p:nvSpPr>
        <p:spPr>
          <a:xfrm>
            <a:off x="2029636" y="3296462"/>
            <a:ext cx="23794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FFFFF"/>
                </a:solidFill>
                <a:latin typeface="Menlo Regular"/>
                <a:ea typeface="Menlo Regular"/>
                <a:cs typeface="Menlo Regular"/>
                <a:sym typeface="Menlo Regular"/>
              </a:defRPr>
            </a:lvl1pPr>
          </a:lstStyle>
          <a:p>
            <a:pPr/>
            <a:r>
              <a:t>clasificar_paridad(numero)</a:t>
            </a:r>
          </a:p>
        </p:txBody>
      </p:sp>
      <p:sp>
        <p:nvSpPr>
          <p:cNvPr id="332" name="Shape 10"/>
          <p:cNvSpPr/>
          <p:nvPr/>
        </p:nvSpPr>
        <p:spPr>
          <a:xfrm>
            <a:off x="3219339" y="3532783"/>
            <a:ext cx="1" cy="213971"/>
          </a:xfrm>
          <a:prstGeom prst="line">
            <a:avLst/>
          </a:prstGeom>
          <a:ln w="15875">
            <a:solidFill>
              <a:srgbClr val="64748B"/>
            </a:solidFill>
            <a:tailEnd type="triangle"/>
          </a:ln>
        </p:spPr>
        <p:txBody>
          <a:bodyPr lIns="45719" rIns="45719"/>
          <a:lstStyle/>
          <a:p>
            <a:pPr/>
          </a:p>
        </p:txBody>
      </p:sp>
      <p:sp>
        <p:nvSpPr>
          <p:cNvPr id="333" name="Shape 11"/>
          <p:cNvSpPr/>
          <p:nvPr/>
        </p:nvSpPr>
        <p:spPr>
          <a:xfrm>
            <a:off x="2256362" y="3746753"/>
            <a:ext cx="1925956" cy="510236"/>
          </a:xfrm>
          <a:prstGeom prst="diamond">
            <a:avLst/>
          </a:prstGeom>
          <a:solidFill>
            <a:srgbClr val="FEF3C7"/>
          </a:solidFill>
          <a:ln w="15875">
            <a:solidFill>
              <a:schemeClr val="accent6"/>
            </a:solidFill>
          </a:ln>
        </p:spPr>
        <p:txBody>
          <a:bodyPr lIns="45719" rIns="45719"/>
          <a:lstStyle/>
          <a:p>
            <a:pPr/>
          </a:p>
        </p:txBody>
      </p:sp>
      <p:sp>
        <p:nvSpPr>
          <p:cNvPr id="334" name="Text 12"/>
          <p:cNvSpPr txBox="1"/>
          <p:nvPr/>
        </p:nvSpPr>
        <p:spPr>
          <a:xfrm>
            <a:off x="2256362" y="3938371"/>
            <a:ext cx="192595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78350F"/>
                </a:solidFill>
                <a:latin typeface="Menlo Regular"/>
                <a:ea typeface="Menlo Regular"/>
                <a:cs typeface="Menlo Regular"/>
                <a:sym typeface="Menlo Regular"/>
              </a:defRPr>
            </a:lvl1pPr>
          </a:lstStyle>
          <a:p>
            <a:pPr/>
            <a:r>
              <a:t>numero % 2 == 0</a:t>
            </a:r>
          </a:p>
        </p:txBody>
      </p:sp>
      <p:sp>
        <p:nvSpPr>
          <p:cNvPr id="335" name="Shape 14"/>
          <p:cNvSpPr/>
          <p:nvPr/>
        </p:nvSpPr>
        <p:spPr>
          <a:xfrm>
            <a:off x="2256362" y="4001872"/>
            <a:ext cx="1" cy="411481"/>
          </a:xfrm>
          <a:prstGeom prst="line">
            <a:avLst/>
          </a:prstGeom>
          <a:ln w="15875">
            <a:solidFill>
              <a:srgbClr val="64748B"/>
            </a:solidFill>
            <a:tailEnd type="triangle"/>
          </a:ln>
        </p:spPr>
        <p:txBody>
          <a:bodyPr lIns="45719" rIns="45719"/>
          <a:lstStyle/>
          <a:p>
            <a:pPr/>
          </a:p>
        </p:txBody>
      </p:sp>
      <p:sp>
        <p:nvSpPr>
          <p:cNvPr id="336" name="Text 15"/>
          <p:cNvSpPr txBox="1"/>
          <p:nvPr/>
        </p:nvSpPr>
        <p:spPr>
          <a:xfrm>
            <a:off x="1301728" y="3831386"/>
            <a:ext cx="90525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900">
                <a:solidFill>
                  <a:srgbClr val="475569"/>
                </a:solidFill>
              </a:defRPr>
            </a:lvl1pPr>
          </a:lstStyle>
          <a:p>
            <a:pPr/>
            <a:r>
              <a:t>Sí</a:t>
            </a:r>
          </a:p>
        </p:txBody>
      </p:sp>
      <p:sp>
        <p:nvSpPr>
          <p:cNvPr id="337" name="Shape 16"/>
          <p:cNvSpPr/>
          <p:nvPr/>
        </p:nvSpPr>
        <p:spPr>
          <a:xfrm>
            <a:off x="4182316" y="4001872"/>
            <a:ext cx="23593" cy="1"/>
          </a:xfrm>
          <a:prstGeom prst="line">
            <a:avLst/>
          </a:prstGeom>
          <a:ln w="15875">
            <a:solidFill>
              <a:srgbClr val="64748B"/>
            </a:solidFill>
          </a:ln>
        </p:spPr>
        <p:txBody>
          <a:bodyPr lIns="45719" rIns="45719"/>
          <a:lstStyle/>
          <a:p>
            <a:pPr/>
          </a:p>
        </p:txBody>
      </p:sp>
      <p:sp>
        <p:nvSpPr>
          <p:cNvPr id="338" name="Shape 17"/>
          <p:cNvSpPr/>
          <p:nvPr/>
        </p:nvSpPr>
        <p:spPr>
          <a:xfrm>
            <a:off x="4205909" y="4001872"/>
            <a:ext cx="1" cy="411481"/>
          </a:xfrm>
          <a:prstGeom prst="line">
            <a:avLst/>
          </a:prstGeom>
          <a:ln w="15875">
            <a:solidFill>
              <a:srgbClr val="64748B"/>
            </a:solidFill>
            <a:tailEnd type="triangle"/>
          </a:ln>
        </p:spPr>
        <p:txBody>
          <a:bodyPr lIns="45719" rIns="45719"/>
          <a:lstStyle/>
          <a:p>
            <a:pPr/>
          </a:p>
        </p:txBody>
      </p:sp>
      <p:sp>
        <p:nvSpPr>
          <p:cNvPr id="339" name="Text 18"/>
          <p:cNvSpPr txBox="1"/>
          <p:nvPr/>
        </p:nvSpPr>
        <p:spPr>
          <a:xfrm>
            <a:off x="4231695" y="3831386"/>
            <a:ext cx="90525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No</a:t>
            </a:r>
          </a:p>
        </p:txBody>
      </p:sp>
      <p:sp>
        <p:nvSpPr>
          <p:cNvPr id="340" name="Shape 19"/>
          <p:cNvSpPr/>
          <p:nvPr/>
        </p:nvSpPr>
        <p:spPr>
          <a:xfrm>
            <a:off x="1493615" y="4413351"/>
            <a:ext cx="1525495" cy="3291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165" y="0"/>
                </a:lnTo>
                <a:lnTo>
                  <a:pt x="21600" y="0"/>
                </a:lnTo>
                <a:lnTo>
                  <a:pt x="20435" y="21600"/>
                </a:lnTo>
                <a:close/>
              </a:path>
            </a:pathLst>
          </a:custGeom>
          <a:solidFill>
            <a:srgbClr val="EDE9FE"/>
          </a:solidFill>
          <a:ln w="15875">
            <a:solidFill>
              <a:schemeClr val="accent3"/>
            </a:solidFill>
          </a:ln>
        </p:spPr>
        <p:txBody>
          <a:bodyPr lIns="45719" rIns="45719"/>
          <a:lstStyle/>
          <a:p>
            <a:pPr/>
          </a:p>
        </p:txBody>
      </p:sp>
      <p:sp>
        <p:nvSpPr>
          <p:cNvPr id="341" name="Text 20"/>
          <p:cNvSpPr txBox="1"/>
          <p:nvPr/>
        </p:nvSpPr>
        <p:spPr>
          <a:xfrm>
            <a:off x="1493615" y="4514443"/>
            <a:ext cx="15254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4C1D95"/>
                </a:solidFill>
                <a:latin typeface="Menlo Regular"/>
                <a:ea typeface="Menlo Regular"/>
                <a:cs typeface="Menlo Regular"/>
                <a:sym typeface="Menlo Regular"/>
              </a:defRPr>
            </a:lvl1pPr>
          </a:lstStyle>
          <a:p>
            <a:pPr/>
            <a:r>
              <a:t>return "par"</a:t>
            </a:r>
          </a:p>
        </p:txBody>
      </p:sp>
      <p:sp>
        <p:nvSpPr>
          <p:cNvPr id="342" name="Shape 21"/>
          <p:cNvSpPr/>
          <p:nvPr/>
        </p:nvSpPr>
        <p:spPr>
          <a:xfrm>
            <a:off x="3367471" y="4413351"/>
            <a:ext cx="1676873" cy="3291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60" y="0"/>
                </a:lnTo>
                <a:lnTo>
                  <a:pt x="21600" y="0"/>
                </a:lnTo>
                <a:lnTo>
                  <a:pt x="20540" y="21600"/>
                </a:lnTo>
                <a:close/>
              </a:path>
            </a:pathLst>
          </a:custGeom>
          <a:solidFill>
            <a:srgbClr val="EDE9FE"/>
          </a:solidFill>
          <a:ln w="15875">
            <a:solidFill>
              <a:schemeClr val="accent3"/>
            </a:solidFill>
          </a:ln>
        </p:spPr>
        <p:txBody>
          <a:bodyPr lIns="45719" rIns="45719"/>
          <a:lstStyle/>
          <a:p>
            <a:pPr/>
          </a:p>
        </p:txBody>
      </p:sp>
      <p:sp>
        <p:nvSpPr>
          <p:cNvPr id="343" name="Text 22"/>
          <p:cNvSpPr txBox="1"/>
          <p:nvPr/>
        </p:nvSpPr>
        <p:spPr>
          <a:xfrm>
            <a:off x="3367471" y="4514443"/>
            <a:ext cx="167687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4C1D95"/>
                </a:solidFill>
                <a:latin typeface="Menlo Regular"/>
                <a:ea typeface="Menlo Regular"/>
                <a:cs typeface="Menlo Regular"/>
                <a:sym typeface="Menlo Regular"/>
              </a:defRPr>
            </a:lvl1pPr>
          </a:lstStyle>
          <a:p>
            <a:pPr/>
            <a:r>
              <a:t>return "impar"</a:t>
            </a:r>
          </a:p>
        </p:txBody>
      </p:sp>
      <p:sp>
        <p:nvSpPr>
          <p:cNvPr id="344" name="Shape 23"/>
          <p:cNvSpPr/>
          <p:nvPr/>
        </p:nvSpPr>
        <p:spPr>
          <a:xfrm>
            <a:off x="2256362" y="4742535"/>
            <a:ext cx="1" cy="197511"/>
          </a:xfrm>
          <a:prstGeom prst="line">
            <a:avLst/>
          </a:prstGeom>
          <a:ln w="15875">
            <a:solidFill>
              <a:srgbClr val="64748B"/>
            </a:solidFill>
          </a:ln>
        </p:spPr>
        <p:txBody>
          <a:bodyPr lIns="45719" rIns="45719"/>
          <a:lstStyle/>
          <a:p>
            <a:pPr/>
          </a:p>
        </p:txBody>
      </p:sp>
      <p:sp>
        <p:nvSpPr>
          <p:cNvPr id="345" name="Shape 24"/>
          <p:cNvSpPr/>
          <p:nvPr/>
        </p:nvSpPr>
        <p:spPr>
          <a:xfrm>
            <a:off x="2256362" y="4940046"/>
            <a:ext cx="962979" cy="1"/>
          </a:xfrm>
          <a:prstGeom prst="line">
            <a:avLst/>
          </a:prstGeom>
          <a:ln w="15875">
            <a:solidFill>
              <a:srgbClr val="64748B"/>
            </a:solidFill>
            <a:tailEnd type="triangle"/>
          </a:ln>
        </p:spPr>
        <p:txBody>
          <a:bodyPr lIns="45719" rIns="45719"/>
          <a:lstStyle/>
          <a:p>
            <a:pPr/>
          </a:p>
        </p:txBody>
      </p:sp>
      <p:sp>
        <p:nvSpPr>
          <p:cNvPr id="346" name="Shape 25"/>
          <p:cNvSpPr/>
          <p:nvPr/>
        </p:nvSpPr>
        <p:spPr>
          <a:xfrm>
            <a:off x="4205909" y="4742535"/>
            <a:ext cx="1" cy="197511"/>
          </a:xfrm>
          <a:prstGeom prst="line">
            <a:avLst/>
          </a:prstGeom>
          <a:ln w="15875">
            <a:solidFill>
              <a:srgbClr val="64748B"/>
            </a:solidFill>
          </a:ln>
        </p:spPr>
        <p:txBody>
          <a:bodyPr lIns="45719" rIns="45719"/>
          <a:lstStyle/>
          <a:p>
            <a:pPr/>
          </a:p>
        </p:txBody>
      </p:sp>
      <p:sp>
        <p:nvSpPr>
          <p:cNvPr id="347" name="Shape 26"/>
          <p:cNvSpPr/>
          <p:nvPr/>
        </p:nvSpPr>
        <p:spPr>
          <a:xfrm flipH="1">
            <a:off x="3219339" y="4940046"/>
            <a:ext cx="986570" cy="1"/>
          </a:xfrm>
          <a:prstGeom prst="line">
            <a:avLst/>
          </a:prstGeom>
          <a:ln w="15875">
            <a:solidFill>
              <a:srgbClr val="64748B"/>
            </a:solidFill>
            <a:tailEnd type="triangle"/>
          </a:ln>
        </p:spPr>
        <p:txBody>
          <a:bodyPr lIns="45719" rIns="45719"/>
          <a:lstStyle/>
          <a:p>
            <a:pPr/>
          </a:p>
        </p:txBody>
      </p:sp>
      <p:sp>
        <p:nvSpPr>
          <p:cNvPr id="348" name="Shape 27"/>
          <p:cNvSpPr/>
          <p:nvPr/>
        </p:nvSpPr>
        <p:spPr>
          <a:xfrm>
            <a:off x="3219339" y="4940046"/>
            <a:ext cx="1" cy="213971"/>
          </a:xfrm>
          <a:prstGeom prst="line">
            <a:avLst/>
          </a:prstGeom>
          <a:ln w="15875">
            <a:solidFill>
              <a:srgbClr val="64748B"/>
            </a:solidFill>
            <a:tailEnd type="triangle"/>
          </a:ln>
        </p:spPr>
        <p:txBody>
          <a:bodyPr lIns="45719" rIns="45719"/>
          <a:lstStyle/>
          <a:p>
            <a:pPr/>
          </a:p>
        </p:txBody>
      </p:sp>
      <p:sp>
        <p:nvSpPr>
          <p:cNvPr id="349" name="Shape 28"/>
          <p:cNvSpPr/>
          <p:nvPr/>
        </p:nvSpPr>
        <p:spPr>
          <a:xfrm>
            <a:off x="2900065" y="5154016"/>
            <a:ext cx="638549" cy="345644"/>
          </a:xfrm>
          <a:prstGeom prst="roundRect">
            <a:avLst>
              <a:gd name="adj" fmla="val 50000"/>
            </a:avLst>
          </a:prstGeom>
          <a:solidFill>
            <a:srgbClr val="1E293B"/>
          </a:solidFill>
          <a:ln w="15875">
            <a:solidFill>
              <a:srgbClr val="1E293B"/>
            </a:solidFill>
          </a:ln>
        </p:spPr>
        <p:txBody>
          <a:bodyPr lIns="45719" rIns="45719"/>
          <a:lstStyle/>
          <a:p>
            <a:pPr/>
          </a:p>
        </p:txBody>
      </p:sp>
      <p:sp>
        <p:nvSpPr>
          <p:cNvPr id="350" name="Text 29"/>
          <p:cNvSpPr txBox="1"/>
          <p:nvPr/>
        </p:nvSpPr>
        <p:spPr>
          <a:xfrm>
            <a:off x="2900065" y="5263337"/>
            <a:ext cx="63854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FFFFF"/>
                </a:solidFill>
                <a:latin typeface="Menlo Regular"/>
                <a:ea typeface="Menlo Regular"/>
                <a:cs typeface="Menlo Regular"/>
                <a:sym typeface="Menlo Regular"/>
              </a:defRPr>
            </a:lvl1pPr>
          </a:lstStyle>
          <a:p>
            <a:pPr/>
            <a:r>
              <a:t>Fin</a:t>
            </a:r>
          </a:p>
        </p:txBody>
      </p:sp>
      <p:sp>
        <p:nvSpPr>
          <p:cNvPr id="351" name="Shape 30"/>
          <p:cNvSpPr/>
          <p:nvPr/>
        </p:nvSpPr>
        <p:spPr>
          <a:xfrm>
            <a:off x="6903719" y="3063239"/>
            <a:ext cx="3886201" cy="384049"/>
          </a:xfrm>
          <a:prstGeom prst="rect">
            <a:avLst/>
          </a:prstGeom>
          <a:solidFill>
            <a:srgbClr val="1E293B"/>
          </a:solidFill>
          <a:ln>
            <a:solidFill>
              <a:srgbClr val="334155"/>
            </a:solidFill>
          </a:ln>
        </p:spPr>
        <p:txBody>
          <a:bodyPr lIns="45719" rIns="45719"/>
          <a:lstStyle/>
          <a:p>
            <a:pPr/>
          </a:p>
        </p:txBody>
      </p:sp>
      <p:sp>
        <p:nvSpPr>
          <p:cNvPr id="352" name="Text 31"/>
          <p:cNvSpPr txBox="1"/>
          <p:nvPr/>
        </p:nvSpPr>
        <p:spPr>
          <a:xfrm>
            <a:off x="6949440" y="3172714"/>
            <a:ext cx="379476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clasificar_paridad(numero)</a:t>
            </a:r>
          </a:p>
        </p:txBody>
      </p:sp>
      <p:sp>
        <p:nvSpPr>
          <p:cNvPr id="353" name="Shape 32"/>
          <p:cNvSpPr/>
          <p:nvPr/>
        </p:nvSpPr>
        <p:spPr>
          <a:xfrm>
            <a:off x="6903719" y="3447288"/>
            <a:ext cx="3886201" cy="640081"/>
          </a:xfrm>
          <a:prstGeom prst="rect">
            <a:avLst/>
          </a:prstGeom>
          <a:solidFill>
            <a:srgbClr val="FEF3C7"/>
          </a:solidFill>
          <a:ln>
            <a:solidFill>
              <a:srgbClr val="334155"/>
            </a:solidFill>
          </a:ln>
        </p:spPr>
        <p:txBody>
          <a:bodyPr lIns="45719" rIns="45719"/>
          <a:lstStyle/>
          <a:p>
            <a:pPr/>
          </a:p>
        </p:txBody>
      </p:sp>
      <p:sp>
        <p:nvSpPr>
          <p:cNvPr id="354" name="Shape 33"/>
          <p:cNvSpPr/>
          <p:nvPr/>
        </p:nvSpPr>
        <p:spPr>
          <a:xfrm>
            <a:off x="6903719" y="3447288"/>
            <a:ext cx="1818210" cy="640081"/>
          </a:xfrm>
          <a:prstGeom prst="line">
            <a:avLst/>
          </a:prstGeom>
          <a:ln>
            <a:solidFill>
              <a:srgbClr val="334155"/>
            </a:solidFill>
          </a:ln>
        </p:spPr>
        <p:txBody>
          <a:bodyPr lIns="45719" rIns="45719"/>
          <a:lstStyle/>
          <a:p>
            <a:pPr/>
          </a:p>
        </p:txBody>
      </p:sp>
      <p:sp>
        <p:nvSpPr>
          <p:cNvPr id="355" name="Shape 34"/>
          <p:cNvSpPr/>
          <p:nvPr/>
        </p:nvSpPr>
        <p:spPr>
          <a:xfrm flipH="1">
            <a:off x="8721929" y="3447288"/>
            <a:ext cx="2067992" cy="640081"/>
          </a:xfrm>
          <a:prstGeom prst="line">
            <a:avLst/>
          </a:prstGeom>
          <a:ln>
            <a:solidFill>
              <a:srgbClr val="334155"/>
            </a:solidFill>
          </a:ln>
        </p:spPr>
        <p:txBody>
          <a:bodyPr lIns="45719" rIns="45719"/>
          <a:lstStyle/>
          <a:p>
            <a:pPr/>
          </a:p>
        </p:txBody>
      </p:sp>
      <p:sp>
        <p:nvSpPr>
          <p:cNvPr id="356" name="Text 35"/>
          <p:cNvSpPr txBox="1"/>
          <p:nvPr/>
        </p:nvSpPr>
        <p:spPr>
          <a:xfrm>
            <a:off x="7264603" y="3520185"/>
            <a:ext cx="291465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¿numero % 2 == 0?</a:t>
            </a:r>
          </a:p>
        </p:txBody>
      </p:sp>
      <p:sp>
        <p:nvSpPr>
          <p:cNvPr id="357" name="Text 36"/>
          <p:cNvSpPr txBox="1"/>
          <p:nvPr/>
        </p:nvSpPr>
        <p:spPr>
          <a:xfrm>
            <a:off x="6967728" y="388167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358" name="Text 37"/>
          <p:cNvSpPr txBox="1"/>
          <p:nvPr/>
        </p:nvSpPr>
        <p:spPr>
          <a:xfrm>
            <a:off x="10360152" y="388167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475569"/>
                </a:solidFill>
              </a:defRPr>
            </a:lvl1pPr>
          </a:lstStyle>
          <a:p>
            <a:pPr/>
            <a:r>
              <a:t>No</a:t>
            </a:r>
          </a:p>
        </p:txBody>
      </p:sp>
      <p:sp>
        <p:nvSpPr>
          <p:cNvPr id="359" name="Shape 38"/>
          <p:cNvSpPr/>
          <p:nvPr/>
        </p:nvSpPr>
        <p:spPr>
          <a:xfrm>
            <a:off x="6903719" y="4087367"/>
            <a:ext cx="1818210" cy="384049"/>
          </a:xfrm>
          <a:prstGeom prst="rect">
            <a:avLst/>
          </a:prstGeom>
          <a:solidFill>
            <a:srgbClr val="FFFFFF"/>
          </a:solidFill>
          <a:ln>
            <a:solidFill>
              <a:srgbClr val="334155"/>
            </a:solidFill>
          </a:ln>
        </p:spPr>
        <p:txBody>
          <a:bodyPr lIns="45719" rIns="45719"/>
          <a:lstStyle/>
          <a:p>
            <a:pPr/>
          </a:p>
        </p:txBody>
      </p:sp>
      <p:sp>
        <p:nvSpPr>
          <p:cNvPr id="360" name="Shape 39"/>
          <p:cNvSpPr/>
          <p:nvPr/>
        </p:nvSpPr>
        <p:spPr>
          <a:xfrm>
            <a:off x="6903719" y="4087367"/>
            <a:ext cx="1818210" cy="384049"/>
          </a:xfrm>
          <a:prstGeom prst="rect">
            <a:avLst/>
          </a:prstGeom>
          <a:solidFill>
            <a:srgbClr val="EDE9FE"/>
          </a:solidFill>
          <a:ln>
            <a:solidFill>
              <a:srgbClr val="334155"/>
            </a:solidFill>
          </a:ln>
        </p:spPr>
        <p:txBody>
          <a:bodyPr lIns="45719" rIns="45719"/>
          <a:lstStyle/>
          <a:p>
            <a:pPr/>
          </a:p>
        </p:txBody>
      </p:sp>
      <p:sp>
        <p:nvSpPr>
          <p:cNvPr id="361" name="Text 40"/>
          <p:cNvSpPr txBox="1"/>
          <p:nvPr/>
        </p:nvSpPr>
        <p:spPr>
          <a:xfrm>
            <a:off x="6949440" y="4196841"/>
            <a:ext cx="172677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"par"</a:t>
            </a:r>
          </a:p>
        </p:txBody>
      </p:sp>
      <p:sp>
        <p:nvSpPr>
          <p:cNvPr id="362" name="Shape 41"/>
          <p:cNvSpPr/>
          <p:nvPr/>
        </p:nvSpPr>
        <p:spPr>
          <a:xfrm>
            <a:off x="8721928" y="4087367"/>
            <a:ext cx="2067992" cy="384049"/>
          </a:xfrm>
          <a:prstGeom prst="rect">
            <a:avLst/>
          </a:prstGeom>
          <a:solidFill>
            <a:srgbClr val="FFFFFF"/>
          </a:solidFill>
          <a:ln>
            <a:solidFill>
              <a:srgbClr val="334155"/>
            </a:solidFill>
          </a:ln>
        </p:spPr>
        <p:txBody>
          <a:bodyPr lIns="45719" rIns="45719"/>
          <a:lstStyle/>
          <a:p>
            <a:pPr/>
          </a:p>
        </p:txBody>
      </p:sp>
      <p:sp>
        <p:nvSpPr>
          <p:cNvPr id="363" name="Shape 42"/>
          <p:cNvSpPr/>
          <p:nvPr/>
        </p:nvSpPr>
        <p:spPr>
          <a:xfrm>
            <a:off x="8721928" y="4087367"/>
            <a:ext cx="2067992" cy="384049"/>
          </a:xfrm>
          <a:prstGeom prst="rect">
            <a:avLst/>
          </a:prstGeom>
          <a:solidFill>
            <a:srgbClr val="EDE9FE"/>
          </a:solidFill>
          <a:ln>
            <a:solidFill>
              <a:srgbClr val="334155"/>
            </a:solidFill>
          </a:ln>
        </p:spPr>
        <p:txBody>
          <a:bodyPr lIns="45719" rIns="45719"/>
          <a:lstStyle/>
          <a:p>
            <a:pPr/>
          </a:p>
        </p:txBody>
      </p:sp>
      <p:sp>
        <p:nvSpPr>
          <p:cNvPr id="364" name="Text 43"/>
          <p:cNvSpPr txBox="1"/>
          <p:nvPr/>
        </p:nvSpPr>
        <p:spPr>
          <a:xfrm>
            <a:off x="8767649" y="4196841"/>
            <a:ext cx="197655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"impar"</a:t>
            </a:r>
          </a:p>
        </p:txBody>
      </p:sp>
      <p:sp>
        <p:nvSpPr>
          <p:cNvPr id="365"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9" name="Text 0"/>
          <p:cNvSpPr txBox="1"/>
          <p:nvPr>
            <p:ph type="title"/>
          </p:nvPr>
        </p:nvSpPr>
        <p:spPr>
          <a:prstGeom prst="rect">
            <a:avLst/>
          </a:prstGeom>
        </p:spPr>
        <p:txBody>
          <a:bodyPr lIns="0" tIns="0" rIns="0" bIns="0" anchor="ctr"/>
          <a:lstStyle/>
          <a:p>
            <a:pPr/>
            <a:r>
              <a:t>Símbolos del diagrama de flujo</a:t>
            </a:r>
          </a:p>
        </p:txBody>
      </p:sp>
      <p:sp>
        <p:nvSpPr>
          <p:cNvPr id="370" name="Text 0"/>
          <p:cNvSpPr txBox="1"/>
          <p:nvPr>
            <p:ph type="body" sz="quarter" idx="1"/>
          </p:nvPr>
        </p:nvSpPr>
        <p:spPr>
          <a:prstGeom prst="rect">
            <a:avLst/>
          </a:prstGeom>
        </p:spPr>
        <p:txBody>
          <a:bodyPr lIns="0" tIns="0" rIns="0" bIns="0" anchor="ctr"/>
          <a:lstStyle/>
          <a:p>
            <a:pPr/>
            <a:r>
              <a:t>Cada figura corresponde a algo que ya sabes escribir en Python.</a:t>
            </a:r>
          </a:p>
        </p:txBody>
      </p:sp>
      <p:sp>
        <p:nvSpPr>
          <p:cNvPr id="371" name="Shape 2"/>
          <p:cNvSpPr/>
          <p:nvPr/>
        </p:nvSpPr>
        <p:spPr>
          <a:xfrm>
            <a:off x="594359" y="1417319"/>
            <a:ext cx="2057401" cy="3566161"/>
          </a:xfrm>
          <a:prstGeom prst="roundRect">
            <a:avLst>
              <a:gd name="adj" fmla="val 3556"/>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372" name="Shape 3"/>
          <p:cNvSpPr/>
          <p:nvPr/>
        </p:nvSpPr>
        <p:spPr>
          <a:xfrm>
            <a:off x="868680" y="1801367"/>
            <a:ext cx="1508761" cy="685801"/>
          </a:xfrm>
          <a:prstGeom prst="roundRect">
            <a:avLst>
              <a:gd name="adj" fmla="val 49333"/>
            </a:avLst>
          </a:prstGeom>
          <a:solidFill>
            <a:srgbClr val="1E293B"/>
          </a:solidFill>
          <a:ln w="19050">
            <a:solidFill>
              <a:srgbClr val="1E293B"/>
            </a:solidFill>
          </a:ln>
        </p:spPr>
        <p:txBody>
          <a:bodyPr lIns="45719" rIns="45719"/>
          <a:lstStyle/>
          <a:p>
            <a:pPr/>
          </a:p>
        </p:txBody>
      </p:sp>
      <p:sp>
        <p:nvSpPr>
          <p:cNvPr id="373" name="Text 4"/>
          <p:cNvSpPr txBox="1"/>
          <p:nvPr/>
        </p:nvSpPr>
        <p:spPr>
          <a:xfrm>
            <a:off x="731519" y="2867223"/>
            <a:ext cx="178308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1E293B"/>
                </a:solidFill>
              </a:defRPr>
            </a:lvl1pPr>
          </a:lstStyle>
          <a:p>
            <a:pPr/>
            <a:r>
              <a:t>Terminal</a:t>
            </a:r>
          </a:p>
        </p:txBody>
      </p:sp>
      <p:sp>
        <p:nvSpPr>
          <p:cNvPr id="374" name="Text 5"/>
          <p:cNvSpPr txBox="1"/>
          <p:nvPr/>
        </p:nvSpPr>
        <p:spPr>
          <a:xfrm>
            <a:off x="731519" y="3200400"/>
            <a:ext cx="1783080" cy="1893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334155"/>
                </a:solidFill>
              </a:defRPr>
            </a:lvl1pPr>
          </a:lstStyle>
          <a:p>
            <a:pPr/>
            <a:r>
              <a:t>Inicio y fin de la función.</a:t>
            </a:r>
          </a:p>
        </p:txBody>
      </p:sp>
      <p:grpSp>
        <p:nvGrpSpPr>
          <p:cNvPr id="377" name="Text 6"/>
          <p:cNvGrpSpPr/>
          <p:nvPr/>
        </p:nvGrpSpPr>
        <p:grpSpPr>
          <a:xfrm>
            <a:off x="731519" y="4206240"/>
            <a:ext cx="1783081" cy="548641"/>
            <a:chOff x="0" y="0"/>
            <a:chExt cx="1783079" cy="548640"/>
          </a:xfrm>
        </p:grpSpPr>
        <p:sp>
          <p:nvSpPr>
            <p:cNvPr id="375" name="Rounded Rectangle"/>
            <p:cNvSpPr/>
            <p:nvPr/>
          </p:nvSpPr>
          <p:spPr>
            <a:xfrm>
              <a:off x="0" y="0"/>
              <a:ext cx="1783080" cy="548641"/>
            </a:xfrm>
            <a:prstGeom prst="roundRect">
              <a:avLst>
                <a:gd name="adj" fmla="val 13333"/>
              </a:avLst>
            </a:prstGeom>
            <a:solidFill>
              <a:srgbClr val="0F172A"/>
            </a:solidFill>
            <a:ln w="9525" cap="flat">
              <a:solidFill>
                <a:srgbClr val="334155"/>
              </a:solidFill>
              <a:prstDash val="solid"/>
              <a:round/>
            </a:ln>
            <a:effectLst/>
          </p:spPr>
          <p:txBody>
            <a:bodyPr wrap="square" lIns="45719" tIns="45719" rIns="45719" bIns="45719" numCol="1" anchor="ctr">
              <a:noAutofit/>
            </a:bodyPr>
            <a:lstStyle/>
            <a:p>
              <a:pPr algn="ctr">
                <a:defRPr sz="1100"/>
              </a:pPr>
            </a:p>
          </p:txBody>
        </p:sp>
        <p:sp>
          <p:nvSpPr>
            <p:cNvPr id="376" name="def nombre(...):"/>
            <p:cNvSpPr txBox="1"/>
            <p:nvPr/>
          </p:nvSpPr>
          <p:spPr>
            <a:xfrm>
              <a:off x="71907" y="146050"/>
              <a:ext cx="163926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DCDCAA"/>
                  </a:solidFill>
                  <a:latin typeface="Menlo Regular"/>
                  <a:ea typeface="Menlo Regular"/>
                  <a:cs typeface="Menlo Regular"/>
                  <a:sym typeface="Menlo Regular"/>
                </a:defRPr>
              </a:lvl1pPr>
            </a:lstStyle>
            <a:p>
              <a:pPr/>
              <a:r>
                <a:t>def nombre(...):</a:t>
              </a:r>
            </a:p>
          </p:txBody>
        </p:sp>
      </p:grpSp>
      <p:sp>
        <p:nvSpPr>
          <p:cNvPr id="378" name="Shape 7"/>
          <p:cNvSpPr/>
          <p:nvPr/>
        </p:nvSpPr>
        <p:spPr>
          <a:xfrm>
            <a:off x="2811779" y="1417319"/>
            <a:ext cx="2057401" cy="3566161"/>
          </a:xfrm>
          <a:prstGeom prst="roundRect">
            <a:avLst>
              <a:gd name="adj" fmla="val 3556"/>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379" name="Shape 8"/>
          <p:cNvSpPr/>
          <p:nvPr/>
        </p:nvSpPr>
        <p:spPr>
          <a:xfrm>
            <a:off x="3086100" y="1801367"/>
            <a:ext cx="1508761" cy="685801"/>
          </a:xfrm>
          <a:prstGeom prst="rect">
            <a:avLst/>
          </a:prstGeom>
          <a:solidFill>
            <a:srgbClr val="DBEAFE"/>
          </a:solidFill>
          <a:ln w="19050">
            <a:solidFill>
              <a:schemeClr val="accent1"/>
            </a:solidFill>
          </a:ln>
        </p:spPr>
        <p:txBody>
          <a:bodyPr lIns="45719" rIns="45719"/>
          <a:lstStyle/>
          <a:p>
            <a:pPr/>
          </a:p>
        </p:txBody>
      </p:sp>
      <p:sp>
        <p:nvSpPr>
          <p:cNvPr id="380" name="Text 9"/>
          <p:cNvSpPr txBox="1"/>
          <p:nvPr/>
        </p:nvSpPr>
        <p:spPr>
          <a:xfrm>
            <a:off x="2948939" y="2867223"/>
            <a:ext cx="178308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1E293B"/>
                </a:solidFill>
              </a:defRPr>
            </a:lvl1pPr>
          </a:lstStyle>
          <a:p>
            <a:pPr/>
            <a:r>
              <a:t>Proceso</a:t>
            </a:r>
          </a:p>
        </p:txBody>
      </p:sp>
      <p:sp>
        <p:nvSpPr>
          <p:cNvPr id="381" name="Text 10"/>
          <p:cNvSpPr txBox="1"/>
          <p:nvPr/>
        </p:nvSpPr>
        <p:spPr>
          <a:xfrm>
            <a:off x="2948939" y="3200400"/>
            <a:ext cx="1783080" cy="4179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334155"/>
                </a:solidFill>
              </a:defRPr>
            </a:lvl1pPr>
          </a:lstStyle>
          <a:p>
            <a:pPr/>
            <a:r>
              <a:t>Una instrucción: asignar o calcular.</a:t>
            </a:r>
          </a:p>
        </p:txBody>
      </p:sp>
      <p:grpSp>
        <p:nvGrpSpPr>
          <p:cNvPr id="384" name="Text 11"/>
          <p:cNvGrpSpPr/>
          <p:nvPr/>
        </p:nvGrpSpPr>
        <p:grpSpPr>
          <a:xfrm>
            <a:off x="2948939" y="4206240"/>
            <a:ext cx="1783081" cy="548641"/>
            <a:chOff x="0" y="0"/>
            <a:chExt cx="1783079" cy="548640"/>
          </a:xfrm>
        </p:grpSpPr>
        <p:sp>
          <p:nvSpPr>
            <p:cNvPr id="382" name="Rounded Rectangle"/>
            <p:cNvSpPr/>
            <p:nvPr/>
          </p:nvSpPr>
          <p:spPr>
            <a:xfrm>
              <a:off x="0" y="0"/>
              <a:ext cx="1783080" cy="548641"/>
            </a:xfrm>
            <a:prstGeom prst="roundRect">
              <a:avLst>
                <a:gd name="adj" fmla="val 13333"/>
              </a:avLst>
            </a:prstGeom>
            <a:solidFill>
              <a:srgbClr val="0F172A"/>
            </a:solidFill>
            <a:ln w="9525" cap="flat">
              <a:solidFill>
                <a:srgbClr val="334155"/>
              </a:solidFill>
              <a:prstDash val="solid"/>
              <a:round/>
            </a:ln>
            <a:effectLst/>
          </p:spPr>
          <p:txBody>
            <a:bodyPr wrap="square" lIns="45719" tIns="45719" rIns="45719" bIns="45719" numCol="1" anchor="ctr">
              <a:noAutofit/>
            </a:bodyPr>
            <a:lstStyle/>
            <a:p>
              <a:pPr algn="ctr">
                <a:defRPr sz="1100"/>
              </a:pPr>
            </a:p>
          </p:txBody>
        </p:sp>
        <p:sp>
          <p:nvSpPr>
            <p:cNvPr id="383" name="total = 0"/>
            <p:cNvSpPr txBox="1"/>
            <p:nvPr/>
          </p:nvSpPr>
          <p:spPr>
            <a:xfrm>
              <a:off x="71907" y="146050"/>
              <a:ext cx="163926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DCDCAA"/>
                  </a:solidFill>
                  <a:latin typeface="Menlo Regular"/>
                  <a:ea typeface="Menlo Regular"/>
                  <a:cs typeface="Menlo Regular"/>
                  <a:sym typeface="Menlo Regular"/>
                </a:defRPr>
              </a:lvl1pPr>
            </a:lstStyle>
            <a:p>
              <a:pPr/>
              <a:r>
                <a:t>total = 0</a:t>
              </a:r>
            </a:p>
          </p:txBody>
        </p:sp>
      </p:grpSp>
      <p:sp>
        <p:nvSpPr>
          <p:cNvPr id="385" name="Shape 12"/>
          <p:cNvSpPr/>
          <p:nvPr/>
        </p:nvSpPr>
        <p:spPr>
          <a:xfrm>
            <a:off x="5029200" y="1417319"/>
            <a:ext cx="2057400" cy="3566161"/>
          </a:xfrm>
          <a:prstGeom prst="roundRect">
            <a:avLst>
              <a:gd name="adj" fmla="val 3556"/>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386" name="Shape 13"/>
          <p:cNvSpPr/>
          <p:nvPr/>
        </p:nvSpPr>
        <p:spPr>
          <a:xfrm>
            <a:off x="5303520" y="1691639"/>
            <a:ext cx="1508761" cy="914401"/>
          </a:xfrm>
          <a:prstGeom prst="diamond">
            <a:avLst/>
          </a:prstGeom>
          <a:solidFill>
            <a:srgbClr val="FEF3C7"/>
          </a:solidFill>
          <a:ln w="19050">
            <a:solidFill>
              <a:schemeClr val="accent6"/>
            </a:solidFill>
          </a:ln>
        </p:spPr>
        <p:txBody>
          <a:bodyPr lIns="45719" rIns="45719"/>
          <a:lstStyle/>
          <a:p>
            <a:pPr/>
          </a:p>
        </p:txBody>
      </p:sp>
      <p:sp>
        <p:nvSpPr>
          <p:cNvPr id="387" name="Text 14"/>
          <p:cNvSpPr txBox="1"/>
          <p:nvPr/>
        </p:nvSpPr>
        <p:spPr>
          <a:xfrm>
            <a:off x="5166359" y="2867223"/>
            <a:ext cx="178308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1E293B"/>
                </a:solidFill>
              </a:defRPr>
            </a:lvl1pPr>
          </a:lstStyle>
          <a:p>
            <a:pPr/>
            <a:r>
              <a:t>Decisión</a:t>
            </a:r>
          </a:p>
        </p:txBody>
      </p:sp>
      <p:sp>
        <p:nvSpPr>
          <p:cNvPr id="388" name="Text 15"/>
          <p:cNvSpPr txBox="1"/>
          <p:nvPr/>
        </p:nvSpPr>
        <p:spPr>
          <a:xfrm>
            <a:off x="5166359" y="3200400"/>
            <a:ext cx="1783080" cy="4179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334155"/>
                </a:solidFill>
              </a:defRPr>
            </a:lvl1pPr>
          </a:lstStyle>
          <a:p>
            <a:pPr/>
            <a:r>
              <a:t>Pregunta de sí / no. Siempre dos salidas.</a:t>
            </a:r>
          </a:p>
        </p:txBody>
      </p:sp>
      <p:grpSp>
        <p:nvGrpSpPr>
          <p:cNvPr id="391" name="Text 16"/>
          <p:cNvGrpSpPr/>
          <p:nvPr/>
        </p:nvGrpSpPr>
        <p:grpSpPr>
          <a:xfrm>
            <a:off x="5166359" y="4206240"/>
            <a:ext cx="1783081" cy="548641"/>
            <a:chOff x="0" y="0"/>
            <a:chExt cx="1783079" cy="548640"/>
          </a:xfrm>
        </p:grpSpPr>
        <p:sp>
          <p:nvSpPr>
            <p:cNvPr id="389" name="Rounded Rectangle"/>
            <p:cNvSpPr/>
            <p:nvPr/>
          </p:nvSpPr>
          <p:spPr>
            <a:xfrm>
              <a:off x="0" y="0"/>
              <a:ext cx="1783080" cy="548641"/>
            </a:xfrm>
            <a:prstGeom prst="roundRect">
              <a:avLst>
                <a:gd name="adj" fmla="val 13333"/>
              </a:avLst>
            </a:prstGeom>
            <a:solidFill>
              <a:srgbClr val="0F172A"/>
            </a:solidFill>
            <a:ln w="9525" cap="flat">
              <a:solidFill>
                <a:srgbClr val="334155"/>
              </a:solidFill>
              <a:prstDash val="solid"/>
              <a:round/>
            </a:ln>
            <a:effectLst/>
          </p:spPr>
          <p:txBody>
            <a:bodyPr wrap="square" lIns="45719" tIns="45719" rIns="45719" bIns="45719" numCol="1" anchor="ctr">
              <a:noAutofit/>
            </a:bodyPr>
            <a:lstStyle/>
            <a:p>
              <a:pPr algn="ctr">
                <a:defRPr sz="1100"/>
              </a:pPr>
            </a:p>
          </p:txBody>
        </p:sp>
        <p:sp>
          <p:nvSpPr>
            <p:cNvPr id="390" name="if condicion:"/>
            <p:cNvSpPr txBox="1"/>
            <p:nvPr/>
          </p:nvSpPr>
          <p:spPr>
            <a:xfrm>
              <a:off x="71907" y="146050"/>
              <a:ext cx="163926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DCDCAA"/>
                  </a:solidFill>
                  <a:latin typeface="Menlo Regular"/>
                  <a:ea typeface="Menlo Regular"/>
                  <a:cs typeface="Menlo Regular"/>
                  <a:sym typeface="Menlo Regular"/>
                </a:defRPr>
              </a:lvl1pPr>
            </a:lstStyle>
            <a:p>
              <a:pPr/>
              <a:r>
                <a:t>if condicion:</a:t>
              </a:r>
            </a:p>
          </p:txBody>
        </p:sp>
      </p:grpSp>
      <p:sp>
        <p:nvSpPr>
          <p:cNvPr id="392" name="Shape 17"/>
          <p:cNvSpPr/>
          <p:nvPr/>
        </p:nvSpPr>
        <p:spPr>
          <a:xfrm>
            <a:off x="7246619" y="1417319"/>
            <a:ext cx="2057401" cy="3566161"/>
          </a:xfrm>
          <a:prstGeom prst="roundRect">
            <a:avLst>
              <a:gd name="adj" fmla="val 3556"/>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393" name="Shape 18"/>
          <p:cNvSpPr/>
          <p:nvPr/>
        </p:nvSpPr>
        <p:spPr>
          <a:xfrm>
            <a:off x="7520940" y="1801367"/>
            <a:ext cx="1508761" cy="6858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2455" y="0"/>
                </a:lnTo>
                <a:lnTo>
                  <a:pt x="19145" y="0"/>
                </a:lnTo>
                <a:lnTo>
                  <a:pt x="21600" y="10800"/>
                </a:lnTo>
                <a:lnTo>
                  <a:pt x="19145" y="21600"/>
                </a:lnTo>
                <a:lnTo>
                  <a:pt x="2455" y="21600"/>
                </a:lnTo>
                <a:close/>
              </a:path>
            </a:pathLst>
          </a:custGeom>
          <a:solidFill>
            <a:srgbClr val="DCFCE7"/>
          </a:solidFill>
          <a:ln w="19050">
            <a:solidFill>
              <a:schemeClr val="accent2"/>
            </a:solidFill>
          </a:ln>
        </p:spPr>
        <p:txBody>
          <a:bodyPr lIns="45719" rIns="45719"/>
          <a:lstStyle/>
          <a:p>
            <a:pPr/>
          </a:p>
        </p:txBody>
      </p:sp>
      <p:sp>
        <p:nvSpPr>
          <p:cNvPr id="394" name="Text 19"/>
          <p:cNvSpPr txBox="1"/>
          <p:nvPr/>
        </p:nvSpPr>
        <p:spPr>
          <a:xfrm>
            <a:off x="7383780" y="2867223"/>
            <a:ext cx="178308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1E293B"/>
                </a:solidFill>
              </a:defRPr>
            </a:lvl1pPr>
          </a:lstStyle>
          <a:p>
            <a:pPr/>
            <a:r>
              <a:t>Ciclo</a:t>
            </a:r>
          </a:p>
        </p:txBody>
      </p:sp>
      <p:sp>
        <p:nvSpPr>
          <p:cNvPr id="395" name="Text 20"/>
          <p:cNvSpPr txBox="1"/>
          <p:nvPr/>
        </p:nvSpPr>
        <p:spPr>
          <a:xfrm>
            <a:off x="7383780" y="3200400"/>
            <a:ext cx="1783080" cy="4179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334155"/>
                </a:solidFill>
              </a:defRPr>
            </a:lvl1pPr>
          </a:lstStyle>
          <a:p>
            <a:pPr/>
            <a:r>
              <a:t>Repetir para cada elemento de la lista.</a:t>
            </a:r>
          </a:p>
        </p:txBody>
      </p:sp>
      <p:grpSp>
        <p:nvGrpSpPr>
          <p:cNvPr id="398" name="Text 21"/>
          <p:cNvGrpSpPr/>
          <p:nvPr/>
        </p:nvGrpSpPr>
        <p:grpSpPr>
          <a:xfrm>
            <a:off x="7383780" y="4206240"/>
            <a:ext cx="1783081" cy="548641"/>
            <a:chOff x="0" y="0"/>
            <a:chExt cx="1783079" cy="548640"/>
          </a:xfrm>
        </p:grpSpPr>
        <p:sp>
          <p:nvSpPr>
            <p:cNvPr id="396" name="Rounded Rectangle"/>
            <p:cNvSpPr/>
            <p:nvPr/>
          </p:nvSpPr>
          <p:spPr>
            <a:xfrm>
              <a:off x="0" y="0"/>
              <a:ext cx="1783080" cy="548641"/>
            </a:xfrm>
            <a:prstGeom prst="roundRect">
              <a:avLst>
                <a:gd name="adj" fmla="val 13333"/>
              </a:avLst>
            </a:prstGeom>
            <a:solidFill>
              <a:srgbClr val="0F172A"/>
            </a:solidFill>
            <a:ln w="9525" cap="flat">
              <a:solidFill>
                <a:srgbClr val="334155"/>
              </a:solidFill>
              <a:prstDash val="solid"/>
              <a:round/>
            </a:ln>
            <a:effectLst/>
          </p:spPr>
          <p:txBody>
            <a:bodyPr wrap="square" lIns="45719" tIns="45719" rIns="45719" bIns="45719" numCol="1" anchor="ctr">
              <a:noAutofit/>
            </a:bodyPr>
            <a:lstStyle/>
            <a:p>
              <a:pPr algn="ctr">
                <a:defRPr sz="1100"/>
              </a:pPr>
            </a:p>
          </p:txBody>
        </p:sp>
        <p:sp>
          <p:nvSpPr>
            <p:cNvPr id="397" name="for x in lista:"/>
            <p:cNvSpPr txBox="1"/>
            <p:nvPr/>
          </p:nvSpPr>
          <p:spPr>
            <a:xfrm>
              <a:off x="71907" y="146050"/>
              <a:ext cx="163926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DCDCAA"/>
                  </a:solidFill>
                  <a:latin typeface="Menlo Regular"/>
                  <a:ea typeface="Menlo Regular"/>
                  <a:cs typeface="Menlo Regular"/>
                  <a:sym typeface="Menlo Regular"/>
                </a:defRPr>
              </a:lvl1pPr>
            </a:lstStyle>
            <a:p>
              <a:pPr/>
              <a:r>
                <a:t>for x in lista:</a:t>
              </a:r>
            </a:p>
          </p:txBody>
        </p:sp>
      </p:grpSp>
      <p:sp>
        <p:nvSpPr>
          <p:cNvPr id="399" name="Shape 22"/>
          <p:cNvSpPr/>
          <p:nvPr/>
        </p:nvSpPr>
        <p:spPr>
          <a:xfrm>
            <a:off x="9464040" y="1417319"/>
            <a:ext cx="2057401" cy="3566161"/>
          </a:xfrm>
          <a:prstGeom prst="roundRect">
            <a:avLst>
              <a:gd name="adj" fmla="val 3556"/>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400" name="Shape 23"/>
          <p:cNvSpPr/>
          <p:nvPr/>
        </p:nvSpPr>
        <p:spPr>
          <a:xfrm>
            <a:off x="9738359" y="1801367"/>
            <a:ext cx="1508761" cy="6858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455" y="0"/>
                </a:lnTo>
                <a:lnTo>
                  <a:pt x="21600" y="0"/>
                </a:lnTo>
                <a:lnTo>
                  <a:pt x="19145" y="21600"/>
                </a:lnTo>
                <a:close/>
              </a:path>
            </a:pathLst>
          </a:custGeom>
          <a:solidFill>
            <a:srgbClr val="EDE9FE"/>
          </a:solidFill>
          <a:ln w="19050">
            <a:solidFill>
              <a:schemeClr val="accent3"/>
            </a:solidFill>
          </a:ln>
        </p:spPr>
        <p:txBody>
          <a:bodyPr lIns="45719" rIns="45719"/>
          <a:lstStyle/>
          <a:p>
            <a:pPr/>
          </a:p>
        </p:txBody>
      </p:sp>
      <p:sp>
        <p:nvSpPr>
          <p:cNvPr id="401" name="Text 24"/>
          <p:cNvSpPr txBox="1"/>
          <p:nvPr/>
        </p:nvSpPr>
        <p:spPr>
          <a:xfrm>
            <a:off x="9601200" y="2867223"/>
            <a:ext cx="1783079"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1E293B"/>
                </a:solidFill>
              </a:defRPr>
            </a:lvl1pPr>
          </a:lstStyle>
          <a:p>
            <a:pPr/>
            <a:r>
              <a:t>Salida</a:t>
            </a:r>
          </a:p>
        </p:txBody>
      </p:sp>
      <p:sp>
        <p:nvSpPr>
          <p:cNvPr id="402" name="Text 25"/>
          <p:cNvSpPr txBox="1"/>
          <p:nvPr/>
        </p:nvSpPr>
        <p:spPr>
          <a:xfrm>
            <a:off x="9601200" y="3200400"/>
            <a:ext cx="1783079" cy="4179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334155"/>
                </a:solidFill>
              </a:defRPr>
            </a:lvl1pPr>
          </a:lstStyle>
          <a:p>
            <a:pPr/>
            <a:r>
              <a:t>El resultado que regresa la función.</a:t>
            </a:r>
          </a:p>
        </p:txBody>
      </p:sp>
      <p:grpSp>
        <p:nvGrpSpPr>
          <p:cNvPr id="405" name="Text 26"/>
          <p:cNvGrpSpPr/>
          <p:nvPr/>
        </p:nvGrpSpPr>
        <p:grpSpPr>
          <a:xfrm>
            <a:off x="9601200" y="4206240"/>
            <a:ext cx="1783080" cy="548641"/>
            <a:chOff x="0" y="0"/>
            <a:chExt cx="1783079" cy="548640"/>
          </a:xfrm>
        </p:grpSpPr>
        <p:sp>
          <p:nvSpPr>
            <p:cNvPr id="403" name="Rounded Rectangle"/>
            <p:cNvSpPr/>
            <p:nvPr/>
          </p:nvSpPr>
          <p:spPr>
            <a:xfrm>
              <a:off x="0" y="0"/>
              <a:ext cx="1783080" cy="548641"/>
            </a:xfrm>
            <a:prstGeom prst="roundRect">
              <a:avLst>
                <a:gd name="adj" fmla="val 13333"/>
              </a:avLst>
            </a:prstGeom>
            <a:solidFill>
              <a:srgbClr val="0F172A"/>
            </a:solidFill>
            <a:ln w="9525" cap="flat">
              <a:solidFill>
                <a:srgbClr val="334155"/>
              </a:solidFill>
              <a:prstDash val="solid"/>
              <a:round/>
            </a:ln>
            <a:effectLst/>
          </p:spPr>
          <p:txBody>
            <a:bodyPr wrap="square" lIns="45719" tIns="45719" rIns="45719" bIns="45719" numCol="1" anchor="ctr">
              <a:noAutofit/>
            </a:bodyPr>
            <a:lstStyle/>
            <a:p>
              <a:pPr algn="ctr">
                <a:defRPr sz="1100"/>
              </a:pPr>
            </a:p>
          </p:txBody>
        </p:sp>
        <p:sp>
          <p:nvSpPr>
            <p:cNvPr id="404" name="return total"/>
            <p:cNvSpPr txBox="1"/>
            <p:nvPr/>
          </p:nvSpPr>
          <p:spPr>
            <a:xfrm>
              <a:off x="71907" y="146050"/>
              <a:ext cx="163926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1100">
                  <a:solidFill>
                    <a:srgbClr val="DCDCAA"/>
                  </a:solidFill>
                  <a:latin typeface="Menlo Regular"/>
                  <a:ea typeface="Menlo Regular"/>
                  <a:cs typeface="Menlo Regular"/>
                  <a:sym typeface="Menlo Regular"/>
                </a:defRPr>
              </a:lvl1pPr>
            </a:lstStyle>
            <a:p>
              <a:pPr/>
              <a:r>
                <a:t>return total</a:t>
              </a:r>
            </a:p>
          </p:txBody>
        </p:sp>
      </p:grpSp>
      <p:sp>
        <p:nvSpPr>
          <p:cNvPr id="406" name="Shape 27"/>
          <p:cNvSpPr/>
          <p:nvPr/>
        </p:nvSpPr>
        <p:spPr>
          <a:xfrm>
            <a:off x="822960" y="5486400"/>
            <a:ext cx="1097281" cy="0"/>
          </a:xfrm>
          <a:prstGeom prst="line">
            <a:avLst/>
          </a:prstGeom>
          <a:ln w="19050">
            <a:solidFill>
              <a:srgbClr val="64748B"/>
            </a:solidFill>
            <a:tailEnd type="triangle"/>
          </a:ln>
        </p:spPr>
        <p:txBody>
          <a:bodyPr lIns="45719" rIns="45719"/>
          <a:lstStyle/>
          <a:p>
            <a:pPr/>
          </a:p>
        </p:txBody>
      </p:sp>
      <p:sp>
        <p:nvSpPr>
          <p:cNvPr id="407" name="Text 28"/>
          <p:cNvSpPr txBox="1"/>
          <p:nvPr/>
        </p:nvSpPr>
        <p:spPr>
          <a:xfrm>
            <a:off x="2103120" y="5391720"/>
            <a:ext cx="941832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334155"/>
                </a:solidFill>
              </a:defRPr>
            </a:pPr>
            <a:r>
              <a:t>Flecha</a:t>
            </a:r>
            <a:r>
              <a:rPr b="0"/>
              <a:t>: el orden en que se ejecutan las instrucciones. Una flecha que </a:t>
            </a:r>
            <a:r>
              <a:t>regresa hacia arriba</a:t>
            </a:r>
            <a:r>
              <a:rPr b="0"/>
              <a:t> es un ciclo.</a:t>
            </a:r>
          </a:p>
        </p:txBody>
      </p:sp>
      <p:sp>
        <p:nvSpPr>
          <p:cNvPr id="408"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2" name="Text 0"/>
          <p:cNvSpPr txBox="1"/>
          <p:nvPr>
            <p:ph type="title"/>
          </p:nvPr>
        </p:nvSpPr>
        <p:spPr>
          <a:prstGeom prst="rect">
            <a:avLst/>
          </a:prstGeom>
        </p:spPr>
        <p:txBody>
          <a:bodyPr lIns="0" tIns="0" rIns="0" bIns="0" anchor="ctr"/>
          <a:lstStyle/>
          <a:p>
            <a:pPr/>
            <a:r>
              <a:t>Bloques de Nassi-Shneiderman</a:t>
            </a:r>
          </a:p>
        </p:txBody>
      </p:sp>
      <p:sp>
        <p:nvSpPr>
          <p:cNvPr id="413" name="Text 0"/>
          <p:cNvSpPr txBox="1"/>
          <p:nvPr>
            <p:ph type="body" sz="quarter" idx="1"/>
          </p:nvPr>
        </p:nvSpPr>
        <p:spPr>
          <a:prstGeom prst="rect">
            <a:avLst/>
          </a:prstGeom>
        </p:spPr>
        <p:txBody>
          <a:bodyPr lIns="0" tIns="0" rIns="0" bIns="0" anchor="ctr"/>
          <a:lstStyle/>
          <a:p>
            <a:pPr/>
            <a:r>
              <a:t>Sin flechas: el orden es de arriba a abajo y lo que está dentro de un bloque le pertenece.</a:t>
            </a:r>
          </a:p>
        </p:txBody>
      </p:sp>
      <p:sp>
        <p:nvSpPr>
          <p:cNvPr id="414" name="Shape 2"/>
          <p:cNvSpPr/>
          <p:nvPr/>
        </p:nvSpPr>
        <p:spPr>
          <a:xfrm>
            <a:off x="594359" y="1417319"/>
            <a:ext cx="2514601" cy="3657601"/>
          </a:xfrm>
          <a:prstGeom prst="roundRect">
            <a:avLst>
              <a:gd name="adj" fmla="val 2909"/>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415" name="Text 3"/>
          <p:cNvSpPr txBox="1"/>
          <p:nvPr/>
        </p:nvSpPr>
        <p:spPr>
          <a:xfrm>
            <a:off x="777240" y="1632783"/>
            <a:ext cx="214884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3"/>
                </a:solidFill>
              </a:defRPr>
            </a:lvl1pPr>
          </a:lstStyle>
          <a:p>
            <a:pPr/>
            <a:r>
              <a:t>Proceso</a:t>
            </a:r>
          </a:p>
        </p:txBody>
      </p:sp>
      <p:sp>
        <p:nvSpPr>
          <p:cNvPr id="416" name="Shape 4"/>
          <p:cNvSpPr/>
          <p:nvPr/>
        </p:nvSpPr>
        <p:spPr>
          <a:xfrm>
            <a:off x="822960" y="2103120"/>
            <a:ext cx="2057401" cy="384049"/>
          </a:xfrm>
          <a:prstGeom prst="rect">
            <a:avLst/>
          </a:prstGeom>
          <a:solidFill>
            <a:srgbClr val="DBEAFE"/>
          </a:solidFill>
          <a:ln>
            <a:solidFill>
              <a:srgbClr val="334155"/>
            </a:solidFill>
          </a:ln>
        </p:spPr>
        <p:txBody>
          <a:bodyPr lIns="45719" rIns="45719"/>
          <a:lstStyle/>
          <a:p>
            <a:pPr/>
          </a:p>
        </p:txBody>
      </p:sp>
      <p:sp>
        <p:nvSpPr>
          <p:cNvPr id="417" name="Text 5"/>
          <p:cNvSpPr txBox="1"/>
          <p:nvPr/>
        </p:nvSpPr>
        <p:spPr>
          <a:xfrm>
            <a:off x="868680" y="2212594"/>
            <a:ext cx="19659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total = 0</a:t>
            </a:r>
          </a:p>
        </p:txBody>
      </p:sp>
      <p:sp>
        <p:nvSpPr>
          <p:cNvPr id="418" name="Shape 6"/>
          <p:cNvSpPr/>
          <p:nvPr/>
        </p:nvSpPr>
        <p:spPr>
          <a:xfrm>
            <a:off x="822960" y="2487167"/>
            <a:ext cx="2057401" cy="384049"/>
          </a:xfrm>
          <a:prstGeom prst="rect">
            <a:avLst/>
          </a:prstGeom>
          <a:solidFill>
            <a:srgbClr val="DBEAFE"/>
          </a:solidFill>
          <a:ln>
            <a:solidFill>
              <a:srgbClr val="334155"/>
            </a:solidFill>
          </a:ln>
        </p:spPr>
        <p:txBody>
          <a:bodyPr lIns="45719" rIns="45719"/>
          <a:lstStyle/>
          <a:p>
            <a:pPr/>
          </a:p>
        </p:txBody>
      </p:sp>
      <p:sp>
        <p:nvSpPr>
          <p:cNvPr id="419" name="Text 7"/>
          <p:cNvSpPr txBox="1"/>
          <p:nvPr/>
        </p:nvSpPr>
        <p:spPr>
          <a:xfrm>
            <a:off x="868680" y="2596641"/>
            <a:ext cx="19659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total = total + 5</a:t>
            </a:r>
          </a:p>
        </p:txBody>
      </p:sp>
      <p:sp>
        <p:nvSpPr>
          <p:cNvPr id="420" name="Text 8"/>
          <p:cNvSpPr txBox="1"/>
          <p:nvPr/>
        </p:nvSpPr>
        <p:spPr>
          <a:xfrm>
            <a:off x="777240" y="3657600"/>
            <a:ext cx="2148840"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334155"/>
                </a:solidFill>
              </a:defRPr>
            </a:lvl1pPr>
          </a:lstStyle>
          <a:p>
            <a:pPr/>
            <a:r>
              <a:t>Una instrucción. Varias seguidas = secuencia.</a:t>
            </a:r>
          </a:p>
        </p:txBody>
      </p:sp>
      <p:sp>
        <p:nvSpPr>
          <p:cNvPr id="421" name="Shape 9"/>
          <p:cNvSpPr/>
          <p:nvPr/>
        </p:nvSpPr>
        <p:spPr>
          <a:xfrm>
            <a:off x="3383279" y="1417319"/>
            <a:ext cx="2514601" cy="3657601"/>
          </a:xfrm>
          <a:prstGeom prst="roundRect">
            <a:avLst>
              <a:gd name="adj" fmla="val 2909"/>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422" name="Text 10"/>
          <p:cNvSpPr txBox="1"/>
          <p:nvPr/>
        </p:nvSpPr>
        <p:spPr>
          <a:xfrm>
            <a:off x="3566159" y="1632783"/>
            <a:ext cx="214884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3"/>
                </a:solidFill>
              </a:defRPr>
            </a:lvl1pPr>
          </a:lstStyle>
          <a:p>
            <a:pPr/>
            <a:r>
              <a:t>Decisión</a:t>
            </a:r>
          </a:p>
        </p:txBody>
      </p:sp>
      <p:sp>
        <p:nvSpPr>
          <p:cNvPr id="423" name="Shape 11"/>
          <p:cNvSpPr/>
          <p:nvPr/>
        </p:nvSpPr>
        <p:spPr>
          <a:xfrm>
            <a:off x="3611879" y="2103120"/>
            <a:ext cx="2057401" cy="640081"/>
          </a:xfrm>
          <a:prstGeom prst="rect">
            <a:avLst/>
          </a:prstGeom>
          <a:solidFill>
            <a:srgbClr val="FEF3C7"/>
          </a:solidFill>
          <a:ln>
            <a:solidFill>
              <a:srgbClr val="334155"/>
            </a:solidFill>
          </a:ln>
        </p:spPr>
        <p:txBody>
          <a:bodyPr lIns="45719" rIns="45719"/>
          <a:lstStyle/>
          <a:p>
            <a:pPr/>
          </a:p>
        </p:txBody>
      </p:sp>
      <p:sp>
        <p:nvSpPr>
          <p:cNvPr id="424" name="Shape 12"/>
          <p:cNvSpPr/>
          <p:nvPr/>
        </p:nvSpPr>
        <p:spPr>
          <a:xfrm>
            <a:off x="3611880" y="2103120"/>
            <a:ext cx="986046" cy="640081"/>
          </a:xfrm>
          <a:prstGeom prst="line">
            <a:avLst/>
          </a:prstGeom>
          <a:ln>
            <a:solidFill>
              <a:srgbClr val="334155"/>
            </a:solidFill>
          </a:ln>
        </p:spPr>
        <p:txBody>
          <a:bodyPr lIns="45719" rIns="45719"/>
          <a:lstStyle/>
          <a:p>
            <a:pPr/>
          </a:p>
        </p:txBody>
      </p:sp>
      <p:sp>
        <p:nvSpPr>
          <p:cNvPr id="425" name="Shape 13"/>
          <p:cNvSpPr/>
          <p:nvPr/>
        </p:nvSpPr>
        <p:spPr>
          <a:xfrm flipH="1">
            <a:off x="4597925" y="2103120"/>
            <a:ext cx="1071356" cy="640081"/>
          </a:xfrm>
          <a:prstGeom prst="line">
            <a:avLst/>
          </a:prstGeom>
          <a:ln>
            <a:solidFill>
              <a:srgbClr val="334155"/>
            </a:solidFill>
          </a:ln>
        </p:spPr>
        <p:txBody>
          <a:bodyPr lIns="45719" rIns="45719"/>
          <a:lstStyle/>
          <a:p>
            <a:pPr/>
          </a:p>
        </p:txBody>
      </p:sp>
      <p:sp>
        <p:nvSpPr>
          <p:cNvPr id="426" name="Text 14"/>
          <p:cNvSpPr txBox="1"/>
          <p:nvPr/>
        </p:nvSpPr>
        <p:spPr>
          <a:xfrm>
            <a:off x="3826400" y="2176017"/>
            <a:ext cx="154305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¿x &gt; 0?</a:t>
            </a:r>
          </a:p>
        </p:txBody>
      </p:sp>
      <p:sp>
        <p:nvSpPr>
          <p:cNvPr id="427" name="Text 15"/>
          <p:cNvSpPr txBox="1"/>
          <p:nvPr/>
        </p:nvSpPr>
        <p:spPr>
          <a:xfrm>
            <a:off x="3675888" y="2537504"/>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428" name="Text 16"/>
          <p:cNvSpPr txBox="1"/>
          <p:nvPr/>
        </p:nvSpPr>
        <p:spPr>
          <a:xfrm>
            <a:off x="5239511" y="2537504"/>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475569"/>
                </a:solidFill>
              </a:defRPr>
            </a:lvl1pPr>
          </a:lstStyle>
          <a:p>
            <a:pPr/>
            <a:r>
              <a:t>No</a:t>
            </a:r>
          </a:p>
        </p:txBody>
      </p:sp>
      <p:sp>
        <p:nvSpPr>
          <p:cNvPr id="429" name="Shape 17"/>
          <p:cNvSpPr/>
          <p:nvPr/>
        </p:nvSpPr>
        <p:spPr>
          <a:xfrm>
            <a:off x="3611879" y="2743200"/>
            <a:ext cx="986046" cy="384048"/>
          </a:xfrm>
          <a:prstGeom prst="rect">
            <a:avLst/>
          </a:prstGeom>
          <a:solidFill>
            <a:srgbClr val="FFFFFF"/>
          </a:solidFill>
          <a:ln>
            <a:solidFill>
              <a:srgbClr val="334155"/>
            </a:solidFill>
          </a:ln>
        </p:spPr>
        <p:txBody>
          <a:bodyPr lIns="45719" rIns="45719"/>
          <a:lstStyle/>
          <a:p>
            <a:pPr/>
          </a:p>
        </p:txBody>
      </p:sp>
      <p:sp>
        <p:nvSpPr>
          <p:cNvPr id="430" name="Shape 18"/>
          <p:cNvSpPr/>
          <p:nvPr/>
        </p:nvSpPr>
        <p:spPr>
          <a:xfrm>
            <a:off x="3611879" y="2743200"/>
            <a:ext cx="986046" cy="384048"/>
          </a:xfrm>
          <a:prstGeom prst="rect">
            <a:avLst/>
          </a:prstGeom>
          <a:solidFill>
            <a:srgbClr val="DBEAFE"/>
          </a:solidFill>
          <a:ln>
            <a:solidFill>
              <a:srgbClr val="334155"/>
            </a:solidFill>
          </a:ln>
        </p:spPr>
        <p:txBody>
          <a:bodyPr lIns="45719" rIns="45719"/>
          <a:lstStyle/>
          <a:p>
            <a:pPr/>
          </a:p>
        </p:txBody>
      </p:sp>
      <p:sp>
        <p:nvSpPr>
          <p:cNvPr id="431" name="Text 19"/>
          <p:cNvSpPr txBox="1"/>
          <p:nvPr/>
        </p:nvSpPr>
        <p:spPr>
          <a:xfrm>
            <a:off x="3657600" y="2852673"/>
            <a:ext cx="89460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signo = 1</a:t>
            </a:r>
          </a:p>
        </p:txBody>
      </p:sp>
      <p:sp>
        <p:nvSpPr>
          <p:cNvPr id="432" name="Shape 20"/>
          <p:cNvSpPr/>
          <p:nvPr/>
        </p:nvSpPr>
        <p:spPr>
          <a:xfrm>
            <a:off x="4597925" y="2743200"/>
            <a:ext cx="1071356" cy="384048"/>
          </a:xfrm>
          <a:prstGeom prst="rect">
            <a:avLst/>
          </a:prstGeom>
          <a:solidFill>
            <a:srgbClr val="FFFFFF"/>
          </a:solidFill>
          <a:ln>
            <a:solidFill>
              <a:srgbClr val="334155"/>
            </a:solidFill>
          </a:ln>
        </p:spPr>
        <p:txBody>
          <a:bodyPr lIns="45719" rIns="45719"/>
          <a:lstStyle/>
          <a:p>
            <a:pPr/>
          </a:p>
        </p:txBody>
      </p:sp>
      <p:sp>
        <p:nvSpPr>
          <p:cNvPr id="433" name="Shape 21"/>
          <p:cNvSpPr/>
          <p:nvPr/>
        </p:nvSpPr>
        <p:spPr>
          <a:xfrm>
            <a:off x="4597925" y="2743200"/>
            <a:ext cx="1071356" cy="384048"/>
          </a:xfrm>
          <a:prstGeom prst="rect">
            <a:avLst/>
          </a:prstGeom>
          <a:solidFill>
            <a:srgbClr val="DBEAFE"/>
          </a:solidFill>
          <a:ln>
            <a:solidFill>
              <a:srgbClr val="334155"/>
            </a:solidFill>
          </a:ln>
        </p:spPr>
        <p:txBody>
          <a:bodyPr lIns="45719" rIns="45719"/>
          <a:lstStyle/>
          <a:p>
            <a:pPr/>
          </a:p>
        </p:txBody>
      </p:sp>
      <p:sp>
        <p:nvSpPr>
          <p:cNvPr id="434" name="Text 22"/>
          <p:cNvSpPr txBox="1"/>
          <p:nvPr/>
        </p:nvSpPr>
        <p:spPr>
          <a:xfrm>
            <a:off x="4643644" y="2852673"/>
            <a:ext cx="979916"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signo = -1</a:t>
            </a:r>
          </a:p>
        </p:txBody>
      </p:sp>
      <p:sp>
        <p:nvSpPr>
          <p:cNvPr id="435" name="Text 23"/>
          <p:cNvSpPr txBox="1"/>
          <p:nvPr/>
        </p:nvSpPr>
        <p:spPr>
          <a:xfrm>
            <a:off x="3566159" y="3657600"/>
            <a:ext cx="2148841" cy="6437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334155"/>
                </a:solidFill>
              </a:defRPr>
            </a:lvl1pPr>
          </a:lstStyle>
          <a:p>
            <a:pPr/>
            <a:r>
              <a:t>El triángulo hace la pregunta; abajo, una columna por respuesta.</a:t>
            </a:r>
          </a:p>
        </p:txBody>
      </p:sp>
      <p:sp>
        <p:nvSpPr>
          <p:cNvPr id="436" name="Shape 24"/>
          <p:cNvSpPr/>
          <p:nvPr/>
        </p:nvSpPr>
        <p:spPr>
          <a:xfrm>
            <a:off x="6172200" y="1417319"/>
            <a:ext cx="2514600" cy="3657601"/>
          </a:xfrm>
          <a:prstGeom prst="roundRect">
            <a:avLst>
              <a:gd name="adj" fmla="val 2909"/>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437" name="Text 25"/>
          <p:cNvSpPr txBox="1"/>
          <p:nvPr/>
        </p:nvSpPr>
        <p:spPr>
          <a:xfrm>
            <a:off x="6355079" y="1632783"/>
            <a:ext cx="214884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3"/>
                </a:solidFill>
              </a:defRPr>
            </a:lvl1pPr>
          </a:lstStyle>
          <a:p>
            <a:pPr/>
            <a:r>
              <a:t>Ciclo</a:t>
            </a:r>
          </a:p>
        </p:txBody>
      </p:sp>
      <p:sp>
        <p:nvSpPr>
          <p:cNvPr id="438" name="Shape 26"/>
          <p:cNvSpPr/>
          <p:nvPr/>
        </p:nvSpPr>
        <p:spPr>
          <a:xfrm>
            <a:off x="6400800" y="2103120"/>
            <a:ext cx="2057400" cy="768097"/>
          </a:xfrm>
          <a:prstGeom prst="rect">
            <a:avLst/>
          </a:prstGeom>
          <a:solidFill>
            <a:srgbClr val="DCFCE7"/>
          </a:solidFill>
          <a:ln>
            <a:solidFill>
              <a:srgbClr val="334155"/>
            </a:solidFill>
          </a:ln>
        </p:spPr>
        <p:txBody>
          <a:bodyPr lIns="45719" rIns="45719"/>
          <a:lstStyle/>
          <a:p>
            <a:pPr/>
          </a:p>
        </p:txBody>
      </p:sp>
      <p:sp>
        <p:nvSpPr>
          <p:cNvPr id="439" name="Text 27"/>
          <p:cNvSpPr txBox="1"/>
          <p:nvPr/>
        </p:nvSpPr>
        <p:spPr>
          <a:xfrm>
            <a:off x="6492240" y="2212594"/>
            <a:ext cx="187452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14532D"/>
                </a:solidFill>
                <a:latin typeface="Menlo Regular"/>
                <a:ea typeface="Menlo Regular"/>
                <a:cs typeface="Menlo Regular"/>
                <a:sym typeface="Menlo Regular"/>
              </a:defRPr>
            </a:lvl1pPr>
          </a:lstStyle>
          <a:p>
            <a:pPr/>
            <a:r>
              <a:t>for x in lista</a:t>
            </a:r>
          </a:p>
        </p:txBody>
      </p:sp>
      <p:sp>
        <p:nvSpPr>
          <p:cNvPr id="440" name="Shape 28"/>
          <p:cNvSpPr/>
          <p:nvPr/>
        </p:nvSpPr>
        <p:spPr>
          <a:xfrm>
            <a:off x="6784847" y="2487167"/>
            <a:ext cx="1673352" cy="384049"/>
          </a:xfrm>
          <a:prstGeom prst="rect">
            <a:avLst/>
          </a:prstGeom>
          <a:solidFill>
            <a:srgbClr val="DBEAFE"/>
          </a:solidFill>
          <a:ln>
            <a:solidFill>
              <a:srgbClr val="334155"/>
            </a:solidFill>
          </a:ln>
        </p:spPr>
        <p:txBody>
          <a:bodyPr lIns="45719" rIns="45719"/>
          <a:lstStyle/>
          <a:p>
            <a:pPr/>
          </a:p>
        </p:txBody>
      </p:sp>
      <p:sp>
        <p:nvSpPr>
          <p:cNvPr id="441" name="Text 29"/>
          <p:cNvSpPr txBox="1"/>
          <p:nvPr/>
        </p:nvSpPr>
        <p:spPr>
          <a:xfrm>
            <a:off x="6830568" y="2596641"/>
            <a:ext cx="158191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total = total + x</a:t>
            </a:r>
          </a:p>
        </p:txBody>
      </p:sp>
      <p:sp>
        <p:nvSpPr>
          <p:cNvPr id="442" name="Text 30"/>
          <p:cNvSpPr txBox="1"/>
          <p:nvPr/>
        </p:nvSpPr>
        <p:spPr>
          <a:xfrm>
            <a:off x="6355079" y="3657600"/>
            <a:ext cx="2148841" cy="6437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334155"/>
                </a:solidFill>
              </a:defRPr>
            </a:lvl1pPr>
          </a:lstStyle>
          <a:p>
            <a:pPr/>
            <a:r>
              <a:t>La «L» abraza las instrucciones que se repiten.</a:t>
            </a:r>
          </a:p>
        </p:txBody>
      </p:sp>
      <p:sp>
        <p:nvSpPr>
          <p:cNvPr id="443" name="Shape 31"/>
          <p:cNvSpPr/>
          <p:nvPr/>
        </p:nvSpPr>
        <p:spPr>
          <a:xfrm>
            <a:off x="8961119" y="1417319"/>
            <a:ext cx="2514601" cy="3657601"/>
          </a:xfrm>
          <a:prstGeom prst="roundRect">
            <a:avLst>
              <a:gd name="adj" fmla="val 2909"/>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444" name="Text 32"/>
          <p:cNvSpPr txBox="1"/>
          <p:nvPr/>
        </p:nvSpPr>
        <p:spPr>
          <a:xfrm>
            <a:off x="9144000" y="1632783"/>
            <a:ext cx="214884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chemeClr val="accent3"/>
                </a:solidFill>
              </a:defRPr>
            </a:lvl1pPr>
          </a:lstStyle>
          <a:p>
            <a:pPr/>
            <a:r>
              <a:t>Anidado</a:t>
            </a:r>
          </a:p>
        </p:txBody>
      </p:sp>
      <p:sp>
        <p:nvSpPr>
          <p:cNvPr id="445" name="Shape 33"/>
          <p:cNvSpPr/>
          <p:nvPr/>
        </p:nvSpPr>
        <p:spPr>
          <a:xfrm>
            <a:off x="9189719" y="2103120"/>
            <a:ext cx="2057401" cy="1408177"/>
          </a:xfrm>
          <a:prstGeom prst="rect">
            <a:avLst/>
          </a:prstGeom>
          <a:solidFill>
            <a:srgbClr val="DCFCE7"/>
          </a:solidFill>
          <a:ln>
            <a:solidFill>
              <a:srgbClr val="334155"/>
            </a:solidFill>
          </a:ln>
        </p:spPr>
        <p:txBody>
          <a:bodyPr lIns="45719" rIns="45719"/>
          <a:lstStyle/>
          <a:p>
            <a:pPr/>
          </a:p>
        </p:txBody>
      </p:sp>
      <p:sp>
        <p:nvSpPr>
          <p:cNvPr id="446" name="Text 34"/>
          <p:cNvSpPr txBox="1"/>
          <p:nvPr/>
        </p:nvSpPr>
        <p:spPr>
          <a:xfrm>
            <a:off x="9281159" y="2212594"/>
            <a:ext cx="187452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14532D"/>
                </a:solidFill>
                <a:latin typeface="Menlo Regular"/>
                <a:ea typeface="Menlo Regular"/>
                <a:cs typeface="Menlo Regular"/>
                <a:sym typeface="Menlo Regular"/>
              </a:defRPr>
            </a:lvl1pPr>
          </a:lstStyle>
          <a:p>
            <a:pPr/>
            <a:r>
              <a:t>for x in lista</a:t>
            </a:r>
          </a:p>
        </p:txBody>
      </p:sp>
      <p:sp>
        <p:nvSpPr>
          <p:cNvPr id="447" name="Shape 35"/>
          <p:cNvSpPr/>
          <p:nvPr/>
        </p:nvSpPr>
        <p:spPr>
          <a:xfrm>
            <a:off x="9573768" y="2487167"/>
            <a:ext cx="1673352" cy="640081"/>
          </a:xfrm>
          <a:prstGeom prst="rect">
            <a:avLst/>
          </a:prstGeom>
          <a:solidFill>
            <a:srgbClr val="FEF3C7"/>
          </a:solidFill>
          <a:ln>
            <a:solidFill>
              <a:srgbClr val="334155"/>
            </a:solidFill>
          </a:ln>
        </p:spPr>
        <p:txBody>
          <a:bodyPr lIns="45719" rIns="45719"/>
          <a:lstStyle/>
          <a:p>
            <a:pPr/>
          </a:p>
        </p:txBody>
      </p:sp>
      <p:sp>
        <p:nvSpPr>
          <p:cNvPr id="448" name="Shape 36"/>
          <p:cNvSpPr/>
          <p:nvPr/>
        </p:nvSpPr>
        <p:spPr>
          <a:xfrm>
            <a:off x="9573768" y="2487167"/>
            <a:ext cx="1005609" cy="640081"/>
          </a:xfrm>
          <a:prstGeom prst="line">
            <a:avLst/>
          </a:prstGeom>
          <a:ln>
            <a:solidFill>
              <a:srgbClr val="334155"/>
            </a:solidFill>
          </a:ln>
        </p:spPr>
        <p:txBody>
          <a:bodyPr lIns="45719" rIns="45719"/>
          <a:lstStyle/>
          <a:p>
            <a:pPr/>
          </a:p>
        </p:txBody>
      </p:sp>
      <p:sp>
        <p:nvSpPr>
          <p:cNvPr id="449" name="Shape 37"/>
          <p:cNvSpPr/>
          <p:nvPr/>
        </p:nvSpPr>
        <p:spPr>
          <a:xfrm flipH="1">
            <a:off x="10579376" y="2487167"/>
            <a:ext cx="667745" cy="640081"/>
          </a:xfrm>
          <a:prstGeom prst="line">
            <a:avLst/>
          </a:prstGeom>
          <a:ln>
            <a:solidFill>
              <a:srgbClr val="334155"/>
            </a:solidFill>
          </a:ln>
        </p:spPr>
        <p:txBody>
          <a:bodyPr lIns="45719" rIns="45719"/>
          <a:lstStyle/>
          <a:p>
            <a:pPr/>
          </a:p>
        </p:txBody>
      </p:sp>
      <p:sp>
        <p:nvSpPr>
          <p:cNvPr id="450" name="Text 38"/>
          <p:cNvSpPr txBox="1"/>
          <p:nvPr/>
        </p:nvSpPr>
        <p:spPr>
          <a:xfrm>
            <a:off x="9946385" y="2560066"/>
            <a:ext cx="1255015"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¿x &gt; 0?</a:t>
            </a:r>
          </a:p>
        </p:txBody>
      </p:sp>
      <p:sp>
        <p:nvSpPr>
          <p:cNvPr id="451" name="Text 39"/>
          <p:cNvSpPr txBox="1"/>
          <p:nvPr/>
        </p:nvSpPr>
        <p:spPr>
          <a:xfrm>
            <a:off x="9637776" y="292155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452" name="Text 40"/>
          <p:cNvSpPr txBox="1"/>
          <p:nvPr/>
        </p:nvSpPr>
        <p:spPr>
          <a:xfrm>
            <a:off x="10817352" y="292155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475569"/>
                </a:solidFill>
              </a:defRPr>
            </a:lvl1pPr>
          </a:lstStyle>
          <a:p>
            <a:pPr/>
            <a:r>
              <a:t>No</a:t>
            </a:r>
          </a:p>
        </p:txBody>
      </p:sp>
      <p:sp>
        <p:nvSpPr>
          <p:cNvPr id="453" name="Shape 41"/>
          <p:cNvSpPr/>
          <p:nvPr/>
        </p:nvSpPr>
        <p:spPr>
          <a:xfrm>
            <a:off x="9573768" y="3127248"/>
            <a:ext cx="1005609" cy="384049"/>
          </a:xfrm>
          <a:prstGeom prst="rect">
            <a:avLst/>
          </a:prstGeom>
          <a:solidFill>
            <a:srgbClr val="FFFFFF"/>
          </a:solidFill>
          <a:ln>
            <a:solidFill>
              <a:srgbClr val="334155"/>
            </a:solidFill>
          </a:ln>
        </p:spPr>
        <p:txBody>
          <a:bodyPr lIns="45719" rIns="45719"/>
          <a:lstStyle/>
          <a:p>
            <a:pPr/>
          </a:p>
        </p:txBody>
      </p:sp>
      <p:sp>
        <p:nvSpPr>
          <p:cNvPr id="454" name="Shape 42"/>
          <p:cNvSpPr/>
          <p:nvPr/>
        </p:nvSpPr>
        <p:spPr>
          <a:xfrm>
            <a:off x="9573768" y="3127248"/>
            <a:ext cx="1005609" cy="384049"/>
          </a:xfrm>
          <a:prstGeom prst="rect">
            <a:avLst/>
          </a:prstGeom>
          <a:solidFill>
            <a:srgbClr val="DBEAFE"/>
          </a:solidFill>
          <a:ln>
            <a:solidFill>
              <a:srgbClr val="334155"/>
            </a:solidFill>
          </a:ln>
        </p:spPr>
        <p:txBody>
          <a:bodyPr lIns="45719" rIns="45719"/>
          <a:lstStyle/>
          <a:p>
            <a:pPr/>
          </a:p>
        </p:txBody>
      </p:sp>
      <p:sp>
        <p:nvSpPr>
          <p:cNvPr id="455" name="Text 43"/>
          <p:cNvSpPr txBox="1"/>
          <p:nvPr/>
        </p:nvSpPr>
        <p:spPr>
          <a:xfrm>
            <a:off x="9619488" y="3236722"/>
            <a:ext cx="91416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c = c + 1</a:t>
            </a:r>
          </a:p>
        </p:txBody>
      </p:sp>
      <p:sp>
        <p:nvSpPr>
          <p:cNvPr id="456" name="Shape 44"/>
          <p:cNvSpPr/>
          <p:nvPr/>
        </p:nvSpPr>
        <p:spPr>
          <a:xfrm>
            <a:off x="10579375" y="3127248"/>
            <a:ext cx="667745" cy="384049"/>
          </a:xfrm>
          <a:prstGeom prst="rect">
            <a:avLst/>
          </a:prstGeom>
          <a:solidFill>
            <a:srgbClr val="FFFFFF"/>
          </a:solidFill>
          <a:ln>
            <a:solidFill>
              <a:srgbClr val="334155"/>
            </a:solidFill>
          </a:ln>
        </p:spPr>
        <p:txBody>
          <a:bodyPr lIns="45719" rIns="45719"/>
          <a:lstStyle/>
          <a:p>
            <a:pPr/>
          </a:p>
        </p:txBody>
      </p:sp>
      <p:sp>
        <p:nvSpPr>
          <p:cNvPr id="457" name="Text 45"/>
          <p:cNvSpPr txBox="1"/>
          <p:nvPr/>
        </p:nvSpPr>
        <p:spPr>
          <a:xfrm>
            <a:off x="10579375" y="3240839"/>
            <a:ext cx="66774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94A3B8"/>
                </a:solidFill>
              </a:defRPr>
            </a:lvl1pPr>
          </a:lstStyle>
          <a:p>
            <a:pPr/>
            <a:r>
              <a:t>—</a:t>
            </a:r>
          </a:p>
        </p:txBody>
      </p:sp>
      <p:sp>
        <p:nvSpPr>
          <p:cNvPr id="458" name="Text 46"/>
          <p:cNvSpPr txBox="1"/>
          <p:nvPr/>
        </p:nvSpPr>
        <p:spPr>
          <a:xfrm>
            <a:off x="9144000" y="3657600"/>
            <a:ext cx="2148840"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334155"/>
                </a:solidFill>
              </a:defRPr>
            </a:lvl1pPr>
          </a:lstStyle>
          <a:p>
            <a:pPr/>
            <a:r>
              <a:t>Un bloque dentro de otro, como la sangría en Python.</a:t>
            </a:r>
          </a:p>
        </p:txBody>
      </p:sp>
      <p:sp>
        <p:nvSpPr>
          <p:cNvPr id="459" name="Text 47"/>
          <p:cNvSpPr txBox="1"/>
          <p:nvPr/>
        </p:nvSpPr>
        <p:spPr>
          <a:xfrm>
            <a:off x="594359" y="5430451"/>
            <a:ext cx="109728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300">
                <a:solidFill>
                  <a:srgbClr val="475569"/>
                </a:solidFill>
              </a:defRPr>
            </a:pPr>
            <a:r>
              <a:t>Regla de oro: un bloque </a:t>
            </a:r>
            <a:r>
              <a:rPr b="1"/>
              <a:t>nunca se cruza</a:t>
            </a:r>
            <a:r>
              <a:t> con otro. O va </a:t>
            </a:r>
            <a:r>
              <a:rPr b="1"/>
              <a:t>debajo</a:t>
            </a:r>
            <a:r>
              <a:t> (secuencia) o va </a:t>
            </a:r>
            <a:r>
              <a:rPr b="1"/>
              <a:t>dentro</a:t>
            </a:r>
            <a:r>
              <a:t> (anidado).</a:t>
            </a:r>
          </a:p>
        </p:txBody>
      </p:sp>
      <p:sp>
        <p:nvSpPr>
          <p:cNvPr id="460"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4" name="Text 0"/>
          <p:cNvSpPr txBox="1"/>
          <p:nvPr>
            <p:ph type="title"/>
          </p:nvPr>
        </p:nvSpPr>
        <p:spPr>
          <a:prstGeom prst="rect">
            <a:avLst/>
          </a:prstGeom>
        </p:spPr>
        <p:txBody>
          <a:bodyPr lIns="0" tIns="0" rIns="0" bIns="0" anchor="ctr"/>
          <a:lstStyle/>
          <a:p>
            <a:pPr/>
            <a:r>
              <a:t>1 · Secuencia</a:t>
            </a:r>
          </a:p>
        </p:txBody>
      </p:sp>
      <p:sp>
        <p:nvSpPr>
          <p:cNvPr id="465" name="Text 0"/>
          <p:cNvSpPr txBox="1"/>
          <p:nvPr>
            <p:ph type="body" sz="quarter" idx="1"/>
          </p:nvPr>
        </p:nvSpPr>
        <p:spPr>
          <a:prstGeom prst="rect">
            <a:avLst/>
          </a:prstGeom>
        </p:spPr>
        <p:txBody>
          <a:bodyPr lIns="0" tIns="0" rIns="0" bIns="0" anchor="ctr"/>
          <a:lstStyle/>
          <a:p>
            <a:pPr/>
            <a:r>
              <a:t>Cada instrucción es una caja. Se ejecutan de arriba a abajo, una sola vez.</a:t>
            </a:r>
          </a:p>
        </p:txBody>
      </p:sp>
      <p:sp>
        <p:nvSpPr>
          <p:cNvPr id="466" name="Shape 2"/>
          <p:cNvSpPr/>
          <p:nvPr/>
        </p:nvSpPr>
        <p:spPr>
          <a:xfrm>
            <a:off x="548640" y="1325880"/>
            <a:ext cx="4663441" cy="1250443"/>
          </a:xfrm>
          <a:prstGeom prst="roundRect">
            <a:avLst>
              <a:gd name="adj" fmla="val 5850"/>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467" name="Text 3"/>
          <p:cNvSpPr txBox="1"/>
          <p:nvPr/>
        </p:nvSpPr>
        <p:spPr>
          <a:xfrm>
            <a:off x="749808" y="147680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Python  ·  convertir_a_fahrenheit(25)  →  77.0</a:t>
            </a:r>
          </a:p>
        </p:txBody>
      </p:sp>
      <p:sp>
        <p:nvSpPr>
          <p:cNvPr id="468" name="Text 4"/>
          <p:cNvSpPr txBox="1"/>
          <p:nvPr/>
        </p:nvSpPr>
        <p:spPr>
          <a:xfrm>
            <a:off x="749808" y="1764792"/>
            <a:ext cx="4297680" cy="6049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sz="1200">
                <a:solidFill>
                  <a:srgbClr val="569CD6"/>
                </a:solidFill>
                <a:latin typeface="Menlo Regular"/>
                <a:ea typeface="Menlo Regular"/>
                <a:cs typeface="Menlo Regular"/>
                <a:sym typeface="Menlo Regular"/>
              </a:defRPr>
            </a:pPr>
            <a:r>
              <a:t>def</a:t>
            </a:r>
            <a:r>
              <a:rPr>
                <a:solidFill>
                  <a:srgbClr val="D4D4D4"/>
                </a:solidFill>
              </a:rPr>
              <a:t> </a:t>
            </a:r>
            <a:r>
              <a:rPr>
                <a:solidFill>
                  <a:srgbClr val="DCDCAA"/>
                </a:solidFill>
              </a:rPr>
              <a:t>convertir_a_fahrenheit</a:t>
            </a:r>
            <a:r>
              <a:rPr>
                <a:solidFill>
                  <a:srgbClr val="D4D4D4"/>
                </a:solidFill>
              </a:rPr>
              <a:t>(</a:t>
            </a:r>
            <a:r>
              <a:rPr>
                <a:solidFill>
                  <a:srgbClr val="9CDCFE"/>
                </a:solidFill>
              </a:rPr>
              <a:t>celsius</a:t>
            </a:r>
            <a:r>
              <a:rPr>
                <a:solidFill>
                  <a:srgbClr val="D4D4D4"/>
                </a:solidFill>
              </a:rPr>
              <a:t>):</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fahrenheit</a:t>
            </a:r>
            <a:r>
              <a:t> = </a:t>
            </a:r>
            <a:r>
              <a:rPr>
                <a:solidFill>
                  <a:srgbClr val="9CDCFE"/>
                </a:solidFill>
              </a:rPr>
              <a:t>celsius</a:t>
            </a:r>
            <a:r>
              <a:t> * </a:t>
            </a:r>
            <a:r>
              <a:rPr>
                <a:solidFill>
                  <a:srgbClr val="B5CEA8"/>
                </a:solidFill>
              </a:rPr>
              <a:t>9</a:t>
            </a:r>
            <a:r>
              <a:t> / </a:t>
            </a:r>
            <a:r>
              <a:rPr>
                <a:solidFill>
                  <a:srgbClr val="B5CEA8"/>
                </a:solidFill>
              </a:rPr>
              <a:t>5</a:t>
            </a:r>
            <a:r>
              <a:t> + </a:t>
            </a:r>
            <a:r>
              <a:rPr>
                <a:solidFill>
                  <a:srgbClr val="B5CEA8"/>
                </a:solidFill>
              </a:rPr>
              <a:t>32</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9CDCFE"/>
                </a:solidFill>
              </a:rPr>
              <a:t>fahrenheit</a:t>
            </a:r>
          </a:p>
        </p:txBody>
      </p:sp>
      <p:sp>
        <p:nvSpPr>
          <p:cNvPr id="469" name="Shape 5"/>
          <p:cNvSpPr/>
          <p:nvPr/>
        </p:nvSpPr>
        <p:spPr>
          <a:xfrm>
            <a:off x="548640" y="2777489"/>
            <a:ext cx="4663441" cy="3577592"/>
          </a:xfrm>
          <a:prstGeom prst="roundRect">
            <a:avLst>
              <a:gd name="adj" fmla="val 204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470" name="Text 6"/>
          <p:cNvSpPr txBox="1"/>
          <p:nvPr/>
        </p:nvSpPr>
        <p:spPr>
          <a:xfrm>
            <a:off x="749808" y="292841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3"/>
                </a:solidFill>
              </a:defRPr>
            </a:lvl1pPr>
          </a:lstStyle>
          <a:p>
            <a:pPr/>
            <a:r>
              <a:t>Nassi-Shneiderman</a:t>
            </a:r>
          </a:p>
        </p:txBody>
      </p:sp>
      <p:sp>
        <p:nvSpPr>
          <p:cNvPr id="471" name="Shape 7"/>
          <p:cNvSpPr/>
          <p:nvPr/>
        </p:nvSpPr>
        <p:spPr>
          <a:xfrm>
            <a:off x="777239" y="3216401"/>
            <a:ext cx="4206242" cy="384049"/>
          </a:xfrm>
          <a:prstGeom prst="rect">
            <a:avLst/>
          </a:prstGeom>
          <a:solidFill>
            <a:srgbClr val="1E293B"/>
          </a:solidFill>
          <a:ln>
            <a:solidFill>
              <a:srgbClr val="334155"/>
            </a:solidFill>
          </a:ln>
        </p:spPr>
        <p:txBody>
          <a:bodyPr lIns="45719" rIns="45719"/>
          <a:lstStyle/>
          <a:p>
            <a:pPr/>
          </a:p>
        </p:txBody>
      </p:sp>
      <p:sp>
        <p:nvSpPr>
          <p:cNvPr id="472" name="Text 8"/>
          <p:cNvSpPr txBox="1"/>
          <p:nvPr/>
        </p:nvSpPr>
        <p:spPr>
          <a:xfrm>
            <a:off x="822960" y="3325876"/>
            <a:ext cx="41148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convertir_a_fahrenheit(celsius)</a:t>
            </a:r>
          </a:p>
        </p:txBody>
      </p:sp>
      <p:sp>
        <p:nvSpPr>
          <p:cNvPr id="473" name="Shape 9"/>
          <p:cNvSpPr/>
          <p:nvPr/>
        </p:nvSpPr>
        <p:spPr>
          <a:xfrm>
            <a:off x="777239" y="3600450"/>
            <a:ext cx="4206242" cy="384048"/>
          </a:xfrm>
          <a:prstGeom prst="rect">
            <a:avLst/>
          </a:prstGeom>
          <a:solidFill>
            <a:srgbClr val="DBEAFE"/>
          </a:solidFill>
          <a:ln>
            <a:solidFill>
              <a:srgbClr val="334155"/>
            </a:solidFill>
          </a:ln>
        </p:spPr>
        <p:txBody>
          <a:bodyPr lIns="45719" rIns="45719"/>
          <a:lstStyle/>
          <a:p>
            <a:pPr/>
          </a:p>
        </p:txBody>
      </p:sp>
      <p:sp>
        <p:nvSpPr>
          <p:cNvPr id="474" name="Text 10"/>
          <p:cNvSpPr txBox="1"/>
          <p:nvPr/>
        </p:nvSpPr>
        <p:spPr>
          <a:xfrm>
            <a:off x="822960" y="3709923"/>
            <a:ext cx="41148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fahrenheit = celsius * 9 / 5 + 32</a:t>
            </a:r>
          </a:p>
        </p:txBody>
      </p:sp>
      <p:sp>
        <p:nvSpPr>
          <p:cNvPr id="475" name="Shape 11"/>
          <p:cNvSpPr/>
          <p:nvPr/>
        </p:nvSpPr>
        <p:spPr>
          <a:xfrm>
            <a:off x="777239" y="3984497"/>
            <a:ext cx="4206242" cy="384049"/>
          </a:xfrm>
          <a:prstGeom prst="rect">
            <a:avLst/>
          </a:prstGeom>
          <a:solidFill>
            <a:srgbClr val="EDE9FE"/>
          </a:solidFill>
          <a:ln>
            <a:solidFill>
              <a:srgbClr val="334155"/>
            </a:solidFill>
          </a:ln>
        </p:spPr>
        <p:txBody>
          <a:bodyPr lIns="45719" rIns="45719"/>
          <a:lstStyle/>
          <a:p>
            <a:pPr/>
          </a:p>
        </p:txBody>
      </p:sp>
      <p:sp>
        <p:nvSpPr>
          <p:cNvPr id="476" name="Text 12"/>
          <p:cNvSpPr txBox="1"/>
          <p:nvPr/>
        </p:nvSpPr>
        <p:spPr>
          <a:xfrm>
            <a:off x="822960" y="4093971"/>
            <a:ext cx="41148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fahrenheit</a:t>
            </a:r>
          </a:p>
        </p:txBody>
      </p:sp>
      <p:sp>
        <p:nvSpPr>
          <p:cNvPr id="477" name="Shape 13"/>
          <p:cNvSpPr/>
          <p:nvPr/>
        </p:nvSpPr>
        <p:spPr>
          <a:xfrm>
            <a:off x="5440679" y="1325880"/>
            <a:ext cx="6199633" cy="5029201"/>
          </a:xfrm>
          <a:prstGeom prst="roundRect">
            <a:avLst>
              <a:gd name="adj" fmla="val 145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478" name="Text 14"/>
          <p:cNvSpPr txBox="1"/>
          <p:nvPr/>
        </p:nvSpPr>
        <p:spPr>
          <a:xfrm>
            <a:off x="5641847" y="1476800"/>
            <a:ext cx="5797298"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2"/>
                </a:solidFill>
              </a:defRPr>
            </a:lvl1pPr>
          </a:lstStyle>
          <a:p>
            <a:pPr/>
            <a:r>
              <a:t>Diagrama de flujo</a:t>
            </a:r>
          </a:p>
        </p:txBody>
      </p:sp>
      <p:sp>
        <p:nvSpPr>
          <p:cNvPr id="479" name="Shape 15"/>
          <p:cNvSpPr/>
          <p:nvPr/>
        </p:nvSpPr>
        <p:spPr>
          <a:xfrm>
            <a:off x="7008355" y="2871216"/>
            <a:ext cx="3064282" cy="384049"/>
          </a:xfrm>
          <a:prstGeom prst="roundRect">
            <a:avLst>
              <a:gd name="adj" fmla="val 50000"/>
            </a:avLst>
          </a:prstGeom>
          <a:solidFill>
            <a:srgbClr val="1E293B"/>
          </a:solidFill>
          <a:ln w="15875">
            <a:solidFill>
              <a:srgbClr val="1E293B"/>
            </a:solidFill>
          </a:ln>
        </p:spPr>
        <p:txBody>
          <a:bodyPr lIns="45719" rIns="45719"/>
          <a:lstStyle/>
          <a:p>
            <a:pPr/>
          </a:p>
        </p:txBody>
      </p:sp>
      <p:sp>
        <p:nvSpPr>
          <p:cNvPr id="480" name="Text 16"/>
          <p:cNvSpPr txBox="1"/>
          <p:nvPr/>
        </p:nvSpPr>
        <p:spPr>
          <a:xfrm>
            <a:off x="7008355" y="2980689"/>
            <a:ext cx="306428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convertir_a_fahrenheit(celsius)</a:t>
            </a:r>
          </a:p>
        </p:txBody>
      </p:sp>
      <p:sp>
        <p:nvSpPr>
          <p:cNvPr id="481" name="Shape 17"/>
          <p:cNvSpPr/>
          <p:nvPr/>
        </p:nvSpPr>
        <p:spPr>
          <a:xfrm>
            <a:off x="8540495" y="3255264"/>
            <a:ext cx="1" cy="237744"/>
          </a:xfrm>
          <a:prstGeom prst="line">
            <a:avLst/>
          </a:prstGeom>
          <a:ln w="15875">
            <a:solidFill>
              <a:srgbClr val="64748B"/>
            </a:solidFill>
            <a:tailEnd type="triangle"/>
          </a:ln>
        </p:spPr>
        <p:txBody>
          <a:bodyPr lIns="45719" rIns="45719"/>
          <a:lstStyle/>
          <a:p>
            <a:pPr/>
          </a:p>
        </p:txBody>
      </p:sp>
      <p:sp>
        <p:nvSpPr>
          <p:cNvPr id="482" name="Shape 18"/>
          <p:cNvSpPr/>
          <p:nvPr/>
        </p:nvSpPr>
        <p:spPr>
          <a:xfrm>
            <a:off x="6969976" y="3493008"/>
            <a:ext cx="3141041" cy="365761"/>
          </a:xfrm>
          <a:prstGeom prst="rect">
            <a:avLst/>
          </a:prstGeom>
          <a:solidFill>
            <a:srgbClr val="DBEAFE"/>
          </a:solidFill>
          <a:ln w="15875">
            <a:solidFill>
              <a:schemeClr val="accent1"/>
            </a:solidFill>
          </a:ln>
        </p:spPr>
        <p:txBody>
          <a:bodyPr lIns="45719" rIns="45719"/>
          <a:lstStyle/>
          <a:p>
            <a:pPr/>
          </a:p>
        </p:txBody>
      </p:sp>
      <p:sp>
        <p:nvSpPr>
          <p:cNvPr id="483" name="Text 19"/>
          <p:cNvSpPr txBox="1"/>
          <p:nvPr/>
        </p:nvSpPr>
        <p:spPr>
          <a:xfrm>
            <a:off x="6969976" y="3593338"/>
            <a:ext cx="314104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fahrenheit = celsius * 9 / 5 + 32</a:t>
            </a:r>
          </a:p>
        </p:txBody>
      </p:sp>
      <p:sp>
        <p:nvSpPr>
          <p:cNvPr id="484" name="Shape 20"/>
          <p:cNvSpPr/>
          <p:nvPr/>
        </p:nvSpPr>
        <p:spPr>
          <a:xfrm>
            <a:off x="8540495" y="3858767"/>
            <a:ext cx="1" cy="237744"/>
          </a:xfrm>
          <a:prstGeom prst="line">
            <a:avLst/>
          </a:prstGeom>
          <a:ln w="15875">
            <a:solidFill>
              <a:srgbClr val="64748B"/>
            </a:solidFill>
            <a:tailEnd type="triangle"/>
          </a:ln>
        </p:spPr>
        <p:txBody>
          <a:bodyPr lIns="45719" rIns="45719"/>
          <a:lstStyle/>
          <a:p>
            <a:pPr/>
          </a:p>
        </p:txBody>
      </p:sp>
      <p:sp>
        <p:nvSpPr>
          <p:cNvPr id="485" name="Shape 21"/>
          <p:cNvSpPr/>
          <p:nvPr/>
        </p:nvSpPr>
        <p:spPr>
          <a:xfrm>
            <a:off x="7482751" y="4096511"/>
            <a:ext cx="2115491" cy="3657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934" y="0"/>
                </a:lnTo>
                <a:lnTo>
                  <a:pt x="21600" y="0"/>
                </a:lnTo>
                <a:lnTo>
                  <a:pt x="20666" y="21600"/>
                </a:lnTo>
                <a:close/>
              </a:path>
            </a:pathLst>
          </a:custGeom>
          <a:solidFill>
            <a:srgbClr val="EDE9FE"/>
          </a:solidFill>
          <a:ln w="15875">
            <a:solidFill>
              <a:schemeClr val="accent3"/>
            </a:solidFill>
          </a:ln>
        </p:spPr>
        <p:txBody>
          <a:bodyPr lIns="45719" rIns="45719"/>
          <a:lstStyle/>
          <a:p>
            <a:pPr/>
          </a:p>
        </p:txBody>
      </p:sp>
      <p:sp>
        <p:nvSpPr>
          <p:cNvPr id="486" name="Text 22"/>
          <p:cNvSpPr txBox="1"/>
          <p:nvPr/>
        </p:nvSpPr>
        <p:spPr>
          <a:xfrm>
            <a:off x="7482751" y="4196841"/>
            <a:ext cx="211549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fahrenheit</a:t>
            </a:r>
          </a:p>
        </p:txBody>
      </p:sp>
      <p:sp>
        <p:nvSpPr>
          <p:cNvPr id="487" name="Shape 23"/>
          <p:cNvSpPr/>
          <p:nvPr/>
        </p:nvSpPr>
        <p:spPr>
          <a:xfrm>
            <a:off x="8540495" y="4462271"/>
            <a:ext cx="1" cy="237744"/>
          </a:xfrm>
          <a:prstGeom prst="line">
            <a:avLst/>
          </a:prstGeom>
          <a:ln w="15875">
            <a:solidFill>
              <a:srgbClr val="64748B"/>
            </a:solidFill>
            <a:tailEnd type="triangle"/>
          </a:ln>
        </p:spPr>
        <p:txBody>
          <a:bodyPr lIns="45719" rIns="45719"/>
          <a:lstStyle/>
          <a:p>
            <a:pPr/>
          </a:p>
        </p:txBody>
      </p:sp>
      <p:sp>
        <p:nvSpPr>
          <p:cNvPr id="488" name="Shape 24"/>
          <p:cNvSpPr/>
          <p:nvPr/>
        </p:nvSpPr>
        <p:spPr>
          <a:xfrm>
            <a:off x="8185746" y="4700015"/>
            <a:ext cx="709499" cy="384049"/>
          </a:xfrm>
          <a:prstGeom prst="roundRect">
            <a:avLst>
              <a:gd name="adj" fmla="val 50000"/>
            </a:avLst>
          </a:prstGeom>
          <a:solidFill>
            <a:srgbClr val="1E293B"/>
          </a:solidFill>
          <a:ln w="15875">
            <a:solidFill>
              <a:srgbClr val="1E293B"/>
            </a:solidFill>
          </a:ln>
        </p:spPr>
        <p:txBody>
          <a:bodyPr lIns="45719" rIns="45719"/>
          <a:lstStyle/>
          <a:p>
            <a:pPr/>
          </a:p>
        </p:txBody>
      </p:sp>
      <p:sp>
        <p:nvSpPr>
          <p:cNvPr id="489" name="Text 25"/>
          <p:cNvSpPr txBox="1"/>
          <p:nvPr/>
        </p:nvSpPr>
        <p:spPr>
          <a:xfrm>
            <a:off x="8185746" y="4809489"/>
            <a:ext cx="70949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Fin</a:t>
            </a:r>
          </a:p>
        </p:txBody>
      </p:sp>
      <p:sp>
        <p:nvSpPr>
          <p:cNvPr id="490"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4" name="Text 0"/>
          <p:cNvSpPr txBox="1"/>
          <p:nvPr>
            <p:ph type="title"/>
          </p:nvPr>
        </p:nvSpPr>
        <p:spPr>
          <a:prstGeom prst="rect">
            <a:avLst/>
          </a:prstGeom>
        </p:spPr>
        <p:txBody>
          <a:bodyPr lIns="0" tIns="0" rIns="0" bIns="0" anchor="ctr"/>
          <a:lstStyle/>
          <a:p>
            <a:pPr/>
            <a:r>
              <a:t>2 · </a:t>
            </a:r>
            <a:r>
              <a:rPr sz="2600">
                <a:latin typeface="Menlo Regular"/>
                <a:ea typeface="Menlo Regular"/>
                <a:cs typeface="Menlo Regular"/>
                <a:sym typeface="Menlo Regular"/>
              </a:rPr>
              <a:t>if</a:t>
            </a:r>
            <a:r>
              <a:t> sin </a:t>
            </a:r>
            <a:r>
              <a:rPr sz="2600">
                <a:latin typeface="Menlo Regular"/>
                <a:ea typeface="Menlo Regular"/>
                <a:cs typeface="Menlo Regular"/>
                <a:sym typeface="Menlo Regular"/>
              </a:rPr>
              <a:t>else</a:t>
            </a:r>
            <a:r>
              <a:t> · valor por defecto</a:t>
            </a:r>
          </a:p>
        </p:txBody>
      </p:sp>
      <p:sp>
        <p:nvSpPr>
          <p:cNvPr id="495" name="Text 0"/>
          <p:cNvSpPr txBox="1"/>
          <p:nvPr>
            <p:ph type="body" sz="quarter" idx="1"/>
          </p:nvPr>
        </p:nvSpPr>
        <p:spPr>
          <a:prstGeom prst="rect">
            <a:avLst/>
          </a:prstGeom>
        </p:spPr>
        <p:txBody>
          <a:bodyPr lIns="0" tIns="0" rIns="0" bIns="0" anchor="ctr"/>
          <a:lstStyle/>
          <a:p>
            <a:pPr/>
            <a:r>
              <a:t>La rama </a:t>
            </a:r>
            <a:r>
              <a:rPr b="1"/>
              <a:t>No</a:t>
            </a:r>
            <a:r>
              <a:t> no tiene caja: salta directo al </a:t>
            </a:r>
            <a:r>
              <a:rPr sz="1300">
                <a:latin typeface="Menlo Regular"/>
                <a:ea typeface="Menlo Regular"/>
                <a:cs typeface="Menlo Regular"/>
                <a:sym typeface="Menlo Regular"/>
              </a:rPr>
              <a:t>return</a:t>
            </a:r>
            <a:r>
              <a:t>. En N-S esa columna queda vacía (—).</a:t>
            </a:r>
          </a:p>
        </p:txBody>
      </p:sp>
      <p:sp>
        <p:nvSpPr>
          <p:cNvPr id="496" name="Shape 2"/>
          <p:cNvSpPr/>
          <p:nvPr/>
        </p:nvSpPr>
        <p:spPr>
          <a:xfrm>
            <a:off x="548640" y="1325880"/>
            <a:ext cx="4663441" cy="1669543"/>
          </a:xfrm>
          <a:prstGeom prst="roundRect">
            <a:avLst>
              <a:gd name="adj" fmla="val 4382"/>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497" name="Text 3"/>
          <p:cNvSpPr txBox="1"/>
          <p:nvPr/>
        </p:nvSpPr>
        <p:spPr>
          <a:xfrm>
            <a:off x="749808" y="147680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Python  ·  aplicar_descuento(100, True)  →  80.0</a:t>
            </a:r>
          </a:p>
        </p:txBody>
      </p:sp>
      <p:sp>
        <p:nvSpPr>
          <p:cNvPr id="498" name="Text 4"/>
          <p:cNvSpPr txBox="1"/>
          <p:nvPr/>
        </p:nvSpPr>
        <p:spPr>
          <a:xfrm>
            <a:off x="749808" y="1764792"/>
            <a:ext cx="4297680" cy="10113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sz="1200">
                <a:solidFill>
                  <a:srgbClr val="569CD6"/>
                </a:solidFill>
                <a:latin typeface="Menlo Regular"/>
                <a:ea typeface="Menlo Regular"/>
                <a:cs typeface="Menlo Regular"/>
                <a:sym typeface="Menlo Regular"/>
              </a:defRPr>
            </a:pPr>
            <a:r>
              <a:t>def</a:t>
            </a:r>
            <a:r>
              <a:rPr>
                <a:solidFill>
                  <a:srgbClr val="D4D4D4"/>
                </a:solidFill>
              </a:rPr>
              <a:t> </a:t>
            </a:r>
            <a:r>
              <a:rPr>
                <a:solidFill>
                  <a:srgbClr val="DCDCAA"/>
                </a:solidFill>
              </a:rPr>
              <a:t>aplicar_descuento</a:t>
            </a:r>
            <a:r>
              <a:rPr>
                <a:solidFill>
                  <a:srgbClr val="D4D4D4"/>
                </a:solidFill>
              </a:rPr>
              <a:t>(</a:t>
            </a:r>
            <a:r>
              <a:rPr>
                <a:solidFill>
                  <a:srgbClr val="9CDCFE"/>
                </a:solidFill>
              </a:rPr>
              <a:t>precio</a:t>
            </a:r>
            <a:r>
              <a:rPr>
                <a:solidFill>
                  <a:srgbClr val="D4D4D4"/>
                </a:solidFill>
              </a:rPr>
              <a:t>, </a:t>
            </a:r>
            <a:r>
              <a:rPr>
                <a:solidFill>
                  <a:srgbClr val="9CDCFE"/>
                </a:solidFill>
              </a:rPr>
              <a:t>es_estudiante</a:t>
            </a:r>
            <a:r>
              <a:rPr>
                <a:solidFill>
                  <a:srgbClr val="D4D4D4"/>
                </a:solidFill>
              </a:rPr>
              <a:t>):</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total</a:t>
            </a:r>
            <a:r>
              <a:t> = </a:t>
            </a:r>
            <a:r>
              <a:rPr>
                <a:solidFill>
                  <a:srgbClr val="9CDCFE"/>
                </a:solidFill>
              </a:rPr>
              <a:t>precio</a:t>
            </a:r>
            <a:r>
              <a:t>  </a:t>
            </a:r>
            <a:r>
              <a:rPr>
                <a:solidFill>
                  <a:srgbClr val="6A9955"/>
                </a:solidFill>
              </a:rPr>
              <a:t># valor por defecto</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if</a:t>
            </a:r>
            <a:r>
              <a:t> </a:t>
            </a:r>
            <a:r>
              <a:rPr>
                <a:solidFill>
                  <a:srgbClr val="9CDCFE"/>
                </a:solidFill>
              </a:rPr>
              <a:t>es_estudiante</a:t>
            </a:r>
            <a:r>
              <a:t>:</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total</a:t>
            </a:r>
            <a:r>
              <a:t> = </a:t>
            </a:r>
            <a:r>
              <a:rPr>
                <a:solidFill>
                  <a:srgbClr val="9CDCFE"/>
                </a:solidFill>
              </a:rPr>
              <a:t>precio</a:t>
            </a:r>
            <a:r>
              <a:t> * </a:t>
            </a:r>
            <a:r>
              <a:rPr>
                <a:solidFill>
                  <a:srgbClr val="B5CEA8"/>
                </a:solidFill>
              </a:rPr>
              <a:t>0.8</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9CDCFE"/>
                </a:solidFill>
              </a:rPr>
              <a:t>total</a:t>
            </a:r>
          </a:p>
        </p:txBody>
      </p:sp>
      <p:sp>
        <p:nvSpPr>
          <p:cNvPr id="499" name="Shape 5"/>
          <p:cNvSpPr/>
          <p:nvPr/>
        </p:nvSpPr>
        <p:spPr>
          <a:xfrm>
            <a:off x="548640" y="3196589"/>
            <a:ext cx="4663441" cy="3158491"/>
          </a:xfrm>
          <a:prstGeom prst="roundRect">
            <a:avLst>
              <a:gd name="adj" fmla="val 2316"/>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500" name="Text 6"/>
          <p:cNvSpPr txBox="1"/>
          <p:nvPr/>
        </p:nvSpPr>
        <p:spPr>
          <a:xfrm>
            <a:off x="749808" y="334751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3"/>
                </a:solidFill>
              </a:defRPr>
            </a:lvl1pPr>
          </a:lstStyle>
          <a:p>
            <a:pPr/>
            <a:r>
              <a:t>Nassi-Shneiderman</a:t>
            </a:r>
          </a:p>
        </p:txBody>
      </p:sp>
      <p:sp>
        <p:nvSpPr>
          <p:cNvPr id="501" name="Shape 7"/>
          <p:cNvSpPr/>
          <p:nvPr/>
        </p:nvSpPr>
        <p:spPr>
          <a:xfrm>
            <a:off x="777239" y="3635502"/>
            <a:ext cx="4206242" cy="384049"/>
          </a:xfrm>
          <a:prstGeom prst="rect">
            <a:avLst/>
          </a:prstGeom>
          <a:solidFill>
            <a:srgbClr val="1E293B"/>
          </a:solidFill>
          <a:ln>
            <a:solidFill>
              <a:srgbClr val="334155"/>
            </a:solidFill>
          </a:ln>
        </p:spPr>
        <p:txBody>
          <a:bodyPr lIns="45719" rIns="45719"/>
          <a:lstStyle/>
          <a:p>
            <a:pPr/>
          </a:p>
        </p:txBody>
      </p:sp>
      <p:sp>
        <p:nvSpPr>
          <p:cNvPr id="502" name="Text 8"/>
          <p:cNvSpPr txBox="1"/>
          <p:nvPr/>
        </p:nvSpPr>
        <p:spPr>
          <a:xfrm>
            <a:off x="822960" y="3744976"/>
            <a:ext cx="41148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aplicar_descuento(precio, es_estudiante)</a:t>
            </a:r>
          </a:p>
        </p:txBody>
      </p:sp>
      <p:sp>
        <p:nvSpPr>
          <p:cNvPr id="503" name="Shape 9"/>
          <p:cNvSpPr/>
          <p:nvPr/>
        </p:nvSpPr>
        <p:spPr>
          <a:xfrm>
            <a:off x="777239" y="4019550"/>
            <a:ext cx="4206242" cy="384048"/>
          </a:xfrm>
          <a:prstGeom prst="rect">
            <a:avLst/>
          </a:prstGeom>
          <a:solidFill>
            <a:srgbClr val="DBEAFE"/>
          </a:solidFill>
          <a:ln>
            <a:solidFill>
              <a:srgbClr val="334155"/>
            </a:solidFill>
          </a:ln>
        </p:spPr>
        <p:txBody>
          <a:bodyPr lIns="45719" rIns="45719"/>
          <a:lstStyle/>
          <a:p>
            <a:pPr/>
          </a:p>
        </p:txBody>
      </p:sp>
      <p:sp>
        <p:nvSpPr>
          <p:cNvPr id="504" name="Text 10"/>
          <p:cNvSpPr txBox="1"/>
          <p:nvPr/>
        </p:nvSpPr>
        <p:spPr>
          <a:xfrm>
            <a:off x="822960" y="4129023"/>
            <a:ext cx="41148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total = precio</a:t>
            </a:r>
          </a:p>
        </p:txBody>
      </p:sp>
      <p:sp>
        <p:nvSpPr>
          <p:cNvPr id="505" name="Shape 11"/>
          <p:cNvSpPr/>
          <p:nvPr/>
        </p:nvSpPr>
        <p:spPr>
          <a:xfrm>
            <a:off x="777239" y="4403597"/>
            <a:ext cx="4206242" cy="640081"/>
          </a:xfrm>
          <a:prstGeom prst="rect">
            <a:avLst/>
          </a:prstGeom>
          <a:solidFill>
            <a:srgbClr val="FEF3C7"/>
          </a:solidFill>
          <a:ln>
            <a:solidFill>
              <a:srgbClr val="334155"/>
            </a:solidFill>
          </a:ln>
        </p:spPr>
        <p:txBody>
          <a:bodyPr lIns="45719" rIns="45719"/>
          <a:lstStyle/>
          <a:p>
            <a:pPr/>
          </a:p>
        </p:txBody>
      </p:sp>
      <p:sp>
        <p:nvSpPr>
          <p:cNvPr id="506" name="Shape 12"/>
          <p:cNvSpPr/>
          <p:nvPr/>
        </p:nvSpPr>
        <p:spPr>
          <a:xfrm>
            <a:off x="777239" y="4403597"/>
            <a:ext cx="3028494" cy="640082"/>
          </a:xfrm>
          <a:prstGeom prst="line">
            <a:avLst/>
          </a:prstGeom>
          <a:ln>
            <a:solidFill>
              <a:srgbClr val="334155"/>
            </a:solidFill>
          </a:ln>
        </p:spPr>
        <p:txBody>
          <a:bodyPr lIns="45719" rIns="45719"/>
          <a:lstStyle/>
          <a:p>
            <a:pPr/>
          </a:p>
        </p:txBody>
      </p:sp>
      <p:sp>
        <p:nvSpPr>
          <p:cNvPr id="507" name="Shape 13"/>
          <p:cNvSpPr/>
          <p:nvPr/>
        </p:nvSpPr>
        <p:spPr>
          <a:xfrm flipH="1">
            <a:off x="3805732" y="4403598"/>
            <a:ext cx="1177748" cy="640080"/>
          </a:xfrm>
          <a:prstGeom prst="line">
            <a:avLst/>
          </a:prstGeom>
          <a:ln>
            <a:solidFill>
              <a:srgbClr val="334155"/>
            </a:solidFill>
          </a:ln>
        </p:spPr>
        <p:txBody>
          <a:bodyPr lIns="45719" rIns="45719"/>
          <a:lstStyle/>
          <a:p>
            <a:pPr/>
          </a:p>
        </p:txBody>
      </p:sp>
      <p:sp>
        <p:nvSpPr>
          <p:cNvPr id="508" name="Text 14"/>
          <p:cNvSpPr txBox="1"/>
          <p:nvPr/>
        </p:nvSpPr>
        <p:spPr>
          <a:xfrm>
            <a:off x="1783079" y="4476495"/>
            <a:ext cx="315468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¿es_estudiante?</a:t>
            </a:r>
          </a:p>
        </p:txBody>
      </p:sp>
      <p:sp>
        <p:nvSpPr>
          <p:cNvPr id="509" name="Text 15"/>
          <p:cNvSpPr txBox="1"/>
          <p:nvPr/>
        </p:nvSpPr>
        <p:spPr>
          <a:xfrm>
            <a:off x="841247" y="483798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510" name="Text 16"/>
          <p:cNvSpPr txBox="1"/>
          <p:nvPr/>
        </p:nvSpPr>
        <p:spPr>
          <a:xfrm>
            <a:off x="4553711" y="483798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475569"/>
                </a:solidFill>
              </a:defRPr>
            </a:lvl1pPr>
          </a:lstStyle>
          <a:p>
            <a:pPr/>
            <a:r>
              <a:t>No</a:t>
            </a:r>
          </a:p>
        </p:txBody>
      </p:sp>
      <p:sp>
        <p:nvSpPr>
          <p:cNvPr id="511" name="Shape 17"/>
          <p:cNvSpPr/>
          <p:nvPr/>
        </p:nvSpPr>
        <p:spPr>
          <a:xfrm>
            <a:off x="777239" y="5043678"/>
            <a:ext cx="3028495" cy="384049"/>
          </a:xfrm>
          <a:prstGeom prst="rect">
            <a:avLst/>
          </a:prstGeom>
          <a:solidFill>
            <a:srgbClr val="FFFFFF"/>
          </a:solidFill>
          <a:ln>
            <a:solidFill>
              <a:srgbClr val="334155"/>
            </a:solidFill>
          </a:ln>
        </p:spPr>
        <p:txBody>
          <a:bodyPr lIns="45719" rIns="45719"/>
          <a:lstStyle/>
          <a:p>
            <a:pPr/>
          </a:p>
        </p:txBody>
      </p:sp>
      <p:sp>
        <p:nvSpPr>
          <p:cNvPr id="512" name="Shape 18"/>
          <p:cNvSpPr/>
          <p:nvPr/>
        </p:nvSpPr>
        <p:spPr>
          <a:xfrm>
            <a:off x="777239" y="5043678"/>
            <a:ext cx="3028495" cy="384049"/>
          </a:xfrm>
          <a:prstGeom prst="rect">
            <a:avLst/>
          </a:prstGeom>
          <a:solidFill>
            <a:srgbClr val="DBEAFE"/>
          </a:solidFill>
          <a:ln>
            <a:solidFill>
              <a:srgbClr val="334155"/>
            </a:solidFill>
          </a:ln>
        </p:spPr>
        <p:txBody>
          <a:bodyPr lIns="45719" rIns="45719"/>
          <a:lstStyle/>
          <a:p>
            <a:pPr/>
          </a:p>
        </p:txBody>
      </p:sp>
      <p:sp>
        <p:nvSpPr>
          <p:cNvPr id="513" name="Text 19"/>
          <p:cNvSpPr txBox="1"/>
          <p:nvPr/>
        </p:nvSpPr>
        <p:spPr>
          <a:xfrm>
            <a:off x="822960" y="5153152"/>
            <a:ext cx="293705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total = precio * 0.8</a:t>
            </a:r>
          </a:p>
        </p:txBody>
      </p:sp>
      <p:sp>
        <p:nvSpPr>
          <p:cNvPr id="514" name="Shape 20"/>
          <p:cNvSpPr/>
          <p:nvPr/>
        </p:nvSpPr>
        <p:spPr>
          <a:xfrm>
            <a:off x="3805732" y="5043678"/>
            <a:ext cx="1177748" cy="384049"/>
          </a:xfrm>
          <a:prstGeom prst="rect">
            <a:avLst/>
          </a:prstGeom>
          <a:solidFill>
            <a:srgbClr val="FFFFFF"/>
          </a:solidFill>
          <a:ln>
            <a:solidFill>
              <a:srgbClr val="334155"/>
            </a:solidFill>
          </a:ln>
        </p:spPr>
        <p:txBody>
          <a:bodyPr lIns="45719" rIns="45719"/>
          <a:lstStyle/>
          <a:p>
            <a:pPr/>
          </a:p>
        </p:txBody>
      </p:sp>
      <p:sp>
        <p:nvSpPr>
          <p:cNvPr id="515" name="Text 21"/>
          <p:cNvSpPr txBox="1"/>
          <p:nvPr/>
        </p:nvSpPr>
        <p:spPr>
          <a:xfrm>
            <a:off x="3805732" y="5157269"/>
            <a:ext cx="117774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94A3B8"/>
                </a:solidFill>
              </a:defRPr>
            </a:lvl1pPr>
          </a:lstStyle>
          <a:p>
            <a:pPr/>
            <a:r>
              <a:t>—</a:t>
            </a:r>
          </a:p>
        </p:txBody>
      </p:sp>
      <p:sp>
        <p:nvSpPr>
          <p:cNvPr id="516" name="Shape 22"/>
          <p:cNvSpPr/>
          <p:nvPr/>
        </p:nvSpPr>
        <p:spPr>
          <a:xfrm>
            <a:off x="777239" y="5427726"/>
            <a:ext cx="4206242" cy="384049"/>
          </a:xfrm>
          <a:prstGeom prst="rect">
            <a:avLst/>
          </a:prstGeom>
          <a:solidFill>
            <a:srgbClr val="EDE9FE"/>
          </a:solidFill>
          <a:ln>
            <a:solidFill>
              <a:srgbClr val="334155"/>
            </a:solidFill>
          </a:ln>
        </p:spPr>
        <p:txBody>
          <a:bodyPr lIns="45719" rIns="45719"/>
          <a:lstStyle/>
          <a:p>
            <a:pPr/>
          </a:p>
        </p:txBody>
      </p:sp>
      <p:sp>
        <p:nvSpPr>
          <p:cNvPr id="517" name="Text 23"/>
          <p:cNvSpPr txBox="1"/>
          <p:nvPr/>
        </p:nvSpPr>
        <p:spPr>
          <a:xfrm>
            <a:off x="822960" y="5537200"/>
            <a:ext cx="41148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total</a:t>
            </a:r>
          </a:p>
        </p:txBody>
      </p:sp>
      <p:sp>
        <p:nvSpPr>
          <p:cNvPr id="518" name="Shape 24"/>
          <p:cNvSpPr/>
          <p:nvPr/>
        </p:nvSpPr>
        <p:spPr>
          <a:xfrm>
            <a:off x="5440679" y="1325880"/>
            <a:ext cx="6199633" cy="5029201"/>
          </a:xfrm>
          <a:prstGeom prst="roundRect">
            <a:avLst>
              <a:gd name="adj" fmla="val 145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519" name="Text 25"/>
          <p:cNvSpPr txBox="1"/>
          <p:nvPr/>
        </p:nvSpPr>
        <p:spPr>
          <a:xfrm>
            <a:off x="5641847" y="1476800"/>
            <a:ext cx="5797298"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2"/>
                </a:solidFill>
              </a:defRPr>
            </a:lvl1pPr>
          </a:lstStyle>
          <a:p>
            <a:pPr/>
            <a:r>
              <a:t>Diagrama de flujo</a:t>
            </a:r>
          </a:p>
        </p:txBody>
      </p:sp>
      <p:sp>
        <p:nvSpPr>
          <p:cNvPr id="520" name="Shape 26"/>
          <p:cNvSpPr/>
          <p:nvPr/>
        </p:nvSpPr>
        <p:spPr>
          <a:xfrm>
            <a:off x="6629907" y="2066544"/>
            <a:ext cx="3821177" cy="384049"/>
          </a:xfrm>
          <a:prstGeom prst="roundRect">
            <a:avLst>
              <a:gd name="adj" fmla="val 50000"/>
            </a:avLst>
          </a:prstGeom>
          <a:solidFill>
            <a:srgbClr val="1E293B"/>
          </a:solidFill>
          <a:ln w="15875">
            <a:solidFill>
              <a:srgbClr val="1E293B"/>
            </a:solidFill>
          </a:ln>
        </p:spPr>
        <p:txBody>
          <a:bodyPr lIns="45719" rIns="45719"/>
          <a:lstStyle/>
          <a:p>
            <a:pPr/>
          </a:p>
        </p:txBody>
      </p:sp>
      <p:sp>
        <p:nvSpPr>
          <p:cNvPr id="521" name="Text 27"/>
          <p:cNvSpPr txBox="1"/>
          <p:nvPr/>
        </p:nvSpPr>
        <p:spPr>
          <a:xfrm>
            <a:off x="6629907" y="2176017"/>
            <a:ext cx="382117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aplicar_descuento(precio, es_estudiante)</a:t>
            </a:r>
          </a:p>
        </p:txBody>
      </p:sp>
      <p:sp>
        <p:nvSpPr>
          <p:cNvPr id="522" name="Shape 28"/>
          <p:cNvSpPr/>
          <p:nvPr/>
        </p:nvSpPr>
        <p:spPr>
          <a:xfrm>
            <a:off x="8540495" y="2450592"/>
            <a:ext cx="1" cy="237744"/>
          </a:xfrm>
          <a:prstGeom prst="line">
            <a:avLst/>
          </a:prstGeom>
          <a:ln w="15875">
            <a:solidFill>
              <a:srgbClr val="64748B"/>
            </a:solidFill>
            <a:tailEnd type="triangle"/>
          </a:ln>
        </p:spPr>
        <p:txBody>
          <a:bodyPr lIns="45719" rIns="45719"/>
          <a:lstStyle/>
          <a:p>
            <a:pPr/>
          </a:p>
        </p:txBody>
      </p:sp>
      <p:sp>
        <p:nvSpPr>
          <p:cNvPr id="523" name="Shape 29"/>
          <p:cNvSpPr/>
          <p:nvPr/>
        </p:nvSpPr>
        <p:spPr>
          <a:xfrm>
            <a:off x="7768920" y="2688335"/>
            <a:ext cx="1543153" cy="365761"/>
          </a:xfrm>
          <a:prstGeom prst="rect">
            <a:avLst/>
          </a:prstGeom>
          <a:solidFill>
            <a:srgbClr val="DBEAFE"/>
          </a:solidFill>
          <a:ln w="15875">
            <a:solidFill>
              <a:schemeClr val="accent1"/>
            </a:solidFill>
          </a:ln>
        </p:spPr>
        <p:txBody>
          <a:bodyPr lIns="45719" rIns="45719"/>
          <a:lstStyle/>
          <a:p>
            <a:pPr/>
          </a:p>
        </p:txBody>
      </p:sp>
      <p:sp>
        <p:nvSpPr>
          <p:cNvPr id="524" name="Text 30"/>
          <p:cNvSpPr txBox="1"/>
          <p:nvPr/>
        </p:nvSpPr>
        <p:spPr>
          <a:xfrm>
            <a:off x="7768920" y="2788665"/>
            <a:ext cx="154315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total = precio</a:t>
            </a:r>
          </a:p>
        </p:txBody>
      </p:sp>
      <p:sp>
        <p:nvSpPr>
          <p:cNvPr id="525" name="Shape 31"/>
          <p:cNvSpPr/>
          <p:nvPr/>
        </p:nvSpPr>
        <p:spPr>
          <a:xfrm>
            <a:off x="8540495" y="3054095"/>
            <a:ext cx="1" cy="237744"/>
          </a:xfrm>
          <a:prstGeom prst="line">
            <a:avLst/>
          </a:prstGeom>
          <a:ln w="15875">
            <a:solidFill>
              <a:srgbClr val="64748B"/>
            </a:solidFill>
            <a:tailEnd type="triangle"/>
          </a:ln>
        </p:spPr>
        <p:txBody>
          <a:bodyPr lIns="45719" rIns="45719"/>
          <a:lstStyle/>
          <a:p>
            <a:pPr/>
          </a:p>
        </p:txBody>
      </p:sp>
      <p:sp>
        <p:nvSpPr>
          <p:cNvPr id="526" name="Shape 32"/>
          <p:cNvSpPr/>
          <p:nvPr/>
        </p:nvSpPr>
        <p:spPr>
          <a:xfrm>
            <a:off x="7597943" y="3291840"/>
            <a:ext cx="1885104" cy="566929"/>
          </a:xfrm>
          <a:prstGeom prst="diamond">
            <a:avLst/>
          </a:prstGeom>
          <a:solidFill>
            <a:srgbClr val="FEF3C7"/>
          </a:solidFill>
          <a:ln w="15875">
            <a:solidFill>
              <a:schemeClr val="accent6"/>
            </a:solidFill>
          </a:ln>
        </p:spPr>
        <p:txBody>
          <a:bodyPr lIns="45719" rIns="45719"/>
          <a:lstStyle/>
          <a:p>
            <a:pPr/>
          </a:p>
        </p:txBody>
      </p:sp>
      <p:sp>
        <p:nvSpPr>
          <p:cNvPr id="527" name="Text 33"/>
          <p:cNvSpPr txBox="1"/>
          <p:nvPr/>
        </p:nvSpPr>
        <p:spPr>
          <a:xfrm>
            <a:off x="7597943" y="3492754"/>
            <a:ext cx="188510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es_estudiante</a:t>
            </a:r>
          </a:p>
        </p:txBody>
      </p:sp>
      <p:sp>
        <p:nvSpPr>
          <p:cNvPr id="528" name="Shape 34"/>
          <p:cNvSpPr/>
          <p:nvPr/>
        </p:nvSpPr>
        <p:spPr>
          <a:xfrm>
            <a:off x="8540495" y="3858767"/>
            <a:ext cx="1" cy="237744"/>
          </a:xfrm>
          <a:prstGeom prst="line">
            <a:avLst/>
          </a:prstGeom>
          <a:ln w="15875">
            <a:solidFill>
              <a:srgbClr val="64748B"/>
            </a:solidFill>
            <a:tailEnd type="triangle"/>
          </a:ln>
        </p:spPr>
        <p:txBody>
          <a:bodyPr lIns="45719" rIns="45719"/>
          <a:lstStyle/>
          <a:p>
            <a:pPr/>
          </a:p>
        </p:txBody>
      </p:sp>
      <p:sp>
        <p:nvSpPr>
          <p:cNvPr id="529" name="Text 35"/>
          <p:cNvSpPr txBox="1"/>
          <p:nvPr/>
        </p:nvSpPr>
        <p:spPr>
          <a:xfrm>
            <a:off x="8595359" y="3909104"/>
            <a:ext cx="100584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530" name="Shape 36"/>
          <p:cNvSpPr/>
          <p:nvPr/>
        </p:nvSpPr>
        <p:spPr>
          <a:xfrm>
            <a:off x="7516621" y="4096511"/>
            <a:ext cx="2047749" cy="365761"/>
          </a:xfrm>
          <a:prstGeom prst="rect">
            <a:avLst/>
          </a:prstGeom>
          <a:solidFill>
            <a:srgbClr val="DBEAFE"/>
          </a:solidFill>
          <a:ln w="15875">
            <a:solidFill>
              <a:schemeClr val="accent1"/>
            </a:solidFill>
          </a:ln>
        </p:spPr>
        <p:txBody>
          <a:bodyPr lIns="45719" rIns="45719"/>
          <a:lstStyle/>
          <a:p>
            <a:pPr/>
          </a:p>
        </p:txBody>
      </p:sp>
      <p:sp>
        <p:nvSpPr>
          <p:cNvPr id="531" name="Text 37"/>
          <p:cNvSpPr txBox="1"/>
          <p:nvPr/>
        </p:nvSpPr>
        <p:spPr>
          <a:xfrm>
            <a:off x="7516621" y="4196841"/>
            <a:ext cx="204774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total = precio * 0.8</a:t>
            </a:r>
          </a:p>
        </p:txBody>
      </p:sp>
      <p:sp>
        <p:nvSpPr>
          <p:cNvPr id="532" name="Shape 38"/>
          <p:cNvSpPr/>
          <p:nvPr/>
        </p:nvSpPr>
        <p:spPr>
          <a:xfrm>
            <a:off x="8540495" y="4462271"/>
            <a:ext cx="1" cy="201169"/>
          </a:xfrm>
          <a:prstGeom prst="line">
            <a:avLst/>
          </a:prstGeom>
          <a:ln w="15875">
            <a:solidFill>
              <a:srgbClr val="64748B"/>
            </a:solidFill>
          </a:ln>
        </p:spPr>
        <p:txBody>
          <a:bodyPr lIns="45719" rIns="45719"/>
          <a:lstStyle/>
          <a:p>
            <a:pPr/>
          </a:p>
        </p:txBody>
      </p:sp>
      <p:sp>
        <p:nvSpPr>
          <p:cNvPr id="533" name="Shape 39"/>
          <p:cNvSpPr/>
          <p:nvPr/>
        </p:nvSpPr>
        <p:spPr>
          <a:xfrm>
            <a:off x="9483048" y="3575303"/>
            <a:ext cx="401363" cy="1"/>
          </a:xfrm>
          <a:prstGeom prst="line">
            <a:avLst/>
          </a:prstGeom>
          <a:ln w="15875">
            <a:solidFill>
              <a:srgbClr val="64748B"/>
            </a:solidFill>
          </a:ln>
        </p:spPr>
        <p:txBody>
          <a:bodyPr lIns="45719" rIns="45719"/>
          <a:lstStyle/>
          <a:p>
            <a:pPr/>
          </a:p>
        </p:txBody>
      </p:sp>
      <p:sp>
        <p:nvSpPr>
          <p:cNvPr id="534" name="Text 40"/>
          <p:cNvSpPr txBox="1"/>
          <p:nvPr/>
        </p:nvSpPr>
        <p:spPr>
          <a:xfrm>
            <a:off x="9537911" y="3387896"/>
            <a:ext cx="100584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No</a:t>
            </a:r>
          </a:p>
        </p:txBody>
      </p:sp>
      <p:sp>
        <p:nvSpPr>
          <p:cNvPr id="535" name="Shape 41"/>
          <p:cNvSpPr/>
          <p:nvPr/>
        </p:nvSpPr>
        <p:spPr>
          <a:xfrm>
            <a:off x="9884409" y="3575303"/>
            <a:ext cx="1" cy="1088137"/>
          </a:xfrm>
          <a:prstGeom prst="line">
            <a:avLst/>
          </a:prstGeom>
          <a:ln w="15875">
            <a:solidFill>
              <a:srgbClr val="64748B"/>
            </a:solidFill>
          </a:ln>
        </p:spPr>
        <p:txBody>
          <a:bodyPr lIns="45719" rIns="45719"/>
          <a:lstStyle/>
          <a:p>
            <a:pPr/>
          </a:p>
        </p:txBody>
      </p:sp>
      <p:sp>
        <p:nvSpPr>
          <p:cNvPr id="536" name="Shape 42"/>
          <p:cNvSpPr/>
          <p:nvPr/>
        </p:nvSpPr>
        <p:spPr>
          <a:xfrm flipH="1">
            <a:off x="8540495" y="4663440"/>
            <a:ext cx="1343915" cy="1"/>
          </a:xfrm>
          <a:prstGeom prst="line">
            <a:avLst/>
          </a:prstGeom>
          <a:ln w="15875">
            <a:solidFill>
              <a:srgbClr val="64748B"/>
            </a:solidFill>
            <a:tailEnd type="triangle"/>
          </a:ln>
        </p:spPr>
        <p:txBody>
          <a:bodyPr lIns="45719" rIns="45719"/>
          <a:lstStyle/>
          <a:p>
            <a:pPr/>
          </a:p>
        </p:txBody>
      </p:sp>
      <p:sp>
        <p:nvSpPr>
          <p:cNvPr id="537" name="Shape 43"/>
          <p:cNvSpPr/>
          <p:nvPr/>
        </p:nvSpPr>
        <p:spPr>
          <a:xfrm>
            <a:off x="8540495" y="4663440"/>
            <a:ext cx="1" cy="237744"/>
          </a:xfrm>
          <a:prstGeom prst="line">
            <a:avLst/>
          </a:prstGeom>
          <a:ln w="15875">
            <a:solidFill>
              <a:srgbClr val="64748B"/>
            </a:solidFill>
            <a:tailEnd type="triangle"/>
          </a:ln>
        </p:spPr>
        <p:txBody>
          <a:bodyPr lIns="45719" rIns="45719"/>
          <a:lstStyle/>
          <a:p>
            <a:pPr/>
          </a:p>
        </p:txBody>
      </p:sp>
      <p:sp>
        <p:nvSpPr>
          <p:cNvPr id="538" name="Shape 44"/>
          <p:cNvSpPr/>
          <p:nvPr/>
        </p:nvSpPr>
        <p:spPr>
          <a:xfrm>
            <a:off x="7693000" y="4901184"/>
            <a:ext cx="1694994" cy="3657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165" y="0"/>
                </a:lnTo>
                <a:lnTo>
                  <a:pt x="21600" y="0"/>
                </a:lnTo>
                <a:lnTo>
                  <a:pt x="20435" y="21600"/>
                </a:lnTo>
                <a:close/>
              </a:path>
            </a:pathLst>
          </a:custGeom>
          <a:solidFill>
            <a:srgbClr val="EDE9FE"/>
          </a:solidFill>
          <a:ln w="15875">
            <a:solidFill>
              <a:schemeClr val="accent3"/>
            </a:solidFill>
          </a:ln>
        </p:spPr>
        <p:txBody>
          <a:bodyPr lIns="45719" rIns="45719"/>
          <a:lstStyle/>
          <a:p>
            <a:pPr/>
          </a:p>
        </p:txBody>
      </p:sp>
      <p:sp>
        <p:nvSpPr>
          <p:cNvPr id="539" name="Text 45"/>
          <p:cNvSpPr txBox="1"/>
          <p:nvPr/>
        </p:nvSpPr>
        <p:spPr>
          <a:xfrm>
            <a:off x="7693000" y="5001514"/>
            <a:ext cx="169499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total</a:t>
            </a:r>
          </a:p>
        </p:txBody>
      </p:sp>
      <p:sp>
        <p:nvSpPr>
          <p:cNvPr id="540" name="Shape 46"/>
          <p:cNvSpPr/>
          <p:nvPr/>
        </p:nvSpPr>
        <p:spPr>
          <a:xfrm>
            <a:off x="8540495" y="5266943"/>
            <a:ext cx="1" cy="237744"/>
          </a:xfrm>
          <a:prstGeom prst="line">
            <a:avLst/>
          </a:prstGeom>
          <a:ln w="15875">
            <a:solidFill>
              <a:srgbClr val="64748B"/>
            </a:solidFill>
            <a:tailEnd type="triangle"/>
          </a:ln>
        </p:spPr>
        <p:txBody>
          <a:bodyPr lIns="45719" rIns="45719"/>
          <a:lstStyle/>
          <a:p>
            <a:pPr/>
          </a:p>
        </p:txBody>
      </p:sp>
      <p:sp>
        <p:nvSpPr>
          <p:cNvPr id="541" name="Shape 47"/>
          <p:cNvSpPr/>
          <p:nvPr/>
        </p:nvSpPr>
        <p:spPr>
          <a:xfrm>
            <a:off x="8185746" y="5504688"/>
            <a:ext cx="709499" cy="384049"/>
          </a:xfrm>
          <a:prstGeom prst="roundRect">
            <a:avLst>
              <a:gd name="adj" fmla="val 50000"/>
            </a:avLst>
          </a:prstGeom>
          <a:solidFill>
            <a:srgbClr val="1E293B"/>
          </a:solidFill>
          <a:ln w="15875">
            <a:solidFill>
              <a:srgbClr val="1E293B"/>
            </a:solidFill>
          </a:ln>
        </p:spPr>
        <p:txBody>
          <a:bodyPr lIns="45719" rIns="45719"/>
          <a:lstStyle/>
          <a:p>
            <a:pPr/>
          </a:p>
        </p:txBody>
      </p:sp>
      <p:sp>
        <p:nvSpPr>
          <p:cNvPr id="542" name="Text 48"/>
          <p:cNvSpPr txBox="1"/>
          <p:nvPr/>
        </p:nvSpPr>
        <p:spPr>
          <a:xfrm>
            <a:off x="8185746" y="5614161"/>
            <a:ext cx="70949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Fin</a:t>
            </a:r>
          </a:p>
        </p:txBody>
      </p:sp>
      <p:sp>
        <p:nvSpPr>
          <p:cNvPr id="543"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7" name="Text 0"/>
          <p:cNvSpPr txBox="1"/>
          <p:nvPr>
            <p:ph type="title"/>
          </p:nvPr>
        </p:nvSpPr>
        <p:spPr>
          <a:prstGeom prst="rect">
            <a:avLst/>
          </a:prstGeom>
        </p:spPr>
        <p:txBody>
          <a:bodyPr lIns="0" tIns="0" rIns="0" bIns="0" anchor="ctr"/>
          <a:lstStyle/>
          <a:p>
            <a:pPr/>
            <a:r>
              <a:t>3 · </a:t>
            </a:r>
            <a:r>
              <a:rPr sz="2600">
                <a:latin typeface="Menlo Regular"/>
                <a:ea typeface="Menlo Regular"/>
                <a:cs typeface="Menlo Regular"/>
                <a:sym typeface="Menlo Regular"/>
              </a:rPr>
              <a:t>if</a:t>
            </a:r>
            <a:r>
              <a:t> sin </a:t>
            </a:r>
            <a:r>
              <a:rPr sz="2600">
                <a:latin typeface="Menlo Regular"/>
                <a:ea typeface="Menlo Regular"/>
                <a:cs typeface="Menlo Regular"/>
                <a:sym typeface="Menlo Regular"/>
              </a:rPr>
              <a:t>else</a:t>
            </a:r>
            <a:r>
              <a:t> · validar un edge case</a:t>
            </a:r>
          </a:p>
        </p:txBody>
      </p:sp>
      <p:sp>
        <p:nvSpPr>
          <p:cNvPr id="548" name="Text 0"/>
          <p:cNvSpPr txBox="1"/>
          <p:nvPr>
            <p:ph type="body" sz="quarter" idx="1"/>
          </p:nvPr>
        </p:nvSpPr>
        <p:spPr>
          <a:prstGeom prst="rect">
            <a:avLst/>
          </a:prstGeom>
        </p:spPr>
        <p:txBody>
          <a:bodyPr lIns="0" tIns="0" rIns="0" bIns="0" anchor="ctr"/>
          <a:lstStyle/>
          <a:p>
            <a:pPr/>
            <a:r>
              <a:t>El </a:t>
            </a:r>
            <a:r>
              <a:rPr sz="1300">
                <a:latin typeface="Menlo Regular"/>
                <a:ea typeface="Menlo Regular"/>
                <a:cs typeface="Menlo Regular"/>
                <a:sym typeface="Menlo Regular"/>
              </a:rPr>
              <a:t>return</a:t>
            </a:r>
            <a:r>
              <a:t> del edge case lleva a su propio </a:t>
            </a:r>
            <a:r>
              <a:rPr b="1"/>
              <a:t>Fin</a:t>
            </a:r>
            <a:r>
              <a:t>. En N-S, un </a:t>
            </a:r>
            <a:r>
              <a:rPr sz="1300">
                <a:latin typeface="Menlo Regular"/>
                <a:ea typeface="Menlo Regular"/>
                <a:cs typeface="Menlo Regular"/>
                <a:sym typeface="Menlo Regular"/>
              </a:rPr>
              <a:t>return</a:t>
            </a:r>
            <a:r>
              <a:t> termina la función ahí mismo.</a:t>
            </a:r>
          </a:p>
        </p:txBody>
      </p:sp>
      <p:sp>
        <p:nvSpPr>
          <p:cNvPr id="549" name="Shape 2"/>
          <p:cNvSpPr/>
          <p:nvPr/>
        </p:nvSpPr>
        <p:spPr>
          <a:xfrm>
            <a:off x="548640" y="1325880"/>
            <a:ext cx="4663441" cy="1459993"/>
          </a:xfrm>
          <a:prstGeom prst="roundRect">
            <a:avLst>
              <a:gd name="adj" fmla="val 5010"/>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550" name="Text 3"/>
          <p:cNvSpPr txBox="1"/>
          <p:nvPr/>
        </p:nvSpPr>
        <p:spPr>
          <a:xfrm>
            <a:off x="749808" y="147680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Python  ·  obtener_primera_cancion([])  →  None</a:t>
            </a:r>
          </a:p>
        </p:txBody>
      </p:sp>
      <p:sp>
        <p:nvSpPr>
          <p:cNvPr id="551" name="Text 4"/>
          <p:cNvSpPr txBox="1"/>
          <p:nvPr/>
        </p:nvSpPr>
        <p:spPr>
          <a:xfrm>
            <a:off x="749808" y="1764792"/>
            <a:ext cx="4297680" cy="8081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sz="1200">
                <a:solidFill>
                  <a:srgbClr val="569CD6"/>
                </a:solidFill>
                <a:latin typeface="Menlo Regular"/>
                <a:ea typeface="Menlo Regular"/>
                <a:cs typeface="Menlo Regular"/>
                <a:sym typeface="Menlo Regular"/>
              </a:defRPr>
            </a:pPr>
            <a:r>
              <a:t>def</a:t>
            </a:r>
            <a:r>
              <a:rPr>
                <a:solidFill>
                  <a:srgbClr val="D4D4D4"/>
                </a:solidFill>
              </a:rPr>
              <a:t> </a:t>
            </a:r>
            <a:r>
              <a:rPr>
                <a:solidFill>
                  <a:srgbClr val="DCDCAA"/>
                </a:solidFill>
              </a:rPr>
              <a:t>obtener_primera_cancion</a:t>
            </a:r>
            <a:r>
              <a:rPr>
                <a:solidFill>
                  <a:srgbClr val="D4D4D4"/>
                </a:solidFill>
              </a:rPr>
              <a:t>(</a:t>
            </a:r>
            <a:r>
              <a:rPr>
                <a:solidFill>
                  <a:srgbClr val="9CDCFE"/>
                </a:solidFill>
              </a:rPr>
              <a:t>lista_playlist</a:t>
            </a:r>
            <a:r>
              <a:rPr>
                <a:solidFill>
                  <a:srgbClr val="D4D4D4"/>
                </a:solidFill>
              </a:rP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if</a:t>
            </a:r>
            <a:r>
              <a:t> </a:t>
            </a:r>
            <a:r>
              <a:rPr>
                <a:solidFill>
                  <a:srgbClr val="DCDCAA"/>
                </a:solidFill>
              </a:rPr>
              <a:t>len</a:t>
            </a:r>
            <a:r>
              <a:t>(</a:t>
            </a:r>
            <a:r>
              <a:rPr>
                <a:solidFill>
                  <a:srgbClr val="9CDCFE"/>
                </a:solidFill>
              </a:rPr>
              <a:t>lista_playlist</a:t>
            </a:r>
            <a:r>
              <a:t>) == </a:t>
            </a:r>
            <a:r>
              <a:rPr>
                <a:solidFill>
                  <a:srgbClr val="B5CEA8"/>
                </a:solidFill>
              </a:rPr>
              <a:t>0</a:t>
            </a:r>
            <a:r>
              <a:t>:  </a:t>
            </a:r>
            <a:r>
              <a:rPr>
                <a:solidFill>
                  <a:srgbClr val="6A9955"/>
                </a:solidFill>
              </a:rPr>
              <a:t># edge case</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569CD6"/>
                </a:solidFill>
              </a:rPr>
              <a:t>None</a:t>
            </a:r>
            <a:r>
              <a:t>  </a:t>
            </a:r>
            <a:r>
              <a:rPr>
                <a:solidFill>
                  <a:srgbClr val="6A9955"/>
                </a:solidFill>
              </a:rPr>
              <a:t># termina aquí</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9CDCFE"/>
                </a:solidFill>
              </a:rPr>
              <a:t>lista_playlist</a:t>
            </a:r>
            <a:r>
              <a:t>[</a:t>
            </a:r>
            <a:r>
              <a:rPr>
                <a:solidFill>
                  <a:srgbClr val="B5CEA8"/>
                </a:solidFill>
              </a:rPr>
              <a:t>0</a:t>
            </a:r>
            <a:r>
              <a:t>]</a:t>
            </a:r>
          </a:p>
        </p:txBody>
      </p:sp>
      <p:sp>
        <p:nvSpPr>
          <p:cNvPr id="552" name="Shape 5"/>
          <p:cNvSpPr/>
          <p:nvPr/>
        </p:nvSpPr>
        <p:spPr>
          <a:xfrm>
            <a:off x="548640" y="2987039"/>
            <a:ext cx="4663441" cy="3368042"/>
          </a:xfrm>
          <a:prstGeom prst="roundRect">
            <a:avLst>
              <a:gd name="adj" fmla="val 2172"/>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553" name="Text 6"/>
          <p:cNvSpPr txBox="1"/>
          <p:nvPr/>
        </p:nvSpPr>
        <p:spPr>
          <a:xfrm>
            <a:off x="749808" y="313796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3"/>
                </a:solidFill>
              </a:defRPr>
            </a:lvl1pPr>
          </a:lstStyle>
          <a:p>
            <a:pPr/>
            <a:r>
              <a:t>Nassi-Shneiderman</a:t>
            </a:r>
          </a:p>
        </p:txBody>
      </p:sp>
      <p:sp>
        <p:nvSpPr>
          <p:cNvPr id="554" name="Shape 7"/>
          <p:cNvSpPr/>
          <p:nvPr/>
        </p:nvSpPr>
        <p:spPr>
          <a:xfrm>
            <a:off x="777239" y="3425952"/>
            <a:ext cx="4206242" cy="384049"/>
          </a:xfrm>
          <a:prstGeom prst="rect">
            <a:avLst/>
          </a:prstGeom>
          <a:solidFill>
            <a:srgbClr val="1E293B"/>
          </a:solidFill>
          <a:ln>
            <a:solidFill>
              <a:srgbClr val="334155"/>
            </a:solidFill>
          </a:ln>
        </p:spPr>
        <p:txBody>
          <a:bodyPr lIns="45719" rIns="45719"/>
          <a:lstStyle/>
          <a:p>
            <a:pPr/>
          </a:p>
        </p:txBody>
      </p:sp>
      <p:sp>
        <p:nvSpPr>
          <p:cNvPr id="555" name="Text 8"/>
          <p:cNvSpPr txBox="1"/>
          <p:nvPr/>
        </p:nvSpPr>
        <p:spPr>
          <a:xfrm>
            <a:off x="822960" y="3535426"/>
            <a:ext cx="41148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obtener_primera_cancion(lista_playlist)</a:t>
            </a:r>
          </a:p>
        </p:txBody>
      </p:sp>
      <p:sp>
        <p:nvSpPr>
          <p:cNvPr id="556" name="Shape 9"/>
          <p:cNvSpPr/>
          <p:nvPr/>
        </p:nvSpPr>
        <p:spPr>
          <a:xfrm>
            <a:off x="777239" y="3810000"/>
            <a:ext cx="4206242" cy="640081"/>
          </a:xfrm>
          <a:prstGeom prst="rect">
            <a:avLst/>
          </a:prstGeom>
          <a:solidFill>
            <a:srgbClr val="FEF3C7"/>
          </a:solidFill>
          <a:ln>
            <a:solidFill>
              <a:srgbClr val="334155"/>
            </a:solidFill>
          </a:ln>
        </p:spPr>
        <p:txBody>
          <a:bodyPr lIns="45719" rIns="45719"/>
          <a:lstStyle/>
          <a:p>
            <a:pPr/>
          </a:p>
        </p:txBody>
      </p:sp>
      <p:sp>
        <p:nvSpPr>
          <p:cNvPr id="557" name="Shape 10"/>
          <p:cNvSpPr/>
          <p:nvPr/>
        </p:nvSpPr>
        <p:spPr>
          <a:xfrm>
            <a:off x="777240" y="3809999"/>
            <a:ext cx="2685858" cy="640082"/>
          </a:xfrm>
          <a:prstGeom prst="line">
            <a:avLst/>
          </a:prstGeom>
          <a:ln>
            <a:solidFill>
              <a:srgbClr val="334155"/>
            </a:solidFill>
          </a:ln>
        </p:spPr>
        <p:txBody>
          <a:bodyPr lIns="45719" rIns="45719"/>
          <a:lstStyle/>
          <a:p>
            <a:pPr/>
          </a:p>
        </p:txBody>
      </p:sp>
      <p:sp>
        <p:nvSpPr>
          <p:cNvPr id="558" name="Shape 11"/>
          <p:cNvSpPr/>
          <p:nvPr/>
        </p:nvSpPr>
        <p:spPr>
          <a:xfrm flipH="1">
            <a:off x="3463097" y="3810000"/>
            <a:ext cx="1520384" cy="640081"/>
          </a:xfrm>
          <a:prstGeom prst="line">
            <a:avLst/>
          </a:prstGeom>
          <a:ln>
            <a:solidFill>
              <a:srgbClr val="334155"/>
            </a:solidFill>
          </a:ln>
        </p:spPr>
        <p:txBody>
          <a:bodyPr lIns="45719" rIns="45719"/>
          <a:lstStyle/>
          <a:p>
            <a:pPr/>
          </a:p>
        </p:txBody>
      </p:sp>
      <p:sp>
        <p:nvSpPr>
          <p:cNvPr id="559" name="Text 12"/>
          <p:cNvSpPr txBox="1"/>
          <p:nvPr/>
        </p:nvSpPr>
        <p:spPr>
          <a:xfrm>
            <a:off x="1783079" y="3882897"/>
            <a:ext cx="315468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¿len(lista_playlist) == 0?</a:t>
            </a:r>
          </a:p>
        </p:txBody>
      </p:sp>
      <p:sp>
        <p:nvSpPr>
          <p:cNvPr id="560" name="Text 13"/>
          <p:cNvSpPr txBox="1"/>
          <p:nvPr/>
        </p:nvSpPr>
        <p:spPr>
          <a:xfrm>
            <a:off x="841247" y="4244384"/>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561" name="Text 14"/>
          <p:cNvSpPr txBox="1"/>
          <p:nvPr/>
        </p:nvSpPr>
        <p:spPr>
          <a:xfrm>
            <a:off x="4553711" y="4244384"/>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475569"/>
                </a:solidFill>
              </a:defRPr>
            </a:lvl1pPr>
          </a:lstStyle>
          <a:p>
            <a:pPr/>
            <a:r>
              <a:t>No</a:t>
            </a:r>
          </a:p>
        </p:txBody>
      </p:sp>
      <p:sp>
        <p:nvSpPr>
          <p:cNvPr id="562" name="Shape 15"/>
          <p:cNvSpPr/>
          <p:nvPr/>
        </p:nvSpPr>
        <p:spPr>
          <a:xfrm>
            <a:off x="777240" y="4450079"/>
            <a:ext cx="2685858" cy="384049"/>
          </a:xfrm>
          <a:prstGeom prst="rect">
            <a:avLst/>
          </a:prstGeom>
          <a:solidFill>
            <a:srgbClr val="FFFFFF"/>
          </a:solidFill>
          <a:ln>
            <a:solidFill>
              <a:srgbClr val="334155"/>
            </a:solidFill>
          </a:ln>
        </p:spPr>
        <p:txBody>
          <a:bodyPr lIns="45719" rIns="45719"/>
          <a:lstStyle/>
          <a:p>
            <a:pPr/>
          </a:p>
        </p:txBody>
      </p:sp>
      <p:sp>
        <p:nvSpPr>
          <p:cNvPr id="563" name="Shape 16"/>
          <p:cNvSpPr/>
          <p:nvPr/>
        </p:nvSpPr>
        <p:spPr>
          <a:xfrm>
            <a:off x="777240" y="4450079"/>
            <a:ext cx="2685858" cy="384049"/>
          </a:xfrm>
          <a:prstGeom prst="rect">
            <a:avLst/>
          </a:prstGeom>
          <a:solidFill>
            <a:srgbClr val="EDE9FE"/>
          </a:solidFill>
          <a:ln>
            <a:solidFill>
              <a:srgbClr val="334155"/>
            </a:solidFill>
          </a:ln>
        </p:spPr>
        <p:txBody>
          <a:bodyPr lIns="45719" rIns="45719"/>
          <a:lstStyle/>
          <a:p>
            <a:pPr/>
          </a:p>
        </p:txBody>
      </p:sp>
      <p:sp>
        <p:nvSpPr>
          <p:cNvPr id="564" name="Text 17"/>
          <p:cNvSpPr txBox="1"/>
          <p:nvPr/>
        </p:nvSpPr>
        <p:spPr>
          <a:xfrm>
            <a:off x="822960" y="4559553"/>
            <a:ext cx="259441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None</a:t>
            </a:r>
          </a:p>
        </p:txBody>
      </p:sp>
      <p:sp>
        <p:nvSpPr>
          <p:cNvPr id="565" name="Shape 18"/>
          <p:cNvSpPr/>
          <p:nvPr/>
        </p:nvSpPr>
        <p:spPr>
          <a:xfrm>
            <a:off x="3463097" y="4450079"/>
            <a:ext cx="1520383" cy="384049"/>
          </a:xfrm>
          <a:prstGeom prst="rect">
            <a:avLst/>
          </a:prstGeom>
          <a:solidFill>
            <a:srgbClr val="FFFFFF"/>
          </a:solidFill>
          <a:ln>
            <a:solidFill>
              <a:srgbClr val="334155"/>
            </a:solidFill>
          </a:ln>
        </p:spPr>
        <p:txBody>
          <a:bodyPr lIns="45719" rIns="45719"/>
          <a:lstStyle/>
          <a:p>
            <a:pPr/>
          </a:p>
        </p:txBody>
      </p:sp>
      <p:sp>
        <p:nvSpPr>
          <p:cNvPr id="566" name="Text 19"/>
          <p:cNvSpPr txBox="1"/>
          <p:nvPr/>
        </p:nvSpPr>
        <p:spPr>
          <a:xfrm>
            <a:off x="3463097" y="4563671"/>
            <a:ext cx="1520383"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94A3B8"/>
                </a:solidFill>
              </a:defRPr>
            </a:lvl1pPr>
          </a:lstStyle>
          <a:p>
            <a:pPr/>
            <a:r>
              <a:t>—</a:t>
            </a:r>
          </a:p>
        </p:txBody>
      </p:sp>
      <p:sp>
        <p:nvSpPr>
          <p:cNvPr id="567" name="Shape 20"/>
          <p:cNvSpPr/>
          <p:nvPr/>
        </p:nvSpPr>
        <p:spPr>
          <a:xfrm>
            <a:off x="777239" y="4834128"/>
            <a:ext cx="4206242" cy="384049"/>
          </a:xfrm>
          <a:prstGeom prst="rect">
            <a:avLst/>
          </a:prstGeom>
          <a:solidFill>
            <a:srgbClr val="EDE9FE"/>
          </a:solidFill>
          <a:ln>
            <a:solidFill>
              <a:srgbClr val="334155"/>
            </a:solidFill>
          </a:ln>
        </p:spPr>
        <p:txBody>
          <a:bodyPr lIns="45719" rIns="45719"/>
          <a:lstStyle/>
          <a:p>
            <a:pPr/>
          </a:p>
        </p:txBody>
      </p:sp>
      <p:sp>
        <p:nvSpPr>
          <p:cNvPr id="568" name="Text 21"/>
          <p:cNvSpPr txBox="1"/>
          <p:nvPr/>
        </p:nvSpPr>
        <p:spPr>
          <a:xfrm>
            <a:off x="822960" y="4943602"/>
            <a:ext cx="41148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lista_playlist[0]</a:t>
            </a:r>
          </a:p>
        </p:txBody>
      </p:sp>
      <p:sp>
        <p:nvSpPr>
          <p:cNvPr id="569" name="Shape 22"/>
          <p:cNvSpPr/>
          <p:nvPr/>
        </p:nvSpPr>
        <p:spPr>
          <a:xfrm>
            <a:off x="5440679" y="1325880"/>
            <a:ext cx="6199633" cy="5029201"/>
          </a:xfrm>
          <a:prstGeom prst="roundRect">
            <a:avLst>
              <a:gd name="adj" fmla="val 145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570" name="Text 23"/>
          <p:cNvSpPr txBox="1"/>
          <p:nvPr/>
        </p:nvSpPr>
        <p:spPr>
          <a:xfrm>
            <a:off x="5641847" y="1476800"/>
            <a:ext cx="5797298"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2"/>
                </a:solidFill>
              </a:defRPr>
            </a:lvl1pPr>
          </a:lstStyle>
          <a:p>
            <a:pPr/>
            <a:r>
              <a:t>Diagrama de flujo</a:t>
            </a:r>
          </a:p>
        </p:txBody>
      </p:sp>
      <p:sp>
        <p:nvSpPr>
          <p:cNvPr id="571" name="Shape 24"/>
          <p:cNvSpPr/>
          <p:nvPr/>
        </p:nvSpPr>
        <p:spPr>
          <a:xfrm>
            <a:off x="5773349" y="2770632"/>
            <a:ext cx="3737078" cy="384049"/>
          </a:xfrm>
          <a:prstGeom prst="roundRect">
            <a:avLst>
              <a:gd name="adj" fmla="val 50000"/>
            </a:avLst>
          </a:prstGeom>
          <a:solidFill>
            <a:srgbClr val="1E293B"/>
          </a:solidFill>
          <a:ln w="15875">
            <a:solidFill>
              <a:srgbClr val="1E293B"/>
            </a:solidFill>
          </a:ln>
        </p:spPr>
        <p:txBody>
          <a:bodyPr lIns="45719" rIns="45719"/>
          <a:lstStyle/>
          <a:p>
            <a:pPr/>
          </a:p>
        </p:txBody>
      </p:sp>
      <p:sp>
        <p:nvSpPr>
          <p:cNvPr id="572" name="Text 25"/>
          <p:cNvSpPr txBox="1"/>
          <p:nvPr/>
        </p:nvSpPr>
        <p:spPr>
          <a:xfrm>
            <a:off x="5773349" y="2880105"/>
            <a:ext cx="3737078"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obtener_primera_cancion(lista_playlist)</a:t>
            </a:r>
          </a:p>
        </p:txBody>
      </p:sp>
      <p:sp>
        <p:nvSpPr>
          <p:cNvPr id="573" name="Shape 26"/>
          <p:cNvSpPr/>
          <p:nvPr/>
        </p:nvSpPr>
        <p:spPr>
          <a:xfrm>
            <a:off x="7641887" y="3154679"/>
            <a:ext cx="1" cy="237744"/>
          </a:xfrm>
          <a:prstGeom prst="line">
            <a:avLst/>
          </a:prstGeom>
          <a:ln w="15875">
            <a:solidFill>
              <a:srgbClr val="64748B"/>
            </a:solidFill>
            <a:tailEnd type="triangle"/>
          </a:ln>
        </p:spPr>
        <p:txBody>
          <a:bodyPr lIns="45719" rIns="45719"/>
          <a:lstStyle/>
          <a:p>
            <a:pPr/>
          </a:p>
        </p:txBody>
      </p:sp>
      <p:sp>
        <p:nvSpPr>
          <p:cNvPr id="574" name="Shape 27"/>
          <p:cNvSpPr/>
          <p:nvPr/>
        </p:nvSpPr>
        <p:spPr>
          <a:xfrm>
            <a:off x="5998507" y="3392423"/>
            <a:ext cx="3286761" cy="566929"/>
          </a:xfrm>
          <a:prstGeom prst="diamond">
            <a:avLst/>
          </a:prstGeom>
          <a:solidFill>
            <a:srgbClr val="FEF3C7"/>
          </a:solidFill>
          <a:ln w="15875">
            <a:solidFill>
              <a:schemeClr val="accent6"/>
            </a:solidFill>
          </a:ln>
        </p:spPr>
        <p:txBody>
          <a:bodyPr lIns="45719" rIns="45719"/>
          <a:lstStyle/>
          <a:p>
            <a:pPr/>
          </a:p>
        </p:txBody>
      </p:sp>
      <p:sp>
        <p:nvSpPr>
          <p:cNvPr id="575" name="Text 28"/>
          <p:cNvSpPr txBox="1"/>
          <p:nvPr/>
        </p:nvSpPr>
        <p:spPr>
          <a:xfrm>
            <a:off x="5998507" y="3593338"/>
            <a:ext cx="328676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len(lista_playlist) == 0</a:t>
            </a:r>
          </a:p>
        </p:txBody>
      </p:sp>
      <p:sp>
        <p:nvSpPr>
          <p:cNvPr id="576" name="Shape 29"/>
          <p:cNvSpPr/>
          <p:nvPr/>
        </p:nvSpPr>
        <p:spPr>
          <a:xfrm>
            <a:off x="9285268" y="3675888"/>
            <a:ext cx="1216928" cy="1"/>
          </a:xfrm>
          <a:prstGeom prst="line">
            <a:avLst/>
          </a:prstGeom>
          <a:ln w="15875">
            <a:solidFill>
              <a:srgbClr val="64748B"/>
            </a:solidFill>
          </a:ln>
        </p:spPr>
        <p:txBody>
          <a:bodyPr lIns="45719" rIns="45719"/>
          <a:lstStyle/>
          <a:p>
            <a:pPr/>
          </a:p>
        </p:txBody>
      </p:sp>
      <p:sp>
        <p:nvSpPr>
          <p:cNvPr id="577" name="Shape 30"/>
          <p:cNvSpPr/>
          <p:nvPr/>
        </p:nvSpPr>
        <p:spPr>
          <a:xfrm>
            <a:off x="10502194" y="3675888"/>
            <a:ext cx="1" cy="320041"/>
          </a:xfrm>
          <a:prstGeom prst="line">
            <a:avLst/>
          </a:prstGeom>
          <a:ln w="15875">
            <a:solidFill>
              <a:srgbClr val="64748B"/>
            </a:solidFill>
            <a:tailEnd type="triangle"/>
          </a:ln>
        </p:spPr>
        <p:txBody>
          <a:bodyPr lIns="45719" rIns="45719"/>
          <a:lstStyle/>
          <a:p>
            <a:pPr/>
          </a:p>
        </p:txBody>
      </p:sp>
      <p:sp>
        <p:nvSpPr>
          <p:cNvPr id="578" name="Text 31"/>
          <p:cNvSpPr txBox="1"/>
          <p:nvPr/>
        </p:nvSpPr>
        <p:spPr>
          <a:xfrm>
            <a:off x="9340132" y="3488480"/>
            <a:ext cx="100584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579" name="Shape 32"/>
          <p:cNvSpPr/>
          <p:nvPr/>
        </p:nvSpPr>
        <p:spPr>
          <a:xfrm>
            <a:off x="9696747" y="3995928"/>
            <a:ext cx="1610894" cy="3657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26" y="0"/>
                </a:lnTo>
                <a:lnTo>
                  <a:pt x="21600" y="0"/>
                </a:lnTo>
                <a:lnTo>
                  <a:pt x="20374" y="21600"/>
                </a:lnTo>
                <a:close/>
              </a:path>
            </a:pathLst>
          </a:custGeom>
          <a:solidFill>
            <a:srgbClr val="EDE9FE"/>
          </a:solidFill>
          <a:ln w="15875">
            <a:solidFill>
              <a:schemeClr val="accent3"/>
            </a:solidFill>
          </a:ln>
        </p:spPr>
        <p:txBody>
          <a:bodyPr lIns="45719" rIns="45719"/>
          <a:lstStyle/>
          <a:p>
            <a:pPr/>
          </a:p>
        </p:txBody>
      </p:sp>
      <p:sp>
        <p:nvSpPr>
          <p:cNvPr id="580" name="Text 33"/>
          <p:cNvSpPr txBox="1"/>
          <p:nvPr/>
        </p:nvSpPr>
        <p:spPr>
          <a:xfrm>
            <a:off x="9696747" y="4096258"/>
            <a:ext cx="161089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None</a:t>
            </a:r>
          </a:p>
        </p:txBody>
      </p:sp>
      <p:sp>
        <p:nvSpPr>
          <p:cNvPr id="581" name="Shape 34"/>
          <p:cNvSpPr/>
          <p:nvPr/>
        </p:nvSpPr>
        <p:spPr>
          <a:xfrm>
            <a:off x="10502194" y="4361687"/>
            <a:ext cx="1" cy="237744"/>
          </a:xfrm>
          <a:prstGeom prst="line">
            <a:avLst/>
          </a:prstGeom>
          <a:ln w="15875">
            <a:solidFill>
              <a:srgbClr val="64748B"/>
            </a:solidFill>
            <a:tailEnd type="triangle"/>
          </a:ln>
        </p:spPr>
        <p:txBody>
          <a:bodyPr lIns="45719" rIns="45719"/>
          <a:lstStyle/>
          <a:p>
            <a:pPr/>
          </a:p>
        </p:txBody>
      </p:sp>
      <p:sp>
        <p:nvSpPr>
          <p:cNvPr id="582" name="Shape 35"/>
          <p:cNvSpPr/>
          <p:nvPr/>
        </p:nvSpPr>
        <p:spPr>
          <a:xfrm>
            <a:off x="10147445" y="4599432"/>
            <a:ext cx="709499" cy="384049"/>
          </a:xfrm>
          <a:prstGeom prst="roundRect">
            <a:avLst>
              <a:gd name="adj" fmla="val 50000"/>
            </a:avLst>
          </a:prstGeom>
          <a:solidFill>
            <a:srgbClr val="1E293B"/>
          </a:solidFill>
          <a:ln w="15875">
            <a:solidFill>
              <a:srgbClr val="1E293B"/>
            </a:solidFill>
          </a:ln>
        </p:spPr>
        <p:txBody>
          <a:bodyPr lIns="45719" rIns="45719"/>
          <a:lstStyle/>
          <a:p>
            <a:pPr/>
          </a:p>
        </p:txBody>
      </p:sp>
      <p:sp>
        <p:nvSpPr>
          <p:cNvPr id="583" name="Text 36"/>
          <p:cNvSpPr txBox="1"/>
          <p:nvPr/>
        </p:nvSpPr>
        <p:spPr>
          <a:xfrm>
            <a:off x="10147445" y="4708905"/>
            <a:ext cx="70949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Fin</a:t>
            </a:r>
          </a:p>
        </p:txBody>
      </p:sp>
      <p:sp>
        <p:nvSpPr>
          <p:cNvPr id="584" name="Text 37"/>
          <p:cNvSpPr txBox="1"/>
          <p:nvPr/>
        </p:nvSpPr>
        <p:spPr>
          <a:xfrm>
            <a:off x="7696751" y="4009688"/>
            <a:ext cx="100584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No</a:t>
            </a:r>
          </a:p>
        </p:txBody>
      </p:sp>
      <p:sp>
        <p:nvSpPr>
          <p:cNvPr id="585" name="Shape 38"/>
          <p:cNvSpPr/>
          <p:nvPr/>
        </p:nvSpPr>
        <p:spPr>
          <a:xfrm>
            <a:off x="7641887" y="3959352"/>
            <a:ext cx="1" cy="237744"/>
          </a:xfrm>
          <a:prstGeom prst="line">
            <a:avLst/>
          </a:prstGeom>
          <a:ln w="15875">
            <a:solidFill>
              <a:srgbClr val="64748B"/>
            </a:solidFill>
            <a:tailEnd type="triangle"/>
          </a:ln>
        </p:spPr>
        <p:txBody>
          <a:bodyPr lIns="45719" rIns="45719"/>
          <a:lstStyle/>
          <a:p>
            <a:pPr/>
          </a:p>
        </p:txBody>
      </p:sp>
      <p:sp>
        <p:nvSpPr>
          <p:cNvPr id="586" name="Shape 39"/>
          <p:cNvSpPr/>
          <p:nvPr/>
        </p:nvSpPr>
        <p:spPr>
          <a:xfrm>
            <a:off x="6289795" y="4197096"/>
            <a:ext cx="2704187" cy="3657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730" y="0"/>
                </a:lnTo>
                <a:lnTo>
                  <a:pt x="21600" y="0"/>
                </a:lnTo>
                <a:lnTo>
                  <a:pt x="20870" y="21600"/>
                </a:lnTo>
                <a:close/>
              </a:path>
            </a:pathLst>
          </a:custGeom>
          <a:solidFill>
            <a:srgbClr val="EDE9FE"/>
          </a:solidFill>
          <a:ln w="15875">
            <a:solidFill>
              <a:schemeClr val="accent3"/>
            </a:solidFill>
          </a:ln>
        </p:spPr>
        <p:txBody>
          <a:bodyPr lIns="45719" rIns="45719"/>
          <a:lstStyle/>
          <a:p>
            <a:pPr/>
          </a:p>
        </p:txBody>
      </p:sp>
      <p:sp>
        <p:nvSpPr>
          <p:cNvPr id="587" name="Text 40"/>
          <p:cNvSpPr txBox="1"/>
          <p:nvPr/>
        </p:nvSpPr>
        <p:spPr>
          <a:xfrm>
            <a:off x="6289795" y="4297426"/>
            <a:ext cx="270418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lista_playlist[0]</a:t>
            </a:r>
          </a:p>
        </p:txBody>
      </p:sp>
      <p:sp>
        <p:nvSpPr>
          <p:cNvPr id="588" name="Shape 41"/>
          <p:cNvSpPr/>
          <p:nvPr/>
        </p:nvSpPr>
        <p:spPr>
          <a:xfrm>
            <a:off x="7641887" y="4562855"/>
            <a:ext cx="1" cy="237744"/>
          </a:xfrm>
          <a:prstGeom prst="line">
            <a:avLst/>
          </a:prstGeom>
          <a:ln w="15875">
            <a:solidFill>
              <a:srgbClr val="64748B"/>
            </a:solidFill>
            <a:tailEnd type="triangle"/>
          </a:ln>
        </p:spPr>
        <p:txBody>
          <a:bodyPr lIns="45719" rIns="45719"/>
          <a:lstStyle/>
          <a:p>
            <a:pPr/>
          </a:p>
        </p:txBody>
      </p:sp>
      <p:sp>
        <p:nvSpPr>
          <p:cNvPr id="589" name="Shape 42"/>
          <p:cNvSpPr/>
          <p:nvPr/>
        </p:nvSpPr>
        <p:spPr>
          <a:xfrm>
            <a:off x="7287138" y="4800600"/>
            <a:ext cx="709499" cy="384048"/>
          </a:xfrm>
          <a:prstGeom prst="roundRect">
            <a:avLst>
              <a:gd name="adj" fmla="val 50000"/>
            </a:avLst>
          </a:prstGeom>
          <a:solidFill>
            <a:srgbClr val="1E293B"/>
          </a:solidFill>
          <a:ln w="15875">
            <a:solidFill>
              <a:srgbClr val="1E293B"/>
            </a:solidFill>
          </a:ln>
        </p:spPr>
        <p:txBody>
          <a:bodyPr lIns="45719" rIns="45719"/>
          <a:lstStyle/>
          <a:p>
            <a:pPr/>
          </a:p>
        </p:txBody>
      </p:sp>
      <p:sp>
        <p:nvSpPr>
          <p:cNvPr id="590" name="Text 43"/>
          <p:cNvSpPr txBox="1"/>
          <p:nvPr/>
        </p:nvSpPr>
        <p:spPr>
          <a:xfrm>
            <a:off x="7287138" y="4910073"/>
            <a:ext cx="70949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Fin</a:t>
            </a:r>
          </a:p>
        </p:txBody>
      </p:sp>
      <p:sp>
        <p:nvSpPr>
          <p:cNvPr id="591"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5" name="Text 0"/>
          <p:cNvSpPr txBox="1"/>
          <p:nvPr>
            <p:ph type="title"/>
          </p:nvPr>
        </p:nvSpPr>
        <p:spPr>
          <a:prstGeom prst="rect">
            <a:avLst/>
          </a:prstGeom>
        </p:spPr>
        <p:txBody>
          <a:bodyPr lIns="0" tIns="0" rIns="0" bIns="0" anchor="ctr"/>
          <a:lstStyle/>
          <a:p>
            <a:pPr/>
            <a:r>
              <a:t>4 · </a:t>
            </a:r>
            <a:r>
              <a:rPr sz="2600">
                <a:latin typeface="Menlo Regular"/>
                <a:ea typeface="Menlo Regular"/>
                <a:cs typeface="Menlo Regular"/>
                <a:sym typeface="Menlo Regular"/>
              </a:rPr>
              <a:t>if</a:t>
            </a:r>
            <a:r>
              <a:t> / </a:t>
            </a:r>
            <a:r>
              <a:rPr sz="2600">
                <a:latin typeface="Menlo Regular"/>
                <a:ea typeface="Menlo Regular"/>
                <a:cs typeface="Menlo Regular"/>
                <a:sym typeface="Menlo Regular"/>
              </a:rPr>
              <a:t>else</a:t>
            </a:r>
          </a:p>
        </p:txBody>
      </p:sp>
      <p:sp>
        <p:nvSpPr>
          <p:cNvPr id="596" name="Text 0"/>
          <p:cNvSpPr txBox="1"/>
          <p:nvPr>
            <p:ph type="body" sz="quarter" idx="1"/>
          </p:nvPr>
        </p:nvSpPr>
        <p:spPr>
          <a:prstGeom prst="rect">
            <a:avLst/>
          </a:prstGeom>
        </p:spPr>
        <p:txBody>
          <a:bodyPr lIns="0" tIns="0" rIns="0" bIns="0" anchor="ctr"/>
          <a:lstStyle/>
          <a:p>
            <a:pPr/>
            <a:r>
              <a:t>Siempre se toma </a:t>
            </a:r>
            <a:r>
              <a:rPr b="1"/>
              <a:t>uno</a:t>
            </a:r>
            <a:r>
              <a:t> de los dos caminos. En N-S, cada columna es un camino.</a:t>
            </a:r>
          </a:p>
        </p:txBody>
      </p:sp>
      <p:sp>
        <p:nvSpPr>
          <p:cNvPr id="597" name="Shape 2"/>
          <p:cNvSpPr/>
          <p:nvPr/>
        </p:nvSpPr>
        <p:spPr>
          <a:xfrm>
            <a:off x="548640" y="1325880"/>
            <a:ext cx="4663441" cy="1669543"/>
          </a:xfrm>
          <a:prstGeom prst="roundRect">
            <a:avLst>
              <a:gd name="adj" fmla="val 4382"/>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598" name="Text 3"/>
          <p:cNvSpPr txBox="1"/>
          <p:nvPr/>
        </p:nvSpPr>
        <p:spPr>
          <a:xfrm>
            <a:off x="749808" y="147680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Python  ·  clasificar_paridad(7)  →  impar</a:t>
            </a:r>
          </a:p>
        </p:txBody>
      </p:sp>
      <p:sp>
        <p:nvSpPr>
          <p:cNvPr id="599" name="Text 4"/>
          <p:cNvSpPr txBox="1"/>
          <p:nvPr/>
        </p:nvSpPr>
        <p:spPr>
          <a:xfrm>
            <a:off x="749808" y="1764792"/>
            <a:ext cx="4297680" cy="10113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sz="1200">
                <a:solidFill>
                  <a:srgbClr val="569CD6"/>
                </a:solidFill>
                <a:latin typeface="Menlo Regular"/>
                <a:ea typeface="Menlo Regular"/>
                <a:cs typeface="Menlo Regular"/>
                <a:sym typeface="Menlo Regular"/>
              </a:defRPr>
            </a:pPr>
            <a:r>
              <a:t>def</a:t>
            </a:r>
            <a:r>
              <a:rPr>
                <a:solidFill>
                  <a:srgbClr val="D4D4D4"/>
                </a:solidFill>
              </a:rPr>
              <a:t> </a:t>
            </a:r>
            <a:r>
              <a:rPr>
                <a:solidFill>
                  <a:srgbClr val="DCDCAA"/>
                </a:solidFill>
              </a:rPr>
              <a:t>clasificar_paridad</a:t>
            </a:r>
            <a:r>
              <a:rPr>
                <a:solidFill>
                  <a:srgbClr val="D4D4D4"/>
                </a:solidFill>
              </a:rPr>
              <a:t>(</a:t>
            </a:r>
            <a:r>
              <a:rPr>
                <a:solidFill>
                  <a:srgbClr val="9CDCFE"/>
                </a:solidFill>
              </a:rPr>
              <a:t>numero</a:t>
            </a:r>
            <a:r>
              <a:rPr>
                <a:solidFill>
                  <a:srgbClr val="D4D4D4"/>
                </a:solidFill>
              </a:rP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if</a:t>
            </a:r>
            <a:r>
              <a:t> </a:t>
            </a:r>
            <a:r>
              <a:rPr>
                <a:solidFill>
                  <a:srgbClr val="9CDCFE"/>
                </a:solidFill>
              </a:rPr>
              <a:t>numero</a:t>
            </a:r>
            <a:r>
              <a:t> % </a:t>
            </a:r>
            <a:r>
              <a:rPr>
                <a:solidFill>
                  <a:srgbClr val="B5CEA8"/>
                </a:solidFill>
              </a:rPr>
              <a:t>2</a:t>
            </a:r>
            <a:r>
              <a:t> == </a:t>
            </a:r>
            <a:r>
              <a:rPr>
                <a:solidFill>
                  <a:srgbClr val="B5CEA8"/>
                </a:solidFill>
              </a:rPr>
              <a:t>0</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CE9178"/>
                </a:solidFill>
              </a:rPr>
              <a:t>"par"</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else</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CE9178"/>
                </a:solidFill>
              </a:rPr>
              <a:t>"impar"</a:t>
            </a:r>
          </a:p>
        </p:txBody>
      </p:sp>
      <p:sp>
        <p:nvSpPr>
          <p:cNvPr id="600" name="Shape 5"/>
          <p:cNvSpPr/>
          <p:nvPr/>
        </p:nvSpPr>
        <p:spPr>
          <a:xfrm>
            <a:off x="548640" y="3196589"/>
            <a:ext cx="4663441" cy="3158491"/>
          </a:xfrm>
          <a:prstGeom prst="roundRect">
            <a:avLst>
              <a:gd name="adj" fmla="val 2316"/>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601" name="Text 6"/>
          <p:cNvSpPr txBox="1"/>
          <p:nvPr/>
        </p:nvSpPr>
        <p:spPr>
          <a:xfrm>
            <a:off x="749808" y="334751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3"/>
                </a:solidFill>
              </a:defRPr>
            </a:lvl1pPr>
          </a:lstStyle>
          <a:p>
            <a:pPr/>
            <a:r>
              <a:t>Nassi-Shneiderman</a:t>
            </a:r>
          </a:p>
        </p:txBody>
      </p:sp>
      <p:sp>
        <p:nvSpPr>
          <p:cNvPr id="602" name="Shape 7"/>
          <p:cNvSpPr/>
          <p:nvPr/>
        </p:nvSpPr>
        <p:spPr>
          <a:xfrm>
            <a:off x="777239" y="3635502"/>
            <a:ext cx="4206242" cy="384049"/>
          </a:xfrm>
          <a:prstGeom prst="rect">
            <a:avLst/>
          </a:prstGeom>
          <a:solidFill>
            <a:srgbClr val="1E293B"/>
          </a:solidFill>
          <a:ln>
            <a:solidFill>
              <a:srgbClr val="334155"/>
            </a:solidFill>
          </a:ln>
        </p:spPr>
        <p:txBody>
          <a:bodyPr lIns="45719" rIns="45719"/>
          <a:lstStyle/>
          <a:p>
            <a:pPr/>
          </a:p>
        </p:txBody>
      </p:sp>
      <p:sp>
        <p:nvSpPr>
          <p:cNvPr id="603" name="Text 8"/>
          <p:cNvSpPr txBox="1"/>
          <p:nvPr/>
        </p:nvSpPr>
        <p:spPr>
          <a:xfrm>
            <a:off x="822960" y="3744976"/>
            <a:ext cx="411480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clasificar_paridad(numero)</a:t>
            </a:r>
          </a:p>
        </p:txBody>
      </p:sp>
      <p:sp>
        <p:nvSpPr>
          <p:cNvPr id="604" name="Shape 9"/>
          <p:cNvSpPr/>
          <p:nvPr/>
        </p:nvSpPr>
        <p:spPr>
          <a:xfrm>
            <a:off x="777239" y="4019550"/>
            <a:ext cx="4206242" cy="640081"/>
          </a:xfrm>
          <a:prstGeom prst="rect">
            <a:avLst/>
          </a:prstGeom>
          <a:solidFill>
            <a:srgbClr val="FEF3C7"/>
          </a:solidFill>
          <a:ln>
            <a:solidFill>
              <a:srgbClr val="334155"/>
            </a:solidFill>
          </a:ln>
        </p:spPr>
        <p:txBody>
          <a:bodyPr lIns="45719" rIns="45719"/>
          <a:lstStyle/>
          <a:p>
            <a:pPr/>
          </a:p>
        </p:txBody>
      </p:sp>
      <p:sp>
        <p:nvSpPr>
          <p:cNvPr id="605" name="Shape 10"/>
          <p:cNvSpPr/>
          <p:nvPr/>
        </p:nvSpPr>
        <p:spPr>
          <a:xfrm>
            <a:off x="777240" y="4019549"/>
            <a:ext cx="1967943" cy="640082"/>
          </a:xfrm>
          <a:prstGeom prst="line">
            <a:avLst/>
          </a:prstGeom>
          <a:ln>
            <a:solidFill>
              <a:srgbClr val="334155"/>
            </a:solidFill>
          </a:ln>
        </p:spPr>
        <p:txBody>
          <a:bodyPr lIns="45719" rIns="45719"/>
          <a:lstStyle/>
          <a:p>
            <a:pPr/>
          </a:p>
        </p:txBody>
      </p:sp>
      <p:sp>
        <p:nvSpPr>
          <p:cNvPr id="606" name="Shape 11"/>
          <p:cNvSpPr/>
          <p:nvPr/>
        </p:nvSpPr>
        <p:spPr>
          <a:xfrm flipH="1">
            <a:off x="2745182" y="4019550"/>
            <a:ext cx="2238298" cy="640081"/>
          </a:xfrm>
          <a:prstGeom prst="line">
            <a:avLst/>
          </a:prstGeom>
          <a:ln>
            <a:solidFill>
              <a:srgbClr val="334155"/>
            </a:solidFill>
          </a:ln>
        </p:spPr>
        <p:txBody>
          <a:bodyPr lIns="45719" rIns="45719"/>
          <a:lstStyle/>
          <a:p>
            <a:pPr/>
          </a:p>
        </p:txBody>
      </p:sp>
      <p:sp>
        <p:nvSpPr>
          <p:cNvPr id="607" name="Text 12"/>
          <p:cNvSpPr txBox="1"/>
          <p:nvPr/>
        </p:nvSpPr>
        <p:spPr>
          <a:xfrm>
            <a:off x="1167842" y="4092447"/>
            <a:ext cx="315468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¿numero % 2 == 0?</a:t>
            </a:r>
          </a:p>
        </p:txBody>
      </p:sp>
      <p:sp>
        <p:nvSpPr>
          <p:cNvPr id="608" name="Text 13"/>
          <p:cNvSpPr txBox="1"/>
          <p:nvPr/>
        </p:nvSpPr>
        <p:spPr>
          <a:xfrm>
            <a:off x="841247" y="4453934"/>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609" name="Text 14"/>
          <p:cNvSpPr txBox="1"/>
          <p:nvPr/>
        </p:nvSpPr>
        <p:spPr>
          <a:xfrm>
            <a:off x="4553711" y="4453934"/>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475569"/>
                </a:solidFill>
              </a:defRPr>
            </a:lvl1pPr>
          </a:lstStyle>
          <a:p>
            <a:pPr/>
            <a:r>
              <a:t>No</a:t>
            </a:r>
          </a:p>
        </p:txBody>
      </p:sp>
      <p:sp>
        <p:nvSpPr>
          <p:cNvPr id="610" name="Shape 15"/>
          <p:cNvSpPr/>
          <p:nvPr/>
        </p:nvSpPr>
        <p:spPr>
          <a:xfrm>
            <a:off x="777239" y="4659629"/>
            <a:ext cx="1967945" cy="384049"/>
          </a:xfrm>
          <a:prstGeom prst="rect">
            <a:avLst/>
          </a:prstGeom>
          <a:solidFill>
            <a:srgbClr val="FFFFFF"/>
          </a:solidFill>
          <a:ln>
            <a:solidFill>
              <a:srgbClr val="334155"/>
            </a:solidFill>
          </a:ln>
        </p:spPr>
        <p:txBody>
          <a:bodyPr lIns="45719" rIns="45719"/>
          <a:lstStyle/>
          <a:p>
            <a:pPr/>
          </a:p>
        </p:txBody>
      </p:sp>
      <p:sp>
        <p:nvSpPr>
          <p:cNvPr id="611" name="Shape 16"/>
          <p:cNvSpPr/>
          <p:nvPr/>
        </p:nvSpPr>
        <p:spPr>
          <a:xfrm>
            <a:off x="777239" y="4659629"/>
            <a:ext cx="1967945" cy="384049"/>
          </a:xfrm>
          <a:prstGeom prst="rect">
            <a:avLst/>
          </a:prstGeom>
          <a:solidFill>
            <a:srgbClr val="EDE9FE"/>
          </a:solidFill>
          <a:ln>
            <a:solidFill>
              <a:srgbClr val="334155"/>
            </a:solidFill>
          </a:ln>
        </p:spPr>
        <p:txBody>
          <a:bodyPr lIns="45719" rIns="45719"/>
          <a:lstStyle/>
          <a:p>
            <a:pPr/>
          </a:p>
        </p:txBody>
      </p:sp>
      <p:sp>
        <p:nvSpPr>
          <p:cNvPr id="612" name="Text 17"/>
          <p:cNvSpPr txBox="1"/>
          <p:nvPr/>
        </p:nvSpPr>
        <p:spPr>
          <a:xfrm>
            <a:off x="822960" y="4769103"/>
            <a:ext cx="187650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"par"</a:t>
            </a:r>
          </a:p>
        </p:txBody>
      </p:sp>
      <p:sp>
        <p:nvSpPr>
          <p:cNvPr id="613" name="Shape 18"/>
          <p:cNvSpPr/>
          <p:nvPr/>
        </p:nvSpPr>
        <p:spPr>
          <a:xfrm>
            <a:off x="2745183" y="4659629"/>
            <a:ext cx="2238297" cy="384049"/>
          </a:xfrm>
          <a:prstGeom prst="rect">
            <a:avLst/>
          </a:prstGeom>
          <a:solidFill>
            <a:srgbClr val="FFFFFF"/>
          </a:solidFill>
          <a:ln>
            <a:solidFill>
              <a:srgbClr val="334155"/>
            </a:solidFill>
          </a:ln>
        </p:spPr>
        <p:txBody>
          <a:bodyPr lIns="45719" rIns="45719"/>
          <a:lstStyle/>
          <a:p>
            <a:pPr/>
          </a:p>
        </p:txBody>
      </p:sp>
      <p:sp>
        <p:nvSpPr>
          <p:cNvPr id="614" name="Shape 19"/>
          <p:cNvSpPr/>
          <p:nvPr/>
        </p:nvSpPr>
        <p:spPr>
          <a:xfrm>
            <a:off x="2745183" y="4659629"/>
            <a:ext cx="2238297" cy="384049"/>
          </a:xfrm>
          <a:prstGeom prst="rect">
            <a:avLst/>
          </a:prstGeom>
          <a:solidFill>
            <a:srgbClr val="EDE9FE"/>
          </a:solidFill>
          <a:ln>
            <a:solidFill>
              <a:srgbClr val="334155"/>
            </a:solidFill>
          </a:ln>
        </p:spPr>
        <p:txBody>
          <a:bodyPr lIns="45719" rIns="45719"/>
          <a:lstStyle/>
          <a:p>
            <a:pPr/>
          </a:p>
        </p:txBody>
      </p:sp>
      <p:sp>
        <p:nvSpPr>
          <p:cNvPr id="615" name="Text 20"/>
          <p:cNvSpPr txBox="1"/>
          <p:nvPr/>
        </p:nvSpPr>
        <p:spPr>
          <a:xfrm>
            <a:off x="2790903" y="4769103"/>
            <a:ext cx="2146858"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"impar"</a:t>
            </a:r>
          </a:p>
        </p:txBody>
      </p:sp>
      <p:sp>
        <p:nvSpPr>
          <p:cNvPr id="616" name="Shape 21"/>
          <p:cNvSpPr/>
          <p:nvPr/>
        </p:nvSpPr>
        <p:spPr>
          <a:xfrm>
            <a:off x="5440679" y="1325880"/>
            <a:ext cx="6199633" cy="5029201"/>
          </a:xfrm>
          <a:prstGeom prst="roundRect">
            <a:avLst>
              <a:gd name="adj" fmla="val 145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617" name="Text 22"/>
          <p:cNvSpPr txBox="1"/>
          <p:nvPr/>
        </p:nvSpPr>
        <p:spPr>
          <a:xfrm>
            <a:off x="5641847" y="1476800"/>
            <a:ext cx="5797298"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2"/>
                </a:solidFill>
              </a:defRPr>
            </a:lvl1pPr>
          </a:lstStyle>
          <a:p>
            <a:pPr/>
            <a:r>
              <a:t>Diagrama de flujo</a:t>
            </a:r>
          </a:p>
        </p:txBody>
      </p:sp>
      <p:sp>
        <p:nvSpPr>
          <p:cNvPr id="618" name="Shape 23"/>
          <p:cNvSpPr/>
          <p:nvPr/>
        </p:nvSpPr>
        <p:spPr>
          <a:xfrm>
            <a:off x="7163448" y="2692907"/>
            <a:ext cx="2643784" cy="384049"/>
          </a:xfrm>
          <a:prstGeom prst="roundRect">
            <a:avLst>
              <a:gd name="adj" fmla="val 50000"/>
            </a:avLst>
          </a:prstGeom>
          <a:solidFill>
            <a:srgbClr val="1E293B"/>
          </a:solidFill>
          <a:ln w="15875">
            <a:solidFill>
              <a:srgbClr val="1E293B"/>
            </a:solidFill>
          </a:ln>
        </p:spPr>
        <p:txBody>
          <a:bodyPr lIns="45719" rIns="45719"/>
          <a:lstStyle/>
          <a:p>
            <a:pPr/>
          </a:p>
        </p:txBody>
      </p:sp>
      <p:sp>
        <p:nvSpPr>
          <p:cNvPr id="619" name="Text 24"/>
          <p:cNvSpPr txBox="1"/>
          <p:nvPr/>
        </p:nvSpPr>
        <p:spPr>
          <a:xfrm>
            <a:off x="7163448" y="2802381"/>
            <a:ext cx="264378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clasificar_paridad(numero)</a:t>
            </a:r>
          </a:p>
        </p:txBody>
      </p:sp>
      <p:sp>
        <p:nvSpPr>
          <p:cNvPr id="620" name="Shape 25"/>
          <p:cNvSpPr/>
          <p:nvPr/>
        </p:nvSpPr>
        <p:spPr>
          <a:xfrm>
            <a:off x="8485339" y="3076955"/>
            <a:ext cx="1" cy="237744"/>
          </a:xfrm>
          <a:prstGeom prst="line">
            <a:avLst/>
          </a:prstGeom>
          <a:ln w="15875">
            <a:solidFill>
              <a:srgbClr val="64748B"/>
            </a:solidFill>
            <a:tailEnd type="triangle"/>
          </a:ln>
        </p:spPr>
        <p:txBody>
          <a:bodyPr lIns="45719" rIns="45719"/>
          <a:lstStyle/>
          <a:p>
            <a:pPr/>
          </a:p>
        </p:txBody>
      </p:sp>
      <p:sp>
        <p:nvSpPr>
          <p:cNvPr id="621" name="Shape 26"/>
          <p:cNvSpPr/>
          <p:nvPr/>
        </p:nvSpPr>
        <p:spPr>
          <a:xfrm>
            <a:off x="7415365" y="3314700"/>
            <a:ext cx="2139951" cy="566928"/>
          </a:xfrm>
          <a:prstGeom prst="diamond">
            <a:avLst/>
          </a:prstGeom>
          <a:solidFill>
            <a:srgbClr val="FEF3C7"/>
          </a:solidFill>
          <a:ln w="15875">
            <a:solidFill>
              <a:schemeClr val="accent6"/>
            </a:solidFill>
          </a:ln>
        </p:spPr>
        <p:txBody>
          <a:bodyPr lIns="45719" rIns="45719"/>
          <a:lstStyle/>
          <a:p>
            <a:pPr/>
          </a:p>
        </p:txBody>
      </p:sp>
      <p:sp>
        <p:nvSpPr>
          <p:cNvPr id="622" name="Text 27"/>
          <p:cNvSpPr txBox="1"/>
          <p:nvPr/>
        </p:nvSpPr>
        <p:spPr>
          <a:xfrm>
            <a:off x="7415365" y="3515614"/>
            <a:ext cx="213995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numero % 2 == 0</a:t>
            </a:r>
          </a:p>
        </p:txBody>
      </p:sp>
      <p:sp>
        <p:nvSpPr>
          <p:cNvPr id="623" name="Shape 29"/>
          <p:cNvSpPr/>
          <p:nvPr/>
        </p:nvSpPr>
        <p:spPr>
          <a:xfrm>
            <a:off x="7415365" y="3598164"/>
            <a:ext cx="1" cy="457201"/>
          </a:xfrm>
          <a:prstGeom prst="line">
            <a:avLst/>
          </a:prstGeom>
          <a:ln w="15875">
            <a:solidFill>
              <a:srgbClr val="64748B"/>
            </a:solidFill>
            <a:tailEnd type="triangle"/>
          </a:ln>
        </p:spPr>
        <p:txBody>
          <a:bodyPr lIns="45719" rIns="45719"/>
          <a:lstStyle/>
          <a:p>
            <a:pPr/>
          </a:p>
        </p:txBody>
      </p:sp>
      <p:sp>
        <p:nvSpPr>
          <p:cNvPr id="624" name="Text 30"/>
          <p:cNvSpPr txBox="1"/>
          <p:nvPr/>
        </p:nvSpPr>
        <p:spPr>
          <a:xfrm>
            <a:off x="6354660" y="3410756"/>
            <a:ext cx="100584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475569"/>
                </a:solidFill>
              </a:defRPr>
            </a:lvl1pPr>
          </a:lstStyle>
          <a:p>
            <a:pPr/>
            <a:r>
              <a:t>Sí</a:t>
            </a:r>
          </a:p>
        </p:txBody>
      </p:sp>
      <p:sp>
        <p:nvSpPr>
          <p:cNvPr id="625" name="Shape 31"/>
          <p:cNvSpPr/>
          <p:nvPr/>
        </p:nvSpPr>
        <p:spPr>
          <a:xfrm>
            <a:off x="9555315" y="3598164"/>
            <a:ext cx="26214" cy="1"/>
          </a:xfrm>
          <a:prstGeom prst="line">
            <a:avLst/>
          </a:prstGeom>
          <a:ln w="15875">
            <a:solidFill>
              <a:srgbClr val="64748B"/>
            </a:solidFill>
          </a:ln>
        </p:spPr>
        <p:txBody>
          <a:bodyPr lIns="45719" rIns="45719"/>
          <a:lstStyle/>
          <a:p>
            <a:pPr/>
          </a:p>
        </p:txBody>
      </p:sp>
      <p:sp>
        <p:nvSpPr>
          <p:cNvPr id="626" name="Shape 32"/>
          <p:cNvSpPr/>
          <p:nvPr/>
        </p:nvSpPr>
        <p:spPr>
          <a:xfrm>
            <a:off x="9581528" y="3598164"/>
            <a:ext cx="1" cy="457201"/>
          </a:xfrm>
          <a:prstGeom prst="line">
            <a:avLst/>
          </a:prstGeom>
          <a:ln w="15875">
            <a:solidFill>
              <a:srgbClr val="64748B"/>
            </a:solidFill>
            <a:tailEnd type="triangle"/>
          </a:ln>
        </p:spPr>
        <p:txBody>
          <a:bodyPr lIns="45719" rIns="45719"/>
          <a:lstStyle/>
          <a:p>
            <a:pPr/>
          </a:p>
        </p:txBody>
      </p:sp>
      <p:sp>
        <p:nvSpPr>
          <p:cNvPr id="627" name="Text 33"/>
          <p:cNvSpPr txBox="1"/>
          <p:nvPr/>
        </p:nvSpPr>
        <p:spPr>
          <a:xfrm>
            <a:off x="9610179" y="3410756"/>
            <a:ext cx="100584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No</a:t>
            </a:r>
          </a:p>
        </p:txBody>
      </p:sp>
      <p:sp>
        <p:nvSpPr>
          <p:cNvPr id="628" name="Shape 34"/>
          <p:cNvSpPr/>
          <p:nvPr/>
        </p:nvSpPr>
        <p:spPr>
          <a:xfrm>
            <a:off x="6567868" y="4055364"/>
            <a:ext cx="1694994" cy="3657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165" y="0"/>
                </a:lnTo>
                <a:lnTo>
                  <a:pt x="21600" y="0"/>
                </a:lnTo>
                <a:lnTo>
                  <a:pt x="20435" y="21600"/>
                </a:lnTo>
                <a:close/>
              </a:path>
            </a:pathLst>
          </a:custGeom>
          <a:solidFill>
            <a:srgbClr val="EDE9FE"/>
          </a:solidFill>
          <a:ln w="15875">
            <a:solidFill>
              <a:schemeClr val="accent3"/>
            </a:solidFill>
          </a:ln>
        </p:spPr>
        <p:txBody>
          <a:bodyPr lIns="45719" rIns="45719"/>
          <a:lstStyle/>
          <a:p>
            <a:pPr/>
          </a:p>
        </p:txBody>
      </p:sp>
      <p:sp>
        <p:nvSpPr>
          <p:cNvPr id="629" name="Text 35"/>
          <p:cNvSpPr txBox="1"/>
          <p:nvPr/>
        </p:nvSpPr>
        <p:spPr>
          <a:xfrm>
            <a:off x="6567868" y="4155694"/>
            <a:ext cx="169499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"par"</a:t>
            </a:r>
          </a:p>
        </p:txBody>
      </p:sp>
      <p:sp>
        <p:nvSpPr>
          <p:cNvPr id="630" name="Shape 36"/>
          <p:cNvSpPr/>
          <p:nvPr/>
        </p:nvSpPr>
        <p:spPr>
          <a:xfrm>
            <a:off x="8649931" y="4055364"/>
            <a:ext cx="1863193" cy="3657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060" y="0"/>
                </a:lnTo>
                <a:lnTo>
                  <a:pt x="21600" y="0"/>
                </a:lnTo>
                <a:lnTo>
                  <a:pt x="20540" y="21600"/>
                </a:lnTo>
                <a:close/>
              </a:path>
            </a:pathLst>
          </a:custGeom>
          <a:solidFill>
            <a:srgbClr val="EDE9FE"/>
          </a:solidFill>
          <a:ln w="15875">
            <a:solidFill>
              <a:schemeClr val="accent3"/>
            </a:solidFill>
          </a:ln>
        </p:spPr>
        <p:txBody>
          <a:bodyPr lIns="45719" rIns="45719"/>
          <a:lstStyle/>
          <a:p>
            <a:pPr/>
          </a:p>
        </p:txBody>
      </p:sp>
      <p:sp>
        <p:nvSpPr>
          <p:cNvPr id="631" name="Text 37"/>
          <p:cNvSpPr txBox="1"/>
          <p:nvPr/>
        </p:nvSpPr>
        <p:spPr>
          <a:xfrm>
            <a:off x="8649931" y="4155694"/>
            <a:ext cx="186319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"impar"</a:t>
            </a:r>
          </a:p>
        </p:txBody>
      </p:sp>
      <p:sp>
        <p:nvSpPr>
          <p:cNvPr id="632" name="Shape 38"/>
          <p:cNvSpPr/>
          <p:nvPr/>
        </p:nvSpPr>
        <p:spPr>
          <a:xfrm>
            <a:off x="7415365" y="4421124"/>
            <a:ext cx="1" cy="219457"/>
          </a:xfrm>
          <a:prstGeom prst="line">
            <a:avLst/>
          </a:prstGeom>
          <a:ln w="15875">
            <a:solidFill>
              <a:srgbClr val="64748B"/>
            </a:solidFill>
          </a:ln>
        </p:spPr>
        <p:txBody>
          <a:bodyPr lIns="45719" rIns="45719"/>
          <a:lstStyle/>
          <a:p>
            <a:pPr/>
          </a:p>
        </p:txBody>
      </p:sp>
      <p:sp>
        <p:nvSpPr>
          <p:cNvPr id="633" name="Shape 39"/>
          <p:cNvSpPr/>
          <p:nvPr/>
        </p:nvSpPr>
        <p:spPr>
          <a:xfrm>
            <a:off x="7415365" y="4640579"/>
            <a:ext cx="1069976" cy="1"/>
          </a:xfrm>
          <a:prstGeom prst="line">
            <a:avLst/>
          </a:prstGeom>
          <a:ln w="15875">
            <a:solidFill>
              <a:srgbClr val="64748B"/>
            </a:solidFill>
            <a:tailEnd type="triangle"/>
          </a:ln>
        </p:spPr>
        <p:txBody>
          <a:bodyPr lIns="45719" rIns="45719"/>
          <a:lstStyle/>
          <a:p>
            <a:pPr/>
          </a:p>
        </p:txBody>
      </p:sp>
      <p:sp>
        <p:nvSpPr>
          <p:cNvPr id="634" name="Shape 40"/>
          <p:cNvSpPr/>
          <p:nvPr/>
        </p:nvSpPr>
        <p:spPr>
          <a:xfrm>
            <a:off x="9581528" y="4421124"/>
            <a:ext cx="1" cy="219457"/>
          </a:xfrm>
          <a:prstGeom prst="line">
            <a:avLst/>
          </a:prstGeom>
          <a:ln w="15875">
            <a:solidFill>
              <a:srgbClr val="64748B"/>
            </a:solidFill>
          </a:ln>
        </p:spPr>
        <p:txBody>
          <a:bodyPr lIns="45719" rIns="45719"/>
          <a:lstStyle/>
          <a:p>
            <a:pPr/>
          </a:p>
        </p:txBody>
      </p:sp>
      <p:sp>
        <p:nvSpPr>
          <p:cNvPr id="635" name="Shape 41"/>
          <p:cNvSpPr/>
          <p:nvPr/>
        </p:nvSpPr>
        <p:spPr>
          <a:xfrm flipH="1">
            <a:off x="8485340" y="4640579"/>
            <a:ext cx="1096189" cy="1"/>
          </a:xfrm>
          <a:prstGeom prst="line">
            <a:avLst/>
          </a:prstGeom>
          <a:ln w="15875">
            <a:solidFill>
              <a:srgbClr val="64748B"/>
            </a:solidFill>
            <a:tailEnd type="triangle"/>
          </a:ln>
        </p:spPr>
        <p:txBody>
          <a:bodyPr lIns="45719" rIns="45719"/>
          <a:lstStyle/>
          <a:p>
            <a:pPr/>
          </a:p>
        </p:txBody>
      </p:sp>
      <p:sp>
        <p:nvSpPr>
          <p:cNvPr id="636" name="Shape 42"/>
          <p:cNvSpPr/>
          <p:nvPr/>
        </p:nvSpPr>
        <p:spPr>
          <a:xfrm>
            <a:off x="8485339" y="4640579"/>
            <a:ext cx="1" cy="237744"/>
          </a:xfrm>
          <a:prstGeom prst="line">
            <a:avLst/>
          </a:prstGeom>
          <a:ln w="15875">
            <a:solidFill>
              <a:srgbClr val="64748B"/>
            </a:solidFill>
            <a:tailEnd type="triangle"/>
          </a:ln>
        </p:spPr>
        <p:txBody>
          <a:bodyPr lIns="45719" rIns="45719"/>
          <a:lstStyle/>
          <a:p>
            <a:pPr/>
          </a:p>
        </p:txBody>
      </p:sp>
      <p:sp>
        <p:nvSpPr>
          <p:cNvPr id="637" name="Shape 43"/>
          <p:cNvSpPr/>
          <p:nvPr/>
        </p:nvSpPr>
        <p:spPr>
          <a:xfrm>
            <a:off x="8130591" y="4878323"/>
            <a:ext cx="709499" cy="384049"/>
          </a:xfrm>
          <a:prstGeom prst="roundRect">
            <a:avLst>
              <a:gd name="adj" fmla="val 50000"/>
            </a:avLst>
          </a:prstGeom>
          <a:solidFill>
            <a:srgbClr val="1E293B"/>
          </a:solidFill>
          <a:ln w="15875">
            <a:solidFill>
              <a:srgbClr val="1E293B"/>
            </a:solidFill>
          </a:ln>
        </p:spPr>
        <p:txBody>
          <a:bodyPr lIns="45719" rIns="45719"/>
          <a:lstStyle/>
          <a:p>
            <a:pPr/>
          </a:p>
        </p:txBody>
      </p:sp>
      <p:sp>
        <p:nvSpPr>
          <p:cNvPr id="638" name="Text 44"/>
          <p:cNvSpPr txBox="1"/>
          <p:nvPr/>
        </p:nvSpPr>
        <p:spPr>
          <a:xfrm>
            <a:off x="8130591" y="4987797"/>
            <a:ext cx="70949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Fin</a:t>
            </a:r>
          </a:p>
        </p:txBody>
      </p:sp>
      <p:sp>
        <p:nvSpPr>
          <p:cNvPr id="639"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3" name="Text 0"/>
          <p:cNvSpPr txBox="1"/>
          <p:nvPr>
            <p:ph type="title"/>
          </p:nvPr>
        </p:nvSpPr>
        <p:spPr>
          <a:prstGeom prst="rect">
            <a:avLst/>
          </a:prstGeom>
        </p:spPr>
        <p:txBody>
          <a:bodyPr lIns="0" tIns="0" rIns="0" bIns="0" anchor="ctr"/>
          <a:lstStyle/>
          <a:p>
            <a:pPr/>
            <a:r>
              <a:t>5 · </a:t>
            </a:r>
            <a:r>
              <a:rPr sz="2600">
                <a:latin typeface="Menlo Regular"/>
                <a:ea typeface="Menlo Regular"/>
                <a:cs typeface="Menlo Regular"/>
                <a:sym typeface="Menlo Regular"/>
              </a:rPr>
              <a:t>if</a:t>
            </a:r>
            <a:r>
              <a:t> / </a:t>
            </a:r>
            <a:r>
              <a:rPr sz="2600">
                <a:latin typeface="Menlo Regular"/>
                <a:ea typeface="Menlo Regular"/>
                <a:cs typeface="Menlo Regular"/>
                <a:sym typeface="Menlo Regular"/>
              </a:rPr>
              <a:t>elif</a:t>
            </a:r>
            <a:r>
              <a:t> / </a:t>
            </a:r>
            <a:r>
              <a:rPr sz="2600">
                <a:latin typeface="Menlo Regular"/>
                <a:ea typeface="Menlo Regular"/>
                <a:cs typeface="Menlo Regular"/>
                <a:sym typeface="Menlo Regular"/>
              </a:rPr>
              <a:t>else</a:t>
            </a:r>
          </a:p>
        </p:txBody>
      </p:sp>
      <p:sp>
        <p:nvSpPr>
          <p:cNvPr id="644" name="Text 0"/>
          <p:cNvSpPr txBox="1"/>
          <p:nvPr>
            <p:ph type="body" sz="quarter" idx="1"/>
          </p:nvPr>
        </p:nvSpPr>
        <p:spPr>
          <a:prstGeom prst="rect">
            <a:avLst/>
          </a:prstGeom>
        </p:spPr>
        <p:txBody>
          <a:bodyPr lIns="0" tIns="0" rIns="0" bIns="0" anchor="ctr"/>
          <a:lstStyle/>
          <a:p>
            <a:pPr/>
            <a:r>
              <a:t>Un </a:t>
            </a:r>
            <a:r>
              <a:rPr sz="1300">
                <a:latin typeface="Menlo Regular"/>
                <a:ea typeface="Menlo Regular"/>
                <a:cs typeface="Menlo Regular"/>
                <a:sym typeface="Menlo Regular"/>
              </a:rPr>
              <a:t>elif</a:t>
            </a:r>
            <a:r>
              <a:t> es un </a:t>
            </a:r>
            <a:r>
              <a:rPr sz="1300">
                <a:latin typeface="Menlo Regular"/>
                <a:ea typeface="Menlo Regular"/>
                <a:cs typeface="Menlo Regular"/>
                <a:sym typeface="Menlo Regular"/>
              </a:rPr>
              <a:t>if</a:t>
            </a:r>
            <a:r>
              <a:t> dentro del </a:t>
            </a:r>
            <a:r>
              <a:rPr sz="1300">
                <a:latin typeface="Menlo Regular"/>
                <a:ea typeface="Menlo Regular"/>
                <a:cs typeface="Menlo Regular"/>
                <a:sym typeface="Menlo Regular"/>
              </a:rPr>
              <a:t>else</a:t>
            </a:r>
            <a:r>
              <a:t>: en N-S cada pregunta se anida en la columna </a:t>
            </a:r>
            <a:r>
              <a:rPr b="1"/>
              <a:t>No</a:t>
            </a:r>
            <a:r>
              <a:t>.</a:t>
            </a:r>
          </a:p>
        </p:txBody>
      </p:sp>
      <p:sp>
        <p:nvSpPr>
          <p:cNvPr id="645" name="Shape 2"/>
          <p:cNvSpPr/>
          <p:nvPr/>
        </p:nvSpPr>
        <p:spPr>
          <a:xfrm>
            <a:off x="548640" y="1325880"/>
            <a:ext cx="3291841" cy="2507743"/>
          </a:xfrm>
          <a:prstGeom prst="roundRect">
            <a:avLst>
              <a:gd name="adj" fmla="val 2917"/>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646" name="Text 3"/>
          <p:cNvSpPr txBox="1"/>
          <p:nvPr/>
        </p:nvSpPr>
        <p:spPr>
          <a:xfrm>
            <a:off x="749807" y="1476800"/>
            <a:ext cx="2889506"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Python  ·  asignar_medalla(2)  →  plata</a:t>
            </a:r>
          </a:p>
        </p:txBody>
      </p:sp>
      <p:sp>
        <p:nvSpPr>
          <p:cNvPr id="647" name="Text 4"/>
          <p:cNvSpPr txBox="1"/>
          <p:nvPr/>
        </p:nvSpPr>
        <p:spPr>
          <a:xfrm>
            <a:off x="749807" y="1764792"/>
            <a:ext cx="2926082" cy="18241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sz="1200">
                <a:solidFill>
                  <a:srgbClr val="569CD6"/>
                </a:solidFill>
                <a:latin typeface="Menlo Regular"/>
                <a:ea typeface="Menlo Regular"/>
                <a:cs typeface="Menlo Regular"/>
                <a:sym typeface="Menlo Regular"/>
              </a:defRPr>
            </a:pPr>
            <a:r>
              <a:t>def</a:t>
            </a:r>
            <a:r>
              <a:rPr>
                <a:solidFill>
                  <a:srgbClr val="D4D4D4"/>
                </a:solidFill>
              </a:rPr>
              <a:t> </a:t>
            </a:r>
            <a:r>
              <a:rPr>
                <a:solidFill>
                  <a:srgbClr val="DCDCAA"/>
                </a:solidFill>
              </a:rPr>
              <a:t>asignar_medalla</a:t>
            </a:r>
            <a:r>
              <a:rPr>
                <a:solidFill>
                  <a:srgbClr val="D4D4D4"/>
                </a:solidFill>
              </a:rPr>
              <a:t>(</a:t>
            </a:r>
            <a:r>
              <a:rPr>
                <a:solidFill>
                  <a:srgbClr val="9CDCFE"/>
                </a:solidFill>
              </a:rPr>
              <a:t>lugar</a:t>
            </a:r>
            <a:r>
              <a:rPr>
                <a:solidFill>
                  <a:srgbClr val="D4D4D4"/>
                </a:solidFill>
              </a:rP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if</a:t>
            </a:r>
            <a:r>
              <a:t> </a:t>
            </a:r>
            <a:r>
              <a:rPr>
                <a:solidFill>
                  <a:srgbClr val="9CDCFE"/>
                </a:solidFill>
              </a:rPr>
              <a:t>lugar</a:t>
            </a:r>
            <a:r>
              <a:t> == </a:t>
            </a:r>
            <a:r>
              <a:rPr>
                <a:solidFill>
                  <a:srgbClr val="B5CEA8"/>
                </a:solidFill>
              </a:rPr>
              <a:t>1</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CE9178"/>
                </a:solidFill>
              </a:rPr>
              <a:t>"oro"</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elif</a:t>
            </a:r>
            <a:r>
              <a:t> </a:t>
            </a:r>
            <a:r>
              <a:rPr>
                <a:solidFill>
                  <a:srgbClr val="9CDCFE"/>
                </a:solidFill>
              </a:rPr>
              <a:t>lugar</a:t>
            </a:r>
            <a:r>
              <a:t> == </a:t>
            </a:r>
            <a:r>
              <a:rPr>
                <a:solidFill>
                  <a:srgbClr val="B5CEA8"/>
                </a:solidFill>
              </a:rPr>
              <a:t>2</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CE9178"/>
                </a:solidFill>
              </a:rPr>
              <a:t>"plata"</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elif</a:t>
            </a:r>
            <a:r>
              <a:t> </a:t>
            </a:r>
            <a:r>
              <a:rPr>
                <a:solidFill>
                  <a:srgbClr val="9CDCFE"/>
                </a:solidFill>
              </a:rPr>
              <a:t>lugar</a:t>
            </a:r>
            <a:r>
              <a:t> == </a:t>
            </a:r>
            <a:r>
              <a:rPr>
                <a:solidFill>
                  <a:srgbClr val="B5CEA8"/>
                </a:solidFill>
              </a:rPr>
              <a:t>3</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CE9178"/>
                </a:solidFill>
              </a:rPr>
              <a:t>"bronce"</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else</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CE9178"/>
                </a:solidFill>
              </a:rPr>
              <a:t>"sin medalla"</a:t>
            </a:r>
          </a:p>
        </p:txBody>
      </p:sp>
      <p:sp>
        <p:nvSpPr>
          <p:cNvPr id="648" name="Shape 5"/>
          <p:cNvSpPr/>
          <p:nvPr/>
        </p:nvSpPr>
        <p:spPr>
          <a:xfrm>
            <a:off x="548640" y="4034790"/>
            <a:ext cx="3291841" cy="2320291"/>
          </a:xfrm>
          <a:prstGeom prst="roundRect">
            <a:avLst>
              <a:gd name="adj" fmla="val 315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649" name="Text 6"/>
          <p:cNvSpPr txBox="1"/>
          <p:nvPr/>
        </p:nvSpPr>
        <p:spPr>
          <a:xfrm>
            <a:off x="749807" y="4232718"/>
            <a:ext cx="2889506"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En orden</a:t>
            </a:r>
          </a:p>
        </p:txBody>
      </p:sp>
      <p:sp>
        <p:nvSpPr>
          <p:cNvPr id="650" name="Text 7"/>
          <p:cNvSpPr txBox="1"/>
          <p:nvPr/>
        </p:nvSpPr>
        <p:spPr>
          <a:xfrm>
            <a:off x="749807" y="4546853"/>
            <a:ext cx="2889506" cy="875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400">
                <a:solidFill>
                  <a:srgbClr val="334155"/>
                </a:solidFill>
              </a:defRPr>
            </a:pPr>
            <a:r>
              <a:t>Python revisa de arriba a abajo y ejecuta </a:t>
            </a:r>
            <a:r>
              <a:rPr b="1"/>
              <a:t>sólo el primer</a:t>
            </a:r>
            <a:r>
              <a:t> bloque que se cumple. En los dos diagramas: en cuanto hay un </a:t>
            </a:r>
            <a:r>
              <a:rPr b="1"/>
              <a:t>Sí</a:t>
            </a:r>
            <a:r>
              <a:t>, se sale hacia el Fin.</a:t>
            </a:r>
          </a:p>
        </p:txBody>
      </p:sp>
      <p:sp>
        <p:nvSpPr>
          <p:cNvPr id="651" name="Shape 8"/>
          <p:cNvSpPr/>
          <p:nvPr/>
        </p:nvSpPr>
        <p:spPr>
          <a:xfrm>
            <a:off x="4069079" y="1325880"/>
            <a:ext cx="3255631" cy="5029201"/>
          </a:xfrm>
          <a:prstGeom prst="roundRect">
            <a:avLst>
              <a:gd name="adj" fmla="val 2247"/>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652" name="Text 9"/>
          <p:cNvSpPr txBox="1"/>
          <p:nvPr/>
        </p:nvSpPr>
        <p:spPr>
          <a:xfrm>
            <a:off x="4270247" y="1476800"/>
            <a:ext cx="2853295"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3"/>
                </a:solidFill>
              </a:defRPr>
            </a:lvl1pPr>
          </a:lstStyle>
          <a:p>
            <a:pPr/>
            <a:r>
              <a:t>Nassi-Shneiderman</a:t>
            </a:r>
          </a:p>
        </p:txBody>
      </p:sp>
      <p:sp>
        <p:nvSpPr>
          <p:cNvPr id="653" name="Shape 10"/>
          <p:cNvSpPr/>
          <p:nvPr/>
        </p:nvSpPr>
        <p:spPr>
          <a:xfrm>
            <a:off x="4251959" y="1783079"/>
            <a:ext cx="2889871" cy="384049"/>
          </a:xfrm>
          <a:prstGeom prst="rect">
            <a:avLst/>
          </a:prstGeom>
          <a:solidFill>
            <a:srgbClr val="1E293B"/>
          </a:solidFill>
          <a:ln>
            <a:solidFill>
              <a:srgbClr val="334155"/>
            </a:solidFill>
          </a:ln>
        </p:spPr>
        <p:txBody>
          <a:bodyPr lIns="45719" rIns="45719"/>
          <a:lstStyle/>
          <a:p>
            <a:pPr/>
          </a:p>
        </p:txBody>
      </p:sp>
      <p:sp>
        <p:nvSpPr>
          <p:cNvPr id="654" name="Text 11"/>
          <p:cNvSpPr txBox="1"/>
          <p:nvPr/>
        </p:nvSpPr>
        <p:spPr>
          <a:xfrm>
            <a:off x="4297679" y="1892553"/>
            <a:ext cx="279843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asignar_medalla(lugar)</a:t>
            </a:r>
          </a:p>
        </p:txBody>
      </p:sp>
      <p:sp>
        <p:nvSpPr>
          <p:cNvPr id="655" name="Shape 12"/>
          <p:cNvSpPr/>
          <p:nvPr/>
        </p:nvSpPr>
        <p:spPr>
          <a:xfrm>
            <a:off x="4251959" y="2167127"/>
            <a:ext cx="2889871" cy="640082"/>
          </a:xfrm>
          <a:prstGeom prst="rect">
            <a:avLst/>
          </a:prstGeom>
          <a:solidFill>
            <a:srgbClr val="FEF3C7"/>
          </a:solidFill>
          <a:ln>
            <a:solidFill>
              <a:srgbClr val="334155"/>
            </a:solidFill>
          </a:ln>
        </p:spPr>
        <p:txBody>
          <a:bodyPr lIns="45719" rIns="45719"/>
          <a:lstStyle/>
          <a:p>
            <a:pPr/>
          </a:p>
        </p:txBody>
      </p:sp>
      <p:sp>
        <p:nvSpPr>
          <p:cNvPr id="656" name="Shape 13"/>
          <p:cNvSpPr/>
          <p:nvPr/>
        </p:nvSpPr>
        <p:spPr>
          <a:xfrm>
            <a:off x="4251960" y="2167127"/>
            <a:ext cx="809165" cy="640082"/>
          </a:xfrm>
          <a:prstGeom prst="line">
            <a:avLst/>
          </a:prstGeom>
          <a:ln>
            <a:solidFill>
              <a:srgbClr val="334155"/>
            </a:solidFill>
          </a:ln>
        </p:spPr>
        <p:txBody>
          <a:bodyPr lIns="45719" rIns="45719"/>
          <a:lstStyle/>
          <a:p>
            <a:pPr/>
          </a:p>
        </p:txBody>
      </p:sp>
      <p:sp>
        <p:nvSpPr>
          <p:cNvPr id="657" name="Shape 14"/>
          <p:cNvSpPr/>
          <p:nvPr/>
        </p:nvSpPr>
        <p:spPr>
          <a:xfrm flipH="1">
            <a:off x="5061124" y="2167128"/>
            <a:ext cx="2080707" cy="640080"/>
          </a:xfrm>
          <a:prstGeom prst="line">
            <a:avLst/>
          </a:prstGeom>
          <a:ln>
            <a:solidFill>
              <a:srgbClr val="334155"/>
            </a:solidFill>
          </a:ln>
        </p:spPr>
        <p:txBody>
          <a:bodyPr lIns="45719" rIns="45719"/>
          <a:lstStyle/>
          <a:p>
            <a:pPr/>
          </a:p>
        </p:txBody>
      </p:sp>
      <p:sp>
        <p:nvSpPr>
          <p:cNvPr id="658" name="Text 15"/>
          <p:cNvSpPr txBox="1"/>
          <p:nvPr/>
        </p:nvSpPr>
        <p:spPr>
          <a:xfrm>
            <a:off x="4297679" y="2240026"/>
            <a:ext cx="216740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¿lugar == 1?</a:t>
            </a:r>
          </a:p>
        </p:txBody>
      </p:sp>
      <p:sp>
        <p:nvSpPr>
          <p:cNvPr id="659" name="Text 16"/>
          <p:cNvSpPr txBox="1"/>
          <p:nvPr/>
        </p:nvSpPr>
        <p:spPr>
          <a:xfrm>
            <a:off x="4315967" y="260151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660" name="Text 17"/>
          <p:cNvSpPr txBox="1"/>
          <p:nvPr/>
        </p:nvSpPr>
        <p:spPr>
          <a:xfrm>
            <a:off x="6712061" y="260151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475569"/>
                </a:solidFill>
              </a:defRPr>
            </a:lvl1pPr>
          </a:lstStyle>
          <a:p>
            <a:pPr/>
            <a:r>
              <a:t>No</a:t>
            </a:r>
          </a:p>
        </p:txBody>
      </p:sp>
      <p:sp>
        <p:nvSpPr>
          <p:cNvPr id="661" name="Shape 18"/>
          <p:cNvSpPr/>
          <p:nvPr/>
        </p:nvSpPr>
        <p:spPr>
          <a:xfrm>
            <a:off x="4251959" y="2807207"/>
            <a:ext cx="809165" cy="1856233"/>
          </a:xfrm>
          <a:prstGeom prst="rect">
            <a:avLst/>
          </a:prstGeom>
          <a:solidFill>
            <a:srgbClr val="FFFFFF"/>
          </a:solidFill>
          <a:ln>
            <a:solidFill>
              <a:srgbClr val="334155"/>
            </a:solidFill>
          </a:ln>
        </p:spPr>
        <p:txBody>
          <a:bodyPr lIns="45719" rIns="45719"/>
          <a:lstStyle/>
          <a:p>
            <a:pPr/>
          </a:p>
        </p:txBody>
      </p:sp>
      <p:sp>
        <p:nvSpPr>
          <p:cNvPr id="662" name="Shape 19"/>
          <p:cNvSpPr/>
          <p:nvPr/>
        </p:nvSpPr>
        <p:spPr>
          <a:xfrm>
            <a:off x="4251959" y="2807207"/>
            <a:ext cx="809165" cy="576073"/>
          </a:xfrm>
          <a:prstGeom prst="rect">
            <a:avLst/>
          </a:prstGeom>
          <a:solidFill>
            <a:srgbClr val="EDE9FE"/>
          </a:solidFill>
          <a:ln>
            <a:solidFill>
              <a:srgbClr val="334155"/>
            </a:solidFill>
          </a:ln>
        </p:spPr>
        <p:txBody>
          <a:bodyPr lIns="45719" rIns="45719"/>
          <a:lstStyle/>
          <a:p>
            <a:pPr/>
          </a:p>
        </p:txBody>
      </p:sp>
      <p:sp>
        <p:nvSpPr>
          <p:cNvPr id="663" name="Text 20"/>
          <p:cNvSpPr txBox="1"/>
          <p:nvPr/>
        </p:nvSpPr>
        <p:spPr>
          <a:xfrm>
            <a:off x="4297679" y="2930143"/>
            <a:ext cx="717725"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100">
                <a:solidFill>
                  <a:srgbClr val="4C1D95"/>
                </a:solidFill>
                <a:latin typeface="Menlo Regular"/>
                <a:ea typeface="Menlo Regular"/>
                <a:cs typeface="Menlo Regular"/>
                <a:sym typeface="Menlo Regular"/>
              </a:defRPr>
            </a:pPr>
            <a:r>
              <a:t>return</a:t>
            </a:r>
          </a:p>
          <a:p>
            <a:pPr algn="ctr">
              <a:defRPr sz="1100">
                <a:solidFill>
                  <a:srgbClr val="4C1D95"/>
                </a:solidFill>
                <a:latin typeface="Menlo Regular"/>
                <a:ea typeface="Menlo Regular"/>
                <a:cs typeface="Menlo Regular"/>
                <a:sym typeface="Menlo Regular"/>
              </a:defRPr>
            </a:pPr>
            <a:r>
              <a:t>"oro"</a:t>
            </a:r>
          </a:p>
        </p:txBody>
      </p:sp>
      <p:sp>
        <p:nvSpPr>
          <p:cNvPr id="664" name="Shape 21"/>
          <p:cNvSpPr/>
          <p:nvPr/>
        </p:nvSpPr>
        <p:spPr>
          <a:xfrm>
            <a:off x="5061124" y="2807207"/>
            <a:ext cx="2080706" cy="1856233"/>
          </a:xfrm>
          <a:prstGeom prst="rect">
            <a:avLst/>
          </a:prstGeom>
          <a:solidFill>
            <a:srgbClr val="FFFFFF"/>
          </a:solidFill>
          <a:ln>
            <a:solidFill>
              <a:srgbClr val="334155"/>
            </a:solidFill>
          </a:ln>
        </p:spPr>
        <p:txBody>
          <a:bodyPr lIns="45719" rIns="45719"/>
          <a:lstStyle/>
          <a:p>
            <a:pPr/>
          </a:p>
        </p:txBody>
      </p:sp>
      <p:sp>
        <p:nvSpPr>
          <p:cNvPr id="665" name="Shape 22"/>
          <p:cNvSpPr/>
          <p:nvPr/>
        </p:nvSpPr>
        <p:spPr>
          <a:xfrm>
            <a:off x="5061124" y="2807207"/>
            <a:ext cx="2080706" cy="640081"/>
          </a:xfrm>
          <a:prstGeom prst="rect">
            <a:avLst/>
          </a:prstGeom>
          <a:solidFill>
            <a:srgbClr val="FEF3C7"/>
          </a:solidFill>
          <a:ln>
            <a:solidFill>
              <a:srgbClr val="334155"/>
            </a:solidFill>
          </a:ln>
        </p:spPr>
        <p:txBody>
          <a:bodyPr lIns="45719" rIns="45719"/>
          <a:lstStyle/>
          <a:p>
            <a:pPr/>
          </a:p>
        </p:txBody>
      </p:sp>
      <p:sp>
        <p:nvSpPr>
          <p:cNvPr id="666" name="Shape 23"/>
          <p:cNvSpPr/>
          <p:nvPr/>
        </p:nvSpPr>
        <p:spPr>
          <a:xfrm>
            <a:off x="5061124" y="2807207"/>
            <a:ext cx="582599" cy="640081"/>
          </a:xfrm>
          <a:prstGeom prst="line">
            <a:avLst/>
          </a:prstGeom>
          <a:ln>
            <a:solidFill>
              <a:srgbClr val="334155"/>
            </a:solidFill>
          </a:ln>
        </p:spPr>
        <p:txBody>
          <a:bodyPr lIns="45719" rIns="45719"/>
          <a:lstStyle/>
          <a:p>
            <a:pPr/>
          </a:p>
        </p:txBody>
      </p:sp>
      <p:sp>
        <p:nvSpPr>
          <p:cNvPr id="667" name="Shape 24"/>
          <p:cNvSpPr/>
          <p:nvPr/>
        </p:nvSpPr>
        <p:spPr>
          <a:xfrm flipH="1">
            <a:off x="5643721" y="2807207"/>
            <a:ext cx="1498109" cy="640081"/>
          </a:xfrm>
          <a:prstGeom prst="line">
            <a:avLst/>
          </a:prstGeom>
          <a:ln>
            <a:solidFill>
              <a:srgbClr val="334155"/>
            </a:solidFill>
          </a:ln>
        </p:spPr>
        <p:txBody>
          <a:bodyPr lIns="45719" rIns="45719"/>
          <a:lstStyle/>
          <a:p>
            <a:pPr/>
          </a:p>
        </p:txBody>
      </p:sp>
      <p:sp>
        <p:nvSpPr>
          <p:cNvPr id="668" name="Text 25"/>
          <p:cNvSpPr txBox="1"/>
          <p:nvPr/>
        </p:nvSpPr>
        <p:spPr>
          <a:xfrm>
            <a:off x="5106844" y="2880105"/>
            <a:ext cx="156053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¿lugar == 2?</a:t>
            </a:r>
          </a:p>
        </p:txBody>
      </p:sp>
      <p:sp>
        <p:nvSpPr>
          <p:cNvPr id="669" name="Text 26"/>
          <p:cNvSpPr txBox="1"/>
          <p:nvPr/>
        </p:nvSpPr>
        <p:spPr>
          <a:xfrm>
            <a:off x="5125132" y="324159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670" name="Text 27"/>
          <p:cNvSpPr txBox="1"/>
          <p:nvPr/>
        </p:nvSpPr>
        <p:spPr>
          <a:xfrm>
            <a:off x="6712061" y="324159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475569"/>
                </a:solidFill>
              </a:defRPr>
            </a:lvl1pPr>
          </a:lstStyle>
          <a:p>
            <a:pPr/>
            <a:r>
              <a:t>No</a:t>
            </a:r>
          </a:p>
        </p:txBody>
      </p:sp>
      <p:sp>
        <p:nvSpPr>
          <p:cNvPr id="671" name="Shape 28"/>
          <p:cNvSpPr/>
          <p:nvPr/>
        </p:nvSpPr>
        <p:spPr>
          <a:xfrm>
            <a:off x="5061124" y="3447288"/>
            <a:ext cx="582599" cy="1216153"/>
          </a:xfrm>
          <a:prstGeom prst="rect">
            <a:avLst/>
          </a:prstGeom>
          <a:solidFill>
            <a:srgbClr val="FFFFFF"/>
          </a:solidFill>
          <a:ln>
            <a:solidFill>
              <a:srgbClr val="334155"/>
            </a:solidFill>
          </a:ln>
        </p:spPr>
        <p:txBody>
          <a:bodyPr lIns="45719" rIns="45719"/>
          <a:lstStyle/>
          <a:p>
            <a:pPr/>
          </a:p>
        </p:txBody>
      </p:sp>
      <p:sp>
        <p:nvSpPr>
          <p:cNvPr id="672" name="Shape 29"/>
          <p:cNvSpPr/>
          <p:nvPr/>
        </p:nvSpPr>
        <p:spPr>
          <a:xfrm>
            <a:off x="5061124" y="3447288"/>
            <a:ext cx="582599" cy="576073"/>
          </a:xfrm>
          <a:prstGeom prst="rect">
            <a:avLst/>
          </a:prstGeom>
          <a:solidFill>
            <a:srgbClr val="EDE9FE"/>
          </a:solidFill>
          <a:ln>
            <a:solidFill>
              <a:srgbClr val="334155"/>
            </a:solidFill>
          </a:ln>
        </p:spPr>
        <p:txBody>
          <a:bodyPr lIns="45719" rIns="45719"/>
          <a:lstStyle/>
          <a:p>
            <a:pPr/>
          </a:p>
        </p:txBody>
      </p:sp>
      <p:sp>
        <p:nvSpPr>
          <p:cNvPr id="673" name="Text 30"/>
          <p:cNvSpPr txBox="1"/>
          <p:nvPr/>
        </p:nvSpPr>
        <p:spPr>
          <a:xfrm>
            <a:off x="5106844" y="3621023"/>
            <a:ext cx="491159"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4C1D95"/>
                </a:solidFill>
                <a:latin typeface="Menlo Regular"/>
                <a:ea typeface="Menlo Regular"/>
                <a:cs typeface="Menlo Regular"/>
                <a:sym typeface="Menlo Regular"/>
              </a:defRPr>
            </a:pPr>
            <a:r>
              <a:t>return</a:t>
            </a:r>
          </a:p>
          <a:p>
            <a:pPr algn="ctr">
              <a:defRPr sz="800">
                <a:solidFill>
                  <a:srgbClr val="4C1D95"/>
                </a:solidFill>
                <a:latin typeface="Menlo Regular"/>
                <a:ea typeface="Menlo Regular"/>
                <a:cs typeface="Menlo Regular"/>
                <a:sym typeface="Menlo Regular"/>
              </a:defRPr>
            </a:pPr>
            <a:r>
              <a:t>"plata"</a:t>
            </a:r>
          </a:p>
        </p:txBody>
      </p:sp>
      <p:sp>
        <p:nvSpPr>
          <p:cNvPr id="674" name="Shape 31"/>
          <p:cNvSpPr/>
          <p:nvPr/>
        </p:nvSpPr>
        <p:spPr>
          <a:xfrm>
            <a:off x="5643721" y="3447288"/>
            <a:ext cx="1498108" cy="1216153"/>
          </a:xfrm>
          <a:prstGeom prst="rect">
            <a:avLst/>
          </a:prstGeom>
          <a:solidFill>
            <a:srgbClr val="FFFFFF"/>
          </a:solidFill>
          <a:ln>
            <a:solidFill>
              <a:srgbClr val="334155"/>
            </a:solidFill>
          </a:ln>
        </p:spPr>
        <p:txBody>
          <a:bodyPr lIns="45719" rIns="45719"/>
          <a:lstStyle/>
          <a:p>
            <a:pPr/>
          </a:p>
        </p:txBody>
      </p:sp>
      <p:sp>
        <p:nvSpPr>
          <p:cNvPr id="675" name="Shape 32"/>
          <p:cNvSpPr/>
          <p:nvPr/>
        </p:nvSpPr>
        <p:spPr>
          <a:xfrm>
            <a:off x="5643721" y="3447288"/>
            <a:ext cx="1498108" cy="640081"/>
          </a:xfrm>
          <a:prstGeom prst="rect">
            <a:avLst/>
          </a:prstGeom>
          <a:solidFill>
            <a:srgbClr val="FEF3C7"/>
          </a:solidFill>
          <a:ln>
            <a:solidFill>
              <a:srgbClr val="334155"/>
            </a:solidFill>
          </a:ln>
        </p:spPr>
        <p:txBody>
          <a:bodyPr lIns="45719" rIns="45719"/>
          <a:lstStyle/>
          <a:p>
            <a:pPr/>
          </a:p>
        </p:txBody>
      </p:sp>
      <p:sp>
        <p:nvSpPr>
          <p:cNvPr id="676" name="Shape 33"/>
          <p:cNvSpPr/>
          <p:nvPr/>
        </p:nvSpPr>
        <p:spPr>
          <a:xfrm>
            <a:off x="5643721" y="3447288"/>
            <a:ext cx="605650" cy="640081"/>
          </a:xfrm>
          <a:prstGeom prst="line">
            <a:avLst/>
          </a:prstGeom>
          <a:ln>
            <a:solidFill>
              <a:srgbClr val="334155"/>
            </a:solidFill>
          </a:ln>
        </p:spPr>
        <p:txBody>
          <a:bodyPr lIns="45719" rIns="45719"/>
          <a:lstStyle/>
          <a:p>
            <a:pPr/>
          </a:p>
        </p:txBody>
      </p:sp>
      <p:sp>
        <p:nvSpPr>
          <p:cNvPr id="677" name="Shape 34"/>
          <p:cNvSpPr/>
          <p:nvPr/>
        </p:nvSpPr>
        <p:spPr>
          <a:xfrm flipH="1">
            <a:off x="6249371" y="3447288"/>
            <a:ext cx="892460" cy="640081"/>
          </a:xfrm>
          <a:prstGeom prst="line">
            <a:avLst/>
          </a:prstGeom>
          <a:ln>
            <a:solidFill>
              <a:srgbClr val="334155"/>
            </a:solidFill>
          </a:ln>
        </p:spPr>
        <p:txBody>
          <a:bodyPr lIns="45719" rIns="45719"/>
          <a:lstStyle/>
          <a:p>
            <a:pPr/>
          </a:p>
        </p:txBody>
      </p:sp>
      <p:sp>
        <p:nvSpPr>
          <p:cNvPr id="678" name="Text 35"/>
          <p:cNvSpPr txBox="1"/>
          <p:nvPr/>
        </p:nvSpPr>
        <p:spPr>
          <a:xfrm>
            <a:off x="5689441" y="3520185"/>
            <a:ext cx="112358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¿lugar == 3?</a:t>
            </a:r>
          </a:p>
        </p:txBody>
      </p:sp>
      <p:sp>
        <p:nvSpPr>
          <p:cNvPr id="679" name="Text 36"/>
          <p:cNvSpPr txBox="1"/>
          <p:nvPr/>
        </p:nvSpPr>
        <p:spPr>
          <a:xfrm>
            <a:off x="5707729" y="388167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680" name="Text 37"/>
          <p:cNvSpPr txBox="1"/>
          <p:nvPr/>
        </p:nvSpPr>
        <p:spPr>
          <a:xfrm>
            <a:off x="6712061" y="388167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475569"/>
                </a:solidFill>
              </a:defRPr>
            </a:lvl1pPr>
          </a:lstStyle>
          <a:p>
            <a:pPr/>
            <a:r>
              <a:t>No</a:t>
            </a:r>
          </a:p>
        </p:txBody>
      </p:sp>
      <p:sp>
        <p:nvSpPr>
          <p:cNvPr id="681" name="Shape 38"/>
          <p:cNvSpPr/>
          <p:nvPr/>
        </p:nvSpPr>
        <p:spPr>
          <a:xfrm>
            <a:off x="5643721" y="4087367"/>
            <a:ext cx="605650" cy="576073"/>
          </a:xfrm>
          <a:prstGeom prst="rect">
            <a:avLst/>
          </a:prstGeom>
          <a:solidFill>
            <a:srgbClr val="FFFFFF"/>
          </a:solidFill>
          <a:ln>
            <a:solidFill>
              <a:srgbClr val="334155"/>
            </a:solidFill>
          </a:ln>
        </p:spPr>
        <p:txBody>
          <a:bodyPr lIns="45719" rIns="45719"/>
          <a:lstStyle/>
          <a:p>
            <a:pPr/>
          </a:p>
        </p:txBody>
      </p:sp>
      <p:sp>
        <p:nvSpPr>
          <p:cNvPr id="682" name="Shape 39"/>
          <p:cNvSpPr/>
          <p:nvPr/>
        </p:nvSpPr>
        <p:spPr>
          <a:xfrm>
            <a:off x="5643721" y="4087367"/>
            <a:ext cx="605650" cy="576073"/>
          </a:xfrm>
          <a:prstGeom prst="rect">
            <a:avLst/>
          </a:prstGeom>
          <a:solidFill>
            <a:srgbClr val="EDE9FE"/>
          </a:solidFill>
          <a:ln>
            <a:solidFill>
              <a:srgbClr val="334155"/>
            </a:solidFill>
          </a:ln>
        </p:spPr>
        <p:txBody>
          <a:bodyPr lIns="45719" rIns="45719"/>
          <a:lstStyle/>
          <a:p>
            <a:pPr/>
          </a:p>
        </p:txBody>
      </p:sp>
      <p:sp>
        <p:nvSpPr>
          <p:cNvPr id="683" name="Text 40"/>
          <p:cNvSpPr txBox="1"/>
          <p:nvPr/>
        </p:nvSpPr>
        <p:spPr>
          <a:xfrm>
            <a:off x="5689441" y="4261103"/>
            <a:ext cx="51421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4C1D95"/>
                </a:solidFill>
                <a:latin typeface="Menlo Regular"/>
                <a:ea typeface="Menlo Regular"/>
                <a:cs typeface="Menlo Regular"/>
                <a:sym typeface="Menlo Regular"/>
              </a:defRPr>
            </a:pPr>
            <a:r>
              <a:t>return</a:t>
            </a:r>
          </a:p>
          <a:p>
            <a:pPr algn="ctr">
              <a:defRPr sz="800">
                <a:solidFill>
                  <a:srgbClr val="4C1D95"/>
                </a:solidFill>
                <a:latin typeface="Menlo Regular"/>
                <a:ea typeface="Menlo Regular"/>
                <a:cs typeface="Menlo Regular"/>
                <a:sym typeface="Menlo Regular"/>
              </a:defRPr>
            </a:pPr>
            <a:r>
              <a:t>"bronce"</a:t>
            </a:r>
          </a:p>
        </p:txBody>
      </p:sp>
      <p:sp>
        <p:nvSpPr>
          <p:cNvPr id="684" name="Shape 41"/>
          <p:cNvSpPr/>
          <p:nvPr/>
        </p:nvSpPr>
        <p:spPr>
          <a:xfrm>
            <a:off x="6249370" y="4087367"/>
            <a:ext cx="892460" cy="576073"/>
          </a:xfrm>
          <a:prstGeom prst="rect">
            <a:avLst/>
          </a:prstGeom>
          <a:solidFill>
            <a:srgbClr val="FFFFFF"/>
          </a:solidFill>
          <a:ln>
            <a:solidFill>
              <a:srgbClr val="334155"/>
            </a:solidFill>
          </a:ln>
        </p:spPr>
        <p:txBody>
          <a:bodyPr lIns="45719" rIns="45719"/>
          <a:lstStyle/>
          <a:p>
            <a:pPr/>
          </a:p>
        </p:txBody>
      </p:sp>
      <p:sp>
        <p:nvSpPr>
          <p:cNvPr id="685" name="Shape 42"/>
          <p:cNvSpPr/>
          <p:nvPr/>
        </p:nvSpPr>
        <p:spPr>
          <a:xfrm>
            <a:off x="6249370" y="4087367"/>
            <a:ext cx="892460" cy="576073"/>
          </a:xfrm>
          <a:prstGeom prst="rect">
            <a:avLst/>
          </a:prstGeom>
          <a:solidFill>
            <a:srgbClr val="EDE9FE"/>
          </a:solidFill>
          <a:ln>
            <a:solidFill>
              <a:srgbClr val="334155"/>
            </a:solidFill>
          </a:ln>
        </p:spPr>
        <p:txBody>
          <a:bodyPr lIns="45719" rIns="45719"/>
          <a:lstStyle/>
          <a:p>
            <a:pPr/>
          </a:p>
        </p:txBody>
      </p:sp>
      <p:sp>
        <p:nvSpPr>
          <p:cNvPr id="686" name="Text 43"/>
          <p:cNvSpPr txBox="1"/>
          <p:nvPr/>
        </p:nvSpPr>
        <p:spPr>
          <a:xfrm>
            <a:off x="6295090" y="4273803"/>
            <a:ext cx="8010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700">
                <a:solidFill>
                  <a:srgbClr val="4C1D95"/>
                </a:solidFill>
                <a:latin typeface="Menlo Regular"/>
                <a:ea typeface="Menlo Regular"/>
                <a:cs typeface="Menlo Regular"/>
                <a:sym typeface="Menlo Regular"/>
              </a:defRPr>
            </a:pPr>
            <a:r>
              <a:t>return</a:t>
            </a:r>
          </a:p>
          <a:p>
            <a:pPr algn="ctr">
              <a:defRPr sz="700">
                <a:solidFill>
                  <a:srgbClr val="4C1D95"/>
                </a:solidFill>
                <a:latin typeface="Menlo Regular"/>
                <a:ea typeface="Menlo Regular"/>
                <a:cs typeface="Menlo Regular"/>
                <a:sym typeface="Menlo Regular"/>
              </a:defRPr>
            </a:pPr>
            <a:r>
              <a:t>"sin medalla"</a:t>
            </a:r>
          </a:p>
        </p:txBody>
      </p:sp>
      <p:sp>
        <p:nvSpPr>
          <p:cNvPr id="687" name="Shape 44"/>
          <p:cNvSpPr/>
          <p:nvPr/>
        </p:nvSpPr>
        <p:spPr>
          <a:xfrm>
            <a:off x="7507589" y="1325880"/>
            <a:ext cx="4132723" cy="5029201"/>
          </a:xfrm>
          <a:prstGeom prst="roundRect">
            <a:avLst>
              <a:gd name="adj" fmla="val 1770"/>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688" name="Text 45"/>
          <p:cNvSpPr txBox="1"/>
          <p:nvPr/>
        </p:nvSpPr>
        <p:spPr>
          <a:xfrm>
            <a:off x="7708758" y="1476800"/>
            <a:ext cx="3730386"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2"/>
                </a:solidFill>
              </a:defRPr>
            </a:lvl1pPr>
          </a:lstStyle>
          <a:p>
            <a:pPr/>
            <a:r>
              <a:t>Diagrama de flujo</a:t>
            </a:r>
          </a:p>
        </p:txBody>
      </p:sp>
      <p:sp>
        <p:nvSpPr>
          <p:cNvPr id="689" name="Shape 46"/>
          <p:cNvSpPr/>
          <p:nvPr/>
        </p:nvSpPr>
        <p:spPr>
          <a:xfrm>
            <a:off x="7644749" y="1857377"/>
            <a:ext cx="2228368" cy="370897"/>
          </a:xfrm>
          <a:prstGeom prst="roundRect">
            <a:avLst>
              <a:gd name="adj" fmla="val 50000"/>
            </a:avLst>
          </a:prstGeom>
          <a:solidFill>
            <a:srgbClr val="1E293B"/>
          </a:solidFill>
          <a:ln w="15875">
            <a:solidFill>
              <a:srgbClr val="1E293B"/>
            </a:solidFill>
          </a:ln>
        </p:spPr>
        <p:txBody>
          <a:bodyPr lIns="45719" rIns="45719"/>
          <a:lstStyle/>
          <a:p>
            <a:pPr/>
          </a:p>
        </p:txBody>
      </p:sp>
      <p:sp>
        <p:nvSpPr>
          <p:cNvPr id="690" name="Text 47"/>
          <p:cNvSpPr txBox="1"/>
          <p:nvPr/>
        </p:nvSpPr>
        <p:spPr>
          <a:xfrm>
            <a:off x="7644749" y="1972975"/>
            <a:ext cx="222836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Menlo Regular"/>
                <a:ea typeface="Menlo Regular"/>
                <a:cs typeface="Menlo Regular"/>
                <a:sym typeface="Menlo Regular"/>
              </a:defRPr>
            </a:lvl1pPr>
          </a:lstStyle>
          <a:p>
            <a:pPr/>
            <a:r>
              <a:t>asignar_medalla(lugar)</a:t>
            </a:r>
          </a:p>
        </p:txBody>
      </p:sp>
      <p:sp>
        <p:nvSpPr>
          <p:cNvPr id="691" name="Shape 48"/>
          <p:cNvSpPr/>
          <p:nvPr/>
        </p:nvSpPr>
        <p:spPr>
          <a:xfrm>
            <a:off x="8758933" y="2228272"/>
            <a:ext cx="1" cy="229603"/>
          </a:xfrm>
          <a:prstGeom prst="line">
            <a:avLst/>
          </a:prstGeom>
          <a:ln w="15875">
            <a:solidFill>
              <a:srgbClr val="64748B"/>
            </a:solidFill>
            <a:tailEnd type="triangle"/>
          </a:ln>
        </p:spPr>
        <p:txBody>
          <a:bodyPr lIns="45719" rIns="45719"/>
          <a:lstStyle/>
          <a:p>
            <a:pPr/>
          </a:p>
        </p:txBody>
      </p:sp>
      <p:sp>
        <p:nvSpPr>
          <p:cNvPr id="692" name="Shape 49"/>
          <p:cNvSpPr/>
          <p:nvPr/>
        </p:nvSpPr>
        <p:spPr>
          <a:xfrm>
            <a:off x="8033249" y="2457874"/>
            <a:ext cx="1451367" cy="547514"/>
          </a:xfrm>
          <a:prstGeom prst="diamond">
            <a:avLst/>
          </a:prstGeom>
          <a:solidFill>
            <a:srgbClr val="FEF3C7"/>
          </a:solidFill>
          <a:ln w="15875">
            <a:solidFill>
              <a:schemeClr val="accent6"/>
            </a:solidFill>
          </a:ln>
        </p:spPr>
        <p:txBody>
          <a:bodyPr lIns="45719" rIns="45719"/>
          <a:lstStyle/>
          <a:p>
            <a:pPr/>
          </a:p>
        </p:txBody>
      </p:sp>
      <p:sp>
        <p:nvSpPr>
          <p:cNvPr id="693" name="Text 50"/>
          <p:cNvSpPr txBox="1"/>
          <p:nvPr/>
        </p:nvSpPr>
        <p:spPr>
          <a:xfrm>
            <a:off x="8033249" y="2661781"/>
            <a:ext cx="145136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8350F"/>
                </a:solidFill>
                <a:latin typeface="Menlo Regular"/>
                <a:ea typeface="Menlo Regular"/>
                <a:cs typeface="Menlo Regular"/>
                <a:sym typeface="Menlo Regular"/>
              </a:defRPr>
            </a:lvl1pPr>
          </a:lstStyle>
          <a:p>
            <a:pPr/>
            <a:r>
              <a:t>lugar == 1</a:t>
            </a:r>
          </a:p>
        </p:txBody>
      </p:sp>
      <p:sp>
        <p:nvSpPr>
          <p:cNvPr id="694" name="Shape 51"/>
          <p:cNvSpPr/>
          <p:nvPr/>
        </p:nvSpPr>
        <p:spPr>
          <a:xfrm>
            <a:off x="9484615" y="2731631"/>
            <a:ext cx="397389" cy="1"/>
          </a:xfrm>
          <a:prstGeom prst="line">
            <a:avLst/>
          </a:prstGeom>
          <a:ln w="15875">
            <a:solidFill>
              <a:srgbClr val="64748B"/>
            </a:solidFill>
            <a:tailEnd type="triangle"/>
          </a:ln>
        </p:spPr>
        <p:txBody>
          <a:bodyPr lIns="45719" rIns="45719"/>
          <a:lstStyle/>
          <a:p>
            <a:pPr/>
          </a:p>
        </p:txBody>
      </p:sp>
      <p:sp>
        <p:nvSpPr>
          <p:cNvPr id="695" name="Text 52"/>
          <p:cNvSpPr txBox="1"/>
          <p:nvPr/>
        </p:nvSpPr>
        <p:spPr>
          <a:xfrm>
            <a:off x="9519939" y="2553330"/>
            <a:ext cx="97139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Sí</a:t>
            </a:r>
          </a:p>
        </p:txBody>
      </p:sp>
      <p:sp>
        <p:nvSpPr>
          <p:cNvPr id="696" name="Shape 53"/>
          <p:cNvSpPr/>
          <p:nvPr/>
        </p:nvSpPr>
        <p:spPr>
          <a:xfrm>
            <a:off x="9882003" y="2483509"/>
            <a:ext cx="1149630" cy="4962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331" y="0"/>
                </a:lnTo>
                <a:lnTo>
                  <a:pt x="21600" y="0"/>
                </a:lnTo>
                <a:lnTo>
                  <a:pt x="19269" y="21600"/>
                </a:lnTo>
                <a:close/>
              </a:path>
            </a:pathLst>
          </a:custGeom>
          <a:solidFill>
            <a:srgbClr val="EDE9FE"/>
          </a:solidFill>
          <a:ln w="15875">
            <a:solidFill>
              <a:schemeClr val="accent3"/>
            </a:solidFill>
          </a:ln>
        </p:spPr>
        <p:txBody>
          <a:bodyPr lIns="45719" rIns="45719"/>
          <a:lstStyle/>
          <a:p>
            <a:pPr/>
          </a:p>
        </p:txBody>
      </p:sp>
      <p:sp>
        <p:nvSpPr>
          <p:cNvPr id="697" name="Text 54"/>
          <p:cNvSpPr txBox="1"/>
          <p:nvPr/>
        </p:nvSpPr>
        <p:spPr>
          <a:xfrm>
            <a:off x="9882003" y="2591931"/>
            <a:ext cx="114963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4C1D95"/>
                </a:solidFill>
                <a:latin typeface="Menlo Regular"/>
                <a:ea typeface="Menlo Regular"/>
                <a:cs typeface="Menlo Regular"/>
                <a:sym typeface="Menlo Regular"/>
              </a:defRPr>
            </a:pPr>
            <a:r>
              <a:t>return</a:t>
            </a:r>
          </a:p>
          <a:p>
            <a:pPr algn="ctr">
              <a:defRPr sz="1000">
                <a:solidFill>
                  <a:srgbClr val="4C1D95"/>
                </a:solidFill>
                <a:latin typeface="Menlo Regular"/>
                <a:ea typeface="Menlo Regular"/>
                <a:cs typeface="Menlo Regular"/>
                <a:sym typeface="Menlo Regular"/>
              </a:defRPr>
            </a:pPr>
            <a:r>
              <a:t>"oro"</a:t>
            </a:r>
          </a:p>
        </p:txBody>
      </p:sp>
      <p:sp>
        <p:nvSpPr>
          <p:cNvPr id="698" name="Shape 55"/>
          <p:cNvSpPr/>
          <p:nvPr/>
        </p:nvSpPr>
        <p:spPr>
          <a:xfrm>
            <a:off x="11031633" y="2731631"/>
            <a:ext cx="427364" cy="1"/>
          </a:xfrm>
          <a:prstGeom prst="line">
            <a:avLst/>
          </a:prstGeom>
          <a:ln w="15875">
            <a:solidFill>
              <a:srgbClr val="64748B"/>
            </a:solidFill>
          </a:ln>
        </p:spPr>
        <p:txBody>
          <a:bodyPr lIns="45719" rIns="45719"/>
          <a:lstStyle/>
          <a:p>
            <a:pPr/>
          </a:p>
        </p:txBody>
      </p:sp>
      <p:sp>
        <p:nvSpPr>
          <p:cNvPr id="699" name="Shape 56"/>
          <p:cNvSpPr/>
          <p:nvPr/>
        </p:nvSpPr>
        <p:spPr>
          <a:xfrm>
            <a:off x="8758933" y="3005388"/>
            <a:ext cx="1" cy="229603"/>
          </a:xfrm>
          <a:prstGeom prst="line">
            <a:avLst/>
          </a:prstGeom>
          <a:ln w="15875">
            <a:solidFill>
              <a:srgbClr val="64748B"/>
            </a:solidFill>
            <a:tailEnd type="triangle"/>
          </a:ln>
        </p:spPr>
        <p:txBody>
          <a:bodyPr lIns="45719" rIns="45719"/>
          <a:lstStyle/>
          <a:p>
            <a:pPr/>
          </a:p>
        </p:txBody>
      </p:sp>
      <p:sp>
        <p:nvSpPr>
          <p:cNvPr id="700" name="Text 57"/>
          <p:cNvSpPr txBox="1"/>
          <p:nvPr/>
        </p:nvSpPr>
        <p:spPr>
          <a:xfrm>
            <a:off x="8811917" y="3056689"/>
            <a:ext cx="97139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No</a:t>
            </a:r>
          </a:p>
        </p:txBody>
      </p:sp>
      <p:sp>
        <p:nvSpPr>
          <p:cNvPr id="701" name="Shape 58"/>
          <p:cNvSpPr/>
          <p:nvPr/>
        </p:nvSpPr>
        <p:spPr>
          <a:xfrm>
            <a:off x="8033249" y="3234989"/>
            <a:ext cx="1451367" cy="547514"/>
          </a:xfrm>
          <a:prstGeom prst="diamond">
            <a:avLst/>
          </a:prstGeom>
          <a:solidFill>
            <a:srgbClr val="FEF3C7"/>
          </a:solidFill>
          <a:ln w="15875">
            <a:solidFill>
              <a:schemeClr val="accent6"/>
            </a:solidFill>
          </a:ln>
        </p:spPr>
        <p:txBody>
          <a:bodyPr lIns="45719" rIns="45719"/>
          <a:lstStyle/>
          <a:p>
            <a:pPr/>
          </a:p>
        </p:txBody>
      </p:sp>
      <p:sp>
        <p:nvSpPr>
          <p:cNvPr id="702" name="Text 59"/>
          <p:cNvSpPr txBox="1"/>
          <p:nvPr/>
        </p:nvSpPr>
        <p:spPr>
          <a:xfrm>
            <a:off x="8033249" y="3438896"/>
            <a:ext cx="145136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8350F"/>
                </a:solidFill>
                <a:latin typeface="Menlo Regular"/>
                <a:ea typeface="Menlo Regular"/>
                <a:cs typeface="Menlo Regular"/>
                <a:sym typeface="Menlo Regular"/>
              </a:defRPr>
            </a:lvl1pPr>
          </a:lstStyle>
          <a:p>
            <a:pPr/>
            <a:r>
              <a:t>lugar == 2</a:t>
            </a:r>
          </a:p>
        </p:txBody>
      </p:sp>
      <p:sp>
        <p:nvSpPr>
          <p:cNvPr id="703" name="Shape 60"/>
          <p:cNvSpPr/>
          <p:nvPr/>
        </p:nvSpPr>
        <p:spPr>
          <a:xfrm>
            <a:off x="9484615" y="3508745"/>
            <a:ext cx="397389" cy="1"/>
          </a:xfrm>
          <a:prstGeom prst="line">
            <a:avLst/>
          </a:prstGeom>
          <a:ln w="15875">
            <a:solidFill>
              <a:srgbClr val="64748B"/>
            </a:solidFill>
            <a:tailEnd type="triangle"/>
          </a:ln>
        </p:spPr>
        <p:txBody>
          <a:bodyPr lIns="45719" rIns="45719"/>
          <a:lstStyle/>
          <a:p>
            <a:pPr/>
          </a:p>
        </p:txBody>
      </p:sp>
      <p:sp>
        <p:nvSpPr>
          <p:cNvPr id="704" name="Text 61"/>
          <p:cNvSpPr txBox="1"/>
          <p:nvPr/>
        </p:nvSpPr>
        <p:spPr>
          <a:xfrm>
            <a:off x="9519939" y="3330445"/>
            <a:ext cx="97139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Sí</a:t>
            </a:r>
          </a:p>
        </p:txBody>
      </p:sp>
      <p:sp>
        <p:nvSpPr>
          <p:cNvPr id="705" name="Shape 62"/>
          <p:cNvSpPr/>
          <p:nvPr/>
        </p:nvSpPr>
        <p:spPr>
          <a:xfrm>
            <a:off x="9882003" y="3260623"/>
            <a:ext cx="1230850" cy="4962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77" y="0"/>
                </a:lnTo>
                <a:lnTo>
                  <a:pt x="21600" y="0"/>
                </a:lnTo>
                <a:lnTo>
                  <a:pt x="19423" y="21600"/>
                </a:lnTo>
                <a:close/>
              </a:path>
            </a:pathLst>
          </a:custGeom>
          <a:solidFill>
            <a:srgbClr val="EDE9FE"/>
          </a:solidFill>
          <a:ln w="15875">
            <a:solidFill>
              <a:schemeClr val="accent3"/>
            </a:solidFill>
          </a:ln>
        </p:spPr>
        <p:txBody>
          <a:bodyPr lIns="45719" rIns="45719"/>
          <a:lstStyle/>
          <a:p>
            <a:pPr/>
          </a:p>
        </p:txBody>
      </p:sp>
      <p:sp>
        <p:nvSpPr>
          <p:cNvPr id="706" name="Text 63"/>
          <p:cNvSpPr txBox="1"/>
          <p:nvPr/>
        </p:nvSpPr>
        <p:spPr>
          <a:xfrm>
            <a:off x="9882003" y="3369046"/>
            <a:ext cx="123085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4C1D95"/>
                </a:solidFill>
                <a:latin typeface="Menlo Regular"/>
                <a:ea typeface="Menlo Regular"/>
                <a:cs typeface="Menlo Regular"/>
                <a:sym typeface="Menlo Regular"/>
              </a:defRPr>
            </a:pPr>
            <a:r>
              <a:t>return</a:t>
            </a:r>
          </a:p>
          <a:p>
            <a:pPr algn="ctr">
              <a:defRPr sz="1000">
                <a:solidFill>
                  <a:srgbClr val="4C1D95"/>
                </a:solidFill>
                <a:latin typeface="Menlo Regular"/>
                <a:ea typeface="Menlo Regular"/>
                <a:cs typeface="Menlo Regular"/>
                <a:sym typeface="Menlo Regular"/>
              </a:defRPr>
            </a:pPr>
            <a:r>
              <a:t>"plata"</a:t>
            </a:r>
          </a:p>
        </p:txBody>
      </p:sp>
      <p:sp>
        <p:nvSpPr>
          <p:cNvPr id="707" name="Shape 64"/>
          <p:cNvSpPr/>
          <p:nvPr/>
        </p:nvSpPr>
        <p:spPr>
          <a:xfrm>
            <a:off x="11112852" y="3508745"/>
            <a:ext cx="346146" cy="1"/>
          </a:xfrm>
          <a:prstGeom prst="line">
            <a:avLst/>
          </a:prstGeom>
          <a:ln w="15875">
            <a:solidFill>
              <a:srgbClr val="64748B"/>
            </a:solidFill>
          </a:ln>
        </p:spPr>
        <p:txBody>
          <a:bodyPr lIns="45719" rIns="45719"/>
          <a:lstStyle/>
          <a:p>
            <a:pPr/>
          </a:p>
        </p:txBody>
      </p:sp>
      <p:sp>
        <p:nvSpPr>
          <p:cNvPr id="708" name="Shape 65"/>
          <p:cNvSpPr/>
          <p:nvPr/>
        </p:nvSpPr>
        <p:spPr>
          <a:xfrm>
            <a:off x="8758933" y="3782502"/>
            <a:ext cx="1" cy="229603"/>
          </a:xfrm>
          <a:prstGeom prst="line">
            <a:avLst/>
          </a:prstGeom>
          <a:ln w="15875">
            <a:solidFill>
              <a:srgbClr val="64748B"/>
            </a:solidFill>
            <a:tailEnd type="triangle"/>
          </a:ln>
        </p:spPr>
        <p:txBody>
          <a:bodyPr lIns="45719" rIns="45719"/>
          <a:lstStyle/>
          <a:p>
            <a:pPr/>
          </a:p>
        </p:txBody>
      </p:sp>
      <p:sp>
        <p:nvSpPr>
          <p:cNvPr id="709" name="Text 66"/>
          <p:cNvSpPr txBox="1"/>
          <p:nvPr/>
        </p:nvSpPr>
        <p:spPr>
          <a:xfrm>
            <a:off x="8811917" y="3833803"/>
            <a:ext cx="97139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No</a:t>
            </a:r>
          </a:p>
        </p:txBody>
      </p:sp>
      <p:sp>
        <p:nvSpPr>
          <p:cNvPr id="710" name="Shape 67"/>
          <p:cNvSpPr/>
          <p:nvPr/>
        </p:nvSpPr>
        <p:spPr>
          <a:xfrm>
            <a:off x="8033249" y="4012105"/>
            <a:ext cx="1451367" cy="547514"/>
          </a:xfrm>
          <a:prstGeom prst="diamond">
            <a:avLst/>
          </a:prstGeom>
          <a:solidFill>
            <a:srgbClr val="FEF3C7"/>
          </a:solidFill>
          <a:ln w="15875">
            <a:solidFill>
              <a:schemeClr val="accent6"/>
            </a:solidFill>
          </a:ln>
        </p:spPr>
        <p:txBody>
          <a:bodyPr lIns="45719" rIns="45719"/>
          <a:lstStyle/>
          <a:p>
            <a:pPr/>
          </a:p>
        </p:txBody>
      </p:sp>
      <p:sp>
        <p:nvSpPr>
          <p:cNvPr id="711" name="Text 68"/>
          <p:cNvSpPr txBox="1"/>
          <p:nvPr/>
        </p:nvSpPr>
        <p:spPr>
          <a:xfrm>
            <a:off x="8033249" y="4216011"/>
            <a:ext cx="145136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8350F"/>
                </a:solidFill>
                <a:latin typeface="Menlo Regular"/>
                <a:ea typeface="Menlo Regular"/>
                <a:cs typeface="Menlo Regular"/>
                <a:sym typeface="Menlo Regular"/>
              </a:defRPr>
            </a:lvl1pPr>
          </a:lstStyle>
          <a:p>
            <a:pPr/>
            <a:r>
              <a:t>lugar == 3</a:t>
            </a:r>
          </a:p>
        </p:txBody>
      </p:sp>
      <p:sp>
        <p:nvSpPr>
          <p:cNvPr id="712" name="Shape 69"/>
          <p:cNvSpPr/>
          <p:nvPr/>
        </p:nvSpPr>
        <p:spPr>
          <a:xfrm>
            <a:off x="9484615" y="4285860"/>
            <a:ext cx="397389" cy="1"/>
          </a:xfrm>
          <a:prstGeom prst="line">
            <a:avLst/>
          </a:prstGeom>
          <a:ln w="15875">
            <a:solidFill>
              <a:srgbClr val="64748B"/>
            </a:solidFill>
            <a:tailEnd type="triangle"/>
          </a:ln>
        </p:spPr>
        <p:txBody>
          <a:bodyPr lIns="45719" rIns="45719"/>
          <a:lstStyle/>
          <a:p>
            <a:pPr/>
          </a:p>
        </p:txBody>
      </p:sp>
      <p:sp>
        <p:nvSpPr>
          <p:cNvPr id="713" name="Text 70"/>
          <p:cNvSpPr txBox="1"/>
          <p:nvPr/>
        </p:nvSpPr>
        <p:spPr>
          <a:xfrm>
            <a:off x="9519939" y="4107560"/>
            <a:ext cx="97139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Sí</a:t>
            </a:r>
          </a:p>
        </p:txBody>
      </p:sp>
      <p:sp>
        <p:nvSpPr>
          <p:cNvPr id="714" name="Shape 71"/>
          <p:cNvSpPr/>
          <p:nvPr/>
        </p:nvSpPr>
        <p:spPr>
          <a:xfrm>
            <a:off x="9882003" y="4037738"/>
            <a:ext cx="1312069" cy="4962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042" y="0"/>
                </a:lnTo>
                <a:lnTo>
                  <a:pt x="21600" y="0"/>
                </a:lnTo>
                <a:lnTo>
                  <a:pt x="19558" y="21600"/>
                </a:lnTo>
                <a:close/>
              </a:path>
            </a:pathLst>
          </a:custGeom>
          <a:solidFill>
            <a:srgbClr val="EDE9FE"/>
          </a:solidFill>
          <a:ln w="15875">
            <a:solidFill>
              <a:schemeClr val="accent3"/>
            </a:solidFill>
          </a:ln>
        </p:spPr>
        <p:txBody>
          <a:bodyPr lIns="45719" rIns="45719"/>
          <a:lstStyle/>
          <a:p>
            <a:pPr/>
          </a:p>
        </p:txBody>
      </p:sp>
      <p:sp>
        <p:nvSpPr>
          <p:cNvPr id="715" name="Text 72"/>
          <p:cNvSpPr txBox="1"/>
          <p:nvPr/>
        </p:nvSpPr>
        <p:spPr>
          <a:xfrm>
            <a:off x="9882003" y="4146161"/>
            <a:ext cx="1312069"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4C1D95"/>
                </a:solidFill>
                <a:latin typeface="Menlo Regular"/>
                <a:ea typeface="Menlo Regular"/>
                <a:cs typeface="Menlo Regular"/>
                <a:sym typeface="Menlo Regular"/>
              </a:defRPr>
            </a:pPr>
            <a:r>
              <a:t>return</a:t>
            </a:r>
          </a:p>
          <a:p>
            <a:pPr algn="ctr">
              <a:defRPr sz="1000">
                <a:solidFill>
                  <a:srgbClr val="4C1D95"/>
                </a:solidFill>
                <a:latin typeface="Menlo Regular"/>
                <a:ea typeface="Menlo Regular"/>
                <a:cs typeface="Menlo Regular"/>
                <a:sym typeface="Menlo Regular"/>
              </a:defRPr>
            </a:pPr>
            <a:r>
              <a:t>"bronce"</a:t>
            </a:r>
          </a:p>
        </p:txBody>
      </p:sp>
      <p:sp>
        <p:nvSpPr>
          <p:cNvPr id="716" name="Shape 73"/>
          <p:cNvSpPr/>
          <p:nvPr/>
        </p:nvSpPr>
        <p:spPr>
          <a:xfrm>
            <a:off x="11194071" y="4285860"/>
            <a:ext cx="264926" cy="1"/>
          </a:xfrm>
          <a:prstGeom prst="line">
            <a:avLst/>
          </a:prstGeom>
          <a:ln w="15875">
            <a:solidFill>
              <a:srgbClr val="64748B"/>
            </a:solidFill>
          </a:ln>
        </p:spPr>
        <p:txBody>
          <a:bodyPr lIns="45719" rIns="45719"/>
          <a:lstStyle/>
          <a:p>
            <a:pPr/>
          </a:p>
        </p:txBody>
      </p:sp>
      <p:sp>
        <p:nvSpPr>
          <p:cNvPr id="717" name="Shape 74"/>
          <p:cNvSpPr/>
          <p:nvPr/>
        </p:nvSpPr>
        <p:spPr>
          <a:xfrm>
            <a:off x="8758933" y="4559617"/>
            <a:ext cx="1" cy="229603"/>
          </a:xfrm>
          <a:prstGeom prst="line">
            <a:avLst/>
          </a:prstGeom>
          <a:ln w="15875">
            <a:solidFill>
              <a:srgbClr val="64748B"/>
            </a:solidFill>
            <a:tailEnd type="triangle"/>
          </a:ln>
        </p:spPr>
        <p:txBody>
          <a:bodyPr lIns="45719" rIns="45719"/>
          <a:lstStyle/>
          <a:p>
            <a:pPr/>
          </a:p>
        </p:txBody>
      </p:sp>
      <p:sp>
        <p:nvSpPr>
          <p:cNvPr id="718" name="Text 75"/>
          <p:cNvSpPr txBox="1"/>
          <p:nvPr/>
        </p:nvSpPr>
        <p:spPr>
          <a:xfrm>
            <a:off x="8811917" y="4610918"/>
            <a:ext cx="97139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No</a:t>
            </a:r>
          </a:p>
        </p:txBody>
      </p:sp>
      <p:sp>
        <p:nvSpPr>
          <p:cNvPr id="719" name="Shape 76"/>
          <p:cNvSpPr/>
          <p:nvPr/>
        </p:nvSpPr>
        <p:spPr>
          <a:xfrm>
            <a:off x="7899851" y="4789220"/>
            <a:ext cx="1718164" cy="4962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560" y="0"/>
                </a:lnTo>
                <a:lnTo>
                  <a:pt x="21600" y="0"/>
                </a:lnTo>
                <a:lnTo>
                  <a:pt x="20040" y="21600"/>
                </a:lnTo>
                <a:close/>
              </a:path>
            </a:pathLst>
          </a:custGeom>
          <a:solidFill>
            <a:srgbClr val="EDE9FE"/>
          </a:solidFill>
          <a:ln w="15875">
            <a:solidFill>
              <a:schemeClr val="accent3"/>
            </a:solidFill>
          </a:ln>
        </p:spPr>
        <p:txBody>
          <a:bodyPr lIns="45719" rIns="45719"/>
          <a:lstStyle/>
          <a:p>
            <a:pPr/>
          </a:p>
        </p:txBody>
      </p:sp>
      <p:sp>
        <p:nvSpPr>
          <p:cNvPr id="720" name="Text 77"/>
          <p:cNvSpPr txBox="1"/>
          <p:nvPr/>
        </p:nvSpPr>
        <p:spPr>
          <a:xfrm>
            <a:off x="7899851" y="4897642"/>
            <a:ext cx="1718164"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4C1D95"/>
                </a:solidFill>
                <a:latin typeface="Menlo Regular"/>
                <a:ea typeface="Menlo Regular"/>
                <a:cs typeface="Menlo Regular"/>
                <a:sym typeface="Menlo Regular"/>
              </a:defRPr>
            </a:pPr>
            <a:r>
              <a:t>return</a:t>
            </a:r>
          </a:p>
          <a:p>
            <a:pPr algn="ctr">
              <a:defRPr sz="1000">
                <a:solidFill>
                  <a:srgbClr val="4C1D95"/>
                </a:solidFill>
                <a:latin typeface="Menlo Regular"/>
                <a:ea typeface="Menlo Regular"/>
                <a:cs typeface="Menlo Regular"/>
                <a:sym typeface="Menlo Regular"/>
              </a:defRPr>
            </a:pPr>
            <a:r>
              <a:t>"sin medalla"</a:t>
            </a:r>
          </a:p>
        </p:txBody>
      </p:sp>
      <p:sp>
        <p:nvSpPr>
          <p:cNvPr id="721" name="Shape 78"/>
          <p:cNvSpPr/>
          <p:nvPr/>
        </p:nvSpPr>
        <p:spPr>
          <a:xfrm>
            <a:off x="8758932" y="5285463"/>
            <a:ext cx="1" cy="211941"/>
          </a:xfrm>
          <a:prstGeom prst="line">
            <a:avLst/>
          </a:prstGeom>
          <a:ln w="15875">
            <a:solidFill>
              <a:srgbClr val="64748B"/>
            </a:solidFill>
          </a:ln>
        </p:spPr>
        <p:txBody>
          <a:bodyPr lIns="45719" rIns="45719"/>
          <a:lstStyle/>
          <a:p>
            <a:pPr/>
          </a:p>
        </p:txBody>
      </p:sp>
      <p:sp>
        <p:nvSpPr>
          <p:cNvPr id="722" name="Shape 79"/>
          <p:cNvSpPr/>
          <p:nvPr/>
        </p:nvSpPr>
        <p:spPr>
          <a:xfrm>
            <a:off x="11458997" y="2731631"/>
            <a:ext cx="1" cy="2765774"/>
          </a:xfrm>
          <a:prstGeom prst="line">
            <a:avLst/>
          </a:prstGeom>
          <a:ln w="15875">
            <a:solidFill>
              <a:srgbClr val="64748B"/>
            </a:solidFill>
          </a:ln>
        </p:spPr>
        <p:txBody>
          <a:bodyPr lIns="45719" rIns="45719"/>
          <a:lstStyle/>
          <a:p>
            <a:pPr/>
          </a:p>
        </p:txBody>
      </p:sp>
      <p:sp>
        <p:nvSpPr>
          <p:cNvPr id="723" name="Shape 80"/>
          <p:cNvSpPr/>
          <p:nvPr/>
        </p:nvSpPr>
        <p:spPr>
          <a:xfrm flipH="1">
            <a:off x="8758932" y="5497405"/>
            <a:ext cx="2700066" cy="1"/>
          </a:xfrm>
          <a:prstGeom prst="line">
            <a:avLst/>
          </a:prstGeom>
          <a:ln w="15875">
            <a:solidFill>
              <a:srgbClr val="64748B"/>
            </a:solidFill>
            <a:tailEnd type="triangle"/>
          </a:ln>
        </p:spPr>
        <p:txBody>
          <a:bodyPr lIns="45719" rIns="45719"/>
          <a:lstStyle/>
          <a:p>
            <a:pPr/>
          </a:p>
        </p:txBody>
      </p:sp>
      <p:sp>
        <p:nvSpPr>
          <p:cNvPr id="724" name="Shape 81"/>
          <p:cNvSpPr/>
          <p:nvPr/>
        </p:nvSpPr>
        <p:spPr>
          <a:xfrm>
            <a:off x="8758933" y="5497405"/>
            <a:ext cx="1" cy="229603"/>
          </a:xfrm>
          <a:prstGeom prst="line">
            <a:avLst/>
          </a:prstGeom>
          <a:ln w="15875">
            <a:solidFill>
              <a:srgbClr val="64748B"/>
            </a:solidFill>
            <a:tailEnd type="triangle"/>
          </a:ln>
        </p:spPr>
        <p:txBody>
          <a:bodyPr lIns="45719" rIns="45719"/>
          <a:lstStyle/>
          <a:p>
            <a:pPr/>
          </a:p>
        </p:txBody>
      </p:sp>
      <p:sp>
        <p:nvSpPr>
          <p:cNvPr id="725" name="Shape 82"/>
          <p:cNvSpPr/>
          <p:nvPr/>
        </p:nvSpPr>
        <p:spPr>
          <a:xfrm>
            <a:off x="8416332" y="5727007"/>
            <a:ext cx="685201" cy="370897"/>
          </a:xfrm>
          <a:prstGeom prst="roundRect">
            <a:avLst>
              <a:gd name="adj" fmla="val 50000"/>
            </a:avLst>
          </a:prstGeom>
          <a:solidFill>
            <a:srgbClr val="1E293B"/>
          </a:solidFill>
          <a:ln w="15875">
            <a:solidFill>
              <a:srgbClr val="1E293B"/>
            </a:solidFill>
          </a:ln>
        </p:spPr>
        <p:txBody>
          <a:bodyPr lIns="45719" rIns="45719"/>
          <a:lstStyle/>
          <a:p>
            <a:pPr/>
          </a:p>
        </p:txBody>
      </p:sp>
      <p:sp>
        <p:nvSpPr>
          <p:cNvPr id="726" name="Text 83"/>
          <p:cNvSpPr txBox="1"/>
          <p:nvPr/>
        </p:nvSpPr>
        <p:spPr>
          <a:xfrm>
            <a:off x="8416332" y="5842605"/>
            <a:ext cx="6852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Menlo Regular"/>
                <a:ea typeface="Menlo Regular"/>
                <a:cs typeface="Menlo Regular"/>
                <a:sym typeface="Menlo Regular"/>
              </a:defRPr>
            </a:lvl1pPr>
          </a:lstStyle>
          <a:p>
            <a:pPr/>
            <a:r>
              <a:t>Fin</a:t>
            </a:r>
          </a:p>
        </p:txBody>
      </p:sp>
      <p:sp>
        <p:nvSpPr>
          <p:cNvPr id="727"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1" name="Text 0"/>
          <p:cNvSpPr txBox="1"/>
          <p:nvPr>
            <p:ph type="title"/>
          </p:nvPr>
        </p:nvSpPr>
        <p:spPr>
          <a:prstGeom prst="rect">
            <a:avLst/>
          </a:prstGeom>
        </p:spPr>
        <p:txBody>
          <a:bodyPr lIns="0" tIns="0" rIns="0" bIns="0" anchor="ctr"/>
          <a:lstStyle/>
          <a:p>
            <a:pPr/>
            <a:r>
              <a:t>6 · </a:t>
            </a:r>
            <a:r>
              <a:rPr sz="2600">
                <a:latin typeface="Menlo Regular"/>
                <a:ea typeface="Menlo Regular"/>
                <a:cs typeface="Menlo Regular"/>
                <a:sym typeface="Menlo Regular"/>
              </a:rPr>
              <a:t>if</a:t>
            </a:r>
            <a:r>
              <a:t> anidados</a:t>
            </a:r>
          </a:p>
        </p:txBody>
      </p:sp>
      <p:sp>
        <p:nvSpPr>
          <p:cNvPr id="732" name="Text 0"/>
          <p:cNvSpPr txBox="1"/>
          <p:nvPr>
            <p:ph type="body" sz="quarter" idx="1"/>
          </p:nvPr>
        </p:nvSpPr>
        <p:spPr>
          <a:prstGeom prst="rect">
            <a:avLst/>
          </a:prstGeom>
        </p:spPr>
        <p:txBody>
          <a:bodyPr lIns="0" tIns="0" rIns="0" bIns="0" anchor="ctr"/>
          <a:lstStyle/>
          <a:p>
            <a:pPr/>
            <a:r>
              <a:t>Entrada a un concierto. Pulsera roja: mayor de edad. Azul: menor. La edad sólo se revisa </a:t>
            </a:r>
            <a:r>
              <a:rPr b="1"/>
              <a:t>si</a:t>
            </a:r>
            <a:r>
              <a:t> tiene boleto.</a:t>
            </a:r>
          </a:p>
        </p:txBody>
      </p:sp>
      <p:sp>
        <p:nvSpPr>
          <p:cNvPr id="733" name="Shape 2"/>
          <p:cNvSpPr/>
          <p:nvPr/>
        </p:nvSpPr>
        <p:spPr>
          <a:xfrm>
            <a:off x="548640" y="1325880"/>
            <a:ext cx="4663441" cy="2298193"/>
          </a:xfrm>
          <a:prstGeom prst="roundRect">
            <a:avLst>
              <a:gd name="adj" fmla="val 3183"/>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734" name="Text 3"/>
          <p:cNvSpPr txBox="1"/>
          <p:nvPr/>
        </p:nvSpPr>
        <p:spPr>
          <a:xfrm>
            <a:off x="749808" y="147680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Python  ·  revisar_acceso(True, 17)  →  pulsera azul</a:t>
            </a:r>
          </a:p>
        </p:txBody>
      </p:sp>
      <p:sp>
        <p:nvSpPr>
          <p:cNvPr id="735" name="Text 4"/>
          <p:cNvSpPr txBox="1"/>
          <p:nvPr/>
        </p:nvSpPr>
        <p:spPr>
          <a:xfrm>
            <a:off x="749808" y="1764792"/>
            <a:ext cx="4297680" cy="16209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sz="1200">
                <a:solidFill>
                  <a:srgbClr val="569CD6"/>
                </a:solidFill>
                <a:latin typeface="Menlo Regular"/>
                <a:ea typeface="Menlo Regular"/>
                <a:cs typeface="Menlo Regular"/>
                <a:sym typeface="Menlo Regular"/>
              </a:defRPr>
            </a:pPr>
            <a:r>
              <a:t>def</a:t>
            </a:r>
            <a:r>
              <a:rPr>
                <a:solidFill>
                  <a:srgbClr val="D4D4D4"/>
                </a:solidFill>
              </a:rPr>
              <a:t> </a:t>
            </a:r>
            <a:r>
              <a:rPr>
                <a:solidFill>
                  <a:srgbClr val="DCDCAA"/>
                </a:solidFill>
              </a:rPr>
              <a:t>revisar_acceso</a:t>
            </a:r>
            <a:r>
              <a:rPr>
                <a:solidFill>
                  <a:srgbClr val="D4D4D4"/>
                </a:solidFill>
              </a:rPr>
              <a:t>(</a:t>
            </a:r>
            <a:r>
              <a:rPr>
                <a:solidFill>
                  <a:srgbClr val="9CDCFE"/>
                </a:solidFill>
              </a:rPr>
              <a:t>tiene_boleto</a:t>
            </a:r>
            <a:r>
              <a:rPr>
                <a:solidFill>
                  <a:srgbClr val="D4D4D4"/>
                </a:solidFill>
              </a:rPr>
              <a:t>, </a:t>
            </a:r>
            <a:r>
              <a:rPr>
                <a:solidFill>
                  <a:srgbClr val="9CDCFE"/>
                </a:solidFill>
              </a:rPr>
              <a:t>edad</a:t>
            </a:r>
            <a:r>
              <a:rPr>
                <a:solidFill>
                  <a:srgbClr val="D4D4D4"/>
                </a:solidFill>
              </a:rP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if</a:t>
            </a:r>
            <a:r>
              <a:t> </a:t>
            </a:r>
            <a:r>
              <a:rPr>
                <a:solidFill>
                  <a:srgbClr val="9CDCFE"/>
                </a:solidFill>
              </a:rPr>
              <a:t>tiene_boleto</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if</a:t>
            </a:r>
            <a:r>
              <a:t> </a:t>
            </a:r>
            <a:r>
              <a:rPr>
                <a:solidFill>
                  <a:srgbClr val="9CDCFE"/>
                </a:solidFill>
              </a:rPr>
              <a:t>edad</a:t>
            </a:r>
            <a:r>
              <a:t> &gt;= </a:t>
            </a:r>
            <a:r>
              <a:rPr>
                <a:solidFill>
                  <a:srgbClr val="B5CEA8"/>
                </a:solidFill>
              </a:rPr>
              <a:t>18</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CE9178"/>
                </a:solidFill>
              </a:rPr>
              <a:t>"pulsera roja"</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else</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CE9178"/>
                </a:solidFill>
              </a:rPr>
              <a:t>"pulsera azul"</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else</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CE9178"/>
                </a:solidFill>
              </a:rPr>
              <a:t>"no pasa"</a:t>
            </a:r>
          </a:p>
        </p:txBody>
      </p:sp>
      <p:sp>
        <p:nvSpPr>
          <p:cNvPr id="736" name="Shape 5"/>
          <p:cNvSpPr/>
          <p:nvPr/>
        </p:nvSpPr>
        <p:spPr>
          <a:xfrm>
            <a:off x="548640" y="3825240"/>
            <a:ext cx="4663441" cy="2529841"/>
          </a:xfrm>
          <a:prstGeom prst="roundRect">
            <a:avLst>
              <a:gd name="adj" fmla="val 2892"/>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737" name="Text 6"/>
          <p:cNvSpPr txBox="1"/>
          <p:nvPr/>
        </p:nvSpPr>
        <p:spPr>
          <a:xfrm>
            <a:off x="749808" y="397616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3"/>
                </a:solidFill>
              </a:defRPr>
            </a:lvl1pPr>
          </a:lstStyle>
          <a:p>
            <a:pPr/>
            <a:r>
              <a:t>Nassi-Shneiderman</a:t>
            </a:r>
          </a:p>
        </p:txBody>
      </p:sp>
      <p:sp>
        <p:nvSpPr>
          <p:cNvPr id="738" name="Shape 7"/>
          <p:cNvSpPr/>
          <p:nvPr/>
        </p:nvSpPr>
        <p:spPr>
          <a:xfrm>
            <a:off x="777239" y="4264152"/>
            <a:ext cx="4206242" cy="327095"/>
          </a:xfrm>
          <a:prstGeom prst="rect">
            <a:avLst/>
          </a:prstGeom>
          <a:solidFill>
            <a:srgbClr val="1E293B"/>
          </a:solidFill>
          <a:ln>
            <a:solidFill>
              <a:srgbClr val="334155"/>
            </a:solidFill>
          </a:ln>
        </p:spPr>
        <p:txBody>
          <a:bodyPr lIns="45719" rIns="45719"/>
          <a:lstStyle/>
          <a:p>
            <a:pPr/>
          </a:p>
        </p:txBody>
      </p:sp>
      <p:sp>
        <p:nvSpPr>
          <p:cNvPr id="739" name="Text 8"/>
          <p:cNvSpPr txBox="1"/>
          <p:nvPr/>
        </p:nvSpPr>
        <p:spPr>
          <a:xfrm>
            <a:off x="822960" y="4364199"/>
            <a:ext cx="4114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FFFFF"/>
                </a:solidFill>
                <a:latin typeface="Menlo Regular"/>
                <a:ea typeface="Menlo Regular"/>
                <a:cs typeface="Menlo Regular"/>
                <a:sym typeface="Menlo Regular"/>
              </a:defRPr>
            </a:lvl1pPr>
          </a:lstStyle>
          <a:p>
            <a:pPr/>
            <a:r>
              <a:t>revisar_acceso(tiene_boleto, edad)</a:t>
            </a:r>
          </a:p>
        </p:txBody>
      </p:sp>
      <p:sp>
        <p:nvSpPr>
          <p:cNvPr id="740" name="Shape 9"/>
          <p:cNvSpPr/>
          <p:nvPr/>
        </p:nvSpPr>
        <p:spPr>
          <a:xfrm>
            <a:off x="777239" y="4591246"/>
            <a:ext cx="4206242" cy="545158"/>
          </a:xfrm>
          <a:prstGeom prst="rect">
            <a:avLst/>
          </a:prstGeom>
          <a:solidFill>
            <a:srgbClr val="FEF3C7"/>
          </a:solidFill>
          <a:ln>
            <a:solidFill>
              <a:srgbClr val="334155"/>
            </a:solidFill>
          </a:ln>
        </p:spPr>
        <p:txBody>
          <a:bodyPr lIns="45719" rIns="45719"/>
          <a:lstStyle/>
          <a:p>
            <a:pPr/>
          </a:p>
        </p:txBody>
      </p:sp>
      <p:sp>
        <p:nvSpPr>
          <p:cNvPr id="741" name="Shape 10"/>
          <p:cNvSpPr/>
          <p:nvPr/>
        </p:nvSpPr>
        <p:spPr>
          <a:xfrm>
            <a:off x="777240" y="4591245"/>
            <a:ext cx="3028494" cy="545159"/>
          </a:xfrm>
          <a:prstGeom prst="line">
            <a:avLst/>
          </a:prstGeom>
          <a:ln>
            <a:solidFill>
              <a:srgbClr val="334155"/>
            </a:solidFill>
          </a:ln>
        </p:spPr>
        <p:txBody>
          <a:bodyPr lIns="45719" rIns="45719"/>
          <a:lstStyle/>
          <a:p>
            <a:pPr/>
          </a:p>
        </p:txBody>
      </p:sp>
      <p:sp>
        <p:nvSpPr>
          <p:cNvPr id="742" name="Shape 11"/>
          <p:cNvSpPr/>
          <p:nvPr/>
        </p:nvSpPr>
        <p:spPr>
          <a:xfrm flipH="1">
            <a:off x="3805732" y="4591245"/>
            <a:ext cx="1177748" cy="545158"/>
          </a:xfrm>
          <a:prstGeom prst="line">
            <a:avLst/>
          </a:prstGeom>
          <a:ln>
            <a:solidFill>
              <a:srgbClr val="334155"/>
            </a:solidFill>
          </a:ln>
        </p:spPr>
        <p:txBody>
          <a:bodyPr lIns="45719" rIns="45719"/>
          <a:lstStyle/>
          <a:p>
            <a:pPr/>
          </a:p>
        </p:txBody>
      </p:sp>
      <p:sp>
        <p:nvSpPr>
          <p:cNvPr id="743" name="Text 12"/>
          <p:cNvSpPr txBox="1"/>
          <p:nvPr/>
        </p:nvSpPr>
        <p:spPr>
          <a:xfrm>
            <a:off x="1783079" y="4660141"/>
            <a:ext cx="31546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78350F"/>
                </a:solidFill>
                <a:latin typeface="Menlo Regular"/>
                <a:ea typeface="Menlo Regular"/>
                <a:cs typeface="Menlo Regular"/>
                <a:sym typeface="Menlo Regular"/>
              </a:defRPr>
            </a:lvl1pPr>
          </a:lstStyle>
          <a:p>
            <a:pPr/>
            <a:r>
              <a:t>¿tiene_boleto?</a:t>
            </a:r>
          </a:p>
        </p:txBody>
      </p:sp>
      <p:sp>
        <p:nvSpPr>
          <p:cNvPr id="744" name="Text 13"/>
          <p:cNvSpPr txBox="1"/>
          <p:nvPr/>
        </p:nvSpPr>
        <p:spPr>
          <a:xfrm>
            <a:off x="841247" y="4956083"/>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475569"/>
                </a:solidFill>
              </a:defRPr>
            </a:lvl1pPr>
          </a:lstStyle>
          <a:p>
            <a:pPr/>
            <a:r>
              <a:t>Sí</a:t>
            </a:r>
          </a:p>
        </p:txBody>
      </p:sp>
      <p:sp>
        <p:nvSpPr>
          <p:cNvPr id="745" name="Text 14"/>
          <p:cNvSpPr txBox="1"/>
          <p:nvPr/>
        </p:nvSpPr>
        <p:spPr>
          <a:xfrm>
            <a:off x="4553711" y="4956083"/>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800">
                <a:solidFill>
                  <a:srgbClr val="475569"/>
                </a:solidFill>
              </a:defRPr>
            </a:lvl1pPr>
          </a:lstStyle>
          <a:p>
            <a:pPr/>
            <a:r>
              <a:t>No</a:t>
            </a:r>
          </a:p>
        </p:txBody>
      </p:sp>
      <p:sp>
        <p:nvSpPr>
          <p:cNvPr id="746" name="Shape 15"/>
          <p:cNvSpPr/>
          <p:nvPr/>
        </p:nvSpPr>
        <p:spPr>
          <a:xfrm>
            <a:off x="777239" y="5136403"/>
            <a:ext cx="3028495" cy="1035798"/>
          </a:xfrm>
          <a:prstGeom prst="rect">
            <a:avLst/>
          </a:prstGeom>
          <a:solidFill>
            <a:srgbClr val="FFFFFF"/>
          </a:solidFill>
          <a:ln>
            <a:solidFill>
              <a:srgbClr val="334155"/>
            </a:solidFill>
          </a:ln>
        </p:spPr>
        <p:txBody>
          <a:bodyPr lIns="45719" rIns="45719"/>
          <a:lstStyle/>
          <a:p>
            <a:pPr/>
          </a:p>
        </p:txBody>
      </p:sp>
      <p:sp>
        <p:nvSpPr>
          <p:cNvPr id="747" name="Shape 16"/>
          <p:cNvSpPr/>
          <p:nvPr/>
        </p:nvSpPr>
        <p:spPr>
          <a:xfrm>
            <a:off x="777239" y="5136403"/>
            <a:ext cx="3028495" cy="545158"/>
          </a:xfrm>
          <a:prstGeom prst="rect">
            <a:avLst/>
          </a:prstGeom>
          <a:solidFill>
            <a:srgbClr val="FEF3C7"/>
          </a:solidFill>
          <a:ln>
            <a:solidFill>
              <a:srgbClr val="334155"/>
            </a:solidFill>
          </a:ln>
        </p:spPr>
        <p:txBody>
          <a:bodyPr lIns="45719" rIns="45719"/>
          <a:lstStyle/>
          <a:p>
            <a:pPr/>
          </a:p>
        </p:txBody>
      </p:sp>
      <p:sp>
        <p:nvSpPr>
          <p:cNvPr id="748" name="Shape 17"/>
          <p:cNvSpPr/>
          <p:nvPr/>
        </p:nvSpPr>
        <p:spPr>
          <a:xfrm>
            <a:off x="777240" y="5136402"/>
            <a:ext cx="1514247" cy="545159"/>
          </a:xfrm>
          <a:prstGeom prst="line">
            <a:avLst/>
          </a:prstGeom>
          <a:ln>
            <a:solidFill>
              <a:srgbClr val="334155"/>
            </a:solidFill>
          </a:ln>
        </p:spPr>
        <p:txBody>
          <a:bodyPr lIns="45719" rIns="45719"/>
          <a:lstStyle/>
          <a:p>
            <a:pPr/>
          </a:p>
        </p:txBody>
      </p:sp>
      <p:sp>
        <p:nvSpPr>
          <p:cNvPr id="749" name="Shape 18"/>
          <p:cNvSpPr/>
          <p:nvPr/>
        </p:nvSpPr>
        <p:spPr>
          <a:xfrm flipH="1">
            <a:off x="2291485" y="5136402"/>
            <a:ext cx="1514247" cy="545159"/>
          </a:xfrm>
          <a:prstGeom prst="line">
            <a:avLst/>
          </a:prstGeom>
          <a:ln>
            <a:solidFill>
              <a:srgbClr val="334155"/>
            </a:solidFill>
          </a:ln>
        </p:spPr>
        <p:txBody>
          <a:bodyPr lIns="45719" rIns="45719"/>
          <a:lstStyle/>
          <a:p>
            <a:pPr/>
          </a:p>
        </p:txBody>
      </p:sp>
      <p:sp>
        <p:nvSpPr>
          <p:cNvPr id="750" name="Text 19"/>
          <p:cNvSpPr txBox="1"/>
          <p:nvPr/>
        </p:nvSpPr>
        <p:spPr>
          <a:xfrm>
            <a:off x="1155802" y="5205297"/>
            <a:ext cx="227137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78350F"/>
                </a:solidFill>
                <a:latin typeface="Menlo Regular"/>
                <a:ea typeface="Menlo Regular"/>
                <a:cs typeface="Menlo Regular"/>
                <a:sym typeface="Menlo Regular"/>
              </a:defRPr>
            </a:lvl1pPr>
          </a:lstStyle>
          <a:p>
            <a:pPr/>
            <a:r>
              <a:t>¿edad &gt;= 18?</a:t>
            </a:r>
          </a:p>
        </p:txBody>
      </p:sp>
      <p:sp>
        <p:nvSpPr>
          <p:cNvPr id="751" name="Text 20"/>
          <p:cNvSpPr txBox="1"/>
          <p:nvPr/>
        </p:nvSpPr>
        <p:spPr>
          <a:xfrm>
            <a:off x="841247" y="5501239"/>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475569"/>
                </a:solidFill>
              </a:defRPr>
            </a:lvl1pPr>
          </a:lstStyle>
          <a:p>
            <a:pPr/>
            <a:r>
              <a:t>Sí</a:t>
            </a:r>
          </a:p>
        </p:txBody>
      </p:sp>
      <p:sp>
        <p:nvSpPr>
          <p:cNvPr id="752" name="Text 21"/>
          <p:cNvSpPr txBox="1"/>
          <p:nvPr/>
        </p:nvSpPr>
        <p:spPr>
          <a:xfrm>
            <a:off x="3375964" y="5501239"/>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800">
                <a:solidFill>
                  <a:srgbClr val="475569"/>
                </a:solidFill>
              </a:defRPr>
            </a:lvl1pPr>
          </a:lstStyle>
          <a:p>
            <a:pPr/>
            <a:r>
              <a:t>No</a:t>
            </a:r>
          </a:p>
        </p:txBody>
      </p:sp>
      <p:sp>
        <p:nvSpPr>
          <p:cNvPr id="753" name="Shape 22"/>
          <p:cNvSpPr/>
          <p:nvPr/>
        </p:nvSpPr>
        <p:spPr>
          <a:xfrm>
            <a:off x="777240" y="5681559"/>
            <a:ext cx="1514247" cy="490641"/>
          </a:xfrm>
          <a:prstGeom prst="rect">
            <a:avLst/>
          </a:prstGeom>
          <a:solidFill>
            <a:srgbClr val="FFFFFF"/>
          </a:solidFill>
          <a:ln>
            <a:solidFill>
              <a:srgbClr val="334155"/>
            </a:solidFill>
          </a:ln>
        </p:spPr>
        <p:txBody>
          <a:bodyPr lIns="45719" rIns="45719"/>
          <a:lstStyle/>
          <a:p>
            <a:pPr/>
          </a:p>
        </p:txBody>
      </p:sp>
      <p:sp>
        <p:nvSpPr>
          <p:cNvPr id="754" name="Shape 23"/>
          <p:cNvSpPr/>
          <p:nvPr/>
        </p:nvSpPr>
        <p:spPr>
          <a:xfrm>
            <a:off x="777240" y="5681559"/>
            <a:ext cx="1514247" cy="490641"/>
          </a:xfrm>
          <a:prstGeom prst="rect">
            <a:avLst/>
          </a:prstGeom>
          <a:solidFill>
            <a:srgbClr val="EDE9FE"/>
          </a:solidFill>
          <a:ln>
            <a:solidFill>
              <a:srgbClr val="334155"/>
            </a:solidFill>
          </a:ln>
        </p:spPr>
        <p:txBody>
          <a:bodyPr lIns="45719" rIns="45719"/>
          <a:lstStyle/>
          <a:p>
            <a:pPr/>
          </a:p>
        </p:txBody>
      </p:sp>
      <p:sp>
        <p:nvSpPr>
          <p:cNvPr id="755" name="Text 24"/>
          <p:cNvSpPr txBox="1"/>
          <p:nvPr/>
        </p:nvSpPr>
        <p:spPr>
          <a:xfrm>
            <a:off x="822960" y="5799878"/>
            <a:ext cx="1422807"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900">
                <a:solidFill>
                  <a:srgbClr val="4C1D95"/>
                </a:solidFill>
                <a:latin typeface="Menlo Regular"/>
                <a:ea typeface="Menlo Regular"/>
                <a:cs typeface="Menlo Regular"/>
                <a:sym typeface="Menlo Regular"/>
              </a:defRPr>
            </a:pPr>
            <a:r>
              <a:t>return</a:t>
            </a:r>
          </a:p>
          <a:p>
            <a:pPr algn="ctr">
              <a:defRPr sz="900">
                <a:solidFill>
                  <a:srgbClr val="4C1D95"/>
                </a:solidFill>
                <a:latin typeface="Menlo Regular"/>
                <a:ea typeface="Menlo Regular"/>
                <a:cs typeface="Menlo Regular"/>
                <a:sym typeface="Menlo Regular"/>
              </a:defRPr>
            </a:pPr>
            <a:r>
              <a:t>"pulsera roja"</a:t>
            </a:r>
          </a:p>
        </p:txBody>
      </p:sp>
      <p:sp>
        <p:nvSpPr>
          <p:cNvPr id="756" name="Shape 25"/>
          <p:cNvSpPr/>
          <p:nvPr/>
        </p:nvSpPr>
        <p:spPr>
          <a:xfrm>
            <a:off x="2291485" y="5681559"/>
            <a:ext cx="1514247" cy="490641"/>
          </a:xfrm>
          <a:prstGeom prst="rect">
            <a:avLst/>
          </a:prstGeom>
          <a:solidFill>
            <a:srgbClr val="FFFFFF"/>
          </a:solidFill>
          <a:ln>
            <a:solidFill>
              <a:srgbClr val="334155"/>
            </a:solidFill>
          </a:ln>
        </p:spPr>
        <p:txBody>
          <a:bodyPr lIns="45719" rIns="45719"/>
          <a:lstStyle/>
          <a:p>
            <a:pPr/>
          </a:p>
        </p:txBody>
      </p:sp>
      <p:sp>
        <p:nvSpPr>
          <p:cNvPr id="757" name="Shape 26"/>
          <p:cNvSpPr/>
          <p:nvPr/>
        </p:nvSpPr>
        <p:spPr>
          <a:xfrm>
            <a:off x="2291485" y="5681559"/>
            <a:ext cx="1514247" cy="490641"/>
          </a:xfrm>
          <a:prstGeom prst="rect">
            <a:avLst/>
          </a:prstGeom>
          <a:solidFill>
            <a:srgbClr val="EDE9FE"/>
          </a:solidFill>
          <a:ln>
            <a:solidFill>
              <a:srgbClr val="334155"/>
            </a:solidFill>
          </a:ln>
        </p:spPr>
        <p:txBody>
          <a:bodyPr lIns="45719" rIns="45719"/>
          <a:lstStyle/>
          <a:p>
            <a:pPr/>
          </a:p>
        </p:txBody>
      </p:sp>
      <p:sp>
        <p:nvSpPr>
          <p:cNvPr id="758" name="Text 27"/>
          <p:cNvSpPr txBox="1"/>
          <p:nvPr/>
        </p:nvSpPr>
        <p:spPr>
          <a:xfrm>
            <a:off x="2337205" y="5799878"/>
            <a:ext cx="1422807"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900">
                <a:solidFill>
                  <a:srgbClr val="4C1D95"/>
                </a:solidFill>
                <a:latin typeface="Menlo Regular"/>
                <a:ea typeface="Menlo Regular"/>
                <a:cs typeface="Menlo Regular"/>
                <a:sym typeface="Menlo Regular"/>
              </a:defRPr>
            </a:pPr>
            <a:r>
              <a:t>return</a:t>
            </a:r>
          </a:p>
          <a:p>
            <a:pPr algn="ctr">
              <a:defRPr sz="900">
                <a:solidFill>
                  <a:srgbClr val="4C1D95"/>
                </a:solidFill>
                <a:latin typeface="Menlo Regular"/>
                <a:ea typeface="Menlo Regular"/>
                <a:cs typeface="Menlo Regular"/>
                <a:sym typeface="Menlo Regular"/>
              </a:defRPr>
            </a:pPr>
            <a:r>
              <a:t>"pulsera azul"</a:t>
            </a:r>
          </a:p>
        </p:txBody>
      </p:sp>
      <p:sp>
        <p:nvSpPr>
          <p:cNvPr id="759" name="Shape 28"/>
          <p:cNvSpPr/>
          <p:nvPr/>
        </p:nvSpPr>
        <p:spPr>
          <a:xfrm>
            <a:off x="3805732" y="5136403"/>
            <a:ext cx="1177748" cy="1035798"/>
          </a:xfrm>
          <a:prstGeom prst="rect">
            <a:avLst/>
          </a:prstGeom>
          <a:solidFill>
            <a:srgbClr val="FFFFFF"/>
          </a:solidFill>
          <a:ln>
            <a:solidFill>
              <a:srgbClr val="334155"/>
            </a:solidFill>
          </a:ln>
        </p:spPr>
        <p:txBody>
          <a:bodyPr lIns="45719" rIns="45719"/>
          <a:lstStyle/>
          <a:p>
            <a:pPr/>
          </a:p>
        </p:txBody>
      </p:sp>
      <p:sp>
        <p:nvSpPr>
          <p:cNvPr id="760" name="Shape 29"/>
          <p:cNvSpPr/>
          <p:nvPr/>
        </p:nvSpPr>
        <p:spPr>
          <a:xfrm>
            <a:off x="3805732" y="5136403"/>
            <a:ext cx="1177748" cy="490641"/>
          </a:xfrm>
          <a:prstGeom prst="rect">
            <a:avLst/>
          </a:prstGeom>
          <a:solidFill>
            <a:srgbClr val="EDE9FE"/>
          </a:solidFill>
          <a:ln>
            <a:solidFill>
              <a:srgbClr val="334155"/>
            </a:solidFill>
          </a:ln>
        </p:spPr>
        <p:txBody>
          <a:bodyPr lIns="45719" rIns="45719"/>
          <a:lstStyle/>
          <a:p>
            <a:pPr/>
          </a:p>
        </p:txBody>
      </p:sp>
      <p:sp>
        <p:nvSpPr>
          <p:cNvPr id="761" name="Text 30"/>
          <p:cNvSpPr txBox="1"/>
          <p:nvPr/>
        </p:nvSpPr>
        <p:spPr>
          <a:xfrm>
            <a:off x="3851452" y="5254723"/>
            <a:ext cx="1086308"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900">
                <a:solidFill>
                  <a:srgbClr val="4C1D95"/>
                </a:solidFill>
                <a:latin typeface="Menlo Regular"/>
                <a:ea typeface="Menlo Regular"/>
                <a:cs typeface="Menlo Regular"/>
                <a:sym typeface="Menlo Regular"/>
              </a:defRPr>
            </a:pPr>
            <a:r>
              <a:t>return</a:t>
            </a:r>
          </a:p>
          <a:p>
            <a:pPr algn="ctr">
              <a:defRPr sz="900">
                <a:solidFill>
                  <a:srgbClr val="4C1D95"/>
                </a:solidFill>
                <a:latin typeface="Menlo Regular"/>
                <a:ea typeface="Menlo Regular"/>
                <a:cs typeface="Menlo Regular"/>
                <a:sym typeface="Menlo Regular"/>
              </a:defRPr>
            </a:pPr>
            <a:r>
              <a:t>"no pasa"</a:t>
            </a:r>
          </a:p>
        </p:txBody>
      </p:sp>
      <p:sp>
        <p:nvSpPr>
          <p:cNvPr id="762" name="Shape 31"/>
          <p:cNvSpPr/>
          <p:nvPr/>
        </p:nvSpPr>
        <p:spPr>
          <a:xfrm>
            <a:off x="5440679" y="1325880"/>
            <a:ext cx="6199633" cy="5029201"/>
          </a:xfrm>
          <a:prstGeom prst="roundRect">
            <a:avLst>
              <a:gd name="adj" fmla="val 145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763" name="Text 32"/>
          <p:cNvSpPr txBox="1"/>
          <p:nvPr/>
        </p:nvSpPr>
        <p:spPr>
          <a:xfrm>
            <a:off x="5641847" y="1476800"/>
            <a:ext cx="5797298"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2"/>
                </a:solidFill>
              </a:defRPr>
            </a:lvl1pPr>
          </a:lstStyle>
          <a:p>
            <a:pPr/>
            <a:r>
              <a:t>Diagrama de flujo</a:t>
            </a:r>
          </a:p>
        </p:txBody>
      </p:sp>
      <p:sp>
        <p:nvSpPr>
          <p:cNvPr id="764" name="Shape 33"/>
          <p:cNvSpPr/>
          <p:nvPr/>
        </p:nvSpPr>
        <p:spPr>
          <a:xfrm>
            <a:off x="8166002" y="2152750"/>
            <a:ext cx="3291431" cy="381137"/>
          </a:xfrm>
          <a:prstGeom prst="roundRect">
            <a:avLst>
              <a:gd name="adj" fmla="val 50000"/>
            </a:avLst>
          </a:prstGeom>
          <a:solidFill>
            <a:srgbClr val="1E293B"/>
          </a:solidFill>
          <a:ln w="15875">
            <a:solidFill>
              <a:srgbClr val="1E293B"/>
            </a:solidFill>
          </a:ln>
        </p:spPr>
        <p:txBody>
          <a:bodyPr lIns="45719" rIns="45719"/>
          <a:lstStyle/>
          <a:p>
            <a:pPr/>
          </a:p>
        </p:txBody>
      </p:sp>
      <p:sp>
        <p:nvSpPr>
          <p:cNvPr id="765" name="Text 34"/>
          <p:cNvSpPr txBox="1"/>
          <p:nvPr/>
        </p:nvSpPr>
        <p:spPr>
          <a:xfrm>
            <a:off x="8166002" y="2273468"/>
            <a:ext cx="329143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Menlo Regular"/>
                <a:ea typeface="Menlo Regular"/>
                <a:cs typeface="Menlo Regular"/>
                <a:sym typeface="Menlo Regular"/>
              </a:defRPr>
            </a:lvl1pPr>
          </a:lstStyle>
          <a:p>
            <a:pPr/>
            <a:r>
              <a:t>revisar_acceso(tiene_boleto, edad)</a:t>
            </a:r>
          </a:p>
        </p:txBody>
      </p:sp>
      <p:sp>
        <p:nvSpPr>
          <p:cNvPr id="766" name="Shape 35"/>
          <p:cNvSpPr/>
          <p:nvPr/>
        </p:nvSpPr>
        <p:spPr>
          <a:xfrm>
            <a:off x="9811717" y="2533887"/>
            <a:ext cx="1" cy="235942"/>
          </a:xfrm>
          <a:prstGeom prst="line">
            <a:avLst/>
          </a:prstGeom>
          <a:ln w="15875">
            <a:solidFill>
              <a:srgbClr val="64748B"/>
            </a:solidFill>
            <a:tailEnd type="triangle"/>
          </a:ln>
        </p:spPr>
        <p:txBody>
          <a:bodyPr lIns="45719" rIns="45719"/>
          <a:lstStyle/>
          <a:p>
            <a:pPr/>
          </a:p>
        </p:txBody>
      </p:sp>
      <p:sp>
        <p:nvSpPr>
          <p:cNvPr id="767" name="Shape 36"/>
          <p:cNvSpPr/>
          <p:nvPr/>
        </p:nvSpPr>
        <p:spPr>
          <a:xfrm>
            <a:off x="8939541" y="2769828"/>
            <a:ext cx="1744353" cy="562630"/>
          </a:xfrm>
          <a:prstGeom prst="diamond">
            <a:avLst/>
          </a:prstGeom>
          <a:solidFill>
            <a:srgbClr val="FEF3C7"/>
          </a:solidFill>
          <a:ln w="15875">
            <a:solidFill>
              <a:schemeClr val="accent6"/>
            </a:solidFill>
          </a:ln>
        </p:spPr>
        <p:txBody>
          <a:bodyPr lIns="45719" rIns="45719"/>
          <a:lstStyle/>
          <a:p>
            <a:pPr/>
          </a:p>
        </p:txBody>
      </p:sp>
      <p:sp>
        <p:nvSpPr>
          <p:cNvPr id="768" name="Text 37"/>
          <p:cNvSpPr txBox="1"/>
          <p:nvPr/>
        </p:nvSpPr>
        <p:spPr>
          <a:xfrm>
            <a:off x="8939541" y="2981292"/>
            <a:ext cx="1744353"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8350F"/>
                </a:solidFill>
                <a:latin typeface="Menlo Regular"/>
                <a:ea typeface="Menlo Regular"/>
                <a:cs typeface="Menlo Regular"/>
                <a:sym typeface="Menlo Regular"/>
              </a:defRPr>
            </a:lvl1pPr>
          </a:lstStyle>
          <a:p>
            <a:pPr/>
            <a:r>
              <a:t>tiene_boleto</a:t>
            </a:r>
          </a:p>
        </p:txBody>
      </p:sp>
      <p:sp>
        <p:nvSpPr>
          <p:cNvPr id="769" name="Shape 38"/>
          <p:cNvSpPr/>
          <p:nvPr/>
        </p:nvSpPr>
        <p:spPr>
          <a:xfrm flipH="1">
            <a:off x="7635967" y="3051142"/>
            <a:ext cx="1303576" cy="1"/>
          </a:xfrm>
          <a:prstGeom prst="line">
            <a:avLst/>
          </a:prstGeom>
          <a:ln w="15875">
            <a:solidFill>
              <a:srgbClr val="64748B"/>
            </a:solidFill>
          </a:ln>
        </p:spPr>
        <p:txBody>
          <a:bodyPr lIns="45719" rIns="45719"/>
          <a:lstStyle/>
          <a:p>
            <a:pPr/>
          </a:p>
        </p:txBody>
      </p:sp>
      <p:sp>
        <p:nvSpPr>
          <p:cNvPr id="770" name="Shape 39"/>
          <p:cNvSpPr/>
          <p:nvPr/>
        </p:nvSpPr>
        <p:spPr>
          <a:xfrm>
            <a:off x="7635966" y="3051141"/>
            <a:ext cx="1" cy="453734"/>
          </a:xfrm>
          <a:prstGeom prst="line">
            <a:avLst/>
          </a:prstGeom>
          <a:ln w="15875">
            <a:solidFill>
              <a:srgbClr val="64748B"/>
            </a:solidFill>
            <a:tailEnd type="triangle"/>
          </a:ln>
        </p:spPr>
        <p:txBody>
          <a:bodyPr lIns="45719" rIns="45719"/>
          <a:lstStyle/>
          <a:p>
            <a:pPr/>
          </a:p>
        </p:txBody>
      </p:sp>
      <p:sp>
        <p:nvSpPr>
          <p:cNvPr id="771" name="Text 40"/>
          <p:cNvSpPr txBox="1"/>
          <p:nvPr/>
        </p:nvSpPr>
        <p:spPr>
          <a:xfrm>
            <a:off x="7886881" y="2869672"/>
            <a:ext cx="99821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900">
                <a:solidFill>
                  <a:srgbClr val="475569"/>
                </a:solidFill>
              </a:defRPr>
            </a:lvl1pPr>
          </a:lstStyle>
          <a:p>
            <a:pPr/>
            <a:r>
              <a:t>Sí</a:t>
            </a:r>
          </a:p>
        </p:txBody>
      </p:sp>
      <p:sp>
        <p:nvSpPr>
          <p:cNvPr id="772" name="Shape 41"/>
          <p:cNvSpPr/>
          <p:nvPr/>
        </p:nvSpPr>
        <p:spPr>
          <a:xfrm>
            <a:off x="10681065" y="3051142"/>
            <a:ext cx="12701" cy="1"/>
          </a:xfrm>
          <a:prstGeom prst="line">
            <a:avLst/>
          </a:prstGeom>
          <a:ln w="15875">
            <a:solidFill>
              <a:srgbClr val="64748B"/>
            </a:solidFill>
          </a:ln>
        </p:spPr>
        <p:txBody>
          <a:bodyPr lIns="45719" rIns="45719"/>
          <a:lstStyle/>
          <a:p>
            <a:pPr/>
          </a:p>
        </p:txBody>
      </p:sp>
      <p:sp>
        <p:nvSpPr>
          <p:cNvPr id="773" name="Shape 42"/>
          <p:cNvSpPr/>
          <p:nvPr/>
        </p:nvSpPr>
        <p:spPr>
          <a:xfrm>
            <a:off x="10690937" y="3051141"/>
            <a:ext cx="1" cy="453734"/>
          </a:xfrm>
          <a:prstGeom prst="line">
            <a:avLst/>
          </a:prstGeom>
          <a:ln w="15875">
            <a:solidFill>
              <a:srgbClr val="64748B"/>
            </a:solidFill>
            <a:tailEnd type="triangle"/>
          </a:ln>
        </p:spPr>
        <p:txBody>
          <a:bodyPr lIns="45719" rIns="45719"/>
          <a:lstStyle/>
          <a:p>
            <a:pPr/>
          </a:p>
        </p:txBody>
      </p:sp>
      <p:sp>
        <p:nvSpPr>
          <p:cNvPr id="774" name="Text 43"/>
          <p:cNvSpPr txBox="1"/>
          <p:nvPr/>
        </p:nvSpPr>
        <p:spPr>
          <a:xfrm>
            <a:off x="10738340" y="2869672"/>
            <a:ext cx="99821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No</a:t>
            </a:r>
          </a:p>
        </p:txBody>
      </p:sp>
      <p:sp>
        <p:nvSpPr>
          <p:cNvPr id="775" name="Shape 44"/>
          <p:cNvSpPr/>
          <p:nvPr/>
        </p:nvSpPr>
        <p:spPr>
          <a:xfrm>
            <a:off x="6890247" y="3504874"/>
            <a:ext cx="1491438" cy="562630"/>
          </a:xfrm>
          <a:prstGeom prst="diamond">
            <a:avLst/>
          </a:prstGeom>
          <a:solidFill>
            <a:srgbClr val="FEF3C7"/>
          </a:solidFill>
          <a:ln w="15875">
            <a:solidFill>
              <a:schemeClr val="accent6"/>
            </a:solidFill>
          </a:ln>
        </p:spPr>
        <p:txBody>
          <a:bodyPr lIns="45719" rIns="45719"/>
          <a:lstStyle/>
          <a:p>
            <a:pPr/>
          </a:p>
        </p:txBody>
      </p:sp>
      <p:sp>
        <p:nvSpPr>
          <p:cNvPr id="776" name="Text 45"/>
          <p:cNvSpPr txBox="1"/>
          <p:nvPr/>
        </p:nvSpPr>
        <p:spPr>
          <a:xfrm>
            <a:off x="6890247" y="3716339"/>
            <a:ext cx="149143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8350F"/>
                </a:solidFill>
                <a:latin typeface="Menlo Regular"/>
                <a:ea typeface="Menlo Regular"/>
                <a:cs typeface="Menlo Regular"/>
                <a:sym typeface="Menlo Regular"/>
              </a:defRPr>
            </a:lvl1pPr>
          </a:lstStyle>
          <a:p>
            <a:pPr/>
            <a:r>
              <a:t>edad &gt;= 18</a:t>
            </a:r>
          </a:p>
        </p:txBody>
      </p:sp>
      <p:sp>
        <p:nvSpPr>
          <p:cNvPr id="777" name="Shape 46"/>
          <p:cNvSpPr/>
          <p:nvPr/>
        </p:nvSpPr>
        <p:spPr>
          <a:xfrm flipH="1">
            <a:off x="6548091" y="3786189"/>
            <a:ext cx="342158" cy="1"/>
          </a:xfrm>
          <a:prstGeom prst="line">
            <a:avLst/>
          </a:prstGeom>
          <a:ln w="15875">
            <a:solidFill>
              <a:srgbClr val="64748B"/>
            </a:solidFill>
          </a:ln>
        </p:spPr>
        <p:txBody>
          <a:bodyPr lIns="45719" rIns="45719"/>
          <a:lstStyle/>
          <a:p>
            <a:pPr/>
          </a:p>
        </p:txBody>
      </p:sp>
      <p:sp>
        <p:nvSpPr>
          <p:cNvPr id="778" name="Shape 47"/>
          <p:cNvSpPr/>
          <p:nvPr/>
        </p:nvSpPr>
        <p:spPr>
          <a:xfrm>
            <a:off x="6548091" y="3786189"/>
            <a:ext cx="1" cy="453734"/>
          </a:xfrm>
          <a:prstGeom prst="line">
            <a:avLst/>
          </a:prstGeom>
          <a:ln w="15875">
            <a:solidFill>
              <a:srgbClr val="64748B"/>
            </a:solidFill>
            <a:tailEnd type="triangle"/>
          </a:ln>
        </p:spPr>
        <p:txBody>
          <a:bodyPr lIns="45719" rIns="45719"/>
          <a:lstStyle/>
          <a:p>
            <a:pPr/>
          </a:p>
        </p:txBody>
      </p:sp>
      <p:sp>
        <p:nvSpPr>
          <p:cNvPr id="779" name="Text 48"/>
          <p:cNvSpPr txBox="1"/>
          <p:nvPr/>
        </p:nvSpPr>
        <p:spPr>
          <a:xfrm>
            <a:off x="5837587" y="3604719"/>
            <a:ext cx="99821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900">
                <a:solidFill>
                  <a:srgbClr val="475569"/>
                </a:solidFill>
              </a:defRPr>
            </a:lvl1pPr>
          </a:lstStyle>
          <a:p>
            <a:pPr/>
            <a:r>
              <a:t>Sí</a:t>
            </a:r>
          </a:p>
        </p:txBody>
      </p:sp>
      <p:sp>
        <p:nvSpPr>
          <p:cNvPr id="780" name="Shape 49"/>
          <p:cNvSpPr/>
          <p:nvPr/>
        </p:nvSpPr>
        <p:spPr>
          <a:xfrm>
            <a:off x="8381685" y="3786189"/>
            <a:ext cx="342158" cy="1"/>
          </a:xfrm>
          <a:prstGeom prst="line">
            <a:avLst/>
          </a:prstGeom>
          <a:ln w="15875">
            <a:solidFill>
              <a:srgbClr val="64748B"/>
            </a:solidFill>
          </a:ln>
        </p:spPr>
        <p:txBody>
          <a:bodyPr lIns="45719" rIns="45719"/>
          <a:lstStyle/>
          <a:p>
            <a:pPr/>
          </a:p>
        </p:txBody>
      </p:sp>
      <p:sp>
        <p:nvSpPr>
          <p:cNvPr id="781" name="Shape 50"/>
          <p:cNvSpPr/>
          <p:nvPr/>
        </p:nvSpPr>
        <p:spPr>
          <a:xfrm>
            <a:off x="8723841" y="3786189"/>
            <a:ext cx="1" cy="453734"/>
          </a:xfrm>
          <a:prstGeom prst="line">
            <a:avLst/>
          </a:prstGeom>
          <a:ln w="15875">
            <a:solidFill>
              <a:srgbClr val="64748B"/>
            </a:solidFill>
            <a:tailEnd type="triangle"/>
          </a:ln>
        </p:spPr>
        <p:txBody>
          <a:bodyPr lIns="45719" rIns="45719"/>
          <a:lstStyle/>
          <a:p>
            <a:pPr/>
          </a:p>
        </p:txBody>
      </p:sp>
      <p:sp>
        <p:nvSpPr>
          <p:cNvPr id="782" name="Text 51"/>
          <p:cNvSpPr txBox="1"/>
          <p:nvPr/>
        </p:nvSpPr>
        <p:spPr>
          <a:xfrm>
            <a:off x="8436133" y="3604719"/>
            <a:ext cx="99821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No</a:t>
            </a:r>
          </a:p>
        </p:txBody>
      </p:sp>
      <p:sp>
        <p:nvSpPr>
          <p:cNvPr id="783" name="Shape 52"/>
          <p:cNvSpPr/>
          <p:nvPr/>
        </p:nvSpPr>
        <p:spPr>
          <a:xfrm>
            <a:off x="5623559" y="4239922"/>
            <a:ext cx="1849063" cy="5099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489" y="0"/>
                </a:lnTo>
                <a:lnTo>
                  <a:pt x="21600" y="0"/>
                </a:lnTo>
                <a:lnTo>
                  <a:pt x="20111" y="21600"/>
                </a:lnTo>
                <a:close/>
              </a:path>
            </a:pathLst>
          </a:custGeom>
          <a:solidFill>
            <a:srgbClr val="EDE9FE"/>
          </a:solidFill>
          <a:ln w="15875">
            <a:solidFill>
              <a:schemeClr val="accent3"/>
            </a:solidFill>
          </a:ln>
        </p:spPr>
        <p:txBody>
          <a:bodyPr lIns="45719" rIns="45719"/>
          <a:lstStyle/>
          <a:p>
            <a:pPr/>
          </a:p>
        </p:txBody>
      </p:sp>
      <p:sp>
        <p:nvSpPr>
          <p:cNvPr id="784" name="Text 53"/>
          <p:cNvSpPr txBox="1"/>
          <p:nvPr/>
        </p:nvSpPr>
        <p:spPr>
          <a:xfrm>
            <a:off x="5623559" y="4355195"/>
            <a:ext cx="1849063"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4C1D95"/>
                </a:solidFill>
                <a:latin typeface="Menlo Regular"/>
                <a:ea typeface="Menlo Regular"/>
                <a:cs typeface="Menlo Regular"/>
                <a:sym typeface="Menlo Regular"/>
              </a:defRPr>
            </a:pPr>
            <a:r>
              <a:t>return</a:t>
            </a:r>
          </a:p>
          <a:p>
            <a:pPr algn="ctr">
              <a:defRPr sz="1000">
                <a:solidFill>
                  <a:srgbClr val="4C1D95"/>
                </a:solidFill>
                <a:latin typeface="Menlo Regular"/>
                <a:ea typeface="Menlo Regular"/>
                <a:cs typeface="Menlo Regular"/>
                <a:sym typeface="Menlo Regular"/>
              </a:defRPr>
            </a:pPr>
            <a:r>
              <a:t>"pulsera roja"</a:t>
            </a:r>
          </a:p>
        </p:txBody>
      </p:sp>
      <p:sp>
        <p:nvSpPr>
          <p:cNvPr id="785" name="Shape 54"/>
          <p:cNvSpPr/>
          <p:nvPr/>
        </p:nvSpPr>
        <p:spPr>
          <a:xfrm>
            <a:off x="7799310" y="4239922"/>
            <a:ext cx="1849063" cy="5099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489" y="0"/>
                </a:lnTo>
                <a:lnTo>
                  <a:pt x="21600" y="0"/>
                </a:lnTo>
                <a:lnTo>
                  <a:pt x="20111" y="21600"/>
                </a:lnTo>
                <a:close/>
              </a:path>
            </a:pathLst>
          </a:custGeom>
          <a:solidFill>
            <a:srgbClr val="EDE9FE"/>
          </a:solidFill>
          <a:ln w="15875">
            <a:solidFill>
              <a:schemeClr val="accent3"/>
            </a:solidFill>
          </a:ln>
        </p:spPr>
        <p:txBody>
          <a:bodyPr lIns="45719" rIns="45719"/>
          <a:lstStyle/>
          <a:p>
            <a:pPr/>
          </a:p>
        </p:txBody>
      </p:sp>
      <p:sp>
        <p:nvSpPr>
          <p:cNvPr id="786" name="Text 55"/>
          <p:cNvSpPr txBox="1"/>
          <p:nvPr/>
        </p:nvSpPr>
        <p:spPr>
          <a:xfrm>
            <a:off x="7799310" y="4355195"/>
            <a:ext cx="1849063"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4C1D95"/>
                </a:solidFill>
                <a:latin typeface="Menlo Regular"/>
                <a:ea typeface="Menlo Regular"/>
                <a:cs typeface="Menlo Regular"/>
                <a:sym typeface="Menlo Regular"/>
              </a:defRPr>
            </a:pPr>
            <a:r>
              <a:t>return</a:t>
            </a:r>
          </a:p>
          <a:p>
            <a:pPr algn="ctr">
              <a:defRPr sz="1000">
                <a:solidFill>
                  <a:srgbClr val="4C1D95"/>
                </a:solidFill>
                <a:latin typeface="Menlo Regular"/>
                <a:ea typeface="Menlo Regular"/>
                <a:cs typeface="Menlo Regular"/>
                <a:sym typeface="Menlo Regular"/>
              </a:defRPr>
            </a:pPr>
            <a:r>
              <a:t>"pulsera azul"</a:t>
            </a:r>
          </a:p>
        </p:txBody>
      </p:sp>
      <p:sp>
        <p:nvSpPr>
          <p:cNvPr id="787" name="Shape 56"/>
          <p:cNvSpPr/>
          <p:nvPr/>
        </p:nvSpPr>
        <p:spPr>
          <a:xfrm>
            <a:off x="6548090" y="4749867"/>
            <a:ext cx="1" cy="217793"/>
          </a:xfrm>
          <a:prstGeom prst="line">
            <a:avLst/>
          </a:prstGeom>
          <a:ln w="15875">
            <a:solidFill>
              <a:srgbClr val="64748B"/>
            </a:solidFill>
          </a:ln>
        </p:spPr>
        <p:txBody>
          <a:bodyPr lIns="45719" rIns="45719"/>
          <a:lstStyle/>
          <a:p>
            <a:pPr/>
          </a:p>
        </p:txBody>
      </p:sp>
      <p:sp>
        <p:nvSpPr>
          <p:cNvPr id="788" name="Shape 57"/>
          <p:cNvSpPr/>
          <p:nvPr/>
        </p:nvSpPr>
        <p:spPr>
          <a:xfrm>
            <a:off x="6548091" y="4967659"/>
            <a:ext cx="1087875" cy="1"/>
          </a:xfrm>
          <a:prstGeom prst="line">
            <a:avLst/>
          </a:prstGeom>
          <a:ln w="15875">
            <a:solidFill>
              <a:srgbClr val="64748B"/>
            </a:solidFill>
            <a:tailEnd type="triangle"/>
          </a:ln>
        </p:spPr>
        <p:txBody>
          <a:bodyPr lIns="45719" rIns="45719"/>
          <a:lstStyle/>
          <a:p>
            <a:pPr/>
          </a:p>
        </p:txBody>
      </p:sp>
      <p:sp>
        <p:nvSpPr>
          <p:cNvPr id="789" name="Shape 58"/>
          <p:cNvSpPr/>
          <p:nvPr/>
        </p:nvSpPr>
        <p:spPr>
          <a:xfrm>
            <a:off x="8723842" y="4749867"/>
            <a:ext cx="1" cy="217793"/>
          </a:xfrm>
          <a:prstGeom prst="line">
            <a:avLst/>
          </a:prstGeom>
          <a:ln w="15875">
            <a:solidFill>
              <a:srgbClr val="64748B"/>
            </a:solidFill>
          </a:ln>
        </p:spPr>
        <p:txBody>
          <a:bodyPr lIns="45719" rIns="45719"/>
          <a:lstStyle/>
          <a:p>
            <a:pPr/>
          </a:p>
        </p:txBody>
      </p:sp>
      <p:sp>
        <p:nvSpPr>
          <p:cNvPr id="790" name="Shape 59"/>
          <p:cNvSpPr/>
          <p:nvPr/>
        </p:nvSpPr>
        <p:spPr>
          <a:xfrm flipH="1">
            <a:off x="7635967" y="4967659"/>
            <a:ext cx="1087876" cy="1"/>
          </a:xfrm>
          <a:prstGeom prst="line">
            <a:avLst/>
          </a:prstGeom>
          <a:ln w="15875">
            <a:solidFill>
              <a:srgbClr val="64748B"/>
            </a:solidFill>
            <a:tailEnd type="triangle"/>
          </a:ln>
        </p:spPr>
        <p:txBody>
          <a:bodyPr lIns="45719" rIns="45719"/>
          <a:lstStyle/>
          <a:p>
            <a:pPr/>
          </a:p>
        </p:txBody>
      </p:sp>
      <p:sp>
        <p:nvSpPr>
          <p:cNvPr id="791" name="Shape 60"/>
          <p:cNvSpPr/>
          <p:nvPr/>
        </p:nvSpPr>
        <p:spPr>
          <a:xfrm>
            <a:off x="9975060" y="3504874"/>
            <a:ext cx="1431755" cy="5099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923" y="0"/>
                </a:lnTo>
                <a:lnTo>
                  <a:pt x="21600" y="0"/>
                </a:lnTo>
                <a:lnTo>
                  <a:pt x="19677" y="21600"/>
                </a:lnTo>
                <a:close/>
              </a:path>
            </a:pathLst>
          </a:custGeom>
          <a:solidFill>
            <a:srgbClr val="EDE9FE"/>
          </a:solidFill>
          <a:ln w="15875">
            <a:solidFill>
              <a:schemeClr val="accent3"/>
            </a:solidFill>
          </a:ln>
        </p:spPr>
        <p:txBody>
          <a:bodyPr lIns="45719" rIns="45719"/>
          <a:lstStyle/>
          <a:p>
            <a:pPr/>
          </a:p>
        </p:txBody>
      </p:sp>
      <p:sp>
        <p:nvSpPr>
          <p:cNvPr id="792" name="Text 61"/>
          <p:cNvSpPr txBox="1"/>
          <p:nvPr/>
        </p:nvSpPr>
        <p:spPr>
          <a:xfrm>
            <a:off x="9975060" y="3620147"/>
            <a:ext cx="1431755"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4C1D95"/>
                </a:solidFill>
                <a:latin typeface="Menlo Regular"/>
                <a:ea typeface="Menlo Regular"/>
                <a:cs typeface="Menlo Regular"/>
                <a:sym typeface="Menlo Regular"/>
              </a:defRPr>
            </a:pPr>
            <a:r>
              <a:t>return</a:t>
            </a:r>
          </a:p>
          <a:p>
            <a:pPr algn="ctr">
              <a:defRPr sz="1000">
                <a:solidFill>
                  <a:srgbClr val="4C1D95"/>
                </a:solidFill>
                <a:latin typeface="Menlo Regular"/>
                <a:ea typeface="Menlo Regular"/>
                <a:cs typeface="Menlo Regular"/>
                <a:sym typeface="Menlo Regular"/>
              </a:defRPr>
            </a:pPr>
            <a:r>
              <a:t>"no pasa"</a:t>
            </a:r>
          </a:p>
        </p:txBody>
      </p:sp>
      <p:sp>
        <p:nvSpPr>
          <p:cNvPr id="793" name="Shape 62"/>
          <p:cNvSpPr/>
          <p:nvPr/>
        </p:nvSpPr>
        <p:spPr>
          <a:xfrm>
            <a:off x="7635967" y="4967660"/>
            <a:ext cx="1" cy="217793"/>
          </a:xfrm>
          <a:prstGeom prst="line">
            <a:avLst/>
          </a:prstGeom>
          <a:ln w="15875">
            <a:solidFill>
              <a:srgbClr val="64748B"/>
            </a:solidFill>
          </a:ln>
        </p:spPr>
        <p:txBody>
          <a:bodyPr lIns="45719" rIns="45719"/>
          <a:lstStyle/>
          <a:p>
            <a:pPr/>
          </a:p>
        </p:txBody>
      </p:sp>
      <p:sp>
        <p:nvSpPr>
          <p:cNvPr id="794" name="Shape 63"/>
          <p:cNvSpPr/>
          <p:nvPr/>
        </p:nvSpPr>
        <p:spPr>
          <a:xfrm>
            <a:off x="7635967" y="5185452"/>
            <a:ext cx="2175752" cy="1"/>
          </a:xfrm>
          <a:prstGeom prst="line">
            <a:avLst/>
          </a:prstGeom>
          <a:ln w="15875">
            <a:solidFill>
              <a:srgbClr val="64748B"/>
            </a:solidFill>
            <a:tailEnd type="triangle"/>
          </a:ln>
        </p:spPr>
        <p:txBody>
          <a:bodyPr lIns="45719" rIns="45719"/>
          <a:lstStyle/>
          <a:p>
            <a:pPr/>
          </a:p>
        </p:txBody>
      </p:sp>
      <p:sp>
        <p:nvSpPr>
          <p:cNvPr id="795" name="Shape 64"/>
          <p:cNvSpPr/>
          <p:nvPr/>
        </p:nvSpPr>
        <p:spPr>
          <a:xfrm>
            <a:off x="10690938" y="4014820"/>
            <a:ext cx="1" cy="1170632"/>
          </a:xfrm>
          <a:prstGeom prst="line">
            <a:avLst/>
          </a:prstGeom>
          <a:ln w="15875">
            <a:solidFill>
              <a:srgbClr val="64748B"/>
            </a:solidFill>
          </a:ln>
        </p:spPr>
        <p:txBody>
          <a:bodyPr lIns="45719" rIns="45719"/>
          <a:lstStyle/>
          <a:p>
            <a:pPr/>
          </a:p>
        </p:txBody>
      </p:sp>
      <p:sp>
        <p:nvSpPr>
          <p:cNvPr id="796" name="Shape 65"/>
          <p:cNvSpPr/>
          <p:nvPr/>
        </p:nvSpPr>
        <p:spPr>
          <a:xfrm flipH="1">
            <a:off x="9811717" y="5185452"/>
            <a:ext cx="879222" cy="1"/>
          </a:xfrm>
          <a:prstGeom prst="line">
            <a:avLst/>
          </a:prstGeom>
          <a:ln w="15875">
            <a:solidFill>
              <a:srgbClr val="64748B"/>
            </a:solidFill>
            <a:tailEnd type="triangle"/>
          </a:ln>
        </p:spPr>
        <p:txBody>
          <a:bodyPr lIns="45719" rIns="45719"/>
          <a:lstStyle/>
          <a:p>
            <a:pPr/>
          </a:p>
        </p:txBody>
      </p:sp>
      <p:sp>
        <p:nvSpPr>
          <p:cNvPr id="797" name="Shape 66"/>
          <p:cNvSpPr/>
          <p:nvPr/>
        </p:nvSpPr>
        <p:spPr>
          <a:xfrm>
            <a:off x="9811717" y="5185451"/>
            <a:ext cx="1" cy="235942"/>
          </a:xfrm>
          <a:prstGeom prst="line">
            <a:avLst/>
          </a:prstGeom>
          <a:ln w="15875">
            <a:solidFill>
              <a:srgbClr val="64748B"/>
            </a:solidFill>
            <a:tailEnd type="triangle"/>
          </a:ln>
        </p:spPr>
        <p:txBody>
          <a:bodyPr lIns="45719" rIns="45719"/>
          <a:lstStyle/>
          <a:p>
            <a:pPr/>
          </a:p>
        </p:txBody>
      </p:sp>
      <p:sp>
        <p:nvSpPr>
          <p:cNvPr id="798" name="Shape 67"/>
          <p:cNvSpPr/>
          <p:nvPr/>
        </p:nvSpPr>
        <p:spPr>
          <a:xfrm>
            <a:off x="9459658" y="5421393"/>
            <a:ext cx="704119" cy="381137"/>
          </a:xfrm>
          <a:prstGeom prst="roundRect">
            <a:avLst>
              <a:gd name="adj" fmla="val 50000"/>
            </a:avLst>
          </a:prstGeom>
          <a:solidFill>
            <a:srgbClr val="1E293B"/>
          </a:solidFill>
          <a:ln w="15875">
            <a:solidFill>
              <a:srgbClr val="1E293B"/>
            </a:solidFill>
          </a:ln>
        </p:spPr>
        <p:txBody>
          <a:bodyPr lIns="45719" rIns="45719"/>
          <a:lstStyle/>
          <a:p>
            <a:pPr/>
          </a:p>
        </p:txBody>
      </p:sp>
      <p:sp>
        <p:nvSpPr>
          <p:cNvPr id="799" name="Text 68"/>
          <p:cNvSpPr txBox="1"/>
          <p:nvPr/>
        </p:nvSpPr>
        <p:spPr>
          <a:xfrm>
            <a:off x="9459658" y="5542110"/>
            <a:ext cx="704119"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Menlo Regular"/>
                <a:ea typeface="Menlo Regular"/>
                <a:cs typeface="Menlo Regular"/>
                <a:sym typeface="Menlo Regular"/>
              </a:defRPr>
            </a:lvl1pPr>
          </a:lstStyle>
          <a:p>
            <a:pPr/>
            <a:r>
              <a:t>Fin</a:t>
            </a:r>
          </a:p>
        </p:txBody>
      </p:sp>
      <p:sp>
        <p:nvSpPr>
          <p:cNvPr id="800"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4" name="Text 0"/>
          <p:cNvSpPr txBox="1"/>
          <p:nvPr>
            <p:ph type="title"/>
          </p:nvPr>
        </p:nvSpPr>
        <p:spPr>
          <a:prstGeom prst="rect">
            <a:avLst/>
          </a:prstGeom>
        </p:spPr>
        <p:txBody>
          <a:bodyPr lIns="0" tIns="0" rIns="0" bIns="0" anchor="ctr"/>
          <a:lstStyle/>
          <a:p>
            <a:pPr/>
            <a:r>
              <a:t>7 · Acumulador de suma</a:t>
            </a:r>
          </a:p>
        </p:txBody>
      </p:sp>
      <p:sp>
        <p:nvSpPr>
          <p:cNvPr id="805" name="Text 0"/>
          <p:cNvSpPr txBox="1"/>
          <p:nvPr>
            <p:ph type="body" sz="quarter" idx="1"/>
          </p:nvPr>
        </p:nvSpPr>
        <p:spPr>
          <a:prstGeom prst="rect">
            <a:avLst/>
          </a:prstGeom>
        </p:spPr>
        <p:txBody>
          <a:bodyPr lIns="0" tIns="0" rIns="0" bIns="0" anchor="ctr"/>
          <a:lstStyle/>
          <a:p>
            <a:pPr/>
            <a:r>
              <a:t>Los números marcan los 4 pasos: 1 valor inicial · 2 recorrer · 3 actualizar · 4 regresar. Están en el mismo lugar en las tres versiones.</a:t>
            </a:r>
          </a:p>
        </p:txBody>
      </p:sp>
      <p:sp>
        <p:nvSpPr>
          <p:cNvPr id="806" name="Shape 2"/>
          <p:cNvSpPr/>
          <p:nvPr/>
        </p:nvSpPr>
        <p:spPr>
          <a:xfrm>
            <a:off x="548640" y="1325880"/>
            <a:ext cx="4777131" cy="1669543"/>
          </a:xfrm>
          <a:prstGeom prst="roundRect">
            <a:avLst>
              <a:gd name="adj" fmla="val 4382"/>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807" name="Text 3"/>
          <p:cNvSpPr txBox="1"/>
          <p:nvPr/>
        </p:nvSpPr>
        <p:spPr>
          <a:xfrm>
            <a:off x="749808" y="1476800"/>
            <a:ext cx="437479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Python  ·  sumar_duracion_playlist([3, 4, 5])  →  12</a:t>
            </a:r>
          </a:p>
        </p:txBody>
      </p:sp>
      <p:sp>
        <p:nvSpPr>
          <p:cNvPr id="808" name="Text 4"/>
          <p:cNvSpPr txBox="1"/>
          <p:nvPr/>
        </p:nvSpPr>
        <p:spPr>
          <a:xfrm>
            <a:off x="1078991" y="1764792"/>
            <a:ext cx="4082187" cy="10113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sz="1200">
                <a:solidFill>
                  <a:srgbClr val="569CD6"/>
                </a:solidFill>
                <a:latin typeface="Menlo Regular"/>
                <a:ea typeface="Menlo Regular"/>
                <a:cs typeface="Menlo Regular"/>
                <a:sym typeface="Menlo Regular"/>
              </a:defRPr>
            </a:pPr>
            <a:r>
              <a:t>def</a:t>
            </a:r>
            <a:r>
              <a:rPr>
                <a:solidFill>
                  <a:srgbClr val="D4D4D4"/>
                </a:solidFill>
              </a:rPr>
              <a:t> </a:t>
            </a:r>
            <a:r>
              <a:rPr>
                <a:solidFill>
                  <a:srgbClr val="DCDCAA"/>
                </a:solidFill>
              </a:rPr>
              <a:t>sumar_duracion_playlist</a:t>
            </a:r>
            <a:r>
              <a:rPr>
                <a:solidFill>
                  <a:srgbClr val="D4D4D4"/>
                </a:solidFill>
              </a:rPr>
              <a:t>(</a:t>
            </a:r>
            <a:r>
              <a:rPr>
                <a:solidFill>
                  <a:srgbClr val="9CDCFE"/>
                </a:solidFill>
              </a:rPr>
              <a:t>lista_minutos</a:t>
            </a:r>
            <a:r>
              <a:rPr>
                <a:solidFill>
                  <a:srgbClr val="D4D4D4"/>
                </a:solidFill>
              </a:rPr>
              <a:t>):</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total</a:t>
            </a:r>
            <a:r>
              <a:t> = </a:t>
            </a:r>
            <a:r>
              <a:rPr>
                <a:solidFill>
                  <a:srgbClr val="B5CEA8"/>
                </a:solidFill>
              </a:rPr>
              <a:t>0</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for</a:t>
            </a:r>
            <a:r>
              <a:t> </a:t>
            </a:r>
            <a:r>
              <a:rPr>
                <a:solidFill>
                  <a:srgbClr val="9CDCFE"/>
                </a:solidFill>
              </a:rPr>
              <a:t>minutos</a:t>
            </a:r>
            <a:r>
              <a:t> </a:t>
            </a:r>
            <a:r>
              <a:rPr>
                <a:solidFill>
                  <a:srgbClr val="C586C0"/>
                </a:solidFill>
              </a:rPr>
              <a:t>in</a:t>
            </a:r>
            <a:r>
              <a:t> </a:t>
            </a:r>
            <a:r>
              <a:rPr>
                <a:solidFill>
                  <a:srgbClr val="9CDCFE"/>
                </a:solidFill>
              </a:rPr>
              <a:t>lista_minutos</a:t>
            </a:r>
            <a:r>
              <a:t>:</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total</a:t>
            </a:r>
            <a:r>
              <a:t> = </a:t>
            </a:r>
            <a:r>
              <a:rPr>
                <a:solidFill>
                  <a:srgbClr val="9CDCFE"/>
                </a:solidFill>
              </a:rPr>
              <a:t>total</a:t>
            </a:r>
            <a:r>
              <a:t> + </a:t>
            </a:r>
            <a:r>
              <a:rPr>
                <a:solidFill>
                  <a:srgbClr val="9CDCFE"/>
                </a:solidFill>
              </a:rPr>
              <a:t>minutos</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9CDCFE"/>
                </a:solidFill>
              </a:rPr>
              <a:t>total</a:t>
            </a:r>
          </a:p>
        </p:txBody>
      </p:sp>
      <p:grpSp>
        <p:nvGrpSpPr>
          <p:cNvPr id="811" name="Text 5"/>
          <p:cNvGrpSpPr/>
          <p:nvPr/>
        </p:nvGrpSpPr>
        <p:grpSpPr>
          <a:xfrm>
            <a:off x="676655" y="1969389"/>
            <a:ext cx="219457" cy="219457"/>
            <a:chOff x="0" y="0"/>
            <a:chExt cx="219455" cy="219455"/>
          </a:xfrm>
        </p:grpSpPr>
        <p:sp>
          <p:nvSpPr>
            <p:cNvPr id="809" name="Circle"/>
            <p:cNvSpPr/>
            <p:nvPr/>
          </p:nvSpPr>
          <p:spPr>
            <a:xfrm>
              <a:off x="0" y="0"/>
              <a:ext cx="219456" cy="219456"/>
            </a:xfrm>
            <a:prstGeom prst="ellipse">
              <a:avLst/>
            </a:prstGeom>
            <a:solidFill>
              <a:schemeClr val="accent5"/>
            </a:solidFill>
            <a:ln w="12700" cap="flat">
              <a:solidFill>
                <a:srgbClr val="FFFFFF"/>
              </a:solidFill>
              <a:prstDash val="solid"/>
              <a:round/>
            </a:ln>
            <a:effectLst/>
          </p:spPr>
          <p:txBody>
            <a:bodyPr wrap="square" lIns="45719" tIns="45719" rIns="45719" bIns="45719" numCol="1" anchor="ctr">
              <a:noAutofit/>
            </a:bodyPr>
            <a:lstStyle/>
            <a:p>
              <a:pPr algn="ctr">
                <a:defRPr sz="1000"/>
              </a:pPr>
            </a:p>
          </p:txBody>
        </p:sp>
        <p:sp>
          <p:nvSpPr>
            <p:cNvPr id="810" name="1"/>
            <p:cNvSpPr txBox="1"/>
            <p:nvPr/>
          </p:nvSpPr>
          <p:spPr>
            <a:xfrm>
              <a:off x="38489" y="41192"/>
              <a:ext cx="142478"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defRPr>
              </a:lvl1pPr>
            </a:lstStyle>
            <a:p>
              <a:pPr/>
              <a:r>
                <a:t>1</a:t>
              </a:r>
            </a:p>
          </p:txBody>
        </p:sp>
      </p:grpSp>
      <p:grpSp>
        <p:nvGrpSpPr>
          <p:cNvPr id="814" name="Text 6"/>
          <p:cNvGrpSpPr/>
          <p:nvPr/>
        </p:nvGrpSpPr>
        <p:grpSpPr>
          <a:xfrm>
            <a:off x="676655" y="2178939"/>
            <a:ext cx="219457" cy="219457"/>
            <a:chOff x="0" y="0"/>
            <a:chExt cx="219455" cy="219455"/>
          </a:xfrm>
        </p:grpSpPr>
        <p:sp>
          <p:nvSpPr>
            <p:cNvPr id="812" name="Circle"/>
            <p:cNvSpPr/>
            <p:nvPr/>
          </p:nvSpPr>
          <p:spPr>
            <a:xfrm>
              <a:off x="0" y="0"/>
              <a:ext cx="219456" cy="219456"/>
            </a:xfrm>
            <a:prstGeom prst="ellipse">
              <a:avLst/>
            </a:prstGeom>
            <a:solidFill>
              <a:schemeClr val="accent5"/>
            </a:solidFill>
            <a:ln w="12700" cap="flat">
              <a:solidFill>
                <a:srgbClr val="FFFFFF"/>
              </a:solidFill>
              <a:prstDash val="solid"/>
              <a:round/>
            </a:ln>
            <a:effectLst/>
          </p:spPr>
          <p:txBody>
            <a:bodyPr wrap="square" lIns="45719" tIns="45719" rIns="45719" bIns="45719" numCol="1" anchor="ctr">
              <a:noAutofit/>
            </a:bodyPr>
            <a:lstStyle/>
            <a:p>
              <a:pPr algn="ctr">
                <a:defRPr sz="1000"/>
              </a:pPr>
            </a:p>
          </p:txBody>
        </p:sp>
        <p:sp>
          <p:nvSpPr>
            <p:cNvPr id="813" name="2"/>
            <p:cNvSpPr txBox="1"/>
            <p:nvPr/>
          </p:nvSpPr>
          <p:spPr>
            <a:xfrm>
              <a:off x="38489" y="41192"/>
              <a:ext cx="142478"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defRPr>
              </a:lvl1pPr>
            </a:lstStyle>
            <a:p>
              <a:pPr/>
              <a:r>
                <a:t>2</a:t>
              </a:r>
            </a:p>
          </p:txBody>
        </p:sp>
      </p:grpSp>
      <p:grpSp>
        <p:nvGrpSpPr>
          <p:cNvPr id="817" name="Text 7"/>
          <p:cNvGrpSpPr/>
          <p:nvPr/>
        </p:nvGrpSpPr>
        <p:grpSpPr>
          <a:xfrm>
            <a:off x="676655" y="2388489"/>
            <a:ext cx="219457" cy="219457"/>
            <a:chOff x="0" y="0"/>
            <a:chExt cx="219455" cy="219455"/>
          </a:xfrm>
        </p:grpSpPr>
        <p:sp>
          <p:nvSpPr>
            <p:cNvPr id="815" name="Circle"/>
            <p:cNvSpPr/>
            <p:nvPr/>
          </p:nvSpPr>
          <p:spPr>
            <a:xfrm>
              <a:off x="0" y="0"/>
              <a:ext cx="219456" cy="219456"/>
            </a:xfrm>
            <a:prstGeom prst="ellipse">
              <a:avLst/>
            </a:prstGeom>
            <a:solidFill>
              <a:schemeClr val="accent5"/>
            </a:solidFill>
            <a:ln w="12700" cap="flat">
              <a:solidFill>
                <a:srgbClr val="FFFFFF"/>
              </a:solidFill>
              <a:prstDash val="solid"/>
              <a:round/>
            </a:ln>
            <a:effectLst/>
          </p:spPr>
          <p:txBody>
            <a:bodyPr wrap="square" lIns="45719" tIns="45719" rIns="45719" bIns="45719" numCol="1" anchor="ctr">
              <a:noAutofit/>
            </a:bodyPr>
            <a:lstStyle/>
            <a:p>
              <a:pPr algn="ctr">
                <a:defRPr sz="1000"/>
              </a:pPr>
            </a:p>
          </p:txBody>
        </p:sp>
        <p:sp>
          <p:nvSpPr>
            <p:cNvPr id="816" name="3"/>
            <p:cNvSpPr txBox="1"/>
            <p:nvPr/>
          </p:nvSpPr>
          <p:spPr>
            <a:xfrm>
              <a:off x="38489" y="41192"/>
              <a:ext cx="142478"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defRPr>
              </a:lvl1pPr>
            </a:lstStyle>
            <a:p>
              <a:pPr/>
              <a:r>
                <a:t>3</a:t>
              </a:r>
            </a:p>
          </p:txBody>
        </p:sp>
      </p:grpSp>
      <p:grpSp>
        <p:nvGrpSpPr>
          <p:cNvPr id="820" name="Text 8"/>
          <p:cNvGrpSpPr/>
          <p:nvPr/>
        </p:nvGrpSpPr>
        <p:grpSpPr>
          <a:xfrm>
            <a:off x="676655" y="2598039"/>
            <a:ext cx="219457" cy="219457"/>
            <a:chOff x="0" y="0"/>
            <a:chExt cx="219455" cy="219455"/>
          </a:xfrm>
        </p:grpSpPr>
        <p:sp>
          <p:nvSpPr>
            <p:cNvPr id="818" name="Circle"/>
            <p:cNvSpPr/>
            <p:nvPr/>
          </p:nvSpPr>
          <p:spPr>
            <a:xfrm>
              <a:off x="0" y="0"/>
              <a:ext cx="219456" cy="219456"/>
            </a:xfrm>
            <a:prstGeom prst="ellipse">
              <a:avLst/>
            </a:prstGeom>
            <a:solidFill>
              <a:schemeClr val="accent5"/>
            </a:solidFill>
            <a:ln w="12700" cap="flat">
              <a:solidFill>
                <a:srgbClr val="FFFFFF"/>
              </a:solidFill>
              <a:prstDash val="solid"/>
              <a:round/>
            </a:ln>
            <a:effectLst/>
          </p:spPr>
          <p:txBody>
            <a:bodyPr wrap="square" lIns="45719" tIns="45719" rIns="45719" bIns="45719" numCol="1" anchor="ctr">
              <a:noAutofit/>
            </a:bodyPr>
            <a:lstStyle/>
            <a:p>
              <a:pPr algn="ctr">
                <a:defRPr sz="1000"/>
              </a:pPr>
            </a:p>
          </p:txBody>
        </p:sp>
        <p:sp>
          <p:nvSpPr>
            <p:cNvPr id="819" name="4"/>
            <p:cNvSpPr txBox="1"/>
            <p:nvPr/>
          </p:nvSpPr>
          <p:spPr>
            <a:xfrm>
              <a:off x="38489" y="41192"/>
              <a:ext cx="142478"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defRPr>
              </a:lvl1pPr>
            </a:lstStyle>
            <a:p>
              <a:pPr/>
              <a:r>
                <a:t>4</a:t>
              </a:r>
            </a:p>
          </p:txBody>
        </p:sp>
      </p:grpSp>
      <p:sp>
        <p:nvSpPr>
          <p:cNvPr id="821" name="Shape 9"/>
          <p:cNvSpPr/>
          <p:nvPr/>
        </p:nvSpPr>
        <p:spPr>
          <a:xfrm>
            <a:off x="548640" y="3196589"/>
            <a:ext cx="4777131" cy="3158491"/>
          </a:xfrm>
          <a:prstGeom prst="roundRect">
            <a:avLst>
              <a:gd name="adj" fmla="val 2316"/>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822" name="Text 10"/>
          <p:cNvSpPr txBox="1"/>
          <p:nvPr/>
        </p:nvSpPr>
        <p:spPr>
          <a:xfrm>
            <a:off x="749808" y="3347510"/>
            <a:ext cx="437479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3"/>
                </a:solidFill>
              </a:defRPr>
            </a:lvl1pPr>
          </a:lstStyle>
          <a:p>
            <a:pPr/>
            <a:r>
              <a:t>Nassi-Shneiderman</a:t>
            </a:r>
          </a:p>
        </p:txBody>
      </p:sp>
      <p:sp>
        <p:nvSpPr>
          <p:cNvPr id="823" name="Shape 11"/>
          <p:cNvSpPr/>
          <p:nvPr/>
        </p:nvSpPr>
        <p:spPr>
          <a:xfrm>
            <a:off x="777239" y="3635502"/>
            <a:ext cx="4319932" cy="384049"/>
          </a:xfrm>
          <a:prstGeom prst="rect">
            <a:avLst/>
          </a:prstGeom>
          <a:solidFill>
            <a:srgbClr val="1E293B"/>
          </a:solidFill>
          <a:ln>
            <a:solidFill>
              <a:srgbClr val="334155"/>
            </a:solidFill>
          </a:ln>
        </p:spPr>
        <p:txBody>
          <a:bodyPr lIns="45719" rIns="45719"/>
          <a:lstStyle/>
          <a:p>
            <a:pPr/>
          </a:p>
        </p:txBody>
      </p:sp>
      <p:sp>
        <p:nvSpPr>
          <p:cNvPr id="824" name="Text 12"/>
          <p:cNvSpPr txBox="1"/>
          <p:nvPr/>
        </p:nvSpPr>
        <p:spPr>
          <a:xfrm>
            <a:off x="822960" y="3744976"/>
            <a:ext cx="422849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sumar_duracion_playlist(lista_minutos)</a:t>
            </a:r>
          </a:p>
        </p:txBody>
      </p:sp>
      <p:sp>
        <p:nvSpPr>
          <p:cNvPr id="825" name="Shape 13"/>
          <p:cNvSpPr/>
          <p:nvPr/>
        </p:nvSpPr>
        <p:spPr>
          <a:xfrm>
            <a:off x="777239" y="4019550"/>
            <a:ext cx="4319932" cy="384048"/>
          </a:xfrm>
          <a:prstGeom prst="rect">
            <a:avLst/>
          </a:prstGeom>
          <a:solidFill>
            <a:srgbClr val="DBEAFE"/>
          </a:solidFill>
          <a:ln>
            <a:solidFill>
              <a:srgbClr val="334155"/>
            </a:solidFill>
          </a:ln>
        </p:spPr>
        <p:txBody>
          <a:bodyPr lIns="45719" rIns="45719"/>
          <a:lstStyle/>
          <a:p>
            <a:pPr/>
          </a:p>
        </p:txBody>
      </p:sp>
      <p:sp>
        <p:nvSpPr>
          <p:cNvPr id="826" name="Text 14"/>
          <p:cNvSpPr txBox="1"/>
          <p:nvPr/>
        </p:nvSpPr>
        <p:spPr>
          <a:xfrm>
            <a:off x="822960" y="4129023"/>
            <a:ext cx="422849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total = 0</a:t>
            </a:r>
          </a:p>
        </p:txBody>
      </p:sp>
      <p:grpSp>
        <p:nvGrpSpPr>
          <p:cNvPr id="829" name="Text 15"/>
          <p:cNvGrpSpPr/>
          <p:nvPr/>
        </p:nvGrpSpPr>
        <p:grpSpPr>
          <a:xfrm>
            <a:off x="822960" y="4101846"/>
            <a:ext cx="219457" cy="219457"/>
            <a:chOff x="0" y="0"/>
            <a:chExt cx="219455" cy="219455"/>
          </a:xfrm>
        </p:grpSpPr>
        <p:sp>
          <p:nvSpPr>
            <p:cNvPr id="827" name="Circle"/>
            <p:cNvSpPr/>
            <p:nvPr/>
          </p:nvSpPr>
          <p:spPr>
            <a:xfrm>
              <a:off x="0" y="0"/>
              <a:ext cx="219456" cy="219456"/>
            </a:xfrm>
            <a:prstGeom prst="ellipse">
              <a:avLst/>
            </a:prstGeom>
            <a:solidFill>
              <a:schemeClr val="accent5"/>
            </a:solidFill>
            <a:ln w="12700" cap="flat">
              <a:solidFill>
                <a:srgbClr val="FFFFFF"/>
              </a:solidFill>
              <a:prstDash val="solid"/>
              <a:round/>
            </a:ln>
            <a:effectLst/>
          </p:spPr>
          <p:txBody>
            <a:bodyPr wrap="square" lIns="45719" tIns="45719" rIns="45719" bIns="45719" numCol="1" anchor="ctr">
              <a:noAutofit/>
            </a:bodyPr>
            <a:lstStyle/>
            <a:p>
              <a:pPr algn="ctr">
                <a:defRPr sz="1000"/>
              </a:pPr>
            </a:p>
          </p:txBody>
        </p:sp>
        <p:sp>
          <p:nvSpPr>
            <p:cNvPr id="828" name="1"/>
            <p:cNvSpPr txBox="1"/>
            <p:nvPr/>
          </p:nvSpPr>
          <p:spPr>
            <a:xfrm>
              <a:off x="38489" y="41192"/>
              <a:ext cx="142478"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defRPr>
              </a:lvl1pPr>
            </a:lstStyle>
            <a:p>
              <a:pPr/>
              <a:r>
                <a:t>1</a:t>
              </a:r>
            </a:p>
          </p:txBody>
        </p:sp>
      </p:grpSp>
      <p:sp>
        <p:nvSpPr>
          <p:cNvPr id="830" name="Shape 16"/>
          <p:cNvSpPr/>
          <p:nvPr/>
        </p:nvSpPr>
        <p:spPr>
          <a:xfrm>
            <a:off x="777239" y="4403597"/>
            <a:ext cx="4319932" cy="768097"/>
          </a:xfrm>
          <a:prstGeom prst="rect">
            <a:avLst/>
          </a:prstGeom>
          <a:solidFill>
            <a:srgbClr val="DCFCE7"/>
          </a:solidFill>
          <a:ln>
            <a:solidFill>
              <a:srgbClr val="334155"/>
            </a:solidFill>
          </a:ln>
        </p:spPr>
        <p:txBody>
          <a:bodyPr lIns="45719" rIns="45719"/>
          <a:lstStyle/>
          <a:p>
            <a:pPr/>
          </a:p>
        </p:txBody>
      </p:sp>
      <p:sp>
        <p:nvSpPr>
          <p:cNvPr id="831" name="Text 17"/>
          <p:cNvSpPr txBox="1"/>
          <p:nvPr/>
        </p:nvSpPr>
        <p:spPr>
          <a:xfrm>
            <a:off x="868679" y="4513071"/>
            <a:ext cx="413705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14532D"/>
                </a:solidFill>
                <a:latin typeface="Menlo Regular"/>
                <a:ea typeface="Menlo Regular"/>
                <a:cs typeface="Menlo Regular"/>
                <a:sym typeface="Menlo Regular"/>
              </a:defRPr>
            </a:lvl1pPr>
          </a:lstStyle>
          <a:p>
            <a:pPr/>
            <a:r>
              <a:t>for minutos in lista_minutos</a:t>
            </a:r>
          </a:p>
        </p:txBody>
      </p:sp>
      <p:grpSp>
        <p:nvGrpSpPr>
          <p:cNvPr id="834" name="Text 18"/>
          <p:cNvGrpSpPr/>
          <p:nvPr/>
        </p:nvGrpSpPr>
        <p:grpSpPr>
          <a:xfrm>
            <a:off x="4822850" y="4485894"/>
            <a:ext cx="219457" cy="219457"/>
            <a:chOff x="0" y="0"/>
            <a:chExt cx="219455" cy="219455"/>
          </a:xfrm>
        </p:grpSpPr>
        <p:sp>
          <p:nvSpPr>
            <p:cNvPr id="832" name="Circle"/>
            <p:cNvSpPr/>
            <p:nvPr/>
          </p:nvSpPr>
          <p:spPr>
            <a:xfrm>
              <a:off x="0" y="0"/>
              <a:ext cx="219456" cy="219456"/>
            </a:xfrm>
            <a:prstGeom prst="ellipse">
              <a:avLst/>
            </a:prstGeom>
            <a:solidFill>
              <a:schemeClr val="accent5"/>
            </a:solidFill>
            <a:ln w="12700" cap="flat">
              <a:solidFill>
                <a:srgbClr val="FFFFFF"/>
              </a:solidFill>
              <a:prstDash val="solid"/>
              <a:round/>
            </a:ln>
            <a:effectLst/>
          </p:spPr>
          <p:txBody>
            <a:bodyPr wrap="square" lIns="45719" tIns="45719" rIns="45719" bIns="45719" numCol="1" anchor="ctr">
              <a:noAutofit/>
            </a:bodyPr>
            <a:lstStyle/>
            <a:p>
              <a:pPr algn="ctr">
                <a:defRPr sz="1000"/>
              </a:pPr>
            </a:p>
          </p:txBody>
        </p:sp>
        <p:sp>
          <p:nvSpPr>
            <p:cNvPr id="833" name="2"/>
            <p:cNvSpPr txBox="1"/>
            <p:nvPr/>
          </p:nvSpPr>
          <p:spPr>
            <a:xfrm>
              <a:off x="38489" y="41192"/>
              <a:ext cx="142478"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defRPr>
              </a:lvl1pPr>
            </a:lstStyle>
            <a:p>
              <a:pPr/>
              <a:r>
                <a:t>2</a:t>
              </a:r>
            </a:p>
          </p:txBody>
        </p:sp>
      </p:grpSp>
      <p:sp>
        <p:nvSpPr>
          <p:cNvPr id="835" name="Shape 19"/>
          <p:cNvSpPr/>
          <p:nvPr/>
        </p:nvSpPr>
        <p:spPr>
          <a:xfrm>
            <a:off x="1161288" y="4787646"/>
            <a:ext cx="3935882" cy="384049"/>
          </a:xfrm>
          <a:prstGeom prst="rect">
            <a:avLst/>
          </a:prstGeom>
          <a:solidFill>
            <a:srgbClr val="DBEAFE"/>
          </a:solidFill>
          <a:ln>
            <a:solidFill>
              <a:srgbClr val="334155"/>
            </a:solidFill>
          </a:ln>
        </p:spPr>
        <p:txBody>
          <a:bodyPr lIns="45719" rIns="45719"/>
          <a:lstStyle/>
          <a:p>
            <a:pPr/>
          </a:p>
        </p:txBody>
      </p:sp>
      <p:sp>
        <p:nvSpPr>
          <p:cNvPr id="836" name="Text 20"/>
          <p:cNvSpPr txBox="1"/>
          <p:nvPr/>
        </p:nvSpPr>
        <p:spPr>
          <a:xfrm>
            <a:off x="1207008" y="4897120"/>
            <a:ext cx="3844443"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total = total + minutos</a:t>
            </a:r>
          </a:p>
        </p:txBody>
      </p:sp>
      <p:grpSp>
        <p:nvGrpSpPr>
          <p:cNvPr id="839" name="Text 21"/>
          <p:cNvGrpSpPr/>
          <p:nvPr/>
        </p:nvGrpSpPr>
        <p:grpSpPr>
          <a:xfrm>
            <a:off x="1207008" y="4869941"/>
            <a:ext cx="219457" cy="219457"/>
            <a:chOff x="0" y="0"/>
            <a:chExt cx="219455" cy="219455"/>
          </a:xfrm>
        </p:grpSpPr>
        <p:sp>
          <p:nvSpPr>
            <p:cNvPr id="837" name="Circle"/>
            <p:cNvSpPr/>
            <p:nvPr/>
          </p:nvSpPr>
          <p:spPr>
            <a:xfrm>
              <a:off x="0" y="0"/>
              <a:ext cx="219456" cy="219456"/>
            </a:xfrm>
            <a:prstGeom prst="ellipse">
              <a:avLst/>
            </a:prstGeom>
            <a:solidFill>
              <a:schemeClr val="accent5"/>
            </a:solidFill>
            <a:ln w="12700" cap="flat">
              <a:solidFill>
                <a:srgbClr val="FFFFFF"/>
              </a:solidFill>
              <a:prstDash val="solid"/>
              <a:round/>
            </a:ln>
            <a:effectLst/>
          </p:spPr>
          <p:txBody>
            <a:bodyPr wrap="square" lIns="45719" tIns="45719" rIns="45719" bIns="45719" numCol="1" anchor="ctr">
              <a:noAutofit/>
            </a:bodyPr>
            <a:lstStyle/>
            <a:p>
              <a:pPr algn="ctr">
                <a:defRPr sz="1000"/>
              </a:pPr>
            </a:p>
          </p:txBody>
        </p:sp>
        <p:sp>
          <p:nvSpPr>
            <p:cNvPr id="838" name="3"/>
            <p:cNvSpPr txBox="1"/>
            <p:nvPr/>
          </p:nvSpPr>
          <p:spPr>
            <a:xfrm>
              <a:off x="38489" y="41192"/>
              <a:ext cx="142478"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defRPr>
              </a:lvl1pPr>
            </a:lstStyle>
            <a:p>
              <a:pPr/>
              <a:r>
                <a:t>3</a:t>
              </a:r>
            </a:p>
          </p:txBody>
        </p:sp>
      </p:grpSp>
      <p:sp>
        <p:nvSpPr>
          <p:cNvPr id="840" name="Shape 22"/>
          <p:cNvSpPr/>
          <p:nvPr/>
        </p:nvSpPr>
        <p:spPr>
          <a:xfrm>
            <a:off x="777239" y="5171694"/>
            <a:ext cx="4319932" cy="384049"/>
          </a:xfrm>
          <a:prstGeom prst="rect">
            <a:avLst/>
          </a:prstGeom>
          <a:solidFill>
            <a:srgbClr val="EDE9FE"/>
          </a:solidFill>
          <a:ln>
            <a:solidFill>
              <a:srgbClr val="334155"/>
            </a:solidFill>
          </a:ln>
        </p:spPr>
        <p:txBody>
          <a:bodyPr lIns="45719" rIns="45719"/>
          <a:lstStyle/>
          <a:p>
            <a:pPr/>
          </a:p>
        </p:txBody>
      </p:sp>
      <p:sp>
        <p:nvSpPr>
          <p:cNvPr id="841" name="Text 23"/>
          <p:cNvSpPr txBox="1"/>
          <p:nvPr/>
        </p:nvSpPr>
        <p:spPr>
          <a:xfrm>
            <a:off x="822960" y="5281167"/>
            <a:ext cx="422849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total</a:t>
            </a:r>
          </a:p>
        </p:txBody>
      </p:sp>
      <p:grpSp>
        <p:nvGrpSpPr>
          <p:cNvPr id="844" name="Text 24"/>
          <p:cNvGrpSpPr/>
          <p:nvPr/>
        </p:nvGrpSpPr>
        <p:grpSpPr>
          <a:xfrm>
            <a:off x="822960" y="5253990"/>
            <a:ext cx="219457" cy="219457"/>
            <a:chOff x="0" y="0"/>
            <a:chExt cx="219455" cy="219455"/>
          </a:xfrm>
        </p:grpSpPr>
        <p:sp>
          <p:nvSpPr>
            <p:cNvPr id="842" name="Circle"/>
            <p:cNvSpPr/>
            <p:nvPr/>
          </p:nvSpPr>
          <p:spPr>
            <a:xfrm>
              <a:off x="0" y="0"/>
              <a:ext cx="219456" cy="219456"/>
            </a:xfrm>
            <a:prstGeom prst="ellipse">
              <a:avLst/>
            </a:prstGeom>
            <a:solidFill>
              <a:schemeClr val="accent5"/>
            </a:solidFill>
            <a:ln w="12700" cap="flat">
              <a:solidFill>
                <a:srgbClr val="FFFFFF"/>
              </a:solidFill>
              <a:prstDash val="solid"/>
              <a:round/>
            </a:ln>
            <a:effectLst/>
          </p:spPr>
          <p:txBody>
            <a:bodyPr wrap="square" lIns="45719" tIns="45719" rIns="45719" bIns="45719" numCol="1" anchor="ctr">
              <a:noAutofit/>
            </a:bodyPr>
            <a:lstStyle/>
            <a:p>
              <a:pPr algn="ctr">
                <a:defRPr sz="1000"/>
              </a:pPr>
            </a:p>
          </p:txBody>
        </p:sp>
        <p:sp>
          <p:nvSpPr>
            <p:cNvPr id="843" name="4"/>
            <p:cNvSpPr txBox="1"/>
            <p:nvPr/>
          </p:nvSpPr>
          <p:spPr>
            <a:xfrm>
              <a:off x="38489" y="41192"/>
              <a:ext cx="142478" cy="1370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FFFFFF"/>
                  </a:solidFill>
                </a:defRPr>
              </a:lvl1pPr>
            </a:lstStyle>
            <a:p>
              <a:pPr/>
              <a:r>
                <a:t>4</a:t>
              </a:r>
            </a:p>
          </p:txBody>
        </p:sp>
      </p:grpSp>
      <p:sp>
        <p:nvSpPr>
          <p:cNvPr id="845" name="Shape 25"/>
          <p:cNvSpPr/>
          <p:nvPr/>
        </p:nvSpPr>
        <p:spPr>
          <a:xfrm>
            <a:off x="5554369" y="1325880"/>
            <a:ext cx="6085943" cy="5029201"/>
          </a:xfrm>
          <a:prstGeom prst="roundRect">
            <a:avLst>
              <a:gd name="adj" fmla="val 145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846" name="Text 26"/>
          <p:cNvSpPr txBox="1"/>
          <p:nvPr/>
        </p:nvSpPr>
        <p:spPr>
          <a:xfrm>
            <a:off x="5755537" y="1476800"/>
            <a:ext cx="5683608"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2"/>
                </a:solidFill>
              </a:defRPr>
            </a:lvl1pPr>
          </a:lstStyle>
          <a:p>
            <a:pPr/>
            <a:r>
              <a:t>Diagrama de flujo</a:t>
            </a:r>
          </a:p>
        </p:txBody>
      </p:sp>
      <p:sp>
        <p:nvSpPr>
          <p:cNvPr id="847" name="Shape 27"/>
          <p:cNvSpPr/>
          <p:nvPr/>
        </p:nvSpPr>
        <p:spPr>
          <a:xfrm>
            <a:off x="6770853" y="2020823"/>
            <a:ext cx="3652978" cy="384049"/>
          </a:xfrm>
          <a:prstGeom prst="roundRect">
            <a:avLst>
              <a:gd name="adj" fmla="val 50000"/>
            </a:avLst>
          </a:prstGeom>
          <a:solidFill>
            <a:srgbClr val="1E293B"/>
          </a:solidFill>
          <a:ln w="15875">
            <a:solidFill>
              <a:srgbClr val="1E293B"/>
            </a:solidFill>
          </a:ln>
        </p:spPr>
        <p:txBody>
          <a:bodyPr lIns="45719" rIns="45719"/>
          <a:lstStyle/>
          <a:p>
            <a:pPr/>
          </a:p>
        </p:txBody>
      </p:sp>
      <p:sp>
        <p:nvSpPr>
          <p:cNvPr id="848" name="Text 28"/>
          <p:cNvSpPr txBox="1"/>
          <p:nvPr/>
        </p:nvSpPr>
        <p:spPr>
          <a:xfrm>
            <a:off x="6770853" y="2130297"/>
            <a:ext cx="3652978"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sumar_duracion_playlist(lista_minutos)</a:t>
            </a:r>
          </a:p>
        </p:txBody>
      </p:sp>
      <p:sp>
        <p:nvSpPr>
          <p:cNvPr id="849" name="Shape 29"/>
          <p:cNvSpPr/>
          <p:nvPr/>
        </p:nvSpPr>
        <p:spPr>
          <a:xfrm>
            <a:off x="8597340" y="2404871"/>
            <a:ext cx="1" cy="237744"/>
          </a:xfrm>
          <a:prstGeom prst="line">
            <a:avLst/>
          </a:prstGeom>
          <a:ln w="15875">
            <a:solidFill>
              <a:srgbClr val="64748B"/>
            </a:solidFill>
            <a:tailEnd type="triangle"/>
          </a:ln>
        </p:spPr>
        <p:txBody>
          <a:bodyPr lIns="45719" rIns="45719"/>
          <a:lstStyle/>
          <a:p>
            <a:pPr/>
          </a:p>
        </p:txBody>
      </p:sp>
      <p:sp>
        <p:nvSpPr>
          <p:cNvPr id="850" name="Shape 30"/>
          <p:cNvSpPr/>
          <p:nvPr/>
        </p:nvSpPr>
        <p:spPr>
          <a:xfrm>
            <a:off x="8036014" y="2642616"/>
            <a:ext cx="1122656" cy="365761"/>
          </a:xfrm>
          <a:prstGeom prst="rect">
            <a:avLst/>
          </a:prstGeom>
          <a:solidFill>
            <a:srgbClr val="DBEAFE"/>
          </a:solidFill>
          <a:ln w="15875">
            <a:solidFill>
              <a:schemeClr val="accent1"/>
            </a:solidFill>
          </a:ln>
        </p:spPr>
        <p:txBody>
          <a:bodyPr lIns="45719" rIns="45719"/>
          <a:lstStyle/>
          <a:p>
            <a:pPr/>
          </a:p>
        </p:txBody>
      </p:sp>
      <p:sp>
        <p:nvSpPr>
          <p:cNvPr id="851" name="Text 31"/>
          <p:cNvSpPr txBox="1"/>
          <p:nvPr/>
        </p:nvSpPr>
        <p:spPr>
          <a:xfrm>
            <a:off x="8036014" y="2742945"/>
            <a:ext cx="1122656"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total = 0</a:t>
            </a:r>
          </a:p>
        </p:txBody>
      </p:sp>
      <p:grpSp>
        <p:nvGrpSpPr>
          <p:cNvPr id="854" name="Text 32"/>
          <p:cNvGrpSpPr/>
          <p:nvPr/>
        </p:nvGrpSpPr>
        <p:grpSpPr>
          <a:xfrm>
            <a:off x="7907997" y="2514600"/>
            <a:ext cx="256033" cy="256032"/>
            <a:chOff x="0" y="0"/>
            <a:chExt cx="256031" cy="256031"/>
          </a:xfrm>
        </p:grpSpPr>
        <p:sp>
          <p:nvSpPr>
            <p:cNvPr id="852" name="Circle"/>
            <p:cNvSpPr/>
            <p:nvPr/>
          </p:nvSpPr>
          <p:spPr>
            <a:xfrm>
              <a:off x="0" y="0"/>
              <a:ext cx="256032" cy="256032"/>
            </a:xfrm>
            <a:prstGeom prst="ellipse">
              <a:avLst/>
            </a:prstGeom>
            <a:solidFill>
              <a:schemeClr val="accent5"/>
            </a:solidFill>
            <a:ln w="12700" cap="flat">
              <a:solidFill>
                <a:srgbClr val="FFFFFF"/>
              </a:solidFill>
              <a:prstDash val="solid"/>
              <a:round/>
            </a:ln>
            <a:effectLst/>
          </p:spPr>
          <p:txBody>
            <a:bodyPr wrap="square" lIns="45719" tIns="45719" rIns="45719" bIns="45719" numCol="1" anchor="ctr">
              <a:noAutofit/>
            </a:bodyPr>
            <a:lstStyle/>
            <a:p>
              <a:pPr algn="ctr">
                <a:defRPr sz="1100"/>
              </a:pPr>
            </a:p>
          </p:txBody>
        </p:sp>
        <p:sp>
          <p:nvSpPr>
            <p:cNvPr id="853" name="1"/>
            <p:cNvSpPr txBox="1"/>
            <p:nvPr/>
          </p:nvSpPr>
          <p:spPr>
            <a:xfrm>
              <a:off x="43844" y="60882"/>
              <a:ext cx="168343" cy="1342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100">
                  <a:solidFill>
                    <a:srgbClr val="FFFFFF"/>
                  </a:solidFill>
                </a:defRPr>
              </a:lvl1pPr>
            </a:lstStyle>
            <a:p>
              <a:pPr/>
              <a:r>
                <a:t>1</a:t>
              </a:r>
            </a:p>
          </p:txBody>
        </p:sp>
      </p:grpSp>
      <p:sp>
        <p:nvSpPr>
          <p:cNvPr id="855" name="Shape 33"/>
          <p:cNvSpPr/>
          <p:nvPr/>
        </p:nvSpPr>
        <p:spPr>
          <a:xfrm>
            <a:off x="8597340" y="3008375"/>
            <a:ext cx="1" cy="237744"/>
          </a:xfrm>
          <a:prstGeom prst="line">
            <a:avLst/>
          </a:prstGeom>
          <a:ln w="15875">
            <a:solidFill>
              <a:srgbClr val="64748B"/>
            </a:solidFill>
            <a:tailEnd type="triangle"/>
          </a:ln>
        </p:spPr>
        <p:txBody>
          <a:bodyPr lIns="45719" rIns="45719"/>
          <a:lstStyle/>
          <a:p>
            <a:pPr/>
          </a:p>
        </p:txBody>
      </p:sp>
      <p:sp>
        <p:nvSpPr>
          <p:cNvPr id="856" name="Shape 34"/>
          <p:cNvSpPr/>
          <p:nvPr/>
        </p:nvSpPr>
        <p:spPr>
          <a:xfrm>
            <a:off x="7099910" y="3246120"/>
            <a:ext cx="2994864" cy="4572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824" y="0"/>
                </a:lnTo>
                <a:lnTo>
                  <a:pt x="20776" y="0"/>
                </a:lnTo>
                <a:lnTo>
                  <a:pt x="21600" y="10800"/>
                </a:lnTo>
                <a:lnTo>
                  <a:pt x="20776" y="21600"/>
                </a:lnTo>
                <a:lnTo>
                  <a:pt x="824" y="21600"/>
                </a:lnTo>
                <a:close/>
              </a:path>
            </a:pathLst>
          </a:custGeom>
          <a:solidFill>
            <a:srgbClr val="DCFCE7"/>
          </a:solidFill>
          <a:ln w="15875">
            <a:solidFill>
              <a:schemeClr val="accent2"/>
            </a:solidFill>
          </a:ln>
        </p:spPr>
        <p:txBody>
          <a:bodyPr lIns="45719" rIns="45719"/>
          <a:lstStyle/>
          <a:p>
            <a:pPr/>
          </a:p>
        </p:txBody>
      </p:sp>
      <p:sp>
        <p:nvSpPr>
          <p:cNvPr id="857" name="Text 35"/>
          <p:cNvSpPr txBox="1"/>
          <p:nvPr/>
        </p:nvSpPr>
        <p:spPr>
          <a:xfrm>
            <a:off x="7099910" y="3392170"/>
            <a:ext cx="299486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4532D"/>
                </a:solidFill>
                <a:latin typeface="Menlo Regular"/>
                <a:ea typeface="Menlo Regular"/>
                <a:cs typeface="Menlo Regular"/>
                <a:sym typeface="Menlo Regular"/>
              </a:defRPr>
            </a:lvl1pPr>
          </a:lstStyle>
          <a:p>
            <a:pPr/>
            <a:r>
              <a:t>for minutos in lista_minutos</a:t>
            </a:r>
          </a:p>
        </p:txBody>
      </p:sp>
      <p:grpSp>
        <p:nvGrpSpPr>
          <p:cNvPr id="860" name="Text 36"/>
          <p:cNvGrpSpPr/>
          <p:nvPr/>
        </p:nvGrpSpPr>
        <p:grpSpPr>
          <a:xfrm>
            <a:off x="6971893" y="3118104"/>
            <a:ext cx="256033" cy="256033"/>
            <a:chOff x="0" y="0"/>
            <a:chExt cx="256031" cy="256031"/>
          </a:xfrm>
        </p:grpSpPr>
        <p:sp>
          <p:nvSpPr>
            <p:cNvPr id="858" name="Circle"/>
            <p:cNvSpPr/>
            <p:nvPr/>
          </p:nvSpPr>
          <p:spPr>
            <a:xfrm>
              <a:off x="0" y="0"/>
              <a:ext cx="256032" cy="256032"/>
            </a:xfrm>
            <a:prstGeom prst="ellipse">
              <a:avLst/>
            </a:prstGeom>
            <a:solidFill>
              <a:schemeClr val="accent5"/>
            </a:solidFill>
            <a:ln w="12700" cap="flat">
              <a:solidFill>
                <a:srgbClr val="FFFFFF"/>
              </a:solidFill>
              <a:prstDash val="solid"/>
              <a:round/>
            </a:ln>
            <a:effectLst/>
          </p:spPr>
          <p:txBody>
            <a:bodyPr wrap="square" lIns="45719" tIns="45719" rIns="45719" bIns="45719" numCol="1" anchor="ctr">
              <a:noAutofit/>
            </a:bodyPr>
            <a:lstStyle/>
            <a:p>
              <a:pPr algn="ctr">
                <a:defRPr sz="1100"/>
              </a:pPr>
            </a:p>
          </p:txBody>
        </p:sp>
        <p:sp>
          <p:nvSpPr>
            <p:cNvPr id="859" name="2"/>
            <p:cNvSpPr txBox="1"/>
            <p:nvPr/>
          </p:nvSpPr>
          <p:spPr>
            <a:xfrm>
              <a:off x="43844" y="60882"/>
              <a:ext cx="168343" cy="1342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100">
                  <a:solidFill>
                    <a:srgbClr val="FFFFFF"/>
                  </a:solidFill>
                </a:defRPr>
              </a:lvl1pPr>
            </a:lstStyle>
            <a:p>
              <a:pPr/>
              <a:r>
                <a:t>2</a:t>
              </a:r>
            </a:p>
          </p:txBody>
        </p:sp>
      </p:grpSp>
      <p:sp>
        <p:nvSpPr>
          <p:cNvPr id="861" name="Shape 37"/>
          <p:cNvSpPr/>
          <p:nvPr/>
        </p:nvSpPr>
        <p:spPr>
          <a:xfrm>
            <a:off x="8597340" y="3703320"/>
            <a:ext cx="1" cy="237744"/>
          </a:xfrm>
          <a:prstGeom prst="line">
            <a:avLst/>
          </a:prstGeom>
          <a:ln w="15875">
            <a:solidFill>
              <a:srgbClr val="64748B"/>
            </a:solidFill>
            <a:tailEnd type="triangle"/>
          </a:ln>
        </p:spPr>
        <p:txBody>
          <a:bodyPr lIns="45719" rIns="45719"/>
          <a:lstStyle/>
          <a:p>
            <a:pPr/>
          </a:p>
        </p:txBody>
      </p:sp>
      <p:sp>
        <p:nvSpPr>
          <p:cNvPr id="862" name="Text 38"/>
          <p:cNvSpPr txBox="1"/>
          <p:nvPr/>
        </p:nvSpPr>
        <p:spPr>
          <a:xfrm>
            <a:off x="8652205" y="3753656"/>
            <a:ext cx="100584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siguiente</a:t>
            </a:r>
          </a:p>
        </p:txBody>
      </p:sp>
      <p:sp>
        <p:nvSpPr>
          <p:cNvPr id="863" name="Shape 39"/>
          <p:cNvSpPr/>
          <p:nvPr/>
        </p:nvSpPr>
        <p:spPr>
          <a:xfrm>
            <a:off x="7447318" y="3941064"/>
            <a:ext cx="2300047" cy="365761"/>
          </a:xfrm>
          <a:prstGeom prst="rect">
            <a:avLst/>
          </a:prstGeom>
          <a:solidFill>
            <a:srgbClr val="DBEAFE"/>
          </a:solidFill>
          <a:ln w="15875">
            <a:solidFill>
              <a:schemeClr val="accent1"/>
            </a:solidFill>
          </a:ln>
        </p:spPr>
        <p:txBody>
          <a:bodyPr lIns="45719" rIns="45719"/>
          <a:lstStyle/>
          <a:p>
            <a:pPr/>
          </a:p>
        </p:txBody>
      </p:sp>
      <p:sp>
        <p:nvSpPr>
          <p:cNvPr id="864" name="Text 40"/>
          <p:cNvSpPr txBox="1"/>
          <p:nvPr/>
        </p:nvSpPr>
        <p:spPr>
          <a:xfrm>
            <a:off x="7447318" y="4041394"/>
            <a:ext cx="230004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total = total + minutos</a:t>
            </a:r>
          </a:p>
        </p:txBody>
      </p:sp>
      <p:grpSp>
        <p:nvGrpSpPr>
          <p:cNvPr id="867" name="Text 41"/>
          <p:cNvGrpSpPr/>
          <p:nvPr/>
        </p:nvGrpSpPr>
        <p:grpSpPr>
          <a:xfrm>
            <a:off x="7319302" y="3813047"/>
            <a:ext cx="256033" cy="256033"/>
            <a:chOff x="0" y="0"/>
            <a:chExt cx="256031" cy="256031"/>
          </a:xfrm>
        </p:grpSpPr>
        <p:sp>
          <p:nvSpPr>
            <p:cNvPr id="865" name="Circle"/>
            <p:cNvSpPr/>
            <p:nvPr/>
          </p:nvSpPr>
          <p:spPr>
            <a:xfrm>
              <a:off x="0" y="0"/>
              <a:ext cx="256032" cy="256032"/>
            </a:xfrm>
            <a:prstGeom prst="ellipse">
              <a:avLst/>
            </a:prstGeom>
            <a:solidFill>
              <a:schemeClr val="accent5"/>
            </a:solidFill>
            <a:ln w="12700" cap="flat">
              <a:solidFill>
                <a:srgbClr val="FFFFFF"/>
              </a:solidFill>
              <a:prstDash val="solid"/>
              <a:round/>
            </a:ln>
            <a:effectLst/>
          </p:spPr>
          <p:txBody>
            <a:bodyPr wrap="square" lIns="45719" tIns="45719" rIns="45719" bIns="45719" numCol="1" anchor="ctr">
              <a:noAutofit/>
            </a:bodyPr>
            <a:lstStyle/>
            <a:p>
              <a:pPr algn="ctr">
                <a:defRPr sz="1100"/>
              </a:pPr>
            </a:p>
          </p:txBody>
        </p:sp>
        <p:sp>
          <p:nvSpPr>
            <p:cNvPr id="866" name="3"/>
            <p:cNvSpPr txBox="1"/>
            <p:nvPr/>
          </p:nvSpPr>
          <p:spPr>
            <a:xfrm>
              <a:off x="43844" y="60882"/>
              <a:ext cx="168343" cy="1342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100">
                  <a:solidFill>
                    <a:srgbClr val="FFFFFF"/>
                  </a:solidFill>
                </a:defRPr>
              </a:lvl1pPr>
            </a:lstStyle>
            <a:p>
              <a:pPr/>
              <a:r>
                <a:t>3</a:t>
              </a:r>
            </a:p>
          </p:txBody>
        </p:sp>
      </p:grpSp>
      <p:sp>
        <p:nvSpPr>
          <p:cNvPr id="868" name="Shape 42"/>
          <p:cNvSpPr/>
          <p:nvPr/>
        </p:nvSpPr>
        <p:spPr>
          <a:xfrm>
            <a:off x="8597340" y="4306824"/>
            <a:ext cx="1" cy="182881"/>
          </a:xfrm>
          <a:prstGeom prst="line">
            <a:avLst/>
          </a:prstGeom>
          <a:ln w="15875">
            <a:solidFill>
              <a:srgbClr val="64748B"/>
            </a:solidFill>
          </a:ln>
        </p:spPr>
        <p:txBody>
          <a:bodyPr lIns="45719" rIns="45719"/>
          <a:lstStyle/>
          <a:p>
            <a:pPr/>
          </a:p>
        </p:txBody>
      </p:sp>
      <p:sp>
        <p:nvSpPr>
          <p:cNvPr id="869" name="Shape 43"/>
          <p:cNvSpPr/>
          <p:nvPr/>
        </p:nvSpPr>
        <p:spPr>
          <a:xfrm flipH="1">
            <a:off x="6825591" y="4489703"/>
            <a:ext cx="1771752" cy="1"/>
          </a:xfrm>
          <a:prstGeom prst="line">
            <a:avLst/>
          </a:prstGeom>
          <a:ln w="15875">
            <a:solidFill>
              <a:srgbClr val="64748B"/>
            </a:solidFill>
          </a:ln>
        </p:spPr>
        <p:txBody>
          <a:bodyPr lIns="45719" rIns="45719"/>
          <a:lstStyle/>
          <a:p>
            <a:pPr/>
          </a:p>
        </p:txBody>
      </p:sp>
      <p:sp>
        <p:nvSpPr>
          <p:cNvPr id="870" name="Shape 44"/>
          <p:cNvSpPr/>
          <p:nvPr/>
        </p:nvSpPr>
        <p:spPr>
          <a:xfrm flipV="1">
            <a:off x="6825590" y="3474719"/>
            <a:ext cx="1" cy="1014985"/>
          </a:xfrm>
          <a:prstGeom prst="line">
            <a:avLst/>
          </a:prstGeom>
          <a:ln w="15875">
            <a:solidFill>
              <a:srgbClr val="64748B"/>
            </a:solidFill>
          </a:ln>
        </p:spPr>
        <p:txBody>
          <a:bodyPr lIns="45719" rIns="45719"/>
          <a:lstStyle/>
          <a:p>
            <a:pPr/>
          </a:p>
        </p:txBody>
      </p:sp>
      <p:sp>
        <p:nvSpPr>
          <p:cNvPr id="871" name="Shape 45"/>
          <p:cNvSpPr/>
          <p:nvPr/>
        </p:nvSpPr>
        <p:spPr>
          <a:xfrm>
            <a:off x="6825590" y="3474720"/>
            <a:ext cx="274321" cy="1"/>
          </a:xfrm>
          <a:prstGeom prst="line">
            <a:avLst/>
          </a:prstGeom>
          <a:ln w="15875">
            <a:solidFill>
              <a:srgbClr val="64748B"/>
            </a:solidFill>
            <a:tailEnd type="triangle"/>
          </a:ln>
        </p:spPr>
        <p:txBody>
          <a:bodyPr lIns="45719" rIns="45719"/>
          <a:lstStyle/>
          <a:p>
            <a:pPr/>
          </a:p>
        </p:txBody>
      </p:sp>
      <p:sp>
        <p:nvSpPr>
          <p:cNvPr id="872" name="Shape 46"/>
          <p:cNvSpPr/>
          <p:nvPr/>
        </p:nvSpPr>
        <p:spPr>
          <a:xfrm>
            <a:off x="10094772" y="3474720"/>
            <a:ext cx="274321" cy="1"/>
          </a:xfrm>
          <a:prstGeom prst="line">
            <a:avLst/>
          </a:prstGeom>
          <a:ln w="15875">
            <a:solidFill>
              <a:srgbClr val="64748B"/>
            </a:solidFill>
          </a:ln>
        </p:spPr>
        <p:txBody>
          <a:bodyPr lIns="45719" rIns="45719"/>
          <a:lstStyle/>
          <a:p>
            <a:pPr/>
          </a:p>
        </p:txBody>
      </p:sp>
      <p:sp>
        <p:nvSpPr>
          <p:cNvPr id="873" name="Text 47"/>
          <p:cNvSpPr txBox="1"/>
          <p:nvPr/>
        </p:nvSpPr>
        <p:spPr>
          <a:xfrm>
            <a:off x="10140492" y="3287312"/>
            <a:ext cx="100584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terminó</a:t>
            </a:r>
          </a:p>
        </p:txBody>
      </p:sp>
      <p:sp>
        <p:nvSpPr>
          <p:cNvPr id="874" name="Shape 48"/>
          <p:cNvSpPr/>
          <p:nvPr/>
        </p:nvSpPr>
        <p:spPr>
          <a:xfrm>
            <a:off x="10369093" y="3474720"/>
            <a:ext cx="1" cy="1234441"/>
          </a:xfrm>
          <a:prstGeom prst="line">
            <a:avLst/>
          </a:prstGeom>
          <a:ln w="15875">
            <a:solidFill>
              <a:srgbClr val="64748B"/>
            </a:solidFill>
          </a:ln>
        </p:spPr>
        <p:txBody>
          <a:bodyPr lIns="45719" rIns="45719"/>
          <a:lstStyle/>
          <a:p>
            <a:pPr/>
          </a:p>
        </p:txBody>
      </p:sp>
      <p:sp>
        <p:nvSpPr>
          <p:cNvPr id="875" name="Shape 49"/>
          <p:cNvSpPr/>
          <p:nvPr/>
        </p:nvSpPr>
        <p:spPr>
          <a:xfrm flipH="1">
            <a:off x="8597341" y="4709159"/>
            <a:ext cx="1771752" cy="1"/>
          </a:xfrm>
          <a:prstGeom prst="line">
            <a:avLst/>
          </a:prstGeom>
          <a:ln w="15875">
            <a:solidFill>
              <a:srgbClr val="64748B"/>
            </a:solidFill>
            <a:tailEnd type="triangle"/>
          </a:ln>
        </p:spPr>
        <p:txBody>
          <a:bodyPr lIns="45719" rIns="45719"/>
          <a:lstStyle/>
          <a:p>
            <a:pPr/>
          </a:p>
        </p:txBody>
      </p:sp>
      <p:sp>
        <p:nvSpPr>
          <p:cNvPr id="876" name="Shape 50"/>
          <p:cNvSpPr/>
          <p:nvPr/>
        </p:nvSpPr>
        <p:spPr>
          <a:xfrm>
            <a:off x="8597340" y="4709159"/>
            <a:ext cx="1" cy="237744"/>
          </a:xfrm>
          <a:prstGeom prst="line">
            <a:avLst/>
          </a:prstGeom>
          <a:ln w="15875">
            <a:solidFill>
              <a:srgbClr val="64748B"/>
            </a:solidFill>
            <a:tailEnd type="triangle"/>
          </a:ln>
        </p:spPr>
        <p:txBody>
          <a:bodyPr lIns="45719" rIns="45719"/>
          <a:lstStyle/>
          <a:p>
            <a:pPr/>
          </a:p>
        </p:txBody>
      </p:sp>
      <p:sp>
        <p:nvSpPr>
          <p:cNvPr id="877" name="Shape 51"/>
          <p:cNvSpPr/>
          <p:nvPr/>
        </p:nvSpPr>
        <p:spPr>
          <a:xfrm>
            <a:off x="7749844" y="4946903"/>
            <a:ext cx="1694994" cy="3657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165" y="0"/>
                </a:lnTo>
                <a:lnTo>
                  <a:pt x="21600" y="0"/>
                </a:lnTo>
                <a:lnTo>
                  <a:pt x="20435" y="21600"/>
                </a:lnTo>
                <a:close/>
              </a:path>
            </a:pathLst>
          </a:custGeom>
          <a:solidFill>
            <a:srgbClr val="EDE9FE"/>
          </a:solidFill>
          <a:ln w="15875">
            <a:solidFill>
              <a:schemeClr val="accent3"/>
            </a:solidFill>
          </a:ln>
        </p:spPr>
        <p:txBody>
          <a:bodyPr lIns="45719" rIns="45719"/>
          <a:lstStyle/>
          <a:p>
            <a:pPr/>
          </a:p>
        </p:txBody>
      </p:sp>
      <p:sp>
        <p:nvSpPr>
          <p:cNvPr id="878" name="Text 52"/>
          <p:cNvSpPr txBox="1"/>
          <p:nvPr/>
        </p:nvSpPr>
        <p:spPr>
          <a:xfrm>
            <a:off x="7749844" y="5047233"/>
            <a:ext cx="1694994"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total</a:t>
            </a:r>
          </a:p>
        </p:txBody>
      </p:sp>
      <p:grpSp>
        <p:nvGrpSpPr>
          <p:cNvPr id="881" name="Text 53"/>
          <p:cNvGrpSpPr/>
          <p:nvPr/>
        </p:nvGrpSpPr>
        <p:grpSpPr>
          <a:xfrm>
            <a:off x="7621829" y="4818888"/>
            <a:ext cx="256033" cy="256033"/>
            <a:chOff x="0" y="0"/>
            <a:chExt cx="256031" cy="256031"/>
          </a:xfrm>
        </p:grpSpPr>
        <p:sp>
          <p:nvSpPr>
            <p:cNvPr id="879" name="Circle"/>
            <p:cNvSpPr/>
            <p:nvPr/>
          </p:nvSpPr>
          <p:spPr>
            <a:xfrm>
              <a:off x="0" y="0"/>
              <a:ext cx="256032" cy="256032"/>
            </a:xfrm>
            <a:prstGeom prst="ellipse">
              <a:avLst/>
            </a:prstGeom>
            <a:solidFill>
              <a:schemeClr val="accent5"/>
            </a:solidFill>
            <a:ln w="12700" cap="flat">
              <a:solidFill>
                <a:srgbClr val="FFFFFF"/>
              </a:solidFill>
              <a:prstDash val="solid"/>
              <a:round/>
            </a:ln>
            <a:effectLst/>
          </p:spPr>
          <p:txBody>
            <a:bodyPr wrap="square" lIns="45719" tIns="45719" rIns="45719" bIns="45719" numCol="1" anchor="ctr">
              <a:noAutofit/>
            </a:bodyPr>
            <a:lstStyle/>
            <a:p>
              <a:pPr algn="ctr">
                <a:defRPr sz="1100"/>
              </a:pPr>
            </a:p>
          </p:txBody>
        </p:sp>
        <p:sp>
          <p:nvSpPr>
            <p:cNvPr id="880" name="4"/>
            <p:cNvSpPr txBox="1"/>
            <p:nvPr/>
          </p:nvSpPr>
          <p:spPr>
            <a:xfrm>
              <a:off x="43844" y="60882"/>
              <a:ext cx="168343" cy="1342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100">
                  <a:solidFill>
                    <a:srgbClr val="FFFFFF"/>
                  </a:solidFill>
                </a:defRPr>
              </a:lvl1pPr>
            </a:lstStyle>
            <a:p>
              <a:pPr/>
              <a:r>
                <a:t>4</a:t>
              </a:r>
            </a:p>
          </p:txBody>
        </p:sp>
      </p:grpSp>
      <p:sp>
        <p:nvSpPr>
          <p:cNvPr id="882" name="Shape 54"/>
          <p:cNvSpPr/>
          <p:nvPr/>
        </p:nvSpPr>
        <p:spPr>
          <a:xfrm>
            <a:off x="8597340" y="5312664"/>
            <a:ext cx="1" cy="237744"/>
          </a:xfrm>
          <a:prstGeom prst="line">
            <a:avLst/>
          </a:prstGeom>
          <a:ln w="15875">
            <a:solidFill>
              <a:srgbClr val="64748B"/>
            </a:solidFill>
            <a:tailEnd type="triangle"/>
          </a:ln>
        </p:spPr>
        <p:txBody>
          <a:bodyPr lIns="45719" rIns="45719"/>
          <a:lstStyle/>
          <a:p>
            <a:pPr/>
          </a:p>
        </p:txBody>
      </p:sp>
      <p:sp>
        <p:nvSpPr>
          <p:cNvPr id="883" name="Shape 55"/>
          <p:cNvSpPr/>
          <p:nvPr/>
        </p:nvSpPr>
        <p:spPr>
          <a:xfrm>
            <a:off x="8242592" y="5550408"/>
            <a:ext cx="709499" cy="384049"/>
          </a:xfrm>
          <a:prstGeom prst="roundRect">
            <a:avLst>
              <a:gd name="adj" fmla="val 50000"/>
            </a:avLst>
          </a:prstGeom>
          <a:solidFill>
            <a:srgbClr val="1E293B"/>
          </a:solidFill>
          <a:ln w="15875">
            <a:solidFill>
              <a:srgbClr val="1E293B"/>
            </a:solidFill>
          </a:ln>
        </p:spPr>
        <p:txBody>
          <a:bodyPr lIns="45719" rIns="45719"/>
          <a:lstStyle/>
          <a:p>
            <a:pPr/>
          </a:p>
        </p:txBody>
      </p:sp>
      <p:sp>
        <p:nvSpPr>
          <p:cNvPr id="884" name="Text 56"/>
          <p:cNvSpPr txBox="1"/>
          <p:nvPr/>
        </p:nvSpPr>
        <p:spPr>
          <a:xfrm>
            <a:off x="8242592" y="5659882"/>
            <a:ext cx="709499"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Fin</a:t>
            </a:r>
          </a:p>
        </p:txBody>
      </p:sp>
      <p:sp>
        <p:nvSpPr>
          <p:cNvPr id="885"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9" name="Text 0"/>
          <p:cNvSpPr txBox="1"/>
          <p:nvPr>
            <p:ph type="title"/>
          </p:nvPr>
        </p:nvSpPr>
        <p:spPr>
          <a:prstGeom prst="rect">
            <a:avLst/>
          </a:prstGeom>
        </p:spPr>
        <p:txBody>
          <a:bodyPr lIns="0" tIns="0" rIns="0" bIns="0" anchor="ctr"/>
          <a:lstStyle/>
          <a:p>
            <a:pPr/>
            <a:r>
              <a:t>8 · Contador</a:t>
            </a:r>
          </a:p>
        </p:txBody>
      </p:sp>
      <p:sp>
        <p:nvSpPr>
          <p:cNvPr id="890" name="Text 0"/>
          <p:cNvSpPr txBox="1"/>
          <p:nvPr>
            <p:ph type="body" sz="quarter" idx="1"/>
          </p:nvPr>
        </p:nvSpPr>
        <p:spPr>
          <a:prstGeom prst="rect">
            <a:avLst/>
          </a:prstGeom>
        </p:spPr>
        <p:txBody>
          <a:bodyPr lIns="0" tIns="0" rIns="0" bIns="0" anchor="ctr"/>
          <a:lstStyle/>
          <a:p>
            <a:pPr/>
            <a:r>
              <a:t>Un </a:t>
            </a:r>
            <a:r>
              <a:rPr sz="1300">
                <a:latin typeface="Menlo Regular"/>
                <a:ea typeface="Menlo Regular"/>
                <a:cs typeface="Menlo Regular"/>
                <a:sym typeface="Menlo Regular"/>
              </a:rPr>
              <a:t>if</a:t>
            </a:r>
            <a:r>
              <a:t> dentro del ciclo: sólo suma 1 cuando el resultado es "G" (G = ganó, P = perdió, E = empate).</a:t>
            </a:r>
          </a:p>
        </p:txBody>
      </p:sp>
      <p:sp>
        <p:nvSpPr>
          <p:cNvPr id="891" name="Shape 2"/>
          <p:cNvSpPr/>
          <p:nvPr/>
        </p:nvSpPr>
        <p:spPr>
          <a:xfrm>
            <a:off x="548640" y="1325880"/>
            <a:ext cx="4663441" cy="1879093"/>
          </a:xfrm>
          <a:prstGeom prst="roundRect">
            <a:avLst>
              <a:gd name="adj" fmla="val 3893"/>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892" name="Text 3"/>
          <p:cNvSpPr txBox="1"/>
          <p:nvPr/>
        </p:nvSpPr>
        <p:spPr>
          <a:xfrm>
            <a:off x="749808" y="147680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Python  ·  contar_victorias(["G", "P", "G", "E", "G"])  →  3</a:t>
            </a:r>
          </a:p>
        </p:txBody>
      </p:sp>
      <p:sp>
        <p:nvSpPr>
          <p:cNvPr id="893" name="Text 4"/>
          <p:cNvSpPr txBox="1"/>
          <p:nvPr/>
        </p:nvSpPr>
        <p:spPr>
          <a:xfrm>
            <a:off x="749808" y="1764792"/>
            <a:ext cx="4297680" cy="12145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sz="1200">
                <a:solidFill>
                  <a:srgbClr val="569CD6"/>
                </a:solidFill>
                <a:latin typeface="Menlo Regular"/>
                <a:ea typeface="Menlo Regular"/>
                <a:cs typeface="Menlo Regular"/>
                <a:sym typeface="Menlo Regular"/>
              </a:defRPr>
            </a:pPr>
            <a:r>
              <a:t>def</a:t>
            </a:r>
            <a:r>
              <a:rPr>
                <a:solidFill>
                  <a:srgbClr val="D4D4D4"/>
                </a:solidFill>
              </a:rPr>
              <a:t> </a:t>
            </a:r>
            <a:r>
              <a:rPr>
                <a:solidFill>
                  <a:srgbClr val="DCDCAA"/>
                </a:solidFill>
              </a:rPr>
              <a:t>contar_victorias</a:t>
            </a:r>
            <a:r>
              <a:rPr>
                <a:solidFill>
                  <a:srgbClr val="D4D4D4"/>
                </a:solidFill>
              </a:rPr>
              <a:t>(</a:t>
            </a:r>
            <a:r>
              <a:rPr>
                <a:solidFill>
                  <a:srgbClr val="9CDCFE"/>
                </a:solidFill>
              </a:rPr>
              <a:t>lista_resultados</a:t>
            </a:r>
            <a:r>
              <a:rPr>
                <a:solidFill>
                  <a:srgbClr val="D4D4D4"/>
                </a:solidFill>
              </a:rPr>
              <a:t>):</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victorias</a:t>
            </a:r>
            <a:r>
              <a:t> = </a:t>
            </a:r>
            <a:r>
              <a:rPr>
                <a:solidFill>
                  <a:srgbClr val="B5CEA8"/>
                </a:solidFill>
              </a:rPr>
              <a:t>0</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for</a:t>
            </a:r>
            <a:r>
              <a:t> </a:t>
            </a:r>
            <a:r>
              <a:rPr>
                <a:solidFill>
                  <a:srgbClr val="9CDCFE"/>
                </a:solidFill>
              </a:rPr>
              <a:t>resultado</a:t>
            </a:r>
            <a:r>
              <a:t> </a:t>
            </a:r>
            <a:r>
              <a:rPr>
                <a:solidFill>
                  <a:srgbClr val="C586C0"/>
                </a:solidFill>
              </a:rPr>
              <a:t>in</a:t>
            </a:r>
            <a:r>
              <a:t> </a:t>
            </a:r>
            <a:r>
              <a:rPr>
                <a:solidFill>
                  <a:srgbClr val="9CDCFE"/>
                </a:solidFill>
              </a:rPr>
              <a:t>lista_resultados</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if</a:t>
            </a:r>
            <a:r>
              <a:t> </a:t>
            </a:r>
            <a:r>
              <a:rPr>
                <a:solidFill>
                  <a:srgbClr val="9CDCFE"/>
                </a:solidFill>
              </a:rPr>
              <a:t>resultado</a:t>
            </a:r>
            <a:r>
              <a:t> == </a:t>
            </a:r>
            <a:r>
              <a:rPr>
                <a:solidFill>
                  <a:srgbClr val="CE9178"/>
                </a:solidFill>
              </a:rPr>
              <a:t>"G"</a:t>
            </a:r>
            <a:r>
              <a:t>:</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victorias</a:t>
            </a:r>
            <a:r>
              <a:t> = </a:t>
            </a:r>
            <a:r>
              <a:rPr>
                <a:solidFill>
                  <a:srgbClr val="9CDCFE"/>
                </a:solidFill>
              </a:rPr>
              <a:t>victorias</a:t>
            </a:r>
            <a:r>
              <a:t> + </a:t>
            </a:r>
            <a:r>
              <a:rPr>
                <a:solidFill>
                  <a:srgbClr val="B5CEA8"/>
                </a:solidFill>
              </a:rPr>
              <a:t>1</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9CDCFE"/>
                </a:solidFill>
              </a:rPr>
              <a:t>victorias</a:t>
            </a:r>
          </a:p>
        </p:txBody>
      </p:sp>
      <p:sp>
        <p:nvSpPr>
          <p:cNvPr id="894" name="Shape 5"/>
          <p:cNvSpPr/>
          <p:nvPr/>
        </p:nvSpPr>
        <p:spPr>
          <a:xfrm>
            <a:off x="548640" y="3406140"/>
            <a:ext cx="4663441" cy="2948941"/>
          </a:xfrm>
          <a:prstGeom prst="roundRect">
            <a:avLst>
              <a:gd name="adj" fmla="val 2481"/>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895" name="Text 6"/>
          <p:cNvSpPr txBox="1"/>
          <p:nvPr/>
        </p:nvSpPr>
        <p:spPr>
          <a:xfrm>
            <a:off x="749808" y="355706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3"/>
                </a:solidFill>
              </a:defRPr>
            </a:lvl1pPr>
          </a:lstStyle>
          <a:p>
            <a:pPr/>
            <a:r>
              <a:t>Nassi-Shneiderman</a:t>
            </a:r>
          </a:p>
        </p:txBody>
      </p:sp>
      <p:sp>
        <p:nvSpPr>
          <p:cNvPr id="896" name="Shape 7"/>
          <p:cNvSpPr/>
          <p:nvPr/>
        </p:nvSpPr>
        <p:spPr>
          <a:xfrm>
            <a:off x="777239" y="3845052"/>
            <a:ext cx="4206242" cy="349073"/>
          </a:xfrm>
          <a:prstGeom prst="rect">
            <a:avLst/>
          </a:prstGeom>
          <a:solidFill>
            <a:srgbClr val="1E293B"/>
          </a:solidFill>
          <a:ln>
            <a:solidFill>
              <a:srgbClr val="334155"/>
            </a:solidFill>
          </a:ln>
        </p:spPr>
        <p:txBody>
          <a:bodyPr lIns="45719" rIns="45719"/>
          <a:lstStyle/>
          <a:p>
            <a:pPr/>
          </a:p>
        </p:txBody>
      </p:sp>
      <p:sp>
        <p:nvSpPr>
          <p:cNvPr id="897" name="Text 8"/>
          <p:cNvSpPr txBox="1"/>
          <p:nvPr/>
        </p:nvSpPr>
        <p:spPr>
          <a:xfrm>
            <a:off x="822960" y="3949737"/>
            <a:ext cx="4114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Menlo Regular"/>
                <a:ea typeface="Menlo Regular"/>
                <a:cs typeface="Menlo Regular"/>
                <a:sym typeface="Menlo Regular"/>
              </a:defRPr>
            </a:lvl1pPr>
          </a:lstStyle>
          <a:p>
            <a:pPr/>
            <a:r>
              <a:t>contar_victorias(lista_resultados)</a:t>
            </a:r>
          </a:p>
        </p:txBody>
      </p:sp>
      <p:sp>
        <p:nvSpPr>
          <p:cNvPr id="898" name="Shape 9"/>
          <p:cNvSpPr/>
          <p:nvPr/>
        </p:nvSpPr>
        <p:spPr>
          <a:xfrm>
            <a:off x="777239" y="4194123"/>
            <a:ext cx="4206242" cy="349073"/>
          </a:xfrm>
          <a:prstGeom prst="rect">
            <a:avLst/>
          </a:prstGeom>
          <a:solidFill>
            <a:srgbClr val="DBEAFE"/>
          </a:solidFill>
          <a:ln>
            <a:solidFill>
              <a:srgbClr val="334155"/>
            </a:solidFill>
          </a:ln>
        </p:spPr>
        <p:txBody>
          <a:bodyPr lIns="45719" rIns="45719"/>
          <a:lstStyle/>
          <a:p>
            <a:pPr/>
          </a:p>
        </p:txBody>
      </p:sp>
      <p:sp>
        <p:nvSpPr>
          <p:cNvPr id="899" name="Text 10"/>
          <p:cNvSpPr txBox="1"/>
          <p:nvPr/>
        </p:nvSpPr>
        <p:spPr>
          <a:xfrm>
            <a:off x="822960" y="4298809"/>
            <a:ext cx="4114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E3A8A"/>
                </a:solidFill>
                <a:latin typeface="Menlo Regular"/>
                <a:ea typeface="Menlo Regular"/>
                <a:cs typeface="Menlo Regular"/>
                <a:sym typeface="Menlo Regular"/>
              </a:defRPr>
            </a:lvl1pPr>
          </a:lstStyle>
          <a:p>
            <a:pPr/>
            <a:r>
              <a:t>victorias = 0</a:t>
            </a:r>
          </a:p>
        </p:txBody>
      </p:sp>
      <p:sp>
        <p:nvSpPr>
          <p:cNvPr id="900" name="Shape 11"/>
          <p:cNvSpPr/>
          <p:nvPr/>
        </p:nvSpPr>
        <p:spPr>
          <a:xfrm>
            <a:off x="777239" y="4543195"/>
            <a:ext cx="4206242" cy="1279932"/>
          </a:xfrm>
          <a:prstGeom prst="rect">
            <a:avLst/>
          </a:prstGeom>
          <a:solidFill>
            <a:srgbClr val="DCFCE7"/>
          </a:solidFill>
          <a:ln>
            <a:solidFill>
              <a:srgbClr val="334155"/>
            </a:solidFill>
          </a:ln>
        </p:spPr>
        <p:txBody>
          <a:bodyPr lIns="45719" rIns="45719"/>
          <a:lstStyle/>
          <a:p>
            <a:pPr/>
          </a:p>
        </p:txBody>
      </p:sp>
      <p:sp>
        <p:nvSpPr>
          <p:cNvPr id="901" name="Text 12"/>
          <p:cNvSpPr txBox="1"/>
          <p:nvPr/>
        </p:nvSpPr>
        <p:spPr>
          <a:xfrm>
            <a:off x="868680" y="4647881"/>
            <a:ext cx="402336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14532D"/>
                </a:solidFill>
                <a:latin typeface="Menlo Regular"/>
                <a:ea typeface="Menlo Regular"/>
                <a:cs typeface="Menlo Regular"/>
                <a:sym typeface="Menlo Regular"/>
              </a:defRPr>
            </a:lvl1pPr>
          </a:lstStyle>
          <a:p>
            <a:pPr/>
            <a:r>
              <a:t>for resultado in lista_resultados</a:t>
            </a:r>
          </a:p>
        </p:txBody>
      </p:sp>
      <p:sp>
        <p:nvSpPr>
          <p:cNvPr id="902" name="Shape 13"/>
          <p:cNvSpPr/>
          <p:nvPr/>
        </p:nvSpPr>
        <p:spPr>
          <a:xfrm>
            <a:off x="1126311" y="4892268"/>
            <a:ext cx="3857170" cy="581788"/>
          </a:xfrm>
          <a:prstGeom prst="rect">
            <a:avLst/>
          </a:prstGeom>
          <a:solidFill>
            <a:srgbClr val="FEF3C7"/>
          </a:solidFill>
          <a:ln>
            <a:solidFill>
              <a:srgbClr val="334155"/>
            </a:solidFill>
          </a:ln>
        </p:spPr>
        <p:txBody>
          <a:bodyPr lIns="45719" rIns="45719"/>
          <a:lstStyle/>
          <a:p>
            <a:pPr/>
          </a:p>
        </p:txBody>
      </p:sp>
      <p:sp>
        <p:nvSpPr>
          <p:cNvPr id="903" name="Shape 14"/>
          <p:cNvSpPr/>
          <p:nvPr/>
        </p:nvSpPr>
        <p:spPr>
          <a:xfrm>
            <a:off x="1126312" y="4892268"/>
            <a:ext cx="2777161" cy="581788"/>
          </a:xfrm>
          <a:prstGeom prst="line">
            <a:avLst/>
          </a:prstGeom>
          <a:ln>
            <a:solidFill>
              <a:srgbClr val="334155"/>
            </a:solidFill>
          </a:ln>
        </p:spPr>
        <p:txBody>
          <a:bodyPr lIns="45719" rIns="45719"/>
          <a:lstStyle/>
          <a:p>
            <a:pPr/>
          </a:p>
        </p:txBody>
      </p:sp>
      <p:sp>
        <p:nvSpPr>
          <p:cNvPr id="904" name="Shape 15"/>
          <p:cNvSpPr/>
          <p:nvPr/>
        </p:nvSpPr>
        <p:spPr>
          <a:xfrm flipH="1">
            <a:off x="3903473" y="4892268"/>
            <a:ext cx="1080008" cy="581788"/>
          </a:xfrm>
          <a:prstGeom prst="line">
            <a:avLst/>
          </a:prstGeom>
          <a:ln>
            <a:solidFill>
              <a:srgbClr val="334155"/>
            </a:solidFill>
          </a:ln>
        </p:spPr>
        <p:txBody>
          <a:bodyPr lIns="45719" rIns="45719"/>
          <a:lstStyle/>
          <a:p>
            <a:pPr/>
          </a:p>
        </p:txBody>
      </p:sp>
      <p:sp>
        <p:nvSpPr>
          <p:cNvPr id="905" name="Text 16"/>
          <p:cNvSpPr txBox="1"/>
          <p:nvPr/>
        </p:nvSpPr>
        <p:spPr>
          <a:xfrm>
            <a:off x="2044883" y="4963709"/>
            <a:ext cx="289287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8350F"/>
                </a:solidFill>
                <a:latin typeface="Menlo Regular"/>
                <a:ea typeface="Menlo Regular"/>
                <a:cs typeface="Menlo Regular"/>
                <a:sym typeface="Menlo Regular"/>
              </a:defRPr>
            </a:lvl1pPr>
          </a:lstStyle>
          <a:p>
            <a:pPr/>
            <a:r>
              <a:t>¿resultado == "G"?</a:t>
            </a:r>
          </a:p>
        </p:txBody>
      </p:sp>
      <p:sp>
        <p:nvSpPr>
          <p:cNvPr id="906" name="Text 17"/>
          <p:cNvSpPr txBox="1"/>
          <p:nvPr/>
        </p:nvSpPr>
        <p:spPr>
          <a:xfrm>
            <a:off x="1190319" y="5285887"/>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Sí</a:t>
            </a:r>
          </a:p>
        </p:txBody>
      </p:sp>
      <p:sp>
        <p:nvSpPr>
          <p:cNvPr id="907" name="Text 18"/>
          <p:cNvSpPr txBox="1"/>
          <p:nvPr/>
        </p:nvSpPr>
        <p:spPr>
          <a:xfrm>
            <a:off x="4553711" y="5285887"/>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900">
                <a:solidFill>
                  <a:srgbClr val="475569"/>
                </a:solidFill>
              </a:defRPr>
            </a:lvl1pPr>
          </a:lstStyle>
          <a:p>
            <a:pPr/>
            <a:r>
              <a:t>No</a:t>
            </a:r>
          </a:p>
        </p:txBody>
      </p:sp>
      <p:sp>
        <p:nvSpPr>
          <p:cNvPr id="908" name="Shape 19"/>
          <p:cNvSpPr/>
          <p:nvPr/>
        </p:nvSpPr>
        <p:spPr>
          <a:xfrm>
            <a:off x="1126312" y="5474056"/>
            <a:ext cx="2777161" cy="349073"/>
          </a:xfrm>
          <a:prstGeom prst="rect">
            <a:avLst/>
          </a:prstGeom>
          <a:solidFill>
            <a:srgbClr val="FFFFFF"/>
          </a:solidFill>
          <a:ln>
            <a:solidFill>
              <a:srgbClr val="334155"/>
            </a:solidFill>
          </a:ln>
        </p:spPr>
        <p:txBody>
          <a:bodyPr lIns="45719" rIns="45719"/>
          <a:lstStyle/>
          <a:p>
            <a:pPr/>
          </a:p>
        </p:txBody>
      </p:sp>
      <p:sp>
        <p:nvSpPr>
          <p:cNvPr id="909" name="Shape 20"/>
          <p:cNvSpPr/>
          <p:nvPr/>
        </p:nvSpPr>
        <p:spPr>
          <a:xfrm>
            <a:off x="1126312" y="5474056"/>
            <a:ext cx="2777161" cy="349073"/>
          </a:xfrm>
          <a:prstGeom prst="rect">
            <a:avLst/>
          </a:prstGeom>
          <a:solidFill>
            <a:srgbClr val="DBEAFE"/>
          </a:solidFill>
          <a:ln>
            <a:solidFill>
              <a:srgbClr val="334155"/>
            </a:solidFill>
          </a:ln>
        </p:spPr>
        <p:txBody>
          <a:bodyPr lIns="45719" rIns="45719"/>
          <a:lstStyle/>
          <a:p>
            <a:pPr/>
          </a:p>
        </p:txBody>
      </p:sp>
      <p:sp>
        <p:nvSpPr>
          <p:cNvPr id="910" name="Text 21"/>
          <p:cNvSpPr txBox="1"/>
          <p:nvPr/>
        </p:nvSpPr>
        <p:spPr>
          <a:xfrm>
            <a:off x="1172032" y="5578742"/>
            <a:ext cx="268572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E3A8A"/>
                </a:solidFill>
                <a:latin typeface="Menlo Regular"/>
                <a:ea typeface="Menlo Regular"/>
                <a:cs typeface="Menlo Regular"/>
                <a:sym typeface="Menlo Regular"/>
              </a:defRPr>
            </a:lvl1pPr>
          </a:lstStyle>
          <a:p>
            <a:pPr/>
            <a:r>
              <a:t>victorias = victorias + 1</a:t>
            </a:r>
          </a:p>
        </p:txBody>
      </p:sp>
      <p:sp>
        <p:nvSpPr>
          <p:cNvPr id="911" name="Shape 22"/>
          <p:cNvSpPr/>
          <p:nvPr/>
        </p:nvSpPr>
        <p:spPr>
          <a:xfrm>
            <a:off x="3903472" y="5474056"/>
            <a:ext cx="1080009" cy="349073"/>
          </a:xfrm>
          <a:prstGeom prst="rect">
            <a:avLst/>
          </a:prstGeom>
          <a:solidFill>
            <a:srgbClr val="FFFFFF"/>
          </a:solidFill>
          <a:ln>
            <a:solidFill>
              <a:srgbClr val="334155"/>
            </a:solidFill>
          </a:ln>
        </p:spPr>
        <p:txBody>
          <a:bodyPr lIns="45719" rIns="45719"/>
          <a:lstStyle/>
          <a:p>
            <a:pPr/>
          </a:p>
        </p:txBody>
      </p:sp>
      <p:sp>
        <p:nvSpPr>
          <p:cNvPr id="912" name="Text 23"/>
          <p:cNvSpPr txBox="1"/>
          <p:nvPr/>
        </p:nvSpPr>
        <p:spPr>
          <a:xfrm>
            <a:off x="3903472" y="5570159"/>
            <a:ext cx="108000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94A3B8"/>
                </a:solidFill>
              </a:defRPr>
            </a:lvl1pPr>
          </a:lstStyle>
          <a:p>
            <a:pPr/>
            <a:r>
              <a:t>—</a:t>
            </a:r>
          </a:p>
        </p:txBody>
      </p:sp>
      <p:sp>
        <p:nvSpPr>
          <p:cNvPr id="913" name="Shape 24"/>
          <p:cNvSpPr/>
          <p:nvPr/>
        </p:nvSpPr>
        <p:spPr>
          <a:xfrm>
            <a:off x="777239" y="5823127"/>
            <a:ext cx="4206242" cy="349073"/>
          </a:xfrm>
          <a:prstGeom prst="rect">
            <a:avLst/>
          </a:prstGeom>
          <a:solidFill>
            <a:srgbClr val="EDE9FE"/>
          </a:solidFill>
          <a:ln>
            <a:solidFill>
              <a:srgbClr val="334155"/>
            </a:solidFill>
          </a:ln>
        </p:spPr>
        <p:txBody>
          <a:bodyPr lIns="45719" rIns="45719"/>
          <a:lstStyle/>
          <a:p>
            <a:pPr/>
          </a:p>
        </p:txBody>
      </p:sp>
      <p:sp>
        <p:nvSpPr>
          <p:cNvPr id="914" name="Text 25"/>
          <p:cNvSpPr txBox="1"/>
          <p:nvPr/>
        </p:nvSpPr>
        <p:spPr>
          <a:xfrm>
            <a:off x="822960" y="5927813"/>
            <a:ext cx="4114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4C1D95"/>
                </a:solidFill>
                <a:latin typeface="Menlo Regular"/>
                <a:ea typeface="Menlo Regular"/>
                <a:cs typeface="Menlo Regular"/>
                <a:sym typeface="Menlo Regular"/>
              </a:defRPr>
            </a:lvl1pPr>
          </a:lstStyle>
          <a:p>
            <a:pPr/>
            <a:r>
              <a:t>return victorias</a:t>
            </a:r>
          </a:p>
        </p:txBody>
      </p:sp>
      <p:sp>
        <p:nvSpPr>
          <p:cNvPr id="915" name="Shape 26"/>
          <p:cNvSpPr/>
          <p:nvPr/>
        </p:nvSpPr>
        <p:spPr>
          <a:xfrm>
            <a:off x="5440679" y="1325880"/>
            <a:ext cx="6199633" cy="5029201"/>
          </a:xfrm>
          <a:prstGeom prst="roundRect">
            <a:avLst>
              <a:gd name="adj" fmla="val 145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916" name="Text 27"/>
          <p:cNvSpPr txBox="1"/>
          <p:nvPr/>
        </p:nvSpPr>
        <p:spPr>
          <a:xfrm>
            <a:off x="5641847" y="1476800"/>
            <a:ext cx="5797298"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2"/>
                </a:solidFill>
              </a:defRPr>
            </a:lvl1pPr>
          </a:lstStyle>
          <a:p>
            <a:pPr/>
            <a:r>
              <a:t>Diagrama de flujo</a:t>
            </a:r>
          </a:p>
        </p:txBody>
      </p:sp>
      <p:sp>
        <p:nvSpPr>
          <p:cNvPr id="917" name="Shape 28"/>
          <p:cNvSpPr/>
          <p:nvPr/>
        </p:nvSpPr>
        <p:spPr>
          <a:xfrm>
            <a:off x="7030157" y="1737360"/>
            <a:ext cx="3020678" cy="349784"/>
          </a:xfrm>
          <a:prstGeom prst="roundRect">
            <a:avLst>
              <a:gd name="adj" fmla="val 50000"/>
            </a:avLst>
          </a:prstGeom>
          <a:solidFill>
            <a:srgbClr val="1E293B"/>
          </a:solidFill>
          <a:ln w="15875">
            <a:solidFill>
              <a:srgbClr val="1E293B"/>
            </a:solidFill>
          </a:ln>
        </p:spPr>
        <p:txBody>
          <a:bodyPr lIns="45719" rIns="45719"/>
          <a:lstStyle/>
          <a:p>
            <a:pPr/>
          </a:p>
        </p:txBody>
      </p:sp>
      <p:sp>
        <p:nvSpPr>
          <p:cNvPr id="918" name="Text 29"/>
          <p:cNvSpPr txBox="1"/>
          <p:nvPr/>
        </p:nvSpPr>
        <p:spPr>
          <a:xfrm>
            <a:off x="7030157" y="1842401"/>
            <a:ext cx="302067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Menlo Regular"/>
                <a:ea typeface="Menlo Regular"/>
                <a:cs typeface="Menlo Regular"/>
                <a:sym typeface="Menlo Regular"/>
              </a:defRPr>
            </a:lvl1pPr>
          </a:lstStyle>
          <a:p>
            <a:pPr/>
            <a:r>
              <a:t>contar_victorias(lista_resultados)</a:t>
            </a:r>
          </a:p>
        </p:txBody>
      </p:sp>
      <p:sp>
        <p:nvSpPr>
          <p:cNvPr id="919" name="Shape 30"/>
          <p:cNvSpPr/>
          <p:nvPr/>
        </p:nvSpPr>
        <p:spPr>
          <a:xfrm>
            <a:off x="8540495" y="2087142"/>
            <a:ext cx="1" cy="216534"/>
          </a:xfrm>
          <a:prstGeom prst="line">
            <a:avLst/>
          </a:prstGeom>
          <a:ln w="15875">
            <a:solidFill>
              <a:srgbClr val="64748B"/>
            </a:solidFill>
            <a:tailEnd type="triangle"/>
          </a:ln>
        </p:spPr>
        <p:txBody>
          <a:bodyPr lIns="45719" rIns="45719"/>
          <a:lstStyle/>
          <a:p>
            <a:pPr/>
          </a:p>
        </p:txBody>
      </p:sp>
      <p:sp>
        <p:nvSpPr>
          <p:cNvPr id="920" name="Shape 31"/>
          <p:cNvSpPr/>
          <p:nvPr/>
        </p:nvSpPr>
        <p:spPr>
          <a:xfrm>
            <a:off x="7876058" y="2303676"/>
            <a:ext cx="1328878" cy="333128"/>
          </a:xfrm>
          <a:prstGeom prst="rect">
            <a:avLst/>
          </a:prstGeom>
          <a:solidFill>
            <a:srgbClr val="DBEAFE"/>
          </a:solidFill>
          <a:ln w="15875">
            <a:solidFill>
              <a:schemeClr val="accent1"/>
            </a:solidFill>
          </a:ln>
        </p:spPr>
        <p:txBody>
          <a:bodyPr lIns="45719" rIns="45719"/>
          <a:lstStyle/>
          <a:p>
            <a:pPr/>
          </a:p>
        </p:txBody>
      </p:sp>
      <p:sp>
        <p:nvSpPr>
          <p:cNvPr id="921" name="Text 32"/>
          <p:cNvSpPr txBox="1"/>
          <p:nvPr/>
        </p:nvSpPr>
        <p:spPr>
          <a:xfrm>
            <a:off x="7876058" y="2400389"/>
            <a:ext cx="132887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E3A8A"/>
                </a:solidFill>
                <a:latin typeface="Menlo Regular"/>
                <a:ea typeface="Menlo Regular"/>
                <a:cs typeface="Menlo Regular"/>
                <a:sym typeface="Menlo Regular"/>
              </a:defRPr>
            </a:lvl1pPr>
          </a:lstStyle>
          <a:p>
            <a:pPr/>
            <a:r>
              <a:t>victorias = 0</a:t>
            </a:r>
          </a:p>
        </p:txBody>
      </p:sp>
      <p:sp>
        <p:nvSpPr>
          <p:cNvPr id="922" name="Shape 33"/>
          <p:cNvSpPr/>
          <p:nvPr/>
        </p:nvSpPr>
        <p:spPr>
          <a:xfrm>
            <a:off x="8540495" y="2636802"/>
            <a:ext cx="1" cy="216534"/>
          </a:xfrm>
          <a:prstGeom prst="line">
            <a:avLst/>
          </a:prstGeom>
          <a:ln w="15875">
            <a:solidFill>
              <a:srgbClr val="64748B"/>
            </a:solidFill>
            <a:tailEnd type="triangle"/>
          </a:ln>
        </p:spPr>
        <p:txBody>
          <a:bodyPr lIns="45719" rIns="45719"/>
          <a:lstStyle/>
          <a:p>
            <a:pPr/>
          </a:p>
        </p:txBody>
      </p:sp>
      <p:sp>
        <p:nvSpPr>
          <p:cNvPr id="923" name="Shape 34"/>
          <p:cNvSpPr/>
          <p:nvPr/>
        </p:nvSpPr>
        <p:spPr>
          <a:xfrm>
            <a:off x="6985173" y="2853335"/>
            <a:ext cx="3110645" cy="4164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723" y="0"/>
                </a:lnTo>
                <a:lnTo>
                  <a:pt x="20877" y="0"/>
                </a:lnTo>
                <a:lnTo>
                  <a:pt x="21600" y="10800"/>
                </a:lnTo>
                <a:lnTo>
                  <a:pt x="20877" y="21600"/>
                </a:lnTo>
                <a:lnTo>
                  <a:pt x="723" y="21600"/>
                </a:lnTo>
                <a:close/>
              </a:path>
            </a:pathLst>
          </a:custGeom>
          <a:solidFill>
            <a:srgbClr val="DCFCE7"/>
          </a:solidFill>
          <a:ln w="15875">
            <a:solidFill>
              <a:schemeClr val="accent2"/>
            </a:solidFill>
          </a:ln>
        </p:spPr>
        <p:txBody>
          <a:bodyPr lIns="45719" rIns="45719"/>
          <a:lstStyle/>
          <a:p>
            <a:pPr/>
          </a:p>
        </p:txBody>
      </p:sp>
      <p:sp>
        <p:nvSpPr>
          <p:cNvPr id="924" name="Text 35"/>
          <p:cNvSpPr txBox="1"/>
          <p:nvPr/>
        </p:nvSpPr>
        <p:spPr>
          <a:xfrm>
            <a:off x="6985173" y="2991689"/>
            <a:ext cx="3110645"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4532D"/>
                </a:solidFill>
                <a:latin typeface="Menlo Regular"/>
                <a:ea typeface="Menlo Regular"/>
                <a:cs typeface="Menlo Regular"/>
                <a:sym typeface="Menlo Regular"/>
              </a:defRPr>
            </a:lvl1pPr>
          </a:lstStyle>
          <a:p>
            <a:pPr/>
            <a:r>
              <a:t>for resultado in lista_resultados</a:t>
            </a:r>
          </a:p>
        </p:txBody>
      </p:sp>
      <p:sp>
        <p:nvSpPr>
          <p:cNvPr id="925" name="Shape 36"/>
          <p:cNvSpPr/>
          <p:nvPr/>
        </p:nvSpPr>
        <p:spPr>
          <a:xfrm>
            <a:off x="8540495" y="3269745"/>
            <a:ext cx="1" cy="216534"/>
          </a:xfrm>
          <a:prstGeom prst="line">
            <a:avLst/>
          </a:prstGeom>
          <a:ln w="15875">
            <a:solidFill>
              <a:srgbClr val="64748B"/>
            </a:solidFill>
            <a:tailEnd type="triangle"/>
          </a:ln>
        </p:spPr>
        <p:txBody>
          <a:bodyPr lIns="45719" rIns="45719"/>
          <a:lstStyle/>
          <a:p>
            <a:pPr/>
          </a:p>
        </p:txBody>
      </p:sp>
      <p:sp>
        <p:nvSpPr>
          <p:cNvPr id="926" name="Text 37"/>
          <p:cNvSpPr txBox="1"/>
          <p:nvPr/>
        </p:nvSpPr>
        <p:spPr>
          <a:xfrm>
            <a:off x="8590464" y="3314510"/>
            <a:ext cx="916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siguiente</a:t>
            </a:r>
          </a:p>
        </p:txBody>
      </p:sp>
      <p:sp>
        <p:nvSpPr>
          <p:cNvPr id="927" name="Shape 38"/>
          <p:cNvSpPr/>
          <p:nvPr/>
        </p:nvSpPr>
        <p:spPr>
          <a:xfrm>
            <a:off x="7507955" y="3486277"/>
            <a:ext cx="2065081" cy="516348"/>
          </a:xfrm>
          <a:prstGeom prst="diamond">
            <a:avLst/>
          </a:prstGeom>
          <a:solidFill>
            <a:srgbClr val="FEF3C7"/>
          </a:solidFill>
          <a:ln w="15875">
            <a:solidFill>
              <a:schemeClr val="accent6"/>
            </a:solidFill>
          </a:ln>
        </p:spPr>
        <p:txBody>
          <a:bodyPr lIns="45719" rIns="45719"/>
          <a:lstStyle/>
          <a:p>
            <a:pPr/>
          </a:p>
        </p:txBody>
      </p:sp>
      <p:sp>
        <p:nvSpPr>
          <p:cNvPr id="928" name="Text 39"/>
          <p:cNvSpPr txBox="1"/>
          <p:nvPr/>
        </p:nvSpPr>
        <p:spPr>
          <a:xfrm>
            <a:off x="7507955" y="3674600"/>
            <a:ext cx="20650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8350F"/>
                </a:solidFill>
                <a:latin typeface="Menlo Regular"/>
                <a:ea typeface="Menlo Regular"/>
                <a:cs typeface="Menlo Regular"/>
                <a:sym typeface="Menlo Regular"/>
              </a:defRPr>
            </a:lvl1pPr>
          </a:lstStyle>
          <a:p>
            <a:pPr/>
            <a:r>
              <a:t>resultado == "G"</a:t>
            </a:r>
          </a:p>
        </p:txBody>
      </p:sp>
      <p:sp>
        <p:nvSpPr>
          <p:cNvPr id="929" name="Shape 40"/>
          <p:cNvSpPr/>
          <p:nvPr/>
        </p:nvSpPr>
        <p:spPr>
          <a:xfrm>
            <a:off x="8540495" y="4002625"/>
            <a:ext cx="1" cy="216534"/>
          </a:xfrm>
          <a:prstGeom prst="line">
            <a:avLst/>
          </a:prstGeom>
          <a:ln w="15875">
            <a:solidFill>
              <a:srgbClr val="64748B"/>
            </a:solidFill>
            <a:tailEnd type="triangle"/>
          </a:ln>
        </p:spPr>
        <p:txBody>
          <a:bodyPr lIns="45719" rIns="45719"/>
          <a:lstStyle/>
          <a:p>
            <a:pPr/>
          </a:p>
        </p:txBody>
      </p:sp>
      <p:sp>
        <p:nvSpPr>
          <p:cNvPr id="930" name="Text 41"/>
          <p:cNvSpPr txBox="1"/>
          <p:nvPr/>
        </p:nvSpPr>
        <p:spPr>
          <a:xfrm>
            <a:off x="8590464" y="4047390"/>
            <a:ext cx="916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Sí</a:t>
            </a:r>
          </a:p>
        </p:txBody>
      </p:sp>
      <p:sp>
        <p:nvSpPr>
          <p:cNvPr id="931" name="Shape 42"/>
          <p:cNvSpPr/>
          <p:nvPr/>
        </p:nvSpPr>
        <p:spPr>
          <a:xfrm>
            <a:off x="7416480" y="4219156"/>
            <a:ext cx="2248031" cy="333128"/>
          </a:xfrm>
          <a:prstGeom prst="rect">
            <a:avLst/>
          </a:prstGeom>
          <a:solidFill>
            <a:srgbClr val="DBEAFE"/>
          </a:solidFill>
          <a:ln w="15875">
            <a:solidFill>
              <a:schemeClr val="accent1"/>
            </a:solidFill>
          </a:ln>
        </p:spPr>
        <p:txBody>
          <a:bodyPr lIns="45719" rIns="45719"/>
          <a:lstStyle/>
          <a:p>
            <a:pPr/>
          </a:p>
        </p:txBody>
      </p:sp>
      <p:sp>
        <p:nvSpPr>
          <p:cNvPr id="932" name="Text 43"/>
          <p:cNvSpPr txBox="1"/>
          <p:nvPr/>
        </p:nvSpPr>
        <p:spPr>
          <a:xfrm>
            <a:off x="7416480" y="4315870"/>
            <a:ext cx="224803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E3A8A"/>
                </a:solidFill>
                <a:latin typeface="Menlo Regular"/>
                <a:ea typeface="Menlo Regular"/>
                <a:cs typeface="Menlo Regular"/>
                <a:sym typeface="Menlo Regular"/>
              </a:defRPr>
            </a:lvl1pPr>
          </a:lstStyle>
          <a:p>
            <a:pPr/>
            <a:r>
              <a:t>victorias = victorias + 1</a:t>
            </a:r>
          </a:p>
        </p:txBody>
      </p:sp>
      <p:sp>
        <p:nvSpPr>
          <p:cNvPr id="933" name="Shape 44"/>
          <p:cNvSpPr/>
          <p:nvPr/>
        </p:nvSpPr>
        <p:spPr>
          <a:xfrm>
            <a:off x="8540495" y="4552284"/>
            <a:ext cx="1" cy="183221"/>
          </a:xfrm>
          <a:prstGeom prst="line">
            <a:avLst/>
          </a:prstGeom>
          <a:ln w="15875">
            <a:solidFill>
              <a:srgbClr val="64748B"/>
            </a:solidFill>
          </a:ln>
        </p:spPr>
        <p:txBody>
          <a:bodyPr lIns="45719" rIns="45719"/>
          <a:lstStyle/>
          <a:p>
            <a:pPr/>
          </a:p>
        </p:txBody>
      </p:sp>
      <p:sp>
        <p:nvSpPr>
          <p:cNvPr id="934" name="Shape 45"/>
          <p:cNvSpPr/>
          <p:nvPr/>
        </p:nvSpPr>
        <p:spPr>
          <a:xfrm>
            <a:off x="9573035" y="3744450"/>
            <a:ext cx="382962" cy="1"/>
          </a:xfrm>
          <a:prstGeom prst="line">
            <a:avLst/>
          </a:prstGeom>
          <a:ln w="15875">
            <a:solidFill>
              <a:srgbClr val="64748B"/>
            </a:solidFill>
          </a:ln>
        </p:spPr>
        <p:txBody>
          <a:bodyPr lIns="45719" rIns="45719"/>
          <a:lstStyle/>
          <a:p>
            <a:pPr/>
          </a:p>
        </p:txBody>
      </p:sp>
      <p:sp>
        <p:nvSpPr>
          <p:cNvPr id="935" name="Text 46"/>
          <p:cNvSpPr txBox="1"/>
          <p:nvPr/>
        </p:nvSpPr>
        <p:spPr>
          <a:xfrm>
            <a:off x="9623004" y="3572685"/>
            <a:ext cx="916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No</a:t>
            </a:r>
          </a:p>
        </p:txBody>
      </p:sp>
      <p:sp>
        <p:nvSpPr>
          <p:cNvPr id="936" name="Shape 47"/>
          <p:cNvSpPr/>
          <p:nvPr/>
        </p:nvSpPr>
        <p:spPr>
          <a:xfrm>
            <a:off x="9955997" y="3744450"/>
            <a:ext cx="1" cy="991054"/>
          </a:xfrm>
          <a:prstGeom prst="line">
            <a:avLst/>
          </a:prstGeom>
          <a:ln w="15875">
            <a:solidFill>
              <a:srgbClr val="64748B"/>
            </a:solidFill>
          </a:ln>
        </p:spPr>
        <p:txBody>
          <a:bodyPr lIns="45719" rIns="45719"/>
          <a:lstStyle/>
          <a:p>
            <a:pPr/>
          </a:p>
        </p:txBody>
      </p:sp>
      <p:sp>
        <p:nvSpPr>
          <p:cNvPr id="937" name="Shape 48"/>
          <p:cNvSpPr/>
          <p:nvPr/>
        </p:nvSpPr>
        <p:spPr>
          <a:xfrm flipH="1">
            <a:off x="8540495" y="4735503"/>
            <a:ext cx="1415502" cy="1"/>
          </a:xfrm>
          <a:prstGeom prst="line">
            <a:avLst/>
          </a:prstGeom>
          <a:ln w="15875">
            <a:solidFill>
              <a:srgbClr val="64748B"/>
            </a:solidFill>
            <a:tailEnd type="triangle"/>
          </a:ln>
        </p:spPr>
        <p:txBody>
          <a:bodyPr lIns="45719" rIns="45719"/>
          <a:lstStyle/>
          <a:p>
            <a:pPr/>
          </a:p>
        </p:txBody>
      </p:sp>
      <p:sp>
        <p:nvSpPr>
          <p:cNvPr id="938" name="Shape 49"/>
          <p:cNvSpPr/>
          <p:nvPr/>
        </p:nvSpPr>
        <p:spPr>
          <a:xfrm>
            <a:off x="8540496" y="4735504"/>
            <a:ext cx="1" cy="166565"/>
          </a:xfrm>
          <a:prstGeom prst="line">
            <a:avLst/>
          </a:prstGeom>
          <a:ln w="15875">
            <a:solidFill>
              <a:srgbClr val="64748B"/>
            </a:solidFill>
          </a:ln>
        </p:spPr>
        <p:txBody>
          <a:bodyPr lIns="45719" rIns="45719"/>
          <a:lstStyle/>
          <a:p>
            <a:pPr/>
          </a:p>
        </p:txBody>
      </p:sp>
      <p:sp>
        <p:nvSpPr>
          <p:cNvPr id="939" name="Shape 50"/>
          <p:cNvSpPr/>
          <p:nvPr/>
        </p:nvSpPr>
        <p:spPr>
          <a:xfrm flipH="1">
            <a:off x="6735329" y="4902067"/>
            <a:ext cx="1805168" cy="1"/>
          </a:xfrm>
          <a:prstGeom prst="line">
            <a:avLst/>
          </a:prstGeom>
          <a:ln w="15875">
            <a:solidFill>
              <a:srgbClr val="64748B"/>
            </a:solidFill>
          </a:ln>
        </p:spPr>
        <p:txBody>
          <a:bodyPr lIns="45719" rIns="45719"/>
          <a:lstStyle/>
          <a:p>
            <a:pPr/>
          </a:p>
        </p:txBody>
      </p:sp>
      <p:sp>
        <p:nvSpPr>
          <p:cNvPr id="940" name="Shape 51"/>
          <p:cNvSpPr/>
          <p:nvPr/>
        </p:nvSpPr>
        <p:spPr>
          <a:xfrm flipV="1">
            <a:off x="6735329" y="3061539"/>
            <a:ext cx="1" cy="1840528"/>
          </a:xfrm>
          <a:prstGeom prst="line">
            <a:avLst/>
          </a:prstGeom>
          <a:ln w="15875">
            <a:solidFill>
              <a:srgbClr val="64748B"/>
            </a:solidFill>
          </a:ln>
        </p:spPr>
        <p:txBody>
          <a:bodyPr lIns="45719" rIns="45719"/>
          <a:lstStyle/>
          <a:p>
            <a:pPr/>
          </a:p>
        </p:txBody>
      </p:sp>
      <p:sp>
        <p:nvSpPr>
          <p:cNvPr id="941" name="Shape 52"/>
          <p:cNvSpPr/>
          <p:nvPr/>
        </p:nvSpPr>
        <p:spPr>
          <a:xfrm>
            <a:off x="6735329" y="3061540"/>
            <a:ext cx="249846" cy="1"/>
          </a:xfrm>
          <a:prstGeom prst="line">
            <a:avLst/>
          </a:prstGeom>
          <a:ln w="15875">
            <a:solidFill>
              <a:srgbClr val="64748B"/>
            </a:solidFill>
            <a:tailEnd type="triangle"/>
          </a:ln>
        </p:spPr>
        <p:txBody>
          <a:bodyPr lIns="45719" rIns="45719"/>
          <a:lstStyle/>
          <a:p>
            <a:pPr/>
          </a:p>
        </p:txBody>
      </p:sp>
      <p:sp>
        <p:nvSpPr>
          <p:cNvPr id="942" name="Shape 53"/>
          <p:cNvSpPr/>
          <p:nvPr/>
        </p:nvSpPr>
        <p:spPr>
          <a:xfrm>
            <a:off x="10095817" y="3061540"/>
            <a:ext cx="249846" cy="1"/>
          </a:xfrm>
          <a:prstGeom prst="line">
            <a:avLst/>
          </a:prstGeom>
          <a:ln w="15875">
            <a:solidFill>
              <a:srgbClr val="64748B"/>
            </a:solidFill>
          </a:ln>
        </p:spPr>
        <p:txBody>
          <a:bodyPr lIns="45719" rIns="45719"/>
          <a:lstStyle/>
          <a:p>
            <a:pPr/>
          </a:p>
        </p:txBody>
      </p:sp>
      <p:sp>
        <p:nvSpPr>
          <p:cNvPr id="943" name="Text 54"/>
          <p:cNvSpPr txBox="1"/>
          <p:nvPr/>
        </p:nvSpPr>
        <p:spPr>
          <a:xfrm>
            <a:off x="10137458" y="2889773"/>
            <a:ext cx="916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terminó</a:t>
            </a:r>
          </a:p>
        </p:txBody>
      </p:sp>
      <p:sp>
        <p:nvSpPr>
          <p:cNvPr id="944" name="Shape 55"/>
          <p:cNvSpPr/>
          <p:nvPr/>
        </p:nvSpPr>
        <p:spPr>
          <a:xfrm>
            <a:off x="10345662" y="3061539"/>
            <a:ext cx="1" cy="2040405"/>
          </a:xfrm>
          <a:prstGeom prst="line">
            <a:avLst/>
          </a:prstGeom>
          <a:ln w="15875">
            <a:solidFill>
              <a:srgbClr val="64748B"/>
            </a:solidFill>
          </a:ln>
        </p:spPr>
        <p:txBody>
          <a:bodyPr lIns="45719" rIns="45719"/>
          <a:lstStyle/>
          <a:p>
            <a:pPr/>
          </a:p>
        </p:txBody>
      </p:sp>
      <p:sp>
        <p:nvSpPr>
          <p:cNvPr id="945" name="Shape 56"/>
          <p:cNvSpPr/>
          <p:nvPr/>
        </p:nvSpPr>
        <p:spPr>
          <a:xfrm flipH="1">
            <a:off x="8540495" y="5101944"/>
            <a:ext cx="1805168" cy="1"/>
          </a:xfrm>
          <a:prstGeom prst="line">
            <a:avLst/>
          </a:prstGeom>
          <a:ln w="15875">
            <a:solidFill>
              <a:srgbClr val="64748B"/>
            </a:solidFill>
            <a:tailEnd type="triangle"/>
          </a:ln>
        </p:spPr>
        <p:txBody>
          <a:bodyPr lIns="45719" rIns="45719"/>
          <a:lstStyle/>
          <a:p>
            <a:pPr/>
          </a:p>
        </p:txBody>
      </p:sp>
      <p:sp>
        <p:nvSpPr>
          <p:cNvPr id="946" name="Shape 57"/>
          <p:cNvSpPr/>
          <p:nvPr/>
        </p:nvSpPr>
        <p:spPr>
          <a:xfrm>
            <a:off x="8540495" y="5101944"/>
            <a:ext cx="1" cy="216534"/>
          </a:xfrm>
          <a:prstGeom prst="line">
            <a:avLst/>
          </a:prstGeom>
          <a:ln w="15875">
            <a:solidFill>
              <a:srgbClr val="64748B"/>
            </a:solidFill>
            <a:tailEnd type="triangle"/>
          </a:ln>
        </p:spPr>
        <p:txBody>
          <a:bodyPr lIns="45719" rIns="45719"/>
          <a:lstStyle/>
          <a:p>
            <a:pPr/>
          </a:p>
        </p:txBody>
      </p:sp>
      <p:sp>
        <p:nvSpPr>
          <p:cNvPr id="947" name="Shape 58"/>
          <p:cNvSpPr/>
          <p:nvPr/>
        </p:nvSpPr>
        <p:spPr>
          <a:xfrm>
            <a:off x="7615419" y="5318476"/>
            <a:ext cx="1850152" cy="3331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972" y="0"/>
                </a:lnTo>
                <a:lnTo>
                  <a:pt x="21600" y="0"/>
                </a:lnTo>
                <a:lnTo>
                  <a:pt x="20628" y="21600"/>
                </a:lnTo>
                <a:close/>
              </a:path>
            </a:pathLst>
          </a:custGeom>
          <a:solidFill>
            <a:srgbClr val="EDE9FE"/>
          </a:solidFill>
          <a:ln w="15875">
            <a:solidFill>
              <a:schemeClr val="accent3"/>
            </a:solidFill>
          </a:ln>
        </p:spPr>
        <p:txBody>
          <a:bodyPr lIns="45719" rIns="45719"/>
          <a:lstStyle/>
          <a:p>
            <a:pPr/>
          </a:p>
        </p:txBody>
      </p:sp>
      <p:sp>
        <p:nvSpPr>
          <p:cNvPr id="948" name="Text 59"/>
          <p:cNvSpPr txBox="1"/>
          <p:nvPr/>
        </p:nvSpPr>
        <p:spPr>
          <a:xfrm>
            <a:off x="7615419" y="5415190"/>
            <a:ext cx="1850152"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4C1D95"/>
                </a:solidFill>
                <a:latin typeface="Menlo Regular"/>
                <a:ea typeface="Menlo Regular"/>
                <a:cs typeface="Menlo Regular"/>
                <a:sym typeface="Menlo Regular"/>
              </a:defRPr>
            </a:lvl1pPr>
          </a:lstStyle>
          <a:p>
            <a:pPr/>
            <a:r>
              <a:t>return victorias</a:t>
            </a:r>
          </a:p>
        </p:txBody>
      </p:sp>
      <p:sp>
        <p:nvSpPr>
          <p:cNvPr id="949" name="Shape 60"/>
          <p:cNvSpPr/>
          <p:nvPr/>
        </p:nvSpPr>
        <p:spPr>
          <a:xfrm>
            <a:off x="8540495" y="5651604"/>
            <a:ext cx="1" cy="216534"/>
          </a:xfrm>
          <a:prstGeom prst="line">
            <a:avLst/>
          </a:prstGeom>
          <a:ln w="15875">
            <a:solidFill>
              <a:srgbClr val="64748B"/>
            </a:solidFill>
            <a:tailEnd type="triangle"/>
          </a:ln>
        </p:spPr>
        <p:txBody>
          <a:bodyPr lIns="45719" rIns="45719"/>
          <a:lstStyle/>
          <a:p>
            <a:pPr/>
          </a:p>
        </p:txBody>
      </p:sp>
      <p:sp>
        <p:nvSpPr>
          <p:cNvPr id="950" name="Shape 61"/>
          <p:cNvSpPr/>
          <p:nvPr/>
        </p:nvSpPr>
        <p:spPr>
          <a:xfrm>
            <a:off x="8217396" y="5868137"/>
            <a:ext cx="646198" cy="349784"/>
          </a:xfrm>
          <a:prstGeom prst="roundRect">
            <a:avLst>
              <a:gd name="adj" fmla="val 50000"/>
            </a:avLst>
          </a:prstGeom>
          <a:solidFill>
            <a:srgbClr val="1E293B"/>
          </a:solidFill>
          <a:ln w="15875">
            <a:solidFill>
              <a:srgbClr val="1E293B"/>
            </a:solidFill>
          </a:ln>
        </p:spPr>
        <p:txBody>
          <a:bodyPr lIns="45719" rIns="45719"/>
          <a:lstStyle/>
          <a:p>
            <a:pPr/>
          </a:p>
        </p:txBody>
      </p:sp>
      <p:sp>
        <p:nvSpPr>
          <p:cNvPr id="951" name="Text 62"/>
          <p:cNvSpPr txBox="1"/>
          <p:nvPr/>
        </p:nvSpPr>
        <p:spPr>
          <a:xfrm>
            <a:off x="8217396" y="5973178"/>
            <a:ext cx="64619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Menlo Regular"/>
                <a:ea typeface="Menlo Regular"/>
                <a:cs typeface="Menlo Regular"/>
                <a:sym typeface="Menlo Regular"/>
              </a:defRPr>
            </a:lvl1pPr>
          </a:lstStyle>
          <a:p>
            <a:pPr/>
            <a:r>
              <a:t>Fin</a:t>
            </a:r>
          </a:p>
        </p:txBody>
      </p:sp>
      <p:sp>
        <p:nvSpPr>
          <p:cNvPr id="952"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6" name="Text 0"/>
          <p:cNvSpPr txBox="1"/>
          <p:nvPr>
            <p:ph type="title"/>
          </p:nvPr>
        </p:nvSpPr>
        <p:spPr>
          <a:prstGeom prst="rect">
            <a:avLst/>
          </a:prstGeom>
        </p:spPr>
        <p:txBody>
          <a:bodyPr lIns="0" tIns="0" rIns="0" bIns="0" anchor="ctr"/>
          <a:lstStyle/>
          <a:p>
            <a:pPr/>
            <a:r>
              <a:t>9 · Mínimo</a:t>
            </a:r>
          </a:p>
        </p:txBody>
      </p:sp>
      <p:sp>
        <p:nvSpPr>
          <p:cNvPr id="957" name="Text 0"/>
          <p:cNvSpPr txBox="1"/>
          <p:nvPr>
            <p:ph type="body" sz="quarter" idx="1"/>
          </p:nvPr>
        </p:nvSpPr>
        <p:spPr>
          <a:prstGeom prst="rect">
            <a:avLst/>
          </a:prstGeom>
        </p:spPr>
        <p:txBody>
          <a:bodyPr lIns="0" tIns="0" rIns="0" bIns="0" anchor="ctr"/>
          <a:lstStyle/>
          <a:p>
            <a:pPr/>
            <a:r>
              <a:t>La mejor vuelta es la de menos segundos. Empieza con el primer elemento y lo reemplaza cada vez que encuentra uno menor.</a:t>
            </a:r>
          </a:p>
        </p:txBody>
      </p:sp>
      <p:sp>
        <p:nvSpPr>
          <p:cNvPr id="958" name="Shape 2"/>
          <p:cNvSpPr/>
          <p:nvPr/>
        </p:nvSpPr>
        <p:spPr>
          <a:xfrm>
            <a:off x="548640" y="1325880"/>
            <a:ext cx="4663441" cy="1879093"/>
          </a:xfrm>
          <a:prstGeom prst="roundRect">
            <a:avLst>
              <a:gd name="adj" fmla="val 3893"/>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959" name="Text 3"/>
          <p:cNvSpPr txBox="1"/>
          <p:nvPr/>
        </p:nvSpPr>
        <p:spPr>
          <a:xfrm>
            <a:off x="749808" y="147680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Python  ·  encontrar_mejor_vuelta([92, 87, 95])  →  87</a:t>
            </a:r>
          </a:p>
        </p:txBody>
      </p:sp>
      <p:sp>
        <p:nvSpPr>
          <p:cNvPr id="960" name="Text 4"/>
          <p:cNvSpPr txBox="1"/>
          <p:nvPr/>
        </p:nvSpPr>
        <p:spPr>
          <a:xfrm>
            <a:off x="749808" y="1764792"/>
            <a:ext cx="4297680" cy="12145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sz="1200">
                <a:solidFill>
                  <a:srgbClr val="569CD6"/>
                </a:solidFill>
                <a:latin typeface="Menlo Regular"/>
                <a:ea typeface="Menlo Regular"/>
                <a:cs typeface="Menlo Regular"/>
                <a:sym typeface="Menlo Regular"/>
              </a:defRPr>
            </a:pPr>
            <a:r>
              <a:t>def</a:t>
            </a:r>
            <a:r>
              <a:rPr>
                <a:solidFill>
                  <a:srgbClr val="D4D4D4"/>
                </a:solidFill>
              </a:rPr>
              <a:t> </a:t>
            </a:r>
            <a:r>
              <a:rPr>
                <a:solidFill>
                  <a:srgbClr val="DCDCAA"/>
                </a:solidFill>
              </a:rPr>
              <a:t>encontrar_mejor_vuelta</a:t>
            </a:r>
            <a:r>
              <a:rPr>
                <a:solidFill>
                  <a:srgbClr val="D4D4D4"/>
                </a:solidFill>
              </a:rPr>
              <a:t>(</a:t>
            </a:r>
            <a:r>
              <a:rPr>
                <a:solidFill>
                  <a:srgbClr val="9CDCFE"/>
                </a:solidFill>
              </a:rPr>
              <a:t>lista_segundos</a:t>
            </a:r>
            <a:r>
              <a:rPr>
                <a:solidFill>
                  <a:srgbClr val="D4D4D4"/>
                </a:solidFill>
              </a:rPr>
              <a:t>):</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mejor</a:t>
            </a:r>
            <a:r>
              <a:t> = </a:t>
            </a:r>
            <a:r>
              <a:rPr>
                <a:solidFill>
                  <a:srgbClr val="9CDCFE"/>
                </a:solidFill>
              </a:rPr>
              <a:t>lista_segundos</a:t>
            </a:r>
            <a:r>
              <a:t>[</a:t>
            </a:r>
            <a:r>
              <a:rPr>
                <a:solidFill>
                  <a:srgbClr val="B5CEA8"/>
                </a:solidFill>
              </a:rPr>
              <a:t>0</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for</a:t>
            </a:r>
            <a:r>
              <a:t> </a:t>
            </a:r>
            <a:r>
              <a:rPr>
                <a:solidFill>
                  <a:srgbClr val="9CDCFE"/>
                </a:solidFill>
              </a:rPr>
              <a:t>segundos</a:t>
            </a:r>
            <a:r>
              <a:t> </a:t>
            </a:r>
            <a:r>
              <a:rPr>
                <a:solidFill>
                  <a:srgbClr val="C586C0"/>
                </a:solidFill>
              </a:rPr>
              <a:t>in</a:t>
            </a:r>
            <a:r>
              <a:t> </a:t>
            </a:r>
            <a:r>
              <a:rPr>
                <a:solidFill>
                  <a:srgbClr val="9CDCFE"/>
                </a:solidFill>
              </a:rPr>
              <a:t>lista_segundos</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if</a:t>
            </a:r>
            <a:r>
              <a:t> </a:t>
            </a:r>
            <a:r>
              <a:rPr>
                <a:solidFill>
                  <a:srgbClr val="9CDCFE"/>
                </a:solidFill>
              </a:rPr>
              <a:t>segundos</a:t>
            </a:r>
            <a:r>
              <a:t> &lt; </a:t>
            </a:r>
            <a:r>
              <a:rPr>
                <a:solidFill>
                  <a:srgbClr val="9CDCFE"/>
                </a:solidFill>
              </a:rPr>
              <a:t>mejor</a:t>
            </a:r>
            <a:r>
              <a:t>:</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mejor</a:t>
            </a:r>
            <a:r>
              <a:t> = </a:t>
            </a:r>
            <a:r>
              <a:rPr>
                <a:solidFill>
                  <a:srgbClr val="9CDCFE"/>
                </a:solidFill>
              </a:rPr>
              <a:t>segundos</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9CDCFE"/>
                </a:solidFill>
              </a:rPr>
              <a:t>mejor</a:t>
            </a:r>
          </a:p>
        </p:txBody>
      </p:sp>
      <p:sp>
        <p:nvSpPr>
          <p:cNvPr id="961" name="Shape 5"/>
          <p:cNvSpPr/>
          <p:nvPr/>
        </p:nvSpPr>
        <p:spPr>
          <a:xfrm>
            <a:off x="548640" y="3406140"/>
            <a:ext cx="4663441" cy="2948941"/>
          </a:xfrm>
          <a:prstGeom prst="roundRect">
            <a:avLst>
              <a:gd name="adj" fmla="val 2481"/>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962" name="Text 6"/>
          <p:cNvSpPr txBox="1"/>
          <p:nvPr/>
        </p:nvSpPr>
        <p:spPr>
          <a:xfrm>
            <a:off x="749808" y="355706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3"/>
                </a:solidFill>
              </a:defRPr>
            </a:lvl1pPr>
          </a:lstStyle>
          <a:p>
            <a:pPr/>
            <a:r>
              <a:t>Nassi-Shneiderman</a:t>
            </a:r>
          </a:p>
        </p:txBody>
      </p:sp>
      <p:sp>
        <p:nvSpPr>
          <p:cNvPr id="963" name="Shape 7"/>
          <p:cNvSpPr/>
          <p:nvPr/>
        </p:nvSpPr>
        <p:spPr>
          <a:xfrm>
            <a:off x="777239" y="3845052"/>
            <a:ext cx="4206242" cy="349073"/>
          </a:xfrm>
          <a:prstGeom prst="rect">
            <a:avLst/>
          </a:prstGeom>
          <a:solidFill>
            <a:srgbClr val="1E293B"/>
          </a:solidFill>
          <a:ln>
            <a:solidFill>
              <a:srgbClr val="334155"/>
            </a:solidFill>
          </a:ln>
        </p:spPr>
        <p:txBody>
          <a:bodyPr lIns="45719" rIns="45719"/>
          <a:lstStyle/>
          <a:p>
            <a:pPr/>
          </a:p>
        </p:txBody>
      </p:sp>
      <p:sp>
        <p:nvSpPr>
          <p:cNvPr id="964" name="Text 8"/>
          <p:cNvSpPr txBox="1"/>
          <p:nvPr/>
        </p:nvSpPr>
        <p:spPr>
          <a:xfrm>
            <a:off x="822960" y="3949737"/>
            <a:ext cx="4114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Menlo Regular"/>
                <a:ea typeface="Menlo Regular"/>
                <a:cs typeface="Menlo Regular"/>
                <a:sym typeface="Menlo Regular"/>
              </a:defRPr>
            </a:lvl1pPr>
          </a:lstStyle>
          <a:p>
            <a:pPr/>
            <a:r>
              <a:t>encontrar_mejor_vuelta(lista_segundos)</a:t>
            </a:r>
          </a:p>
        </p:txBody>
      </p:sp>
      <p:sp>
        <p:nvSpPr>
          <p:cNvPr id="965" name="Shape 9"/>
          <p:cNvSpPr/>
          <p:nvPr/>
        </p:nvSpPr>
        <p:spPr>
          <a:xfrm>
            <a:off x="777239" y="4194123"/>
            <a:ext cx="4206242" cy="349073"/>
          </a:xfrm>
          <a:prstGeom prst="rect">
            <a:avLst/>
          </a:prstGeom>
          <a:solidFill>
            <a:srgbClr val="DBEAFE"/>
          </a:solidFill>
          <a:ln>
            <a:solidFill>
              <a:srgbClr val="334155"/>
            </a:solidFill>
          </a:ln>
        </p:spPr>
        <p:txBody>
          <a:bodyPr lIns="45719" rIns="45719"/>
          <a:lstStyle/>
          <a:p>
            <a:pPr/>
          </a:p>
        </p:txBody>
      </p:sp>
      <p:sp>
        <p:nvSpPr>
          <p:cNvPr id="966" name="Text 10"/>
          <p:cNvSpPr txBox="1"/>
          <p:nvPr/>
        </p:nvSpPr>
        <p:spPr>
          <a:xfrm>
            <a:off x="822960" y="4298809"/>
            <a:ext cx="4114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E3A8A"/>
                </a:solidFill>
                <a:latin typeface="Menlo Regular"/>
                <a:ea typeface="Menlo Regular"/>
                <a:cs typeface="Menlo Regular"/>
                <a:sym typeface="Menlo Regular"/>
              </a:defRPr>
            </a:lvl1pPr>
          </a:lstStyle>
          <a:p>
            <a:pPr/>
            <a:r>
              <a:t>mejor = lista_segundos[0]</a:t>
            </a:r>
          </a:p>
        </p:txBody>
      </p:sp>
      <p:sp>
        <p:nvSpPr>
          <p:cNvPr id="967" name="Shape 11"/>
          <p:cNvSpPr/>
          <p:nvPr/>
        </p:nvSpPr>
        <p:spPr>
          <a:xfrm>
            <a:off x="777239" y="4543195"/>
            <a:ext cx="4206242" cy="1279932"/>
          </a:xfrm>
          <a:prstGeom prst="rect">
            <a:avLst/>
          </a:prstGeom>
          <a:solidFill>
            <a:srgbClr val="DCFCE7"/>
          </a:solidFill>
          <a:ln>
            <a:solidFill>
              <a:srgbClr val="334155"/>
            </a:solidFill>
          </a:ln>
        </p:spPr>
        <p:txBody>
          <a:bodyPr lIns="45719" rIns="45719"/>
          <a:lstStyle/>
          <a:p>
            <a:pPr/>
          </a:p>
        </p:txBody>
      </p:sp>
      <p:sp>
        <p:nvSpPr>
          <p:cNvPr id="968" name="Text 12"/>
          <p:cNvSpPr txBox="1"/>
          <p:nvPr/>
        </p:nvSpPr>
        <p:spPr>
          <a:xfrm>
            <a:off x="868680" y="4647881"/>
            <a:ext cx="4023360"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14532D"/>
                </a:solidFill>
                <a:latin typeface="Menlo Regular"/>
                <a:ea typeface="Menlo Regular"/>
                <a:cs typeface="Menlo Regular"/>
                <a:sym typeface="Menlo Regular"/>
              </a:defRPr>
            </a:lvl1pPr>
          </a:lstStyle>
          <a:p>
            <a:pPr/>
            <a:r>
              <a:t>for segundos in lista_segundos</a:t>
            </a:r>
          </a:p>
        </p:txBody>
      </p:sp>
      <p:sp>
        <p:nvSpPr>
          <p:cNvPr id="969" name="Shape 13"/>
          <p:cNvSpPr/>
          <p:nvPr/>
        </p:nvSpPr>
        <p:spPr>
          <a:xfrm>
            <a:off x="1126311" y="4892268"/>
            <a:ext cx="3857170" cy="581788"/>
          </a:xfrm>
          <a:prstGeom prst="rect">
            <a:avLst/>
          </a:prstGeom>
          <a:solidFill>
            <a:srgbClr val="FEF3C7"/>
          </a:solidFill>
          <a:ln>
            <a:solidFill>
              <a:srgbClr val="334155"/>
            </a:solidFill>
          </a:ln>
        </p:spPr>
        <p:txBody>
          <a:bodyPr lIns="45719" rIns="45719"/>
          <a:lstStyle/>
          <a:p>
            <a:pPr/>
          </a:p>
        </p:txBody>
      </p:sp>
      <p:sp>
        <p:nvSpPr>
          <p:cNvPr id="970" name="Shape 14"/>
          <p:cNvSpPr/>
          <p:nvPr/>
        </p:nvSpPr>
        <p:spPr>
          <a:xfrm>
            <a:off x="1126311" y="4892268"/>
            <a:ext cx="2728694" cy="581788"/>
          </a:xfrm>
          <a:prstGeom prst="line">
            <a:avLst/>
          </a:prstGeom>
          <a:ln>
            <a:solidFill>
              <a:srgbClr val="334155"/>
            </a:solidFill>
          </a:ln>
        </p:spPr>
        <p:txBody>
          <a:bodyPr lIns="45719" rIns="45719"/>
          <a:lstStyle/>
          <a:p>
            <a:pPr/>
          </a:p>
        </p:txBody>
      </p:sp>
      <p:sp>
        <p:nvSpPr>
          <p:cNvPr id="971" name="Shape 15"/>
          <p:cNvSpPr/>
          <p:nvPr/>
        </p:nvSpPr>
        <p:spPr>
          <a:xfrm flipH="1">
            <a:off x="3855004" y="4892268"/>
            <a:ext cx="1128476" cy="581788"/>
          </a:xfrm>
          <a:prstGeom prst="line">
            <a:avLst/>
          </a:prstGeom>
          <a:ln>
            <a:solidFill>
              <a:srgbClr val="334155"/>
            </a:solidFill>
          </a:ln>
        </p:spPr>
        <p:txBody>
          <a:bodyPr lIns="45719" rIns="45719"/>
          <a:lstStyle/>
          <a:p>
            <a:pPr/>
          </a:p>
        </p:txBody>
      </p:sp>
      <p:sp>
        <p:nvSpPr>
          <p:cNvPr id="972" name="Text 16"/>
          <p:cNvSpPr txBox="1"/>
          <p:nvPr/>
        </p:nvSpPr>
        <p:spPr>
          <a:xfrm>
            <a:off x="2044883" y="4963709"/>
            <a:ext cx="289287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8350F"/>
                </a:solidFill>
                <a:latin typeface="Menlo Regular"/>
                <a:ea typeface="Menlo Regular"/>
                <a:cs typeface="Menlo Regular"/>
                <a:sym typeface="Menlo Regular"/>
              </a:defRPr>
            </a:lvl1pPr>
          </a:lstStyle>
          <a:p>
            <a:pPr/>
            <a:r>
              <a:t>¿segundos &lt; mejor?</a:t>
            </a:r>
          </a:p>
        </p:txBody>
      </p:sp>
      <p:sp>
        <p:nvSpPr>
          <p:cNvPr id="973" name="Text 17"/>
          <p:cNvSpPr txBox="1"/>
          <p:nvPr/>
        </p:nvSpPr>
        <p:spPr>
          <a:xfrm>
            <a:off x="1190319" y="5285887"/>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Sí</a:t>
            </a:r>
          </a:p>
        </p:txBody>
      </p:sp>
      <p:sp>
        <p:nvSpPr>
          <p:cNvPr id="974" name="Text 18"/>
          <p:cNvSpPr txBox="1"/>
          <p:nvPr/>
        </p:nvSpPr>
        <p:spPr>
          <a:xfrm>
            <a:off x="4553711" y="5285887"/>
            <a:ext cx="36576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900">
                <a:solidFill>
                  <a:srgbClr val="475569"/>
                </a:solidFill>
              </a:defRPr>
            </a:lvl1pPr>
          </a:lstStyle>
          <a:p>
            <a:pPr/>
            <a:r>
              <a:t>No</a:t>
            </a:r>
          </a:p>
        </p:txBody>
      </p:sp>
      <p:sp>
        <p:nvSpPr>
          <p:cNvPr id="975" name="Shape 19"/>
          <p:cNvSpPr/>
          <p:nvPr/>
        </p:nvSpPr>
        <p:spPr>
          <a:xfrm>
            <a:off x="1126311" y="5474056"/>
            <a:ext cx="2728695" cy="349073"/>
          </a:xfrm>
          <a:prstGeom prst="rect">
            <a:avLst/>
          </a:prstGeom>
          <a:solidFill>
            <a:srgbClr val="FFFFFF"/>
          </a:solidFill>
          <a:ln>
            <a:solidFill>
              <a:srgbClr val="334155"/>
            </a:solidFill>
          </a:ln>
        </p:spPr>
        <p:txBody>
          <a:bodyPr lIns="45719" rIns="45719"/>
          <a:lstStyle/>
          <a:p>
            <a:pPr/>
          </a:p>
        </p:txBody>
      </p:sp>
      <p:sp>
        <p:nvSpPr>
          <p:cNvPr id="976" name="Shape 20"/>
          <p:cNvSpPr/>
          <p:nvPr/>
        </p:nvSpPr>
        <p:spPr>
          <a:xfrm>
            <a:off x="1126311" y="5474056"/>
            <a:ext cx="2728695" cy="349073"/>
          </a:xfrm>
          <a:prstGeom prst="rect">
            <a:avLst/>
          </a:prstGeom>
          <a:solidFill>
            <a:srgbClr val="DBEAFE"/>
          </a:solidFill>
          <a:ln>
            <a:solidFill>
              <a:srgbClr val="334155"/>
            </a:solidFill>
          </a:ln>
        </p:spPr>
        <p:txBody>
          <a:bodyPr lIns="45719" rIns="45719"/>
          <a:lstStyle/>
          <a:p>
            <a:pPr/>
          </a:p>
        </p:txBody>
      </p:sp>
      <p:sp>
        <p:nvSpPr>
          <p:cNvPr id="977" name="Text 21"/>
          <p:cNvSpPr txBox="1"/>
          <p:nvPr/>
        </p:nvSpPr>
        <p:spPr>
          <a:xfrm>
            <a:off x="1172032" y="5578742"/>
            <a:ext cx="2637254"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E3A8A"/>
                </a:solidFill>
                <a:latin typeface="Menlo Regular"/>
                <a:ea typeface="Menlo Regular"/>
                <a:cs typeface="Menlo Regular"/>
                <a:sym typeface="Menlo Regular"/>
              </a:defRPr>
            </a:lvl1pPr>
          </a:lstStyle>
          <a:p>
            <a:pPr/>
            <a:r>
              <a:t>mejor = segundos</a:t>
            </a:r>
          </a:p>
        </p:txBody>
      </p:sp>
      <p:sp>
        <p:nvSpPr>
          <p:cNvPr id="978" name="Shape 22"/>
          <p:cNvSpPr/>
          <p:nvPr/>
        </p:nvSpPr>
        <p:spPr>
          <a:xfrm>
            <a:off x="3855005" y="5474056"/>
            <a:ext cx="1128476" cy="349073"/>
          </a:xfrm>
          <a:prstGeom prst="rect">
            <a:avLst/>
          </a:prstGeom>
          <a:solidFill>
            <a:srgbClr val="FFFFFF"/>
          </a:solidFill>
          <a:ln>
            <a:solidFill>
              <a:srgbClr val="334155"/>
            </a:solidFill>
          </a:ln>
        </p:spPr>
        <p:txBody>
          <a:bodyPr lIns="45719" rIns="45719"/>
          <a:lstStyle/>
          <a:p>
            <a:pPr/>
          </a:p>
        </p:txBody>
      </p:sp>
      <p:sp>
        <p:nvSpPr>
          <p:cNvPr id="979" name="Text 23"/>
          <p:cNvSpPr txBox="1"/>
          <p:nvPr/>
        </p:nvSpPr>
        <p:spPr>
          <a:xfrm>
            <a:off x="3855005" y="5570159"/>
            <a:ext cx="1128476"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94A3B8"/>
                </a:solidFill>
              </a:defRPr>
            </a:lvl1pPr>
          </a:lstStyle>
          <a:p>
            <a:pPr/>
            <a:r>
              <a:t>—</a:t>
            </a:r>
          </a:p>
        </p:txBody>
      </p:sp>
      <p:sp>
        <p:nvSpPr>
          <p:cNvPr id="980" name="Shape 24"/>
          <p:cNvSpPr/>
          <p:nvPr/>
        </p:nvSpPr>
        <p:spPr>
          <a:xfrm>
            <a:off x="777239" y="5823127"/>
            <a:ext cx="4206242" cy="349073"/>
          </a:xfrm>
          <a:prstGeom prst="rect">
            <a:avLst/>
          </a:prstGeom>
          <a:solidFill>
            <a:srgbClr val="EDE9FE"/>
          </a:solidFill>
          <a:ln>
            <a:solidFill>
              <a:srgbClr val="334155"/>
            </a:solidFill>
          </a:ln>
        </p:spPr>
        <p:txBody>
          <a:bodyPr lIns="45719" rIns="45719"/>
          <a:lstStyle/>
          <a:p>
            <a:pPr/>
          </a:p>
        </p:txBody>
      </p:sp>
      <p:sp>
        <p:nvSpPr>
          <p:cNvPr id="981" name="Text 25"/>
          <p:cNvSpPr txBox="1"/>
          <p:nvPr/>
        </p:nvSpPr>
        <p:spPr>
          <a:xfrm>
            <a:off x="822960" y="5927813"/>
            <a:ext cx="411480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4C1D95"/>
                </a:solidFill>
                <a:latin typeface="Menlo Regular"/>
                <a:ea typeface="Menlo Regular"/>
                <a:cs typeface="Menlo Regular"/>
                <a:sym typeface="Menlo Regular"/>
              </a:defRPr>
            </a:lvl1pPr>
          </a:lstStyle>
          <a:p>
            <a:pPr/>
            <a:r>
              <a:t>return mejor</a:t>
            </a:r>
          </a:p>
        </p:txBody>
      </p:sp>
      <p:sp>
        <p:nvSpPr>
          <p:cNvPr id="982" name="Shape 26"/>
          <p:cNvSpPr/>
          <p:nvPr/>
        </p:nvSpPr>
        <p:spPr>
          <a:xfrm>
            <a:off x="5440679" y="1325880"/>
            <a:ext cx="6199633" cy="5029201"/>
          </a:xfrm>
          <a:prstGeom prst="roundRect">
            <a:avLst>
              <a:gd name="adj" fmla="val 145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983" name="Text 27"/>
          <p:cNvSpPr txBox="1"/>
          <p:nvPr/>
        </p:nvSpPr>
        <p:spPr>
          <a:xfrm>
            <a:off x="5641847" y="1476800"/>
            <a:ext cx="5797298"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2"/>
                </a:solidFill>
              </a:defRPr>
            </a:lvl1pPr>
          </a:lstStyle>
          <a:p>
            <a:pPr/>
            <a:r>
              <a:t>Diagrama de flujo</a:t>
            </a:r>
          </a:p>
        </p:txBody>
      </p:sp>
      <p:sp>
        <p:nvSpPr>
          <p:cNvPr id="984" name="Shape 28"/>
          <p:cNvSpPr/>
          <p:nvPr/>
        </p:nvSpPr>
        <p:spPr>
          <a:xfrm>
            <a:off x="6876964" y="1737360"/>
            <a:ext cx="3327062" cy="349784"/>
          </a:xfrm>
          <a:prstGeom prst="roundRect">
            <a:avLst>
              <a:gd name="adj" fmla="val 50000"/>
            </a:avLst>
          </a:prstGeom>
          <a:solidFill>
            <a:srgbClr val="1E293B"/>
          </a:solidFill>
          <a:ln w="15875">
            <a:solidFill>
              <a:srgbClr val="1E293B"/>
            </a:solidFill>
          </a:ln>
        </p:spPr>
        <p:txBody>
          <a:bodyPr lIns="45719" rIns="45719"/>
          <a:lstStyle/>
          <a:p>
            <a:pPr/>
          </a:p>
        </p:txBody>
      </p:sp>
      <p:sp>
        <p:nvSpPr>
          <p:cNvPr id="985" name="Text 29"/>
          <p:cNvSpPr txBox="1"/>
          <p:nvPr/>
        </p:nvSpPr>
        <p:spPr>
          <a:xfrm>
            <a:off x="6876964" y="1842401"/>
            <a:ext cx="332706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Menlo Regular"/>
                <a:ea typeface="Menlo Regular"/>
                <a:cs typeface="Menlo Regular"/>
                <a:sym typeface="Menlo Regular"/>
              </a:defRPr>
            </a:lvl1pPr>
          </a:lstStyle>
          <a:p>
            <a:pPr/>
            <a:r>
              <a:t>encontrar_mejor_vuelta(lista_segundos)</a:t>
            </a:r>
          </a:p>
        </p:txBody>
      </p:sp>
      <p:sp>
        <p:nvSpPr>
          <p:cNvPr id="986" name="Shape 30"/>
          <p:cNvSpPr/>
          <p:nvPr/>
        </p:nvSpPr>
        <p:spPr>
          <a:xfrm>
            <a:off x="8540495" y="2087142"/>
            <a:ext cx="1" cy="216534"/>
          </a:xfrm>
          <a:prstGeom prst="line">
            <a:avLst/>
          </a:prstGeom>
          <a:ln w="15875">
            <a:solidFill>
              <a:srgbClr val="64748B"/>
            </a:solidFill>
            <a:tailEnd type="triangle"/>
          </a:ln>
        </p:spPr>
        <p:txBody>
          <a:bodyPr lIns="45719" rIns="45719"/>
          <a:lstStyle/>
          <a:p>
            <a:pPr/>
          </a:p>
        </p:txBody>
      </p:sp>
      <p:sp>
        <p:nvSpPr>
          <p:cNvPr id="987" name="Shape 31"/>
          <p:cNvSpPr/>
          <p:nvPr/>
        </p:nvSpPr>
        <p:spPr>
          <a:xfrm>
            <a:off x="7416480" y="2303676"/>
            <a:ext cx="2248031" cy="333128"/>
          </a:xfrm>
          <a:prstGeom prst="rect">
            <a:avLst/>
          </a:prstGeom>
          <a:solidFill>
            <a:srgbClr val="DBEAFE"/>
          </a:solidFill>
          <a:ln w="15875">
            <a:solidFill>
              <a:schemeClr val="accent1"/>
            </a:solidFill>
          </a:ln>
        </p:spPr>
        <p:txBody>
          <a:bodyPr lIns="45719" rIns="45719"/>
          <a:lstStyle/>
          <a:p>
            <a:pPr/>
          </a:p>
        </p:txBody>
      </p:sp>
      <p:sp>
        <p:nvSpPr>
          <p:cNvPr id="988" name="Text 32"/>
          <p:cNvSpPr txBox="1"/>
          <p:nvPr/>
        </p:nvSpPr>
        <p:spPr>
          <a:xfrm>
            <a:off x="7416480" y="2400389"/>
            <a:ext cx="224803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E3A8A"/>
                </a:solidFill>
                <a:latin typeface="Menlo Regular"/>
                <a:ea typeface="Menlo Regular"/>
                <a:cs typeface="Menlo Regular"/>
                <a:sym typeface="Menlo Regular"/>
              </a:defRPr>
            </a:lvl1pPr>
          </a:lstStyle>
          <a:p>
            <a:pPr/>
            <a:r>
              <a:t>mejor = lista_segundos[0]</a:t>
            </a:r>
          </a:p>
        </p:txBody>
      </p:sp>
      <p:sp>
        <p:nvSpPr>
          <p:cNvPr id="989" name="Shape 33"/>
          <p:cNvSpPr/>
          <p:nvPr/>
        </p:nvSpPr>
        <p:spPr>
          <a:xfrm>
            <a:off x="8540495" y="2636802"/>
            <a:ext cx="1" cy="216534"/>
          </a:xfrm>
          <a:prstGeom prst="line">
            <a:avLst/>
          </a:prstGeom>
          <a:ln w="15875">
            <a:solidFill>
              <a:srgbClr val="64748B"/>
            </a:solidFill>
            <a:tailEnd type="triangle"/>
          </a:ln>
        </p:spPr>
        <p:txBody>
          <a:bodyPr lIns="45719" rIns="45719"/>
          <a:lstStyle/>
          <a:p>
            <a:pPr/>
          </a:p>
        </p:txBody>
      </p:sp>
      <p:sp>
        <p:nvSpPr>
          <p:cNvPr id="990" name="Shape 34"/>
          <p:cNvSpPr/>
          <p:nvPr/>
        </p:nvSpPr>
        <p:spPr>
          <a:xfrm>
            <a:off x="7100068" y="2853335"/>
            <a:ext cx="2880857" cy="4164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781" y="0"/>
                </a:lnTo>
                <a:lnTo>
                  <a:pt x="20819" y="0"/>
                </a:lnTo>
                <a:lnTo>
                  <a:pt x="21600" y="10800"/>
                </a:lnTo>
                <a:lnTo>
                  <a:pt x="20819" y="21600"/>
                </a:lnTo>
                <a:lnTo>
                  <a:pt x="781" y="21600"/>
                </a:lnTo>
                <a:close/>
              </a:path>
            </a:pathLst>
          </a:custGeom>
          <a:solidFill>
            <a:srgbClr val="DCFCE7"/>
          </a:solidFill>
          <a:ln w="15875">
            <a:solidFill>
              <a:schemeClr val="accent2"/>
            </a:solidFill>
          </a:ln>
        </p:spPr>
        <p:txBody>
          <a:bodyPr lIns="45719" rIns="45719"/>
          <a:lstStyle/>
          <a:p>
            <a:pPr/>
          </a:p>
        </p:txBody>
      </p:sp>
      <p:sp>
        <p:nvSpPr>
          <p:cNvPr id="991" name="Text 35"/>
          <p:cNvSpPr txBox="1"/>
          <p:nvPr/>
        </p:nvSpPr>
        <p:spPr>
          <a:xfrm>
            <a:off x="7100068" y="2991689"/>
            <a:ext cx="2880857"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4532D"/>
                </a:solidFill>
                <a:latin typeface="Menlo Regular"/>
                <a:ea typeface="Menlo Regular"/>
                <a:cs typeface="Menlo Regular"/>
                <a:sym typeface="Menlo Regular"/>
              </a:defRPr>
            </a:lvl1pPr>
          </a:lstStyle>
          <a:p>
            <a:pPr/>
            <a:r>
              <a:t>for segundos in lista_segundos</a:t>
            </a:r>
          </a:p>
        </p:txBody>
      </p:sp>
      <p:sp>
        <p:nvSpPr>
          <p:cNvPr id="992" name="Shape 36"/>
          <p:cNvSpPr/>
          <p:nvPr/>
        </p:nvSpPr>
        <p:spPr>
          <a:xfrm>
            <a:off x="8540495" y="3269745"/>
            <a:ext cx="1" cy="216534"/>
          </a:xfrm>
          <a:prstGeom prst="line">
            <a:avLst/>
          </a:prstGeom>
          <a:ln w="15875">
            <a:solidFill>
              <a:srgbClr val="64748B"/>
            </a:solidFill>
            <a:tailEnd type="triangle"/>
          </a:ln>
        </p:spPr>
        <p:txBody>
          <a:bodyPr lIns="45719" rIns="45719"/>
          <a:lstStyle/>
          <a:p>
            <a:pPr/>
          </a:p>
        </p:txBody>
      </p:sp>
      <p:sp>
        <p:nvSpPr>
          <p:cNvPr id="993" name="Text 37"/>
          <p:cNvSpPr txBox="1"/>
          <p:nvPr/>
        </p:nvSpPr>
        <p:spPr>
          <a:xfrm>
            <a:off x="8590464" y="3314510"/>
            <a:ext cx="916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siguiente</a:t>
            </a:r>
          </a:p>
        </p:txBody>
      </p:sp>
      <p:sp>
        <p:nvSpPr>
          <p:cNvPr id="994" name="Shape 38"/>
          <p:cNvSpPr/>
          <p:nvPr/>
        </p:nvSpPr>
        <p:spPr>
          <a:xfrm>
            <a:off x="7507955" y="3486277"/>
            <a:ext cx="2065081" cy="516348"/>
          </a:xfrm>
          <a:prstGeom prst="diamond">
            <a:avLst/>
          </a:prstGeom>
          <a:solidFill>
            <a:srgbClr val="FEF3C7"/>
          </a:solidFill>
          <a:ln w="15875">
            <a:solidFill>
              <a:schemeClr val="accent6"/>
            </a:solidFill>
          </a:ln>
        </p:spPr>
        <p:txBody>
          <a:bodyPr lIns="45719" rIns="45719"/>
          <a:lstStyle/>
          <a:p>
            <a:pPr/>
          </a:p>
        </p:txBody>
      </p:sp>
      <p:sp>
        <p:nvSpPr>
          <p:cNvPr id="995" name="Text 39"/>
          <p:cNvSpPr txBox="1"/>
          <p:nvPr/>
        </p:nvSpPr>
        <p:spPr>
          <a:xfrm>
            <a:off x="7507955" y="3674600"/>
            <a:ext cx="2065081"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78350F"/>
                </a:solidFill>
                <a:latin typeface="Menlo Regular"/>
                <a:ea typeface="Menlo Regular"/>
                <a:cs typeface="Menlo Regular"/>
                <a:sym typeface="Menlo Regular"/>
              </a:defRPr>
            </a:lvl1pPr>
          </a:lstStyle>
          <a:p>
            <a:pPr/>
            <a:r>
              <a:t>segundos &lt; mejor</a:t>
            </a:r>
          </a:p>
        </p:txBody>
      </p:sp>
      <p:sp>
        <p:nvSpPr>
          <p:cNvPr id="996" name="Shape 40"/>
          <p:cNvSpPr/>
          <p:nvPr/>
        </p:nvSpPr>
        <p:spPr>
          <a:xfrm>
            <a:off x="8540495" y="4002625"/>
            <a:ext cx="1" cy="216534"/>
          </a:xfrm>
          <a:prstGeom prst="line">
            <a:avLst/>
          </a:prstGeom>
          <a:ln w="15875">
            <a:solidFill>
              <a:srgbClr val="64748B"/>
            </a:solidFill>
            <a:tailEnd type="triangle"/>
          </a:ln>
        </p:spPr>
        <p:txBody>
          <a:bodyPr lIns="45719" rIns="45719"/>
          <a:lstStyle/>
          <a:p>
            <a:pPr/>
          </a:p>
        </p:txBody>
      </p:sp>
      <p:sp>
        <p:nvSpPr>
          <p:cNvPr id="997" name="Text 41"/>
          <p:cNvSpPr txBox="1"/>
          <p:nvPr/>
        </p:nvSpPr>
        <p:spPr>
          <a:xfrm>
            <a:off x="8590464" y="4047390"/>
            <a:ext cx="916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Sí</a:t>
            </a:r>
          </a:p>
        </p:txBody>
      </p:sp>
      <p:sp>
        <p:nvSpPr>
          <p:cNvPr id="998" name="Shape 42"/>
          <p:cNvSpPr/>
          <p:nvPr/>
        </p:nvSpPr>
        <p:spPr>
          <a:xfrm>
            <a:off x="7761164" y="4219156"/>
            <a:ext cx="1558666" cy="333128"/>
          </a:xfrm>
          <a:prstGeom prst="rect">
            <a:avLst/>
          </a:prstGeom>
          <a:solidFill>
            <a:srgbClr val="DBEAFE"/>
          </a:solidFill>
          <a:ln w="15875">
            <a:solidFill>
              <a:schemeClr val="accent1"/>
            </a:solidFill>
          </a:ln>
        </p:spPr>
        <p:txBody>
          <a:bodyPr lIns="45719" rIns="45719"/>
          <a:lstStyle/>
          <a:p>
            <a:pPr/>
          </a:p>
        </p:txBody>
      </p:sp>
      <p:sp>
        <p:nvSpPr>
          <p:cNvPr id="999" name="Text 43"/>
          <p:cNvSpPr txBox="1"/>
          <p:nvPr/>
        </p:nvSpPr>
        <p:spPr>
          <a:xfrm>
            <a:off x="7761164" y="4315870"/>
            <a:ext cx="1558666"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1E3A8A"/>
                </a:solidFill>
                <a:latin typeface="Menlo Regular"/>
                <a:ea typeface="Menlo Regular"/>
                <a:cs typeface="Menlo Regular"/>
                <a:sym typeface="Menlo Regular"/>
              </a:defRPr>
            </a:lvl1pPr>
          </a:lstStyle>
          <a:p>
            <a:pPr/>
            <a:r>
              <a:t>mejor = segundos</a:t>
            </a:r>
          </a:p>
        </p:txBody>
      </p:sp>
      <p:sp>
        <p:nvSpPr>
          <p:cNvPr id="1000" name="Shape 44"/>
          <p:cNvSpPr/>
          <p:nvPr/>
        </p:nvSpPr>
        <p:spPr>
          <a:xfrm>
            <a:off x="8540495" y="4552284"/>
            <a:ext cx="1" cy="183221"/>
          </a:xfrm>
          <a:prstGeom prst="line">
            <a:avLst/>
          </a:prstGeom>
          <a:ln w="15875">
            <a:solidFill>
              <a:srgbClr val="64748B"/>
            </a:solidFill>
          </a:ln>
        </p:spPr>
        <p:txBody>
          <a:bodyPr lIns="45719" rIns="45719"/>
          <a:lstStyle/>
          <a:p>
            <a:pPr/>
          </a:p>
        </p:txBody>
      </p:sp>
      <p:sp>
        <p:nvSpPr>
          <p:cNvPr id="1001" name="Shape 45"/>
          <p:cNvSpPr/>
          <p:nvPr/>
        </p:nvSpPr>
        <p:spPr>
          <a:xfrm>
            <a:off x="9573035" y="3744450"/>
            <a:ext cx="291487" cy="1"/>
          </a:xfrm>
          <a:prstGeom prst="line">
            <a:avLst/>
          </a:prstGeom>
          <a:ln w="15875">
            <a:solidFill>
              <a:srgbClr val="64748B"/>
            </a:solidFill>
          </a:ln>
        </p:spPr>
        <p:txBody>
          <a:bodyPr lIns="45719" rIns="45719"/>
          <a:lstStyle/>
          <a:p>
            <a:pPr/>
          </a:p>
        </p:txBody>
      </p:sp>
      <p:sp>
        <p:nvSpPr>
          <p:cNvPr id="1002" name="Text 46"/>
          <p:cNvSpPr txBox="1"/>
          <p:nvPr/>
        </p:nvSpPr>
        <p:spPr>
          <a:xfrm>
            <a:off x="9623004" y="3572685"/>
            <a:ext cx="916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No</a:t>
            </a:r>
          </a:p>
        </p:txBody>
      </p:sp>
      <p:sp>
        <p:nvSpPr>
          <p:cNvPr id="1003" name="Shape 47"/>
          <p:cNvSpPr/>
          <p:nvPr/>
        </p:nvSpPr>
        <p:spPr>
          <a:xfrm>
            <a:off x="9864522" y="3744450"/>
            <a:ext cx="1" cy="991054"/>
          </a:xfrm>
          <a:prstGeom prst="line">
            <a:avLst/>
          </a:prstGeom>
          <a:ln w="15875">
            <a:solidFill>
              <a:srgbClr val="64748B"/>
            </a:solidFill>
          </a:ln>
        </p:spPr>
        <p:txBody>
          <a:bodyPr lIns="45719" rIns="45719"/>
          <a:lstStyle/>
          <a:p>
            <a:pPr/>
          </a:p>
        </p:txBody>
      </p:sp>
      <p:sp>
        <p:nvSpPr>
          <p:cNvPr id="1004" name="Shape 48"/>
          <p:cNvSpPr/>
          <p:nvPr/>
        </p:nvSpPr>
        <p:spPr>
          <a:xfrm flipH="1">
            <a:off x="8540495" y="4735503"/>
            <a:ext cx="1324027" cy="1"/>
          </a:xfrm>
          <a:prstGeom prst="line">
            <a:avLst/>
          </a:prstGeom>
          <a:ln w="15875">
            <a:solidFill>
              <a:srgbClr val="64748B"/>
            </a:solidFill>
            <a:tailEnd type="triangle"/>
          </a:ln>
        </p:spPr>
        <p:txBody>
          <a:bodyPr lIns="45719" rIns="45719"/>
          <a:lstStyle/>
          <a:p>
            <a:pPr/>
          </a:p>
        </p:txBody>
      </p:sp>
      <p:sp>
        <p:nvSpPr>
          <p:cNvPr id="1005" name="Shape 49"/>
          <p:cNvSpPr/>
          <p:nvPr/>
        </p:nvSpPr>
        <p:spPr>
          <a:xfrm>
            <a:off x="8540496" y="4735504"/>
            <a:ext cx="1" cy="166565"/>
          </a:xfrm>
          <a:prstGeom prst="line">
            <a:avLst/>
          </a:prstGeom>
          <a:ln w="15875">
            <a:solidFill>
              <a:srgbClr val="64748B"/>
            </a:solidFill>
          </a:ln>
        </p:spPr>
        <p:txBody>
          <a:bodyPr lIns="45719" rIns="45719"/>
          <a:lstStyle/>
          <a:p>
            <a:pPr/>
          </a:p>
        </p:txBody>
      </p:sp>
      <p:sp>
        <p:nvSpPr>
          <p:cNvPr id="1006" name="Shape 50"/>
          <p:cNvSpPr/>
          <p:nvPr/>
        </p:nvSpPr>
        <p:spPr>
          <a:xfrm flipH="1">
            <a:off x="6850222" y="4902067"/>
            <a:ext cx="1690274" cy="1"/>
          </a:xfrm>
          <a:prstGeom prst="line">
            <a:avLst/>
          </a:prstGeom>
          <a:ln w="15875">
            <a:solidFill>
              <a:srgbClr val="64748B"/>
            </a:solidFill>
          </a:ln>
        </p:spPr>
        <p:txBody>
          <a:bodyPr lIns="45719" rIns="45719"/>
          <a:lstStyle/>
          <a:p>
            <a:pPr/>
          </a:p>
        </p:txBody>
      </p:sp>
      <p:sp>
        <p:nvSpPr>
          <p:cNvPr id="1007" name="Shape 51"/>
          <p:cNvSpPr/>
          <p:nvPr/>
        </p:nvSpPr>
        <p:spPr>
          <a:xfrm flipV="1">
            <a:off x="6850222" y="3061539"/>
            <a:ext cx="1" cy="1840528"/>
          </a:xfrm>
          <a:prstGeom prst="line">
            <a:avLst/>
          </a:prstGeom>
          <a:ln w="15875">
            <a:solidFill>
              <a:srgbClr val="64748B"/>
            </a:solidFill>
          </a:ln>
        </p:spPr>
        <p:txBody>
          <a:bodyPr lIns="45719" rIns="45719"/>
          <a:lstStyle/>
          <a:p>
            <a:pPr/>
          </a:p>
        </p:txBody>
      </p:sp>
      <p:sp>
        <p:nvSpPr>
          <p:cNvPr id="1008" name="Shape 52"/>
          <p:cNvSpPr/>
          <p:nvPr/>
        </p:nvSpPr>
        <p:spPr>
          <a:xfrm>
            <a:off x="6850222" y="3061540"/>
            <a:ext cx="249846" cy="1"/>
          </a:xfrm>
          <a:prstGeom prst="line">
            <a:avLst/>
          </a:prstGeom>
          <a:ln w="15875">
            <a:solidFill>
              <a:srgbClr val="64748B"/>
            </a:solidFill>
            <a:tailEnd type="triangle"/>
          </a:ln>
        </p:spPr>
        <p:txBody>
          <a:bodyPr lIns="45719" rIns="45719"/>
          <a:lstStyle/>
          <a:p>
            <a:pPr/>
          </a:p>
        </p:txBody>
      </p:sp>
      <p:sp>
        <p:nvSpPr>
          <p:cNvPr id="1009" name="Shape 53"/>
          <p:cNvSpPr/>
          <p:nvPr/>
        </p:nvSpPr>
        <p:spPr>
          <a:xfrm>
            <a:off x="9980924" y="3061540"/>
            <a:ext cx="249846" cy="1"/>
          </a:xfrm>
          <a:prstGeom prst="line">
            <a:avLst/>
          </a:prstGeom>
          <a:ln w="15875">
            <a:solidFill>
              <a:srgbClr val="64748B"/>
            </a:solidFill>
          </a:ln>
        </p:spPr>
        <p:txBody>
          <a:bodyPr lIns="45719" rIns="45719"/>
          <a:lstStyle/>
          <a:p>
            <a:pPr/>
          </a:p>
        </p:txBody>
      </p:sp>
      <p:sp>
        <p:nvSpPr>
          <p:cNvPr id="1010" name="Text 54"/>
          <p:cNvSpPr txBox="1"/>
          <p:nvPr/>
        </p:nvSpPr>
        <p:spPr>
          <a:xfrm>
            <a:off x="10022564" y="2889773"/>
            <a:ext cx="9161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900">
                <a:solidFill>
                  <a:srgbClr val="475569"/>
                </a:solidFill>
              </a:defRPr>
            </a:lvl1pPr>
          </a:lstStyle>
          <a:p>
            <a:pPr/>
            <a:r>
              <a:t>terminó</a:t>
            </a:r>
          </a:p>
        </p:txBody>
      </p:sp>
      <p:sp>
        <p:nvSpPr>
          <p:cNvPr id="1011" name="Shape 55"/>
          <p:cNvSpPr/>
          <p:nvPr/>
        </p:nvSpPr>
        <p:spPr>
          <a:xfrm>
            <a:off x="10230769" y="3061539"/>
            <a:ext cx="1" cy="2040405"/>
          </a:xfrm>
          <a:prstGeom prst="line">
            <a:avLst/>
          </a:prstGeom>
          <a:ln w="15875">
            <a:solidFill>
              <a:srgbClr val="64748B"/>
            </a:solidFill>
          </a:ln>
        </p:spPr>
        <p:txBody>
          <a:bodyPr lIns="45719" rIns="45719"/>
          <a:lstStyle/>
          <a:p>
            <a:pPr/>
          </a:p>
        </p:txBody>
      </p:sp>
      <p:sp>
        <p:nvSpPr>
          <p:cNvPr id="1012" name="Shape 56"/>
          <p:cNvSpPr/>
          <p:nvPr/>
        </p:nvSpPr>
        <p:spPr>
          <a:xfrm flipH="1">
            <a:off x="8540495" y="5101944"/>
            <a:ext cx="1690274" cy="1"/>
          </a:xfrm>
          <a:prstGeom prst="line">
            <a:avLst/>
          </a:prstGeom>
          <a:ln w="15875">
            <a:solidFill>
              <a:srgbClr val="64748B"/>
            </a:solidFill>
            <a:tailEnd type="triangle"/>
          </a:ln>
        </p:spPr>
        <p:txBody>
          <a:bodyPr lIns="45719" rIns="45719"/>
          <a:lstStyle/>
          <a:p>
            <a:pPr/>
          </a:p>
        </p:txBody>
      </p:sp>
      <p:sp>
        <p:nvSpPr>
          <p:cNvPr id="1013" name="Shape 57"/>
          <p:cNvSpPr/>
          <p:nvPr/>
        </p:nvSpPr>
        <p:spPr>
          <a:xfrm>
            <a:off x="8540495" y="5101944"/>
            <a:ext cx="1" cy="216534"/>
          </a:xfrm>
          <a:prstGeom prst="line">
            <a:avLst/>
          </a:prstGeom>
          <a:ln w="15875">
            <a:solidFill>
              <a:srgbClr val="64748B"/>
            </a:solidFill>
            <a:tailEnd type="triangle"/>
          </a:ln>
        </p:spPr>
        <p:txBody>
          <a:bodyPr lIns="45719" rIns="45719"/>
          <a:lstStyle/>
          <a:p>
            <a:pPr/>
          </a:p>
        </p:txBody>
      </p:sp>
      <p:sp>
        <p:nvSpPr>
          <p:cNvPr id="1014" name="Shape 58"/>
          <p:cNvSpPr/>
          <p:nvPr/>
        </p:nvSpPr>
        <p:spPr>
          <a:xfrm>
            <a:off x="7768612" y="5318476"/>
            <a:ext cx="1543768" cy="3331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165" y="0"/>
                </a:lnTo>
                <a:lnTo>
                  <a:pt x="21600" y="0"/>
                </a:lnTo>
                <a:lnTo>
                  <a:pt x="20435" y="21600"/>
                </a:lnTo>
                <a:close/>
              </a:path>
            </a:pathLst>
          </a:custGeom>
          <a:solidFill>
            <a:srgbClr val="EDE9FE"/>
          </a:solidFill>
          <a:ln w="15875">
            <a:solidFill>
              <a:schemeClr val="accent3"/>
            </a:solidFill>
          </a:ln>
        </p:spPr>
        <p:txBody>
          <a:bodyPr lIns="45719" rIns="45719"/>
          <a:lstStyle/>
          <a:p>
            <a:pPr/>
          </a:p>
        </p:txBody>
      </p:sp>
      <p:sp>
        <p:nvSpPr>
          <p:cNvPr id="1015" name="Text 59"/>
          <p:cNvSpPr txBox="1"/>
          <p:nvPr/>
        </p:nvSpPr>
        <p:spPr>
          <a:xfrm>
            <a:off x="7768612" y="5415190"/>
            <a:ext cx="154376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4C1D95"/>
                </a:solidFill>
                <a:latin typeface="Menlo Regular"/>
                <a:ea typeface="Menlo Regular"/>
                <a:cs typeface="Menlo Regular"/>
                <a:sym typeface="Menlo Regular"/>
              </a:defRPr>
            </a:lvl1pPr>
          </a:lstStyle>
          <a:p>
            <a:pPr/>
            <a:r>
              <a:t>return mejor</a:t>
            </a:r>
          </a:p>
        </p:txBody>
      </p:sp>
      <p:sp>
        <p:nvSpPr>
          <p:cNvPr id="1016" name="Shape 60"/>
          <p:cNvSpPr/>
          <p:nvPr/>
        </p:nvSpPr>
        <p:spPr>
          <a:xfrm>
            <a:off x="8540495" y="5651604"/>
            <a:ext cx="1" cy="216534"/>
          </a:xfrm>
          <a:prstGeom prst="line">
            <a:avLst/>
          </a:prstGeom>
          <a:ln w="15875">
            <a:solidFill>
              <a:srgbClr val="64748B"/>
            </a:solidFill>
            <a:tailEnd type="triangle"/>
          </a:ln>
        </p:spPr>
        <p:txBody>
          <a:bodyPr lIns="45719" rIns="45719"/>
          <a:lstStyle/>
          <a:p>
            <a:pPr/>
          </a:p>
        </p:txBody>
      </p:sp>
      <p:sp>
        <p:nvSpPr>
          <p:cNvPr id="1017" name="Shape 61"/>
          <p:cNvSpPr/>
          <p:nvPr/>
        </p:nvSpPr>
        <p:spPr>
          <a:xfrm>
            <a:off x="8217396" y="5868137"/>
            <a:ext cx="646198" cy="349784"/>
          </a:xfrm>
          <a:prstGeom prst="roundRect">
            <a:avLst>
              <a:gd name="adj" fmla="val 50000"/>
            </a:avLst>
          </a:prstGeom>
          <a:solidFill>
            <a:srgbClr val="1E293B"/>
          </a:solidFill>
          <a:ln w="15875">
            <a:solidFill>
              <a:srgbClr val="1E293B"/>
            </a:solidFill>
          </a:ln>
        </p:spPr>
        <p:txBody>
          <a:bodyPr lIns="45719" rIns="45719"/>
          <a:lstStyle/>
          <a:p>
            <a:pPr/>
          </a:p>
        </p:txBody>
      </p:sp>
      <p:sp>
        <p:nvSpPr>
          <p:cNvPr id="1018" name="Text 62"/>
          <p:cNvSpPr txBox="1"/>
          <p:nvPr/>
        </p:nvSpPr>
        <p:spPr>
          <a:xfrm>
            <a:off x="8217396" y="5973178"/>
            <a:ext cx="646198" cy="139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latin typeface="Menlo Regular"/>
                <a:ea typeface="Menlo Regular"/>
                <a:cs typeface="Menlo Regular"/>
                <a:sym typeface="Menlo Regular"/>
              </a:defRPr>
            </a:lvl1pPr>
          </a:lstStyle>
          <a:p>
            <a:pPr/>
            <a:r>
              <a:t>Fin</a:t>
            </a:r>
          </a:p>
        </p:txBody>
      </p:sp>
      <p:sp>
        <p:nvSpPr>
          <p:cNvPr id="1019"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3" name="Text 0"/>
          <p:cNvSpPr txBox="1"/>
          <p:nvPr>
            <p:ph type="title"/>
          </p:nvPr>
        </p:nvSpPr>
        <p:spPr>
          <a:prstGeom prst="rect">
            <a:avLst/>
          </a:prstGeom>
        </p:spPr>
        <p:txBody>
          <a:bodyPr lIns="0" tIns="0" rIns="0" bIns="0" anchor="ctr"/>
          <a:lstStyle/>
          <a:p>
            <a:pPr/>
            <a:r>
              <a:t>10 · Máximo con edge case</a:t>
            </a:r>
          </a:p>
        </p:txBody>
      </p:sp>
      <p:sp>
        <p:nvSpPr>
          <p:cNvPr id="1024" name="Text 0"/>
          <p:cNvSpPr txBox="1"/>
          <p:nvPr>
            <p:ph type="body" sz="quarter" idx="1"/>
          </p:nvPr>
        </p:nvSpPr>
        <p:spPr>
          <a:prstGeom prst="rect">
            <a:avLst/>
          </a:prstGeom>
        </p:spPr>
        <p:txBody>
          <a:bodyPr lIns="0" tIns="0" rIns="0" bIns="0" anchor="ctr"/>
          <a:lstStyle/>
          <a:p>
            <a:pPr/>
            <a:r>
              <a:t>Combinamos dos estructuras: primero la validación, después el acumulador del máximo.</a:t>
            </a:r>
          </a:p>
        </p:txBody>
      </p:sp>
      <p:sp>
        <p:nvSpPr>
          <p:cNvPr id="1025" name="Shape 2"/>
          <p:cNvSpPr/>
          <p:nvPr/>
        </p:nvSpPr>
        <p:spPr>
          <a:xfrm>
            <a:off x="548640" y="1325880"/>
            <a:ext cx="3622243" cy="2298193"/>
          </a:xfrm>
          <a:prstGeom prst="roundRect">
            <a:avLst>
              <a:gd name="adj" fmla="val 3183"/>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026" name="Text 3"/>
          <p:cNvSpPr txBox="1"/>
          <p:nvPr/>
        </p:nvSpPr>
        <p:spPr>
          <a:xfrm>
            <a:off x="749807" y="1476800"/>
            <a:ext cx="3219909"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Python  ·  encontrar_maximo([18, 25, 21])  →  25</a:t>
            </a:r>
          </a:p>
        </p:txBody>
      </p:sp>
      <p:sp>
        <p:nvSpPr>
          <p:cNvPr id="1027" name="Text 4"/>
          <p:cNvSpPr txBox="1"/>
          <p:nvPr/>
        </p:nvSpPr>
        <p:spPr>
          <a:xfrm>
            <a:off x="749808" y="1764792"/>
            <a:ext cx="3256484" cy="16209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sz="1200">
                <a:solidFill>
                  <a:srgbClr val="569CD6"/>
                </a:solidFill>
                <a:latin typeface="Menlo Regular"/>
                <a:ea typeface="Menlo Regular"/>
                <a:cs typeface="Menlo Regular"/>
                <a:sym typeface="Menlo Regular"/>
              </a:defRPr>
            </a:pPr>
            <a:r>
              <a:t>def</a:t>
            </a:r>
            <a:r>
              <a:rPr>
                <a:solidFill>
                  <a:srgbClr val="D4D4D4"/>
                </a:solidFill>
              </a:rPr>
              <a:t> </a:t>
            </a:r>
            <a:r>
              <a:rPr>
                <a:solidFill>
                  <a:srgbClr val="DCDCAA"/>
                </a:solidFill>
              </a:rPr>
              <a:t>encontrar_maximo</a:t>
            </a:r>
            <a:r>
              <a:rPr>
                <a:solidFill>
                  <a:srgbClr val="D4D4D4"/>
                </a:solidFill>
              </a:rPr>
              <a:t>(</a:t>
            </a:r>
            <a:r>
              <a:rPr>
                <a:solidFill>
                  <a:srgbClr val="9CDCFE"/>
                </a:solidFill>
              </a:rPr>
              <a:t>lista_temps</a:t>
            </a:r>
            <a:r>
              <a:rPr>
                <a:solidFill>
                  <a:srgbClr val="D4D4D4"/>
                </a:solidFill>
              </a:rP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if</a:t>
            </a:r>
            <a:r>
              <a:t> </a:t>
            </a:r>
            <a:r>
              <a:rPr>
                <a:solidFill>
                  <a:srgbClr val="DCDCAA"/>
                </a:solidFill>
              </a:rPr>
              <a:t>len</a:t>
            </a:r>
            <a:r>
              <a:t>(</a:t>
            </a:r>
            <a:r>
              <a:rPr>
                <a:solidFill>
                  <a:srgbClr val="9CDCFE"/>
                </a:solidFill>
              </a:rPr>
              <a:t>lista_temps</a:t>
            </a:r>
            <a:r>
              <a:t>) == </a:t>
            </a:r>
            <a:r>
              <a:rPr>
                <a:solidFill>
                  <a:srgbClr val="B5CEA8"/>
                </a:solidFill>
              </a:rPr>
              <a:t>0</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569CD6"/>
                </a:solidFill>
              </a:rPr>
              <a:t>None</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maximo</a:t>
            </a:r>
            <a:r>
              <a:t> = </a:t>
            </a:r>
            <a:r>
              <a:rPr>
                <a:solidFill>
                  <a:srgbClr val="9CDCFE"/>
                </a:solidFill>
              </a:rPr>
              <a:t>lista_temps</a:t>
            </a:r>
            <a:r>
              <a:t>[</a:t>
            </a:r>
            <a:r>
              <a:rPr>
                <a:solidFill>
                  <a:srgbClr val="B5CEA8"/>
                </a:solidFill>
              </a:rPr>
              <a:t>0</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for</a:t>
            </a:r>
            <a:r>
              <a:t> </a:t>
            </a:r>
            <a:r>
              <a:rPr>
                <a:solidFill>
                  <a:srgbClr val="9CDCFE"/>
                </a:solidFill>
              </a:rPr>
              <a:t>temp</a:t>
            </a:r>
            <a:r>
              <a:t> </a:t>
            </a:r>
            <a:r>
              <a:rPr>
                <a:solidFill>
                  <a:srgbClr val="C586C0"/>
                </a:solidFill>
              </a:rPr>
              <a:t>in</a:t>
            </a:r>
            <a:r>
              <a:t> </a:t>
            </a:r>
            <a:r>
              <a:rPr>
                <a:solidFill>
                  <a:srgbClr val="9CDCFE"/>
                </a:solidFill>
              </a:rPr>
              <a:t>lista_temps</a:t>
            </a:r>
            <a:r>
              <a:t>:</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if</a:t>
            </a:r>
            <a:r>
              <a:t> </a:t>
            </a:r>
            <a:r>
              <a:rPr>
                <a:solidFill>
                  <a:srgbClr val="9CDCFE"/>
                </a:solidFill>
              </a:rPr>
              <a:t>temp</a:t>
            </a:r>
            <a:r>
              <a:t> &gt; </a:t>
            </a:r>
            <a:r>
              <a:rPr>
                <a:solidFill>
                  <a:srgbClr val="9CDCFE"/>
                </a:solidFill>
              </a:rPr>
              <a:t>maximo</a:t>
            </a:r>
            <a:r>
              <a:t>:</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maximo</a:t>
            </a:r>
            <a:r>
              <a:t> = </a:t>
            </a:r>
            <a:r>
              <a:rPr>
                <a:solidFill>
                  <a:srgbClr val="9CDCFE"/>
                </a:solidFill>
              </a:rPr>
              <a:t>temp</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9CDCFE"/>
                </a:solidFill>
              </a:rPr>
              <a:t>maximo</a:t>
            </a:r>
          </a:p>
        </p:txBody>
      </p:sp>
      <p:sp>
        <p:nvSpPr>
          <p:cNvPr id="1028" name="Shape 5"/>
          <p:cNvSpPr/>
          <p:nvPr/>
        </p:nvSpPr>
        <p:spPr>
          <a:xfrm>
            <a:off x="548640" y="3825240"/>
            <a:ext cx="3622243" cy="2529841"/>
          </a:xfrm>
          <a:prstGeom prst="roundRect">
            <a:avLst>
              <a:gd name="adj" fmla="val 2892"/>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029" name="Text 6"/>
          <p:cNvSpPr txBox="1"/>
          <p:nvPr/>
        </p:nvSpPr>
        <p:spPr>
          <a:xfrm>
            <a:off x="749807" y="4023168"/>
            <a:ext cx="3219909"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El orden importa</a:t>
            </a:r>
          </a:p>
        </p:txBody>
      </p:sp>
      <p:sp>
        <p:nvSpPr>
          <p:cNvPr id="1030" name="Text 7"/>
          <p:cNvSpPr txBox="1"/>
          <p:nvPr/>
        </p:nvSpPr>
        <p:spPr>
          <a:xfrm>
            <a:off x="749807" y="4337303"/>
            <a:ext cx="3219909" cy="6598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400">
                <a:solidFill>
                  <a:srgbClr val="334155"/>
                </a:solidFill>
              </a:defRPr>
            </a:pPr>
            <a:r>
              <a:t>La validación va </a:t>
            </a:r>
            <a:r>
              <a:rPr b="1"/>
              <a:t>antes</a:t>
            </a:r>
            <a:r>
              <a:t> de </a:t>
            </a:r>
            <a:r>
              <a:rPr sz="1300">
                <a:latin typeface="Menlo Regular"/>
                <a:ea typeface="Menlo Regular"/>
                <a:cs typeface="Menlo Regular"/>
                <a:sym typeface="Menlo Regular"/>
              </a:rPr>
              <a:t>lista_temps[0]</a:t>
            </a:r>
            <a:r>
              <a:t>: con una lista vacía, esa línea lanzaría </a:t>
            </a:r>
            <a:r>
              <a:rPr sz="1300">
                <a:latin typeface="Menlo Regular"/>
                <a:ea typeface="Menlo Regular"/>
                <a:cs typeface="Menlo Regular"/>
                <a:sym typeface="Menlo Regular"/>
              </a:rPr>
              <a:t>IndexError</a:t>
            </a:r>
            <a:r>
              <a:t>.</a:t>
            </a:r>
          </a:p>
        </p:txBody>
      </p:sp>
      <p:sp>
        <p:nvSpPr>
          <p:cNvPr id="1031" name="Shape 8"/>
          <p:cNvSpPr/>
          <p:nvPr/>
        </p:nvSpPr>
        <p:spPr>
          <a:xfrm>
            <a:off x="4399483" y="1325880"/>
            <a:ext cx="3113557" cy="5029201"/>
          </a:xfrm>
          <a:prstGeom prst="roundRect">
            <a:avLst>
              <a:gd name="adj" fmla="val 2349"/>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032" name="Text 9"/>
          <p:cNvSpPr txBox="1"/>
          <p:nvPr/>
        </p:nvSpPr>
        <p:spPr>
          <a:xfrm>
            <a:off x="4600650" y="1476800"/>
            <a:ext cx="27112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3"/>
                </a:solidFill>
              </a:defRPr>
            </a:lvl1pPr>
          </a:lstStyle>
          <a:p>
            <a:pPr/>
            <a:r>
              <a:t>Nassi-Shneiderman</a:t>
            </a:r>
          </a:p>
        </p:txBody>
      </p:sp>
      <p:sp>
        <p:nvSpPr>
          <p:cNvPr id="1033" name="Shape 10"/>
          <p:cNvSpPr/>
          <p:nvPr/>
        </p:nvSpPr>
        <p:spPr>
          <a:xfrm>
            <a:off x="4582362" y="1783079"/>
            <a:ext cx="2747797" cy="384049"/>
          </a:xfrm>
          <a:prstGeom prst="rect">
            <a:avLst/>
          </a:prstGeom>
          <a:solidFill>
            <a:srgbClr val="1E293B"/>
          </a:solidFill>
          <a:ln>
            <a:solidFill>
              <a:srgbClr val="334155"/>
            </a:solidFill>
          </a:ln>
        </p:spPr>
        <p:txBody>
          <a:bodyPr lIns="45719" rIns="45719"/>
          <a:lstStyle/>
          <a:p>
            <a:pPr/>
          </a:p>
        </p:txBody>
      </p:sp>
      <p:sp>
        <p:nvSpPr>
          <p:cNvPr id="1034" name="Text 11"/>
          <p:cNvSpPr txBox="1"/>
          <p:nvPr/>
        </p:nvSpPr>
        <p:spPr>
          <a:xfrm>
            <a:off x="4628083" y="1892553"/>
            <a:ext cx="265635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latin typeface="Menlo Regular"/>
                <a:ea typeface="Menlo Regular"/>
                <a:cs typeface="Menlo Regular"/>
                <a:sym typeface="Menlo Regular"/>
              </a:defRPr>
            </a:lvl1pPr>
          </a:lstStyle>
          <a:p>
            <a:pPr/>
            <a:r>
              <a:t>encontrar_maximo(lista_temps)</a:t>
            </a:r>
          </a:p>
        </p:txBody>
      </p:sp>
      <p:sp>
        <p:nvSpPr>
          <p:cNvPr id="1035" name="Shape 12"/>
          <p:cNvSpPr/>
          <p:nvPr/>
        </p:nvSpPr>
        <p:spPr>
          <a:xfrm>
            <a:off x="4582362" y="2167127"/>
            <a:ext cx="2747797" cy="640082"/>
          </a:xfrm>
          <a:prstGeom prst="rect">
            <a:avLst/>
          </a:prstGeom>
          <a:solidFill>
            <a:srgbClr val="FEF3C7"/>
          </a:solidFill>
          <a:ln>
            <a:solidFill>
              <a:srgbClr val="334155"/>
            </a:solidFill>
          </a:ln>
        </p:spPr>
        <p:txBody>
          <a:bodyPr lIns="45719" rIns="45719"/>
          <a:lstStyle/>
          <a:p>
            <a:pPr/>
          </a:p>
        </p:txBody>
      </p:sp>
      <p:sp>
        <p:nvSpPr>
          <p:cNvPr id="1036" name="Shape 13"/>
          <p:cNvSpPr/>
          <p:nvPr/>
        </p:nvSpPr>
        <p:spPr>
          <a:xfrm>
            <a:off x="4582363" y="2167127"/>
            <a:ext cx="1754581" cy="640082"/>
          </a:xfrm>
          <a:prstGeom prst="line">
            <a:avLst/>
          </a:prstGeom>
          <a:ln>
            <a:solidFill>
              <a:srgbClr val="334155"/>
            </a:solidFill>
          </a:ln>
        </p:spPr>
        <p:txBody>
          <a:bodyPr lIns="45719" rIns="45719"/>
          <a:lstStyle/>
          <a:p>
            <a:pPr/>
          </a:p>
        </p:txBody>
      </p:sp>
      <p:sp>
        <p:nvSpPr>
          <p:cNvPr id="1037" name="Shape 14"/>
          <p:cNvSpPr/>
          <p:nvPr/>
        </p:nvSpPr>
        <p:spPr>
          <a:xfrm flipH="1">
            <a:off x="6336944" y="2167128"/>
            <a:ext cx="993215" cy="640080"/>
          </a:xfrm>
          <a:prstGeom prst="line">
            <a:avLst/>
          </a:prstGeom>
          <a:ln>
            <a:solidFill>
              <a:srgbClr val="334155"/>
            </a:solidFill>
          </a:ln>
        </p:spPr>
        <p:txBody>
          <a:bodyPr lIns="45719" rIns="45719"/>
          <a:lstStyle/>
          <a:p>
            <a:pPr/>
          </a:p>
        </p:txBody>
      </p:sp>
      <p:sp>
        <p:nvSpPr>
          <p:cNvPr id="1038" name="Text 15"/>
          <p:cNvSpPr txBox="1"/>
          <p:nvPr/>
        </p:nvSpPr>
        <p:spPr>
          <a:xfrm>
            <a:off x="5223592" y="2240026"/>
            <a:ext cx="2060848"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¿len(lista_temps) == 0?</a:t>
            </a:r>
          </a:p>
        </p:txBody>
      </p:sp>
      <p:sp>
        <p:nvSpPr>
          <p:cNvPr id="1039" name="Text 16"/>
          <p:cNvSpPr txBox="1"/>
          <p:nvPr/>
        </p:nvSpPr>
        <p:spPr>
          <a:xfrm>
            <a:off x="4646371" y="2601512"/>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1040" name="Text 17"/>
          <p:cNvSpPr txBox="1"/>
          <p:nvPr/>
        </p:nvSpPr>
        <p:spPr>
          <a:xfrm>
            <a:off x="6900391" y="2601512"/>
            <a:ext cx="36576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475569"/>
                </a:solidFill>
              </a:defRPr>
            </a:lvl1pPr>
          </a:lstStyle>
          <a:p>
            <a:pPr/>
            <a:r>
              <a:t>No</a:t>
            </a:r>
          </a:p>
        </p:txBody>
      </p:sp>
      <p:sp>
        <p:nvSpPr>
          <p:cNvPr id="1041" name="Shape 18"/>
          <p:cNvSpPr/>
          <p:nvPr/>
        </p:nvSpPr>
        <p:spPr>
          <a:xfrm>
            <a:off x="4582362" y="2807207"/>
            <a:ext cx="1754583" cy="384049"/>
          </a:xfrm>
          <a:prstGeom prst="rect">
            <a:avLst/>
          </a:prstGeom>
          <a:solidFill>
            <a:srgbClr val="FFFFFF"/>
          </a:solidFill>
          <a:ln>
            <a:solidFill>
              <a:srgbClr val="334155"/>
            </a:solidFill>
          </a:ln>
        </p:spPr>
        <p:txBody>
          <a:bodyPr lIns="45719" rIns="45719"/>
          <a:lstStyle/>
          <a:p>
            <a:pPr/>
          </a:p>
        </p:txBody>
      </p:sp>
      <p:sp>
        <p:nvSpPr>
          <p:cNvPr id="1042" name="Shape 19"/>
          <p:cNvSpPr/>
          <p:nvPr/>
        </p:nvSpPr>
        <p:spPr>
          <a:xfrm>
            <a:off x="4582362" y="2807207"/>
            <a:ext cx="1754583" cy="384049"/>
          </a:xfrm>
          <a:prstGeom prst="rect">
            <a:avLst/>
          </a:prstGeom>
          <a:solidFill>
            <a:srgbClr val="EDE9FE"/>
          </a:solidFill>
          <a:ln>
            <a:solidFill>
              <a:srgbClr val="334155"/>
            </a:solidFill>
          </a:ln>
        </p:spPr>
        <p:txBody>
          <a:bodyPr lIns="45719" rIns="45719"/>
          <a:lstStyle/>
          <a:p>
            <a:pPr/>
          </a:p>
        </p:txBody>
      </p:sp>
      <p:sp>
        <p:nvSpPr>
          <p:cNvPr id="1043" name="Text 20"/>
          <p:cNvSpPr txBox="1"/>
          <p:nvPr/>
        </p:nvSpPr>
        <p:spPr>
          <a:xfrm>
            <a:off x="4628083" y="2916681"/>
            <a:ext cx="1663140"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None</a:t>
            </a:r>
          </a:p>
        </p:txBody>
      </p:sp>
      <p:sp>
        <p:nvSpPr>
          <p:cNvPr id="1044" name="Shape 21"/>
          <p:cNvSpPr/>
          <p:nvPr/>
        </p:nvSpPr>
        <p:spPr>
          <a:xfrm>
            <a:off x="6336943" y="2807207"/>
            <a:ext cx="993215" cy="384049"/>
          </a:xfrm>
          <a:prstGeom prst="rect">
            <a:avLst/>
          </a:prstGeom>
          <a:solidFill>
            <a:srgbClr val="FFFFFF"/>
          </a:solidFill>
          <a:ln>
            <a:solidFill>
              <a:srgbClr val="334155"/>
            </a:solidFill>
          </a:ln>
        </p:spPr>
        <p:txBody>
          <a:bodyPr lIns="45719" rIns="45719"/>
          <a:lstStyle/>
          <a:p>
            <a:pPr/>
          </a:p>
        </p:txBody>
      </p:sp>
      <p:sp>
        <p:nvSpPr>
          <p:cNvPr id="1045" name="Text 22"/>
          <p:cNvSpPr txBox="1"/>
          <p:nvPr/>
        </p:nvSpPr>
        <p:spPr>
          <a:xfrm>
            <a:off x="6336943" y="2920799"/>
            <a:ext cx="99321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94A3B8"/>
                </a:solidFill>
              </a:defRPr>
            </a:lvl1pPr>
          </a:lstStyle>
          <a:p>
            <a:pPr/>
            <a:r>
              <a:t>—</a:t>
            </a:r>
          </a:p>
        </p:txBody>
      </p:sp>
      <p:sp>
        <p:nvSpPr>
          <p:cNvPr id="1046" name="Shape 23"/>
          <p:cNvSpPr/>
          <p:nvPr/>
        </p:nvSpPr>
        <p:spPr>
          <a:xfrm>
            <a:off x="4582362" y="3191255"/>
            <a:ext cx="2747797" cy="384049"/>
          </a:xfrm>
          <a:prstGeom prst="rect">
            <a:avLst/>
          </a:prstGeom>
          <a:solidFill>
            <a:srgbClr val="DBEAFE"/>
          </a:solidFill>
          <a:ln>
            <a:solidFill>
              <a:srgbClr val="334155"/>
            </a:solidFill>
          </a:ln>
        </p:spPr>
        <p:txBody>
          <a:bodyPr lIns="45719" rIns="45719"/>
          <a:lstStyle/>
          <a:p>
            <a:pPr/>
          </a:p>
        </p:txBody>
      </p:sp>
      <p:sp>
        <p:nvSpPr>
          <p:cNvPr id="1047" name="Text 24"/>
          <p:cNvSpPr txBox="1"/>
          <p:nvPr/>
        </p:nvSpPr>
        <p:spPr>
          <a:xfrm>
            <a:off x="4628083" y="3300729"/>
            <a:ext cx="265635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maximo = lista_temps[0]</a:t>
            </a:r>
          </a:p>
        </p:txBody>
      </p:sp>
      <p:sp>
        <p:nvSpPr>
          <p:cNvPr id="1048" name="Shape 25"/>
          <p:cNvSpPr/>
          <p:nvPr/>
        </p:nvSpPr>
        <p:spPr>
          <a:xfrm>
            <a:off x="4582362" y="3575303"/>
            <a:ext cx="2747797" cy="1408177"/>
          </a:xfrm>
          <a:prstGeom prst="rect">
            <a:avLst/>
          </a:prstGeom>
          <a:solidFill>
            <a:srgbClr val="DCFCE7"/>
          </a:solidFill>
          <a:ln>
            <a:solidFill>
              <a:srgbClr val="334155"/>
            </a:solidFill>
          </a:ln>
        </p:spPr>
        <p:txBody>
          <a:bodyPr lIns="45719" rIns="45719"/>
          <a:lstStyle/>
          <a:p>
            <a:pPr/>
          </a:p>
        </p:txBody>
      </p:sp>
      <p:sp>
        <p:nvSpPr>
          <p:cNvPr id="1049" name="Text 26"/>
          <p:cNvSpPr txBox="1"/>
          <p:nvPr/>
        </p:nvSpPr>
        <p:spPr>
          <a:xfrm>
            <a:off x="4673803" y="3684777"/>
            <a:ext cx="256491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14532D"/>
                </a:solidFill>
                <a:latin typeface="Menlo Regular"/>
                <a:ea typeface="Menlo Regular"/>
                <a:cs typeface="Menlo Regular"/>
                <a:sym typeface="Menlo Regular"/>
              </a:defRPr>
            </a:lvl1pPr>
          </a:lstStyle>
          <a:p>
            <a:pPr/>
            <a:r>
              <a:t>for temp in lista_temps</a:t>
            </a:r>
          </a:p>
        </p:txBody>
      </p:sp>
      <p:sp>
        <p:nvSpPr>
          <p:cNvPr id="1050" name="Shape 27"/>
          <p:cNvSpPr/>
          <p:nvPr/>
        </p:nvSpPr>
        <p:spPr>
          <a:xfrm>
            <a:off x="4966410" y="3959352"/>
            <a:ext cx="2363749" cy="640081"/>
          </a:xfrm>
          <a:prstGeom prst="rect">
            <a:avLst/>
          </a:prstGeom>
          <a:solidFill>
            <a:srgbClr val="FEF3C7"/>
          </a:solidFill>
          <a:ln>
            <a:solidFill>
              <a:srgbClr val="334155"/>
            </a:solidFill>
          </a:ln>
        </p:spPr>
        <p:txBody>
          <a:bodyPr lIns="45719" rIns="45719"/>
          <a:lstStyle/>
          <a:p>
            <a:pPr/>
          </a:p>
        </p:txBody>
      </p:sp>
      <p:sp>
        <p:nvSpPr>
          <p:cNvPr id="1051" name="Shape 28"/>
          <p:cNvSpPr/>
          <p:nvPr/>
        </p:nvSpPr>
        <p:spPr>
          <a:xfrm>
            <a:off x="4966411" y="3959352"/>
            <a:ext cx="1582901" cy="640081"/>
          </a:xfrm>
          <a:prstGeom prst="line">
            <a:avLst/>
          </a:prstGeom>
          <a:ln>
            <a:solidFill>
              <a:srgbClr val="334155"/>
            </a:solidFill>
          </a:ln>
        </p:spPr>
        <p:txBody>
          <a:bodyPr lIns="45719" rIns="45719"/>
          <a:lstStyle/>
          <a:p>
            <a:pPr/>
          </a:p>
        </p:txBody>
      </p:sp>
      <p:sp>
        <p:nvSpPr>
          <p:cNvPr id="1052" name="Shape 29"/>
          <p:cNvSpPr/>
          <p:nvPr/>
        </p:nvSpPr>
        <p:spPr>
          <a:xfrm flipH="1">
            <a:off x="6549310" y="3959352"/>
            <a:ext cx="780849" cy="640081"/>
          </a:xfrm>
          <a:prstGeom prst="line">
            <a:avLst/>
          </a:prstGeom>
          <a:ln>
            <a:solidFill>
              <a:srgbClr val="334155"/>
            </a:solidFill>
          </a:ln>
        </p:spPr>
        <p:txBody>
          <a:bodyPr lIns="45719" rIns="45719"/>
          <a:lstStyle/>
          <a:p>
            <a:pPr/>
          </a:p>
        </p:txBody>
      </p:sp>
      <p:sp>
        <p:nvSpPr>
          <p:cNvPr id="1053" name="Text 30"/>
          <p:cNvSpPr txBox="1"/>
          <p:nvPr/>
        </p:nvSpPr>
        <p:spPr>
          <a:xfrm>
            <a:off x="5511627" y="4032250"/>
            <a:ext cx="1772812"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78350F"/>
                </a:solidFill>
                <a:latin typeface="Menlo Regular"/>
                <a:ea typeface="Menlo Regular"/>
                <a:cs typeface="Menlo Regular"/>
                <a:sym typeface="Menlo Regular"/>
              </a:defRPr>
            </a:lvl1pPr>
          </a:lstStyle>
          <a:p>
            <a:pPr/>
            <a:r>
              <a:t>¿temp &gt; maximo?</a:t>
            </a:r>
          </a:p>
        </p:txBody>
      </p:sp>
      <p:sp>
        <p:nvSpPr>
          <p:cNvPr id="1054" name="Text 31"/>
          <p:cNvSpPr txBox="1"/>
          <p:nvPr/>
        </p:nvSpPr>
        <p:spPr>
          <a:xfrm>
            <a:off x="5030418" y="4393736"/>
            <a:ext cx="3657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475569"/>
                </a:solidFill>
              </a:defRPr>
            </a:lvl1pPr>
          </a:lstStyle>
          <a:p>
            <a:pPr/>
            <a:r>
              <a:t>Sí</a:t>
            </a:r>
          </a:p>
        </p:txBody>
      </p:sp>
      <p:sp>
        <p:nvSpPr>
          <p:cNvPr id="1055" name="Text 32"/>
          <p:cNvSpPr txBox="1"/>
          <p:nvPr/>
        </p:nvSpPr>
        <p:spPr>
          <a:xfrm>
            <a:off x="6900391" y="4393736"/>
            <a:ext cx="36576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000">
                <a:solidFill>
                  <a:srgbClr val="475569"/>
                </a:solidFill>
              </a:defRPr>
            </a:lvl1pPr>
          </a:lstStyle>
          <a:p>
            <a:pPr/>
            <a:r>
              <a:t>No</a:t>
            </a:r>
          </a:p>
        </p:txBody>
      </p:sp>
      <p:sp>
        <p:nvSpPr>
          <p:cNvPr id="1056" name="Shape 33"/>
          <p:cNvSpPr/>
          <p:nvPr/>
        </p:nvSpPr>
        <p:spPr>
          <a:xfrm>
            <a:off x="4966410" y="4599432"/>
            <a:ext cx="1582901" cy="384049"/>
          </a:xfrm>
          <a:prstGeom prst="rect">
            <a:avLst/>
          </a:prstGeom>
          <a:solidFill>
            <a:srgbClr val="FFFFFF"/>
          </a:solidFill>
          <a:ln>
            <a:solidFill>
              <a:srgbClr val="334155"/>
            </a:solidFill>
          </a:ln>
        </p:spPr>
        <p:txBody>
          <a:bodyPr lIns="45719" rIns="45719"/>
          <a:lstStyle/>
          <a:p>
            <a:pPr/>
          </a:p>
        </p:txBody>
      </p:sp>
      <p:sp>
        <p:nvSpPr>
          <p:cNvPr id="1057" name="Shape 34"/>
          <p:cNvSpPr/>
          <p:nvPr/>
        </p:nvSpPr>
        <p:spPr>
          <a:xfrm>
            <a:off x="4966410" y="4599432"/>
            <a:ext cx="1582901" cy="384049"/>
          </a:xfrm>
          <a:prstGeom prst="rect">
            <a:avLst/>
          </a:prstGeom>
          <a:solidFill>
            <a:srgbClr val="DBEAFE"/>
          </a:solidFill>
          <a:ln>
            <a:solidFill>
              <a:srgbClr val="334155"/>
            </a:solidFill>
          </a:ln>
        </p:spPr>
        <p:txBody>
          <a:bodyPr lIns="45719" rIns="45719"/>
          <a:lstStyle/>
          <a:p>
            <a:pPr/>
          </a:p>
        </p:txBody>
      </p:sp>
      <p:sp>
        <p:nvSpPr>
          <p:cNvPr id="1058" name="Text 35"/>
          <p:cNvSpPr txBox="1"/>
          <p:nvPr/>
        </p:nvSpPr>
        <p:spPr>
          <a:xfrm>
            <a:off x="5012130" y="4708905"/>
            <a:ext cx="14914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1E3A8A"/>
                </a:solidFill>
                <a:latin typeface="Menlo Regular"/>
                <a:ea typeface="Menlo Regular"/>
                <a:cs typeface="Menlo Regular"/>
                <a:sym typeface="Menlo Regular"/>
              </a:defRPr>
            </a:lvl1pPr>
          </a:lstStyle>
          <a:p>
            <a:pPr/>
            <a:r>
              <a:t>maximo = temp</a:t>
            </a:r>
          </a:p>
        </p:txBody>
      </p:sp>
      <p:sp>
        <p:nvSpPr>
          <p:cNvPr id="1059" name="Shape 36"/>
          <p:cNvSpPr/>
          <p:nvPr/>
        </p:nvSpPr>
        <p:spPr>
          <a:xfrm>
            <a:off x="6549311" y="4599432"/>
            <a:ext cx="780849" cy="384049"/>
          </a:xfrm>
          <a:prstGeom prst="rect">
            <a:avLst/>
          </a:prstGeom>
          <a:solidFill>
            <a:srgbClr val="FFFFFF"/>
          </a:solidFill>
          <a:ln>
            <a:solidFill>
              <a:srgbClr val="334155"/>
            </a:solidFill>
          </a:ln>
        </p:spPr>
        <p:txBody>
          <a:bodyPr lIns="45719" rIns="45719"/>
          <a:lstStyle/>
          <a:p>
            <a:pPr/>
          </a:p>
        </p:txBody>
      </p:sp>
      <p:sp>
        <p:nvSpPr>
          <p:cNvPr id="1060" name="Text 37"/>
          <p:cNvSpPr txBox="1"/>
          <p:nvPr/>
        </p:nvSpPr>
        <p:spPr>
          <a:xfrm>
            <a:off x="6549311" y="4713023"/>
            <a:ext cx="78084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94A3B8"/>
                </a:solidFill>
              </a:defRPr>
            </a:lvl1pPr>
          </a:lstStyle>
          <a:p>
            <a:pPr/>
            <a:r>
              <a:t>—</a:t>
            </a:r>
          </a:p>
        </p:txBody>
      </p:sp>
      <p:sp>
        <p:nvSpPr>
          <p:cNvPr id="1061" name="Shape 38"/>
          <p:cNvSpPr/>
          <p:nvPr/>
        </p:nvSpPr>
        <p:spPr>
          <a:xfrm>
            <a:off x="4582362" y="4983479"/>
            <a:ext cx="2747797" cy="384049"/>
          </a:xfrm>
          <a:prstGeom prst="rect">
            <a:avLst/>
          </a:prstGeom>
          <a:solidFill>
            <a:srgbClr val="EDE9FE"/>
          </a:solidFill>
          <a:ln>
            <a:solidFill>
              <a:srgbClr val="334155"/>
            </a:solidFill>
          </a:ln>
        </p:spPr>
        <p:txBody>
          <a:bodyPr lIns="45719" rIns="45719"/>
          <a:lstStyle/>
          <a:p>
            <a:pPr/>
          </a:p>
        </p:txBody>
      </p:sp>
      <p:sp>
        <p:nvSpPr>
          <p:cNvPr id="1062" name="Text 39"/>
          <p:cNvSpPr txBox="1"/>
          <p:nvPr/>
        </p:nvSpPr>
        <p:spPr>
          <a:xfrm>
            <a:off x="4628083" y="5092953"/>
            <a:ext cx="2656357"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4C1D95"/>
                </a:solidFill>
                <a:latin typeface="Menlo Regular"/>
                <a:ea typeface="Menlo Regular"/>
                <a:cs typeface="Menlo Regular"/>
                <a:sym typeface="Menlo Regular"/>
              </a:defRPr>
            </a:lvl1pPr>
          </a:lstStyle>
          <a:p>
            <a:pPr/>
            <a:r>
              <a:t>return maximo</a:t>
            </a:r>
          </a:p>
        </p:txBody>
      </p:sp>
      <p:sp>
        <p:nvSpPr>
          <p:cNvPr id="1063" name="Shape 40"/>
          <p:cNvSpPr/>
          <p:nvPr/>
        </p:nvSpPr>
        <p:spPr>
          <a:xfrm>
            <a:off x="7695920" y="1325880"/>
            <a:ext cx="3944393" cy="5029201"/>
          </a:xfrm>
          <a:prstGeom prst="roundRect">
            <a:avLst>
              <a:gd name="adj" fmla="val 185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064" name="Text 41"/>
          <p:cNvSpPr txBox="1"/>
          <p:nvPr/>
        </p:nvSpPr>
        <p:spPr>
          <a:xfrm>
            <a:off x="7897087" y="1476800"/>
            <a:ext cx="3542057"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2"/>
                </a:solidFill>
              </a:defRPr>
            </a:lvl1pPr>
          </a:lstStyle>
          <a:p>
            <a:pPr/>
            <a:r>
              <a:t>Diagrama de flujo</a:t>
            </a:r>
          </a:p>
        </p:txBody>
      </p:sp>
      <p:sp>
        <p:nvSpPr>
          <p:cNvPr id="1065" name="Shape 42"/>
          <p:cNvSpPr/>
          <p:nvPr/>
        </p:nvSpPr>
        <p:spPr>
          <a:xfrm>
            <a:off x="7928744" y="1899452"/>
            <a:ext cx="2102884" cy="278863"/>
          </a:xfrm>
          <a:prstGeom prst="roundRect">
            <a:avLst>
              <a:gd name="adj" fmla="val 50000"/>
            </a:avLst>
          </a:prstGeom>
          <a:solidFill>
            <a:srgbClr val="1E293B"/>
          </a:solidFill>
          <a:ln w="15875">
            <a:solidFill>
              <a:srgbClr val="1E293B"/>
            </a:solidFill>
          </a:ln>
        </p:spPr>
        <p:txBody>
          <a:bodyPr lIns="45719" rIns="45719"/>
          <a:lstStyle/>
          <a:p>
            <a:pPr/>
          </a:p>
        </p:txBody>
      </p:sp>
      <p:sp>
        <p:nvSpPr>
          <p:cNvPr id="1066" name="Text 43"/>
          <p:cNvSpPr txBox="1"/>
          <p:nvPr/>
        </p:nvSpPr>
        <p:spPr>
          <a:xfrm>
            <a:off x="7928744" y="1975383"/>
            <a:ext cx="21028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700">
                <a:solidFill>
                  <a:srgbClr val="FFFFFF"/>
                </a:solidFill>
                <a:latin typeface="Menlo Regular"/>
                <a:ea typeface="Menlo Regular"/>
                <a:cs typeface="Menlo Regular"/>
                <a:sym typeface="Menlo Regular"/>
              </a:defRPr>
            </a:lvl1pPr>
          </a:lstStyle>
          <a:p>
            <a:pPr/>
            <a:r>
              <a:t>encontrar_maximo(lista_temps)</a:t>
            </a:r>
          </a:p>
        </p:txBody>
      </p:sp>
      <p:sp>
        <p:nvSpPr>
          <p:cNvPr id="1067" name="Shape 44"/>
          <p:cNvSpPr/>
          <p:nvPr/>
        </p:nvSpPr>
        <p:spPr>
          <a:xfrm>
            <a:off x="8980185" y="2178314"/>
            <a:ext cx="1" cy="172630"/>
          </a:xfrm>
          <a:prstGeom prst="line">
            <a:avLst/>
          </a:prstGeom>
          <a:ln w="15875">
            <a:solidFill>
              <a:srgbClr val="64748B"/>
            </a:solidFill>
            <a:tailEnd type="triangle"/>
          </a:ln>
        </p:spPr>
        <p:txBody>
          <a:bodyPr lIns="45719" rIns="45719"/>
          <a:lstStyle/>
          <a:p>
            <a:pPr/>
          </a:p>
        </p:txBody>
      </p:sp>
      <p:sp>
        <p:nvSpPr>
          <p:cNvPr id="1068" name="Shape 45"/>
          <p:cNvSpPr/>
          <p:nvPr/>
        </p:nvSpPr>
        <p:spPr>
          <a:xfrm>
            <a:off x="7925692" y="2350943"/>
            <a:ext cx="2108989" cy="411655"/>
          </a:xfrm>
          <a:prstGeom prst="diamond">
            <a:avLst/>
          </a:prstGeom>
          <a:solidFill>
            <a:srgbClr val="FEF3C7"/>
          </a:solidFill>
          <a:ln w="15875">
            <a:solidFill>
              <a:schemeClr val="accent6"/>
            </a:solidFill>
          </a:ln>
        </p:spPr>
        <p:txBody>
          <a:bodyPr lIns="45719" rIns="45719"/>
          <a:lstStyle/>
          <a:p>
            <a:pPr/>
          </a:p>
        </p:txBody>
      </p:sp>
      <p:sp>
        <p:nvSpPr>
          <p:cNvPr id="1069" name="Text 46"/>
          <p:cNvSpPr txBox="1"/>
          <p:nvPr/>
        </p:nvSpPr>
        <p:spPr>
          <a:xfrm>
            <a:off x="7925692" y="2493270"/>
            <a:ext cx="21089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700">
                <a:solidFill>
                  <a:srgbClr val="78350F"/>
                </a:solidFill>
                <a:latin typeface="Menlo Regular"/>
                <a:ea typeface="Menlo Regular"/>
                <a:cs typeface="Menlo Regular"/>
                <a:sym typeface="Menlo Regular"/>
              </a:defRPr>
            </a:lvl1pPr>
          </a:lstStyle>
          <a:p>
            <a:pPr/>
            <a:r>
              <a:t>len(lista_temps) == 0</a:t>
            </a:r>
          </a:p>
        </p:txBody>
      </p:sp>
      <p:sp>
        <p:nvSpPr>
          <p:cNvPr id="1070" name="Shape 47"/>
          <p:cNvSpPr/>
          <p:nvPr/>
        </p:nvSpPr>
        <p:spPr>
          <a:xfrm>
            <a:off x="10034679" y="2556769"/>
            <a:ext cx="883627" cy="1"/>
          </a:xfrm>
          <a:prstGeom prst="line">
            <a:avLst/>
          </a:prstGeom>
          <a:ln w="15875">
            <a:solidFill>
              <a:srgbClr val="64748B"/>
            </a:solidFill>
          </a:ln>
        </p:spPr>
        <p:txBody>
          <a:bodyPr lIns="45719" rIns="45719"/>
          <a:lstStyle/>
          <a:p>
            <a:pPr/>
          </a:p>
        </p:txBody>
      </p:sp>
      <p:sp>
        <p:nvSpPr>
          <p:cNvPr id="1071" name="Shape 48"/>
          <p:cNvSpPr/>
          <p:nvPr/>
        </p:nvSpPr>
        <p:spPr>
          <a:xfrm>
            <a:off x="10918307" y="2556769"/>
            <a:ext cx="1" cy="232385"/>
          </a:xfrm>
          <a:prstGeom prst="line">
            <a:avLst/>
          </a:prstGeom>
          <a:ln w="15875">
            <a:solidFill>
              <a:srgbClr val="64748B"/>
            </a:solidFill>
            <a:tailEnd type="triangle"/>
          </a:ln>
        </p:spPr>
        <p:txBody>
          <a:bodyPr lIns="45719" rIns="45719"/>
          <a:lstStyle/>
          <a:p>
            <a:pPr/>
          </a:p>
        </p:txBody>
      </p:sp>
      <p:sp>
        <p:nvSpPr>
          <p:cNvPr id="1072" name="Text 49"/>
          <p:cNvSpPr txBox="1"/>
          <p:nvPr/>
        </p:nvSpPr>
        <p:spPr>
          <a:xfrm>
            <a:off x="10074517" y="2406956"/>
            <a:ext cx="73035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475569"/>
                </a:solidFill>
              </a:defRPr>
            </a:lvl1pPr>
          </a:lstStyle>
          <a:p>
            <a:pPr/>
            <a:r>
              <a:t>Sí</a:t>
            </a:r>
          </a:p>
        </p:txBody>
      </p:sp>
      <p:sp>
        <p:nvSpPr>
          <p:cNvPr id="1073" name="Shape 50"/>
          <p:cNvSpPr/>
          <p:nvPr/>
        </p:nvSpPr>
        <p:spPr>
          <a:xfrm>
            <a:off x="10333460" y="2789155"/>
            <a:ext cx="1169692" cy="2655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26" y="0"/>
                </a:lnTo>
                <a:lnTo>
                  <a:pt x="21600" y="0"/>
                </a:lnTo>
                <a:lnTo>
                  <a:pt x="20374" y="21600"/>
                </a:lnTo>
                <a:close/>
              </a:path>
            </a:pathLst>
          </a:custGeom>
          <a:solidFill>
            <a:srgbClr val="EDE9FE"/>
          </a:solidFill>
          <a:ln w="15875">
            <a:solidFill>
              <a:schemeClr val="accent3"/>
            </a:solidFill>
          </a:ln>
        </p:spPr>
        <p:txBody>
          <a:bodyPr lIns="45719" rIns="45719"/>
          <a:lstStyle/>
          <a:p>
            <a:pPr/>
          </a:p>
        </p:txBody>
      </p:sp>
      <p:sp>
        <p:nvSpPr>
          <p:cNvPr id="1074" name="Text 51"/>
          <p:cNvSpPr txBox="1"/>
          <p:nvPr/>
        </p:nvSpPr>
        <p:spPr>
          <a:xfrm>
            <a:off x="10333460" y="2858447"/>
            <a:ext cx="116969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700">
                <a:solidFill>
                  <a:srgbClr val="4C1D95"/>
                </a:solidFill>
                <a:latin typeface="Menlo Regular"/>
                <a:ea typeface="Menlo Regular"/>
                <a:cs typeface="Menlo Regular"/>
                <a:sym typeface="Menlo Regular"/>
              </a:defRPr>
            </a:lvl1pPr>
          </a:lstStyle>
          <a:p>
            <a:pPr/>
            <a:r>
              <a:t>return None</a:t>
            </a:r>
          </a:p>
        </p:txBody>
      </p:sp>
      <p:sp>
        <p:nvSpPr>
          <p:cNvPr id="1075" name="Shape 52"/>
          <p:cNvSpPr/>
          <p:nvPr/>
        </p:nvSpPr>
        <p:spPr>
          <a:xfrm>
            <a:off x="10918306" y="3054738"/>
            <a:ext cx="1" cy="172630"/>
          </a:xfrm>
          <a:prstGeom prst="line">
            <a:avLst/>
          </a:prstGeom>
          <a:ln w="15875">
            <a:solidFill>
              <a:srgbClr val="64748B"/>
            </a:solidFill>
            <a:tailEnd type="triangle"/>
          </a:ln>
        </p:spPr>
        <p:txBody>
          <a:bodyPr lIns="45719" rIns="45719"/>
          <a:lstStyle/>
          <a:p>
            <a:pPr/>
          </a:p>
        </p:txBody>
      </p:sp>
      <p:sp>
        <p:nvSpPr>
          <p:cNvPr id="1076" name="Shape 53"/>
          <p:cNvSpPr/>
          <p:nvPr/>
        </p:nvSpPr>
        <p:spPr>
          <a:xfrm>
            <a:off x="10660719" y="3227367"/>
            <a:ext cx="515177" cy="278863"/>
          </a:xfrm>
          <a:prstGeom prst="roundRect">
            <a:avLst>
              <a:gd name="adj" fmla="val 50000"/>
            </a:avLst>
          </a:prstGeom>
          <a:solidFill>
            <a:srgbClr val="1E293B"/>
          </a:solidFill>
          <a:ln w="15875">
            <a:solidFill>
              <a:srgbClr val="1E293B"/>
            </a:solidFill>
          </a:ln>
        </p:spPr>
        <p:txBody>
          <a:bodyPr lIns="45719" rIns="45719"/>
          <a:lstStyle/>
          <a:p>
            <a:pPr/>
          </a:p>
        </p:txBody>
      </p:sp>
      <p:sp>
        <p:nvSpPr>
          <p:cNvPr id="1077" name="Text 54"/>
          <p:cNvSpPr txBox="1"/>
          <p:nvPr/>
        </p:nvSpPr>
        <p:spPr>
          <a:xfrm>
            <a:off x="10660719" y="3303298"/>
            <a:ext cx="5151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700">
                <a:solidFill>
                  <a:srgbClr val="FFFFFF"/>
                </a:solidFill>
                <a:latin typeface="Menlo Regular"/>
                <a:ea typeface="Menlo Regular"/>
                <a:cs typeface="Menlo Regular"/>
                <a:sym typeface="Menlo Regular"/>
              </a:defRPr>
            </a:lvl1pPr>
          </a:lstStyle>
          <a:p>
            <a:pPr/>
            <a:r>
              <a:t>Fin</a:t>
            </a:r>
          </a:p>
        </p:txBody>
      </p:sp>
      <p:sp>
        <p:nvSpPr>
          <p:cNvPr id="1078" name="Text 55"/>
          <p:cNvSpPr txBox="1"/>
          <p:nvPr/>
        </p:nvSpPr>
        <p:spPr>
          <a:xfrm>
            <a:off x="9020023" y="2785412"/>
            <a:ext cx="73035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475569"/>
                </a:solidFill>
              </a:defRPr>
            </a:lvl1pPr>
          </a:lstStyle>
          <a:p>
            <a:pPr/>
            <a:r>
              <a:t>No</a:t>
            </a:r>
          </a:p>
        </p:txBody>
      </p:sp>
      <p:sp>
        <p:nvSpPr>
          <p:cNvPr id="1079" name="Shape 56"/>
          <p:cNvSpPr/>
          <p:nvPr/>
        </p:nvSpPr>
        <p:spPr>
          <a:xfrm>
            <a:off x="8980185" y="2762597"/>
            <a:ext cx="1" cy="172630"/>
          </a:xfrm>
          <a:prstGeom prst="line">
            <a:avLst/>
          </a:prstGeom>
          <a:ln w="15875">
            <a:solidFill>
              <a:srgbClr val="64748B"/>
            </a:solidFill>
            <a:tailEnd type="triangle"/>
          </a:ln>
        </p:spPr>
        <p:txBody>
          <a:bodyPr lIns="45719" rIns="45719"/>
          <a:lstStyle/>
          <a:p>
            <a:pPr/>
          </a:p>
        </p:txBody>
      </p:sp>
      <p:sp>
        <p:nvSpPr>
          <p:cNvPr id="1080" name="Shape 57"/>
          <p:cNvSpPr/>
          <p:nvPr/>
        </p:nvSpPr>
        <p:spPr>
          <a:xfrm>
            <a:off x="8145140" y="2935226"/>
            <a:ext cx="1670094" cy="265584"/>
          </a:xfrm>
          <a:prstGeom prst="rect">
            <a:avLst/>
          </a:prstGeom>
          <a:solidFill>
            <a:srgbClr val="DBEAFE"/>
          </a:solidFill>
          <a:ln w="15875">
            <a:solidFill>
              <a:schemeClr val="accent1"/>
            </a:solidFill>
          </a:ln>
        </p:spPr>
        <p:txBody>
          <a:bodyPr lIns="45719" rIns="45719"/>
          <a:lstStyle/>
          <a:p>
            <a:pPr/>
          </a:p>
        </p:txBody>
      </p:sp>
      <p:sp>
        <p:nvSpPr>
          <p:cNvPr id="1081" name="Text 58"/>
          <p:cNvSpPr txBox="1"/>
          <p:nvPr/>
        </p:nvSpPr>
        <p:spPr>
          <a:xfrm>
            <a:off x="8145140" y="3004517"/>
            <a:ext cx="167009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700">
                <a:solidFill>
                  <a:srgbClr val="1E3A8A"/>
                </a:solidFill>
                <a:latin typeface="Menlo Regular"/>
                <a:ea typeface="Menlo Regular"/>
                <a:cs typeface="Menlo Regular"/>
                <a:sym typeface="Menlo Regular"/>
              </a:defRPr>
            </a:lvl1pPr>
          </a:lstStyle>
          <a:p>
            <a:pPr/>
            <a:r>
              <a:t>maximo = lista_temps[0]</a:t>
            </a:r>
          </a:p>
        </p:txBody>
      </p:sp>
      <p:sp>
        <p:nvSpPr>
          <p:cNvPr id="1082" name="Shape 59"/>
          <p:cNvSpPr/>
          <p:nvPr/>
        </p:nvSpPr>
        <p:spPr>
          <a:xfrm>
            <a:off x="8980185" y="3200809"/>
            <a:ext cx="1" cy="172630"/>
          </a:xfrm>
          <a:prstGeom prst="line">
            <a:avLst/>
          </a:prstGeom>
          <a:ln w="15875">
            <a:solidFill>
              <a:srgbClr val="64748B"/>
            </a:solidFill>
            <a:tailEnd type="triangle"/>
          </a:ln>
        </p:spPr>
        <p:txBody>
          <a:bodyPr lIns="45719" rIns="45719"/>
          <a:lstStyle/>
          <a:p>
            <a:pPr/>
          </a:p>
        </p:txBody>
      </p:sp>
      <p:sp>
        <p:nvSpPr>
          <p:cNvPr id="1083" name="Shape 60"/>
          <p:cNvSpPr/>
          <p:nvPr/>
        </p:nvSpPr>
        <p:spPr>
          <a:xfrm>
            <a:off x="8045546" y="3373437"/>
            <a:ext cx="1869282" cy="33198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959" y="0"/>
                </a:lnTo>
                <a:lnTo>
                  <a:pt x="20641" y="0"/>
                </a:lnTo>
                <a:lnTo>
                  <a:pt x="21600" y="10800"/>
                </a:lnTo>
                <a:lnTo>
                  <a:pt x="20641" y="21600"/>
                </a:lnTo>
                <a:lnTo>
                  <a:pt x="959" y="21600"/>
                </a:lnTo>
                <a:close/>
              </a:path>
            </a:pathLst>
          </a:custGeom>
          <a:solidFill>
            <a:srgbClr val="DCFCE7"/>
          </a:solidFill>
          <a:ln w="15875">
            <a:solidFill>
              <a:schemeClr val="accent2"/>
            </a:solidFill>
          </a:ln>
        </p:spPr>
        <p:txBody>
          <a:bodyPr lIns="45719" rIns="45719"/>
          <a:lstStyle/>
          <a:p>
            <a:pPr/>
          </a:p>
        </p:txBody>
      </p:sp>
      <p:sp>
        <p:nvSpPr>
          <p:cNvPr id="1084" name="Text 61"/>
          <p:cNvSpPr txBox="1"/>
          <p:nvPr/>
        </p:nvSpPr>
        <p:spPr>
          <a:xfrm>
            <a:off x="8045546" y="3475927"/>
            <a:ext cx="18692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700">
                <a:solidFill>
                  <a:srgbClr val="14532D"/>
                </a:solidFill>
                <a:latin typeface="Menlo Regular"/>
                <a:ea typeface="Menlo Regular"/>
                <a:cs typeface="Menlo Regular"/>
                <a:sym typeface="Menlo Regular"/>
              </a:defRPr>
            </a:lvl1pPr>
          </a:lstStyle>
          <a:p>
            <a:pPr/>
            <a:r>
              <a:t>for temp in lista_temps</a:t>
            </a:r>
          </a:p>
        </p:txBody>
      </p:sp>
      <p:sp>
        <p:nvSpPr>
          <p:cNvPr id="1085" name="Shape 62"/>
          <p:cNvSpPr/>
          <p:nvPr/>
        </p:nvSpPr>
        <p:spPr>
          <a:xfrm>
            <a:off x="8980185" y="3705416"/>
            <a:ext cx="1" cy="172630"/>
          </a:xfrm>
          <a:prstGeom prst="line">
            <a:avLst/>
          </a:prstGeom>
          <a:ln w="15875">
            <a:solidFill>
              <a:srgbClr val="64748B"/>
            </a:solidFill>
            <a:tailEnd type="triangle"/>
          </a:ln>
        </p:spPr>
        <p:txBody>
          <a:bodyPr lIns="45719" rIns="45719"/>
          <a:lstStyle/>
          <a:p>
            <a:pPr/>
          </a:p>
        </p:txBody>
      </p:sp>
      <p:sp>
        <p:nvSpPr>
          <p:cNvPr id="1086" name="Text 63"/>
          <p:cNvSpPr txBox="1"/>
          <p:nvPr/>
        </p:nvSpPr>
        <p:spPr>
          <a:xfrm>
            <a:off x="9020023" y="3728231"/>
            <a:ext cx="73035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475569"/>
                </a:solidFill>
              </a:defRPr>
            </a:lvl1pPr>
          </a:lstStyle>
          <a:p>
            <a:pPr/>
            <a:r>
              <a:t>siguiente</a:t>
            </a:r>
          </a:p>
        </p:txBody>
      </p:sp>
      <p:sp>
        <p:nvSpPr>
          <p:cNvPr id="1087" name="Shape 64"/>
          <p:cNvSpPr/>
          <p:nvPr/>
        </p:nvSpPr>
        <p:spPr>
          <a:xfrm>
            <a:off x="8295786" y="3878045"/>
            <a:ext cx="1368799" cy="411655"/>
          </a:xfrm>
          <a:prstGeom prst="diamond">
            <a:avLst/>
          </a:prstGeom>
          <a:solidFill>
            <a:srgbClr val="FEF3C7"/>
          </a:solidFill>
          <a:ln w="15875">
            <a:solidFill>
              <a:schemeClr val="accent6"/>
            </a:solidFill>
          </a:ln>
        </p:spPr>
        <p:txBody>
          <a:bodyPr lIns="45719" rIns="45719"/>
          <a:lstStyle/>
          <a:p>
            <a:pPr/>
          </a:p>
        </p:txBody>
      </p:sp>
      <p:sp>
        <p:nvSpPr>
          <p:cNvPr id="1088" name="Text 65"/>
          <p:cNvSpPr txBox="1"/>
          <p:nvPr/>
        </p:nvSpPr>
        <p:spPr>
          <a:xfrm>
            <a:off x="8295786" y="4020372"/>
            <a:ext cx="136879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700">
                <a:solidFill>
                  <a:srgbClr val="78350F"/>
                </a:solidFill>
                <a:latin typeface="Menlo Regular"/>
                <a:ea typeface="Menlo Regular"/>
                <a:cs typeface="Menlo Regular"/>
                <a:sym typeface="Menlo Regular"/>
              </a:defRPr>
            </a:lvl1pPr>
          </a:lstStyle>
          <a:p>
            <a:pPr/>
            <a:r>
              <a:t>temp &gt; maximo</a:t>
            </a:r>
          </a:p>
        </p:txBody>
      </p:sp>
      <p:sp>
        <p:nvSpPr>
          <p:cNvPr id="1089" name="Shape 66"/>
          <p:cNvSpPr/>
          <p:nvPr/>
        </p:nvSpPr>
        <p:spPr>
          <a:xfrm>
            <a:off x="8980185" y="4289700"/>
            <a:ext cx="1" cy="172630"/>
          </a:xfrm>
          <a:prstGeom prst="line">
            <a:avLst/>
          </a:prstGeom>
          <a:ln w="15875">
            <a:solidFill>
              <a:srgbClr val="64748B"/>
            </a:solidFill>
            <a:tailEnd type="triangle"/>
          </a:ln>
        </p:spPr>
        <p:txBody>
          <a:bodyPr lIns="45719" rIns="45719"/>
          <a:lstStyle/>
          <a:p>
            <a:pPr/>
          </a:p>
        </p:txBody>
      </p:sp>
      <p:sp>
        <p:nvSpPr>
          <p:cNvPr id="1090" name="Text 67"/>
          <p:cNvSpPr txBox="1"/>
          <p:nvPr/>
        </p:nvSpPr>
        <p:spPr>
          <a:xfrm>
            <a:off x="9020023" y="4312514"/>
            <a:ext cx="73035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475569"/>
                </a:solidFill>
              </a:defRPr>
            </a:lvl1pPr>
          </a:lstStyle>
          <a:p>
            <a:pPr/>
            <a:r>
              <a:t>Sí</a:t>
            </a:r>
          </a:p>
        </p:txBody>
      </p:sp>
      <p:sp>
        <p:nvSpPr>
          <p:cNvPr id="1091" name="Shape 68"/>
          <p:cNvSpPr/>
          <p:nvPr/>
        </p:nvSpPr>
        <p:spPr>
          <a:xfrm>
            <a:off x="8450467" y="4462329"/>
            <a:ext cx="1059438" cy="265584"/>
          </a:xfrm>
          <a:prstGeom prst="rect">
            <a:avLst/>
          </a:prstGeom>
          <a:solidFill>
            <a:srgbClr val="DBEAFE"/>
          </a:solidFill>
          <a:ln w="15875">
            <a:solidFill>
              <a:schemeClr val="accent1"/>
            </a:solidFill>
          </a:ln>
        </p:spPr>
        <p:txBody>
          <a:bodyPr lIns="45719" rIns="45719"/>
          <a:lstStyle/>
          <a:p>
            <a:pPr/>
          </a:p>
        </p:txBody>
      </p:sp>
      <p:sp>
        <p:nvSpPr>
          <p:cNvPr id="1092" name="Text 69"/>
          <p:cNvSpPr txBox="1"/>
          <p:nvPr/>
        </p:nvSpPr>
        <p:spPr>
          <a:xfrm>
            <a:off x="8450467" y="4531620"/>
            <a:ext cx="105943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700">
                <a:solidFill>
                  <a:srgbClr val="1E3A8A"/>
                </a:solidFill>
                <a:latin typeface="Menlo Regular"/>
                <a:ea typeface="Menlo Regular"/>
                <a:cs typeface="Menlo Regular"/>
                <a:sym typeface="Menlo Regular"/>
              </a:defRPr>
            </a:lvl1pPr>
          </a:lstStyle>
          <a:p>
            <a:pPr/>
            <a:r>
              <a:t>maximo = temp</a:t>
            </a:r>
          </a:p>
        </p:txBody>
      </p:sp>
      <p:sp>
        <p:nvSpPr>
          <p:cNvPr id="1093" name="Shape 70"/>
          <p:cNvSpPr/>
          <p:nvPr/>
        </p:nvSpPr>
        <p:spPr>
          <a:xfrm>
            <a:off x="8980185" y="4727912"/>
            <a:ext cx="1" cy="146072"/>
          </a:xfrm>
          <a:prstGeom prst="line">
            <a:avLst/>
          </a:prstGeom>
          <a:ln w="15875">
            <a:solidFill>
              <a:srgbClr val="64748B"/>
            </a:solidFill>
          </a:ln>
        </p:spPr>
        <p:txBody>
          <a:bodyPr lIns="45719" rIns="45719"/>
          <a:lstStyle/>
          <a:p>
            <a:pPr/>
          </a:p>
        </p:txBody>
      </p:sp>
      <p:sp>
        <p:nvSpPr>
          <p:cNvPr id="1094" name="Shape 71"/>
          <p:cNvSpPr/>
          <p:nvPr/>
        </p:nvSpPr>
        <p:spPr>
          <a:xfrm>
            <a:off x="9664585" y="4083872"/>
            <a:ext cx="232385" cy="1"/>
          </a:xfrm>
          <a:prstGeom prst="line">
            <a:avLst/>
          </a:prstGeom>
          <a:ln w="15875">
            <a:solidFill>
              <a:srgbClr val="64748B"/>
            </a:solidFill>
          </a:ln>
        </p:spPr>
        <p:txBody>
          <a:bodyPr lIns="45719" rIns="45719"/>
          <a:lstStyle/>
          <a:p>
            <a:pPr/>
          </a:p>
        </p:txBody>
      </p:sp>
      <p:sp>
        <p:nvSpPr>
          <p:cNvPr id="1095" name="Text 72"/>
          <p:cNvSpPr txBox="1"/>
          <p:nvPr/>
        </p:nvSpPr>
        <p:spPr>
          <a:xfrm>
            <a:off x="9704423" y="3934058"/>
            <a:ext cx="73035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475569"/>
                </a:solidFill>
              </a:defRPr>
            </a:lvl1pPr>
          </a:lstStyle>
          <a:p>
            <a:pPr/>
            <a:r>
              <a:t>No</a:t>
            </a:r>
          </a:p>
        </p:txBody>
      </p:sp>
      <p:sp>
        <p:nvSpPr>
          <p:cNvPr id="1096" name="Shape 73"/>
          <p:cNvSpPr/>
          <p:nvPr/>
        </p:nvSpPr>
        <p:spPr>
          <a:xfrm>
            <a:off x="9896971" y="4083872"/>
            <a:ext cx="1" cy="790111"/>
          </a:xfrm>
          <a:prstGeom prst="line">
            <a:avLst/>
          </a:prstGeom>
          <a:ln w="15875">
            <a:solidFill>
              <a:srgbClr val="64748B"/>
            </a:solidFill>
          </a:ln>
        </p:spPr>
        <p:txBody>
          <a:bodyPr lIns="45719" rIns="45719"/>
          <a:lstStyle/>
          <a:p>
            <a:pPr/>
          </a:p>
        </p:txBody>
      </p:sp>
      <p:sp>
        <p:nvSpPr>
          <p:cNvPr id="1097" name="Shape 74"/>
          <p:cNvSpPr/>
          <p:nvPr/>
        </p:nvSpPr>
        <p:spPr>
          <a:xfrm flipH="1">
            <a:off x="8980186" y="4873983"/>
            <a:ext cx="916784" cy="1"/>
          </a:xfrm>
          <a:prstGeom prst="line">
            <a:avLst/>
          </a:prstGeom>
          <a:ln w="15875">
            <a:solidFill>
              <a:srgbClr val="64748B"/>
            </a:solidFill>
            <a:tailEnd type="triangle"/>
          </a:ln>
        </p:spPr>
        <p:txBody>
          <a:bodyPr lIns="45719" rIns="45719"/>
          <a:lstStyle/>
          <a:p>
            <a:pPr/>
          </a:p>
        </p:txBody>
      </p:sp>
      <p:sp>
        <p:nvSpPr>
          <p:cNvPr id="1098" name="Shape 75"/>
          <p:cNvSpPr/>
          <p:nvPr/>
        </p:nvSpPr>
        <p:spPr>
          <a:xfrm>
            <a:off x="8980186" y="4873983"/>
            <a:ext cx="1" cy="132793"/>
          </a:xfrm>
          <a:prstGeom prst="line">
            <a:avLst/>
          </a:prstGeom>
          <a:ln w="15875">
            <a:solidFill>
              <a:srgbClr val="64748B"/>
            </a:solidFill>
          </a:ln>
        </p:spPr>
        <p:txBody>
          <a:bodyPr lIns="45719" rIns="45719"/>
          <a:lstStyle/>
          <a:p>
            <a:pPr/>
          </a:p>
        </p:txBody>
      </p:sp>
      <p:sp>
        <p:nvSpPr>
          <p:cNvPr id="1099" name="Shape 76"/>
          <p:cNvSpPr/>
          <p:nvPr/>
        </p:nvSpPr>
        <p:spPr>
          <a:xfrm flipH="1">
            <a:off x="7846359" y="5006773"/>
            <a:ext cx="1133829" cy="1"/>
          </a:xfrm>
          <a:prstGeom prst="line">
            <a:avLst/>
          </a:prstGeom>
          <a:ln w="15875">
            <a:solidFill>
              <a:srgbClr val="64748B"/>
            </a:solidFill>
          </a:ln>
        </p:spPr>
        <p:txBody>
          <a:bodyPr lIns="45719" rIns="45719"/>
          <a:lstStyle/>
          <a:p>
            <a:pPr/>
          </a:p>
        </p:txBody>
      </p:sp>
      <p:sp>
        <p:nvSpPr>
          <p:cNvPr id="1100" name="Shape 77"/>
          <p:cNvSpPr/>
          <p:nvPr/>
        </p:nvSpPr>
        <p:spPr>
          <a:xfrm flipV="1">
            <a:off x="7846358" y="3539428"/>
            <a:ext cx="1" cy="1467348"/>
          </a:xfrm>
          <a:prstGeom prst="line">
            <a:avLst/>
          </a:prstGeom>
          <a:ln w="15875">
            <a:solidFill>
              <a:srgbClr val="64748B"/>
            </a:solidFill>
          </a:ln>
        </p:spPr>
        <p:txBody>
          <a:bodyPr lIns="45719" rIns="45719"/>
          <a:lstStyle/>
          <a:p>
            <a:pPr/>
          </a:p>
        </p:txBody>
      </p:sp>
      <p:sp>
        <p:nvSpPr>
          <p:cNvPr id="1101" name="Shape 78"/>
          <p:cNvSpPr/>
          <p:nvPr/>
        </p:nvSpPr>
        <p:spPr>
          <a:xfrm>
            <a:off x="7846359" y="3539428"/>
            <a:ext cx="199188" cy="1"/>
          </a:xfrm>
          <a:prstGeom prst="line">
            <a:avLst/>
          </a:prstGeom>
          <a:ln w="15875">
            <a:solidFill>
              <a:srgbClr val="64748B"/>
            </a:solidFill>
            <a:tailEnd type="triangle"/>
          </a:ln>
        </p:spPr>
        <p:txBody>
          <a:bodyPr lIns="45719" rIns="45719"/>
          <a:lstStyle/>
          <a:p>
            <a:pPr/>
          </a:p>
        </p:txBody>
      </p:sp>
      <p:sp>
        <p:nvSpPr>
          <p:cNvPr id="1102" name="Shape 79"/>
          <p:cNvSpPr/>
          <p:nvPr/>
        </p:nvSpPr>
        <p:spPr>
          <a:xfrm>
            <a:off x="9914827" y="3539428"/>
            <a:ext cx="214530" cy="1"/>
          </a:xfrm>
          <a:prstGeom prst="line">
            <a:avLst/>
          </a:prstGeom>
          <a:ln w="15875">
            <a:solidFill>
              <a:srgbClr val="64748B"/>
            </a:solidFill>
          </a:ln>
        </p:spPr>
        <p:txBody>
          <a:bodyPr lIns="45719" rIns="45719"/>
          <a:lstStyle/>
          <a:p>
            <a:pPr/>
          </a:p>
        </p:txBody>
      </p:sp>
      <p:sp>
        <p:nvSpPr>
          <p:cNvPr id="1103" name="Text 80"/>
          <p:cNvSpPr txBox="1"/>
          <p:nvPr/>
        </p:nvSpPr>
        <p:spPr>
          <a:xfrm>
            <a:off x="9948025" y="3389613"/>
            <a:ext cx="73035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475569"/>
                </a:solidFill>
              </a:defRPr>
            </a:lvl1pPr>
          </a:lstStyle>
          <a:p>
            <a:pPr/>
            <a:r>
              <a:t>terminó</a:t>
            </a:r>
          </a:p>
        </p:txBody>
      </p:sp>
      <p:sp>
        <p:nvSpPr>
          <p:cNvPr id="1104" name="Shape 81"/>
          <p:cNvSpPr/>
          <p:nvPr/>
        </p:nvSpPr>
        <p:spPr>
          <a:xfrm>
            <a:off x="10129356" y="3539428"/>
            <a:ext cx="1" cy="1626697"/>
          </a:xfrm>
          <a:prstGeom prst="line">
            <a:avLst/>
          </a:prstGeom>
          <a:ln w="15875">
            <a:solidFill>
              <a:srgbClr val="64748B"/>
            </a:solidFill>
          </a:ln>
        </p:spPr>
        <p:txBody>
          <a:bodyPr lIns="45719" rIns="45719"/>
          <a:lstStyle/>
          <a:p>
            <a:pPr/>
          </a:p>
        </p:txBody>
      </p:sp>
      <p:sp>
        <p:nvSpPr>
          <p:cNvPr id="1105" name="Shape 82"/>
          <p:cNvSpPr/>
          <p:nvPr/>
        </p:nvSpPr>
        <p:spPr>
          <a:xfrm flipH="1">
            <a:off x="8980185" y="5166123"/>
            <a:ext cx="1149170" cy="1"/>
          </a:xfrm>
          <a:prstGeom prst="line">
            <a:avLst/>
          </a:prstGeom>
          <a:ln w="15875">
            <a:solidFill>
              <a:srgbClr val="64748B"/>
            </a:solidFill>
            <a:tailEnd type="triangle"/>
          </a:ln>
        </p:spPr>
        <p:txBody>
          <a:bodyPr lIns="45719" rIns="45719"/>
          <a:lstStyle/>
          <a:p>
            <a:pPr/>
          </a:p>
        </p:txBody>
      </p:sp>
      <p:sp>
        <p:nvSpPr>
          <p:cNvPr id="1106" name="Shape 83"/>
          <p:cNvSpPr/>
          <p:nvPr/>
        </p:nvSpPr>
        <p:spPr>
          <a:xfrm>
            <a:off x="8980185" y="5166123"/>
            <a:ext cx="1" cy="172630"/>
          </a:xfrm>
          <a:prstGeom prst="line">
            <a:avLst/>
          </a:prstGeom>
          <a:ln w="15875">
            <a:solidFill>
              <a:srgbClr val="64748B"/>
            </a:solidFill>
            <a:tailEnd type="triangle"/>
          </a:ln>
        </p:spPr>
        <p:txBody>
          <a:bodyPr lIns="45719" rIns="45719"/>
          <a:lstStyle/>
          <a:p>
            <a:pPr/>
          </a:p>
        </p:txBody>
      </p:sp>
      <p:sp>
        <p:nvSpPr>
          <p:cNvPr id="1107" name="Shape 84"/>
          <p:cNvSpPr/>
          <p:nvPr/>
        </p:nvSpPr>
        <p:spPr>
          <a:xfrm>
            <a:off x="8334275" y="5338752"/>
            <a:ext cx="1291823" cy="2655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110" y="0"/>
                </a:lnTo>
                <a:lnTo>
                  <a:pt x="21600" y="0"/>
                </a:lnTo>
                <a:lnTo>
                  <a:pt x="20490" y="21600"/>
                </a:lnTo>
                <a:close/>
              </a:path>
            </a:pathLst>
          </a:custGeom>
          <a:solidFill>
            <a:srgbClr val="EDE9FE"/>
          </a:solidFill>
          <a:ln w="15875">
            <a:solidFill>
              <a:schemeClr val="accent3"/>
            </a:solidFill>
          </a:ln>
        </p:spPr>
        <p:txBody>
          <a:bodyPr lIns="45719" rIns="45719"/>
          <a:lstStyle/>
          <a:p>
            <a:pPr/>
          </a:p>
        </p:txBody>
      </p:sp>
      <p:sp>
        <p:nvSpPr>
          <p:cNvPr id="1108" name="Text 85"/>
          <p:cNvSpPr txBox="1"/>
          <p:nvPr/>
        </p:nvSpPr>
        <p:spPr>
          <a:xfrm>
            <a:off x="8334275" y="5408044"/>
            <a:ext cx="12918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700">
                <a:solidFill>
                  <a:srgbClr val="4C1D95"/>
                </a:solidFill>
                <a:latin typeface="Menlo Regular"/>
                <a:ea typeface="Menlo Regular"/>
                <a:cs typeface="Menlo Regular"/>
                <a:sym typeface="Menlo Regular"/>
              </a:defRPr>
            </a:lvl1pPr>
          </a:lstStyle>
          <a:p>
            <a:pPr/>
            <a:r>
              <a:t>return maximo</a:t>
            </a:r>
          </a:p>
        </p:txBody>
      </p:sp>
      <p:sp>
        <p:nvSpPr>
          <p:cNvPr id="1109" name="Shape 86"/>
          <p:cNvSpPr/>
          <p:nvPr/>
        </p:nvSpPr>
        <p:spPr>
          <a:xfrm>
            <a:off x="8980185" y="5604335"/>
            <a:ext cx="1" cy="172630"/>
          </a:xfrm>
          <a:prstGeom prst="line">
            <a:avLst/>
          </a:prstGeom>
          <a:ln w="15875">
            <a:solidFill>
              <a:srgbClr val="64748B"/>
            </a:solidFill>
            <a:tailEnd type="triangle"/>
          </a:ln>
        </p:spPr>
        <p:txBody>
          <a:bodyPr lIns="45719" rIns="45719"/>
          <a:lstStyle/>
          <a:p>
            <a:pPr/>
          </a:p>
        </p:txBody>
      </p:sp>
      <p:sp>
        <p:nvSpPr>
          <p:cNvPr id="1110" name="Shape 87"/>
          <p:cNvSpPr/>
          <p:nvPr/>
        </p:nvSpPr>
        <p:spPr>
          <a:xfrm>
            <a:off x="8722597" y="5776964"/>
            <a:ext cx="515177" cy="278863"/>
          </a:xfrm>
          <a:prstGeom prst="roundRect">
            <a:avLst>
              <a:gd name="adj" fmla="val 50000"/>
            </a:avLst>
          </a:prstGeom>
          <a:solidFill>
            <a:srgbClr val="1E293B"/>
          </a:solidFill>
          <a:ln w="15875">
            <a:solidFill>
              <a:srgbClr val="1E293B"/>
            </a:solidFill>
          </a:ln>
        </p:spPr>
        <p:txBody>
          <a:bodyPr lIns="45719" rIns="45719"/>
          <a:lstStyle/>
          <a:p>
            <a:pPr/>
          </a:p>
        </p:txBody>
      </p:sp>
      <p:sp>
        <p:nvSpPr>
          <p:cNvPr id="1111" name="Text 88"/>
          <p:cNvSpPr txBox="1"/>
          <p:nvPr/>
        </p:nvSpPr>
        <p:spPr>
          <a:xfrm>
            <a:off x="8722597" y="5852895"/>
            <a:ext cx="5151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700">
                <a:solidFill>
                  <a:srgbClr val="FFFFFF"/>
                </a:solidFill>
                <a:latin typeface="Menlo Regular"/>
                <a:ea typeface="Menlo Regular"/>
                <a:cs typeface="Menlo Regular"/>
                <a:sym typeface="Menlo Regular"/>
              </a:defRPr>
            </a:lvl1pPr>
          </a:lstStyle>
          <a:p>
            <a:pPr/>
            <a:r>
              <a:t>Fin</a:t>
            </a:r>
          </a:p>
        </p:txBody>
      </p:sp>
      <p:sp>
        <p:nvSpPr>
          <p:cNvPr id="1112"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6" name="Text 0"/>
          <p:cNvSpPr txBox="1"/>
          <p:nvPr>
            <p:ph type="title"/>
          </p:nvPr>
        </p:nvSpPr>
        <p:spPr>
          <a:prstGeom prst="rect">
            <a:avLst/>
          </a:prstGeom>
        </p:spPr>
        <p:txBody>
          <a:bodyPr lIns="0" tIns="0" rIns="0" bIns="0" anchor="ctr"/>
          <a:lstStyle/>
          <a:p>
            <a:pPr/>
            <a:r>
              <a:t>11 · Promedio</a:t>
            </a:r>
          </a:p>
        </p:txBody>
      </p:sp>
      <p:sp>
        <p:nvSpPr>
          <p:cNvPr id="1117" name="Text 0"/>
          <p:cNvSpPr txBox="1"/>
          <p:nvPr>
            <p:ph type="body" sz="quarter" idx="1"/>
          </p:nvPr>
        </p:nvSpPr>
        <p:spPr>
          <a:prstGeom prst="rect">
            <a:avLst/>
          </a:prstGeom>
        </p:spPr>
        <p:txBody>
          <a:bodyPr lIns="0" tIns="0" rIns="0" bIns="0" anchor="ctr"/>
          <a:lstStyle/>
          <a:p>
            <a:pPr/>
            <a:r>
              <a:t>Dos acumuladores en el mismo ciclo y una división al final, fuera del ciclo.</a:t>
            </a:r>
          </a:p>
        </p:txBody>
      </p:sp>
      <p:sp>
        <p:nvSpPr>
          <p:cNvPr id="1118" name="Shape 2"/>
          <p:cNvSpPr/>
          <p:nvPr/>
        </p:nvSpPr>
        <p:spPr>
          <a:xfrm>
            <a:off x="548640" y="1325880"/>
            <a:ext cx="4663441" cy="2088643"/>
          </a:xfrm>
          <a:prstGeom prst="roundRect">
            <a:avLst>
              <a:gd name="adj" fmla="val 3502"/>
            </a:avLst>
          </a:prstGeom>
          <a:solidFill>
            <a:srgbClr val="0F172A"/>
          </a:solidFill>
          <a:ln>
            <a:solidFill>
              <a:srgbClr val="334155"/>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119" name="Text 3"/>
          <p:cNvSpPr txBox="1"/>
          <p:nvPr/>
        </p:nvSpPr>
        <p:spPr>
          <a:xfrm>
            <a:off x="749808" y="147680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BFDBFE"/>
                </a:solidFill>
              </a:defRPr>
            </a:lvl1pPr>
          </a:lstStyle>
          <a:p>
            <a:pPr/>
            <a:r>
              <a:t>Python  ·  calcular_promedio_goles([2, 0, 4])  →  2.0</a:t>
            </a:r>
          </a:p>
        </p:txBody>
      </p:sp>
      <p:sp>
        <p:nvSpPr>
          <p:cNvPr id="1120" name="Text 4"/>
          <p:cNvSpPr txBox="1"/>
          <p:nvPr/>
        </p:nvSpPr>
        <p:spPr>
          <a:xfrm>
            <a:off x="749808" y="1764792"/>
            <a:ext cx="4297680" cy="14177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defRPr sz="1200">
                <a:solidFill>
                  <a:srgbClr val="569CD6"/>
                </a:solidFill>
                <a:latin typeface="Menlo Regular"/>
                <a:ea typeface="Menlo Regular"/>
                <a:cs typeface="Menlo Regular"/>
                <a:sym typeface="Menlo Regular"/>
              </a:defRPr>
            </a:pPr>
            <a:r>
              <a:t>def</a:t>
            </a:r>
            <a:r>
              <a:rPr>
                <a:solidFill>
                  <a:srgbClr val="D4D4D4"/>
                </a:solidFill>
              </a:rPr>
              <a:t> </a:t>
            </a:r>
            <a:r>
              <a:rPr>
                <a:solidFill>
                  <a:srgbClr val="DCDCAA"/>
                </a:solidFill>
              </a:rPr>
              <a:t>calcular_promedio_goles</a:t>
            </a:r>
            <a:r>
              <a:rPr>
                <a:solidFill>
                  <a:srgbClr val="D4D4D4"/>
                </a:solidFill>
              </a:rPr>
              <a:t>(</a:t>
            </a:r>
            <a:r>
              <a:rPr>
                <a:solidFill>
                  <a:srgbClr val="9CDCFE"/>
                </a:solidFill>
              </a:rPr>
              <a:t>lista_goles</a:t>
            </a:r>
            <a:r>
              <a:rPr>
                <a:solidFill>
                  <a:srgbClr val="D4D4D4"/>
                </a:solidFill>
              </a:rPr>
              <a:t>):</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total</a:t>
            </a:r>
            <a:r>
              <a:t> = </a:t>
            </a:r>
            <a:r>
              <a:rPr>
                <a:solidFill>
                  <a:srgbClr val="B5CEA8"/>
                </a:solidFill>
              </a:rPr>
              <a:t>0</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partidos</a:t>
            </a:r>
            <a:r>
              <a:t> = </a:t>
            </a:r>
            <a:r>
              <a:rPr>
                <a:solidFill>
                  <a:srgbClr val="B5CEA8"/>
                </a:solidFill>
              </a:rPr>
              <a:t>0</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for</a:t>
            </a:r>
            <a:r>
              <a:t> </a:t>
            </a:r>
            <a:r>
              <a:rPr>
                <a:solidFill>
                  <a:srgbClr val="9CDCFE"/>
                </a:solidFill>
              </a:rPr>
              <a:t>goles</a:t>
            </a:r>
            <a:r>
              <a:t> </a:t>
            </a:r>
            <a:r>
              <a:rPr>
                <a:solidFill>
                  <a:srgbClr val="C586C0"/>
                </a:solidFill>
              </a:rPr>
              <a:t>in</a:t>
            </a:r>
            <a:r>
              <a:t> </a:t>
            </a:r>
            <a:r>
              <a:rPr>
                <a:solidFill>
                  <a:srgbClr val="9CDCFE"/>
                </a:solidFill>
              </a:rPr>
              <a:t>lista_goles</a:t>
            </a:r>
            <a:r>
              <a:t>:</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total</a:t>
            </a:r>
            <a:r>
              <a:t> = </a:t>
            </a:r>
            <a:r>
              <a:rPr>
                <a:solidFill>
                  <a:srgbClr val="9CDCFE"/>
                </a:solidFill>
              </a:rPr>
              <a:t>total</a:t>
            </a:r>
            <a:r>
              <a:t> + </a:t>
            </a:r>
            <a:r>
              <a:rPr>
                <a:solidFill>
                  <a:srgbClr val="9CDCFE"/>
                </a:solidFill>
              </a:rPr>
              <a:t>goles</a:t>
            </a:r>
          </a:p>
          <a:p>
            <a:pPr>
              <a:lnSpc>
                <a:spcPts val="1600"/>
              </a:lnSpc>
              <a:defRPr sz="1200">
                <a:solidFill>
                  <a:srgbClr val="D4D4D4"/>
                </a:solidFill>
                <a:latin typeface="Menlo Regular"/>
                <a:ea typeface="Menlo Regular"/>
                <a:cs typeface="Menlo Regular"/>
                <a:sym typeface="Menlo Regular"/>
              </a:defRPr>
            </a:pPr>
            <a:r>
              <a:t>        </a:t>
            </a:r>
            <a:r>
              <a:rPr>
                <a:solidFill>
                  <a:srgbClr val="9CDCFE"/>
                </a:solidFill>
              </a:rPr>
              <a:t>partidos</a:t>
            </a:r>
            <a:r>
              <a:t> = </a:t>
            </a:r>
            <a:r>
              <a:rPr>
                <a:solidFill>
                  <a:srgbClr val="9CDCFE"/>
                </a:solidFill>
              </a:rPr>
              <a:t>partidos</a:t>
            </a:r>
            <a:r>
              <a:t> + </a:t>
            </a:r>
            <a:r>
              <a:rPr>
                <a:solidFill>
                  <a:srgbClr val="B5CEA8"/>
                </a:solidFill>
              </a:rPr>
              <a:t>1</a:t>
            </a:r>
          </a:p>
          <a:p>
            <a:pPr>
              <a:lnSpc>
                <a:spcPts val="1600"/>
              </a:lnSpc>
              <a:defRPr sz="1200">
                <a:solidFill>
                  <a:srgbClr val="D4D4D4"/>
                </a:solidFill>
                <a:latin typeface="Menlo Regular"/>
                <a:ea typeface="Menlo Regular"/>
                <a:cs typeface="Menlo Regular"/>
                <a:sym typeface="Menlo Regular"/>
              </a:defRPr>
            </a:pPr>
            <a:r>
              <a:t>    </a:t>
            </a:r>
            <a:r>
              <a:rPr>
                <a:solidFill>
                  <a:srgbClr val="C586C0"/>
                </a:solidFill>
              </a:rPr>
              <a:t>return</a:t>
            </a:r>
            <a:r>
              <a:t> </a:t>
            </a:r>
            <a:r>
              <a:rPr>
                <a:solidFill>
                  <a:srgbClr val="9CDCFE"/>
                </a:solidFill>
              </a:rPr>
              <a:t>total</a:t>
            </a:r>
            <a:r>
              <a:t> / </a:t>
            </a:r>
            <a:r>
              <a:rPr>
                <a:solidFill>
                  <a:srgbClr val="9CDCFE"/>
                </a:solidFill>
              </a:rPr>
              <a:t>partidos</a:t>
            </a:r>
          </a:p>
        </p:txBody>
      </p:sp>
      <p:sp>
        <p:nvSpPr>
          <p:cNvPr id="1121" name="Shape 5"/>
          <p:cNvSpPr/>
          <p:nvPr/>
        </p:nvSpPr>
        <p:spPr>
          <a:xfrm>
            <a:off x="548640" y="3615690"/>
            <a:ext cx="4663441" cy="2739391"/>
          </a:xfrm>
          <a:prstGeom prst="roundRect">
            <a:avLst>
              <a:gd name="adj" fmla="val 2670"/>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122" name="Text 6"/>
          <p:cNvSpPr txBox="1"/>
          <p:nvPr/>
        </p:nvSpPr>
        <p:spPr>
          <a:xfrm>
            <a:off x="749808" y="3766610"/>
            <a:ext cx="4261104"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3"/>
                </a:solidFill>
              </a:defRPr>
            </a:lvl1pPr>
          </a:lstStyle>
          <a:p>
            <a:pPr/>
            <a:r>
              <a:t>Nassi-Shneiderman</a:t>
            </a:r>
          </a:p>
        </p:txBody>
      </p:sp>
      <p:sp>
        <p:nvSpPr>
          <p:cNvPr id="1123" name="Shape 7"/>
          <p:cNvSpPr/>
          <p:nvPr/>
        </p:nvSpPr>
        <p:spPr>
          <a:xfrm>
            <a:off x="777239" y="4054602"/>
            <a:ext cx="4206242" cy="302515"/>
          </a:xfrm>
          <a:prstGeom prst="rect">
            <a:avLst/>
          </a:prstGeom>
          <a:solidFill>
            <a:srgbClr val="1E293B"/>
          </a:solidFill>
          <a:ln>
            <a:solidFill>
              <a:srgbClr val="334155"/>
            </a:solidFill>
          </a:ln>
        </p:spPr>
        <p:txBody>
          <a:bodyPr lIns="45719" rIns="45719"/>
          <a:lstStyle/>
          <a:p>
            <a:pPr/>
          </a:p>
        </p:txBody>
      </p:sp>
      <p:sp>
        <p:nvSpPr>
          <p:cNvPr id="1124" name="Text 8"/>
          <p:cNvSpPr txBox="1"/>
          <p:nvPr/>
        </p:nvSpPr>
        <p:spPr>
          <a:xfrm>
            <a:off x="822960" y="4142359"/>
            <a:ext cx="4114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FFFFFF"/>
                </a:solidFill>
                <a:latin typeface="Menlo Regular"/>
                <a:ea typeface="Menlo Regular"/>
                <a:cs typeface="Menlo Regular"/>
                <a:sym typeface="Menlo Regular"/>
              </a:defRPr>
            </a:lvl1pPr>
          </a:lstStyle>
          <a:p>
            <a:pPr/>
            <a:r>
              <a:t>calcular_promedio_goles(lista_goles)</a:t>
            </a:r>
          </a:p>
        </p:txBody>
      </p:sp>
      <p:sp>
        <p:nvSpPr>
          <p:cNvPr id="1125" name="Shape 9"/>
          <p:cNvSpPr/>
          <p:nvPr/>
        </p:nvSpPr>
        <p:spPr>
          <a:xfrm>
            <a:off x="777239" y="4357115"/>
            <a:ext cx="4206242" cy="302515"/>
          </a:xfrm>
          <a:prstGeom prst="rect">
            <a:avLst/>
          </a:prstGeom>
          <a:solidFill>
            <a:srgbClr val="DBEAFE"/>
          </a:solidFill>
          <a:ln>
            <a:solidFill>
              <a:srgbClr val="334155"/>
            </a:solidFill>
          </a:ln>
        </p:spPr>
        <p:txBody>
          <a:bodyPr lIns="45719" rIns="45719"/>
          <a:lstStyle/>
          <a:p>
            <a:pPr/>
          </a:p>
        </p:txBody>
      </p:sp>
      <p:sp>
        <p:nvSpPr>
          <p:cNvPr id="1126" name="Text 10"/>
          <p:cNvSpPr txBox="1"/>
          <p:nvPr/>
        </p:nvSpPr>
        <p:spPr>
          <a:xfrm>
            <a:off x="822960" y="4444872"/>
            <a:ext cx="4114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1E3A8A"/>
                </a:solidFill>
                <a:latin typeface="Menlo Regular"/>
                <a:ea typeface="Menlo Regular"/>
                <a:cs typeface="Menlo Regular"/>
                <a:sym typeface="Menlo Regular"/>
              </a:defRPr>
            </a:lvl1pPr>
          </a:lstStyle>
          <a:p>
            <a:pPr/>
            <a:r>
              <a:t>total = 0</a:t>
            </a:r>
          </a:p>
        </p:txBody>
      </p:sp>
      <p:sp>
        <p:nvSpPr>
          <p:cNvPr id="1127" name="Shape 11"/>
          <p:cNvSpPr/>
          <p:nvPr/>
        </p:nvSpPr>
        <p:spPr>
          <a:xfrm>
            <a:off x="777239" y="4659629"/>
            <a:ext cx="4206242" cy="302515"/>
          </a:xfrm>
          <a:prstGeom prst="rect">
            <a:avLst/>
          </a:prstGeom>
          <a:solidFill>
            <a:srgbClr val="DBEAFE"/>
          </a:solidFill>
          <a:ln>
            <a:solidFill>
              <a:srgbClr val="334155"/>
            </a:solidFill>
          </a:ln>
        </p:spPr>
        <p:txBody>
          <a:bodyPr lIns="45719" rIns="45719"/>
          <a:lstStyle/>
          <a:p>
            <a:pPr/>
          </a:p>
        </p:txBody>
      </p:sp>
      <p:sp>
        <p:nvSpPr>
          <p:cNvPr id="1128" name="Text 12"/>
          <p:cNvSpPr txBox="1"/>
          <p:nvPr/>
        </p:nvSpPr>
        <p:spPr>
          <a:xfrm>
            <a:off x="822960" y="4747386"/>
            <a:ext cx="4114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1E3A8A"/>
                </a:solidFill>
                <a:latin typeface="Menlo Regular"/>
                <a:ea typeface="Menlo Regular"/>
                <a:cs typeface="Menlo Regular"/>
                <a:sym typeface="Menlo Regular"/>
              </a:defRPr>
            </a:lvl1pPr>
          </a:lstStyle>
          <a:p>
            <a:pPr/>
            <a:r>
              <a:t>partidos = 0</a:t>
            </a:r>
          </a:p>
        </p:txBody>
      </p:sp>
      <p:sp>
        <p:nvSpPr>
          <p:cNvPr id="1129" name="Shape 13"/>
          <p:cNvSpPr/>
          <p:nvPr/>
        </p:nvSpPr>
        <p:spPr>
          <a:xfrm>
            <a:off x="777239" y="4962144"/>
            <a:ext cx="4206242" cy="907543"/>
          </a:xfrm>
          <a:prstGeom prst="rect">
            <a:avLst/>
          </a:prstGeom>
          <a:solidFill>
            <a:srgbClr val="DCFCE7"/>
          </a:solidFill>
          <a:ln>
            <a:solidFill>
              <a:srgbClr val="334155"/>
            </a:solidFill>
          </a:ln>
        </p:spPr>
        <p:txBody>
          <a:bodyPr lIns="45719" rIns="45719"/>
          <a:lstStyle/>
          <a:p>
            <a:pPr/>
          </a:p>
        </p:txBody>
      </p:sp>
      <p:sp>
        <p:nvSpPr>
          <p:cNvPr id="1130" name="Text 14"/>
          <p:cNvSpPr txBox="1"/>
          <p:nvPr/>
        </p:nvSpPr>
        <p:spPr>
          <a:xfrm>
            <a:off x="868680" y="5049901"/>
            <a:ext cx="40233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solidFill>
                  <a:srgbClr val="14532D"/>
                </a:solidFill>
                <a:latin typeface="Menlo Regular"/>
                <a:ea typeface="Menlo Regular"/>
                <a:cs typeface="Menlo Regular"/>
                <a:sym typeface="Menlo Regular"/>
              </a:defRPr>
            </a:lvl1pPr>
          </a:lstStyle>
          <a:p>
            <a:pPr/>
            <a:r>
              <a:t>for goles in lista_goles</a:t>
            </a:r>
          </a:p>
        </p:txBody>
      </p:sp>
      <p:sp>
        <p:nvSpPr>
          <p:cNvPr id="1131" name="Shape 15"/>
          <p:cNvSpPr/>
          <p:nvPr/>
        </p:nvSpPr>
        <p:spPr>
          <a:xfrm>
            <a:off x="1079753" y="5264658"/>
            <a:ext cx="3903728" cy="302515"/>
          </a:xfrm>
          <a:prstGeom prst="rect">
            <a:avLst/>
          </a:prstGeom>
          <a:solidFill>
            <a:srgbClr val="DBEAFE"/>
          </a:solidFill>
          <a:ln>
            <a:solidFill>
              <a:srgbClr val="334155"/>
            </a:solidFill>
          </a:ln>
        </p:spPr>
        <p:txBody>
          <a:bodyPr lIns="45719" rIns="45719"/>
          <a:lstStyle/>
          <a:p>
            <a:pPr/>
          </a:p>
        </p:txBody>
      </p:sp>
      <p:sp>
        <p:nvSpPr>
          <p:cNvPr id="1132" name="Text 16"/>
          <p:cNvSpPr txBox="1"/>
          <p:nvPr/>
        </p:nvSpPr>
        <p:spPr>
          <a:xfrm>
            <a:off x="1125474" y="5352415"/>
            <a:ext cx="3812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1E3A8A"/>
                </a:solidFill>
                <a:latin typeface="Menlo Regular"/>
                <a:ea typeface="Menlo Regular"/>
                <a:cs typeface="Menlo Regular"/>
                <a:sym typeface="Menlo Regular"/>
              </a:defRPr>
            </a:lvl1pPr>
          </a:lstStyle>
          <a:p>
            <a:pPr/>
            <a:r>
              <a:t>total = total + goles</a:t>
            </a:r>
          </a:p>
        </p:txBody>
      </p:sp>
      <p:sp>
        <p:nvSpPr>
          <p:cNvPr id="1133" name="Shape 17"/>
          <p:cNvSpPr/>
          <p:nvPr/>
        </p:nvSpPr>
        <p:spPr>
          <a:xfrm>
            <a:off x="1079753" y="5567171"/>
            <a:ext cx="3903728" cy="302515"/>
          </a:xfrm>
          <a:prstGeom prst="rect">
            <a:avLst/>
          </a:prstGeom>
          <a:solidFill>
            <a:srgbClr val="DBEAFE"/>
          </a:solidFill>
          <a:ln>
            <a:solidFill>
              <a:srgbClr val="334155"/>
            </a:solidFill>
          </a:ln>
        </p:spPr>
        <p:txBody>
          <a:bodyPr lIns="45719" rIns="45719"/>
          <a:lstStyle/>
          <a:p>
            <a:pPr/>
          </a:p>
        </p:txBody>
      </p:sp>
      <p:sp>
        <p:nvSpPr>
          <p:cNvPr id="1134" name="Text 18"/>
          <p:cNvSpPr txBox="1"/>
          <p:nvPr/>
        </p:nvSpPr>
        <p:spPr>
          <a:xfrm>
            <a:off x="1125474" y="5654928"/>
            <a:ext cx="3812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1E3A8A"/>
                </a:solidFill>
                <a:latin typeface="Menlo Regular"/>
                <a:ea typeface="Menlo Regular"/>
                <a:cs typeface="Menlo Regular"/>
                <a:sym typeface="Menlo Regular"/>
              </a:defRPr>
            </a:lvl1pPr>
          </a:lstStyle>
          <a:p>
            <a:pPr/>
            <a:r>
              <a:t>partidos = partidos + 1</a:t>
            </a:r>
          </a:p>
        </p:txBody>
      </p:sp>
      <p:sp>
        <p:nvSpPr>
          <p:cNvPr id="1135" name="Shape 19"/>
          <p:cNvSpPr/>
          <p:nvPr/>
        </p:nvSpPr>
        <p:spPr>
          <a:xfrm>
            <a:off x="777239" y="5869685"/>
            <a:ext cx="4206242" cy="302515"/>
          </a:xfrm>
          <a:prstGeom prst="rect">
            <a:avLst/>
          </a:prstGeom>
          <a:solidFill>
            <a:srgbClr val="EDE9FE"/>
          </a:solidFill>
          <a:ln>
            <a:solidFill>
              <a:srgbClr val="334155"/>
            </a:solidFill>
          </a:ln>
        </p:spPr>
        <p:txBody>
          <a:bodyPr lIns="45719" rIns="45719"/>
          <a:lstStyle/>
          <a:p>
            <a:pPr/>
          </a:p>
        </p:txBody>
      </p:sp>
      <p:sp>
        <p:nvSpPr>
          <p:cNvPr id="1136" name="Text 20"/>
          <p:cNvSpPr txBox="1"/>
          <p:nvPr/>
        </p:nvSpPr>
        <p:spPr>
          <a:xfrm>
            <a:off x="822960" y="5957442"/>
            <a:ext cx="4114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solidFill>
                  <a:srgbClr val="4C1D95"/>
                </a:solidFill>
                <a:latin typeface="Menlo Regular"/>
                <a:ea typeface="Menlo Regular"/>
                <a:cs typeface="Menlo Regular"/>
                <a:sym typeface="Menlo Regular"/>
              </a:defRPr>
            </a:lvl1pPr>
          </a:lstStyle>
          <a:p>
            <a:pPr/>
            <a:r>
              <a:t>return total / partidos</a:t>
            </a:r>
          </a:p>
        </p:txBody>
      </p:sp>
      <p:sp>
        <p:nvSpPr>
          <p:cNvPr id="1137" name="Shape 21"/>
          <p:cNvSpPr/>
          <p:nvPr/>
        </p:nvSpPr>
        <p:spPr>
          <a:xfrm>
            <a:off x="5440679" y="1325880"/>
            <a:ext cx="6199633" cy="5029201"/>
          </a:xfrm>
          <a:prstGeom prst="roundRect">
            <a:avLst>
              <a:gd name="adj" fmla="val 1455"/>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138" name="Text 22"/>
          <p:cNvSpPr txBox="1"/>
          <p:nvPr/>
        </p:nvSpPr>
        <p:spPr>
          <a:xfrm>
            <a:off x="5641847" y="1476800"/>
            <a:ext cx="5797298"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chemeClr val="accent2"/>
                </a:solidFill>
              </a:defRPr>
            </a:lvl1pPr>
          </a:lstStyle>
          <a:p>
            <a:pPr/>
            <a:r>
              <a:t>Diagrama de flujo</a:t>
            </a:r>
          </a:p>
        </p:txBody>
      </p:sp>
      <p:sp>
        <p:nvSpPr>
          <p:cNvPr id="1139" name="Shape 23"/>
          <p:cNvSpPr/>
          <p:nvPr/>
        </p:nvSpPr>
        <p:spPr>
          <a:xfrm>
            <a:off x="7015905" y="1737360"/>
            <a:ext cx="3049182" cy="336043"/>
          </a:xfrm>
          <a:prstGeom prst="roundRect">
            <a:avLst>
              <a:gd name="adj" fmla="val 50000"/>
            </a:avLst>
          </a:prstGeom>
          <a:solidFill>
            <a:srgbClr val="1E293B"/>
          </a:solidFill>
          <a:ln w="15875">
            <a:solidFill>
              <a:srgbClr val="1E293B"/>
            </a:solidFill>
          </a:ln>
        </p:spPr>
        <p:txBody>
          <a:bodyPr lIns="45719" rIns="45719"/>
          <a:lstStyle/>
          <a:p>
            <a:pPr/>
          </a:p>
        </p:txBody>
      </p:sp>
      <p:sp>
        <p:nvSpPr>
          <p:cNvPr id="1140" name="Text 24"/>
          <p:cNvSpPr txBox="1"/>
          <p:nvPr/>
        </p:nvSpPr>
        <p:spPr>
          <a:xfrm>
            <a:off x="7015905" y="1841880"/>
            <a:ext cx="30491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FFFFF"/>
                </a:solidFill>
                <a:latin typeface="Menlo Regular"/>
                <a:ea typeface="Menlo Regular"/>
                <a:cs typeface="Menlo Regular"/>
                <a:sym typeface="Menlo Regular"/>
              </a:defRPr>
            </a:lvl1pPr>
          </a:lstStyle>
          <a:p>
            <a:pPr/>
            <a:r>
              <a:t>calcular_promedio_goles(lista_goles)</a:t>
            </a:r>
          </a:p>
        </p:txBody>
      </p:sp>
      <p:sp>
        <p:nvSpPr>
          <p:cNvPr id="1141" name="Shape 25"/>
          <p:cNvSpPr/>
          <p:nvPr/>
        </p:nvSpPr>
        <p:spPr>
          <a:xfrm>
            <a:off x="8540495" y="2073401"/>
            <a:ext cx="1" cy="208026"/>
          </a:xfrm>
          <a:prstGeom prst="line">
            <a:avLst/>
          </a:prstGeom>
          <a:ln w="15875">
            <a:solidFill>
              <a:srgbClr val="64748B"/>
            </a:solidFill>
            <a:tailEnd type="triangle"/>
          </a:ln>
        </p:spPr>
        <p:txBody>
          <a:bodyPr lIns="45719" rIns="45719"/>
          <a:lstStyle/>
          <a:p>
            <a:pPr/>
          </a:p>
        </p:txBody>
      </p:sp>
      <p:sp>
        <p:nvSpPr>
          <p:cNvPr id="1142" name="Shape 26"/>
          <p:cNvSpPr/>
          <p:nvPr/>
        </p:nvSpPr>
        <p:spPr>
          <a:xfrm>
            <a:off x="8049335" y="2281427"/>
            <a:ext cx="982324" cy="320042"/>
          </a:xfrm>
          <a:prstGeom prst="rect">
            <a:avLst/>
          </a:prstGeom>
          <a:solidFill>
            <a:srgbClr val="DBEAFE"/>
          </a:solidFill>
          <a:ln w="15875">
            <a:solidFill>
              <a:schemeClr val="accent1"/>
            </a:solidFill>
          </a:ln>
        </p:spPr>
        <p:txBody>
          <a:bodyPr lIns="45719" rIns="45719"/>
          <a:lstStyle/>
          <a:p>
            <a:pPr/>
          </a:p>
        </p:txBody>
      </p:sp>
      <p:sp>
        <p:nvSpPr>
          <p:cNvPr id="1143" name="Text 27"/>
          <p:cNvSpPr txBox="1"/>
          <p:nvPr/>
        </p:nvSpPr>
        <p:spPr>
          <a:xfrm>
            <a:off x="8049335" y="2377948"/>
            <a:ext cx="98232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1E3A8A"/>
                </a:solidFill>
                <a:latin typeface="Menlo Regular"/>
                <a:ea typeface="Menlo Regular"/>
                <a:cs typeface="Menlo Regular"/>
                <a:sym typeface="Menlo Regular"/>
              </a:defRPr>
            </a:lvl1pPr>
          </a:lstStyle>
          <a:p>
            <a:pPr/>
            <a:r>
              <a:t>total = 0</a:t>
            </a:r>
          </a:p>
        </p:txBody>
      </p:sp>
      <p:sp>
        <p:nvSpPr>
          <p:cNvPr id="1144" name="Shape 28"/>
          <p:cNvSpPr/>
          <p:nvPr/>
        </p:nvSpPr>
        <p:spPr>
          <a:xfrm>
            <a:off x="8540495" y="2601467"/>
            <a:ext cx="1" cy="208026"/>
          </a:xfrm>
          <a:prstGeom prst="line">
            <a:avLst/>
          </a:prstGeom>
          <a:ln w="15875">
            <a:solidFill>
              <a:srgbClr val="64748B"/>
            </a:solidFill>
            <a:tailEnd type="triangle"/>
          </a:ln>
        </p:spPr>
        <p:txBody>
          <a:bodyPr lIns="45719" rIns="45719"/>
          <a:lstStyle/>
          <a:p>
            <a:pPr/>
          </a:p>
        </p:txBody>
      </p:sp>
      <p:sp>
        <p:nvSpPr>
          <p:cNvPr id="1145" name="Shape 29"/>
          <p:cNvSpPr/>
          <p:nvPr/>
        </p:nvSpPr>
        <p:spPr>
          <a:xfrm>
            <a:off x="7938954" y="2809494"/>
            <a:ext cx="1203085" cy="320041"/>
          </a:xfrm>
          <a:prstGeom prst="rect">
            <a:avLst/>
          </a:prstGeom>
          <a:solidFill>
            <a:srgbClr val="DBEAFE"/>
          </a:solidFill>
          <a:ln w="15875">
            <a:solidFill>
              <a:schemeClr val="accent1"/>
            </a:solidFill>
          </a:ln>
        </p:spPr>
        <p:txBody>
          <a:bodyPr lIns="45719" rIns="45719"/>
          <a:lstStyle/>
          <a:p>
            <a:pPr/>
          </a:p>
        </p:txBody>
      </p:sp>
      <p:sp>
        <p:nvSpPr>
          <p:cNvPr id="1146" name="Text 30"/>
          <p:cNvSpPr txBox="1"/>
          <p:nvPr/>
        </p:nvSpPr>
        <p:spPr>
          <a:xfrm>
            <a:off x="7938954" y="2906014"/>
            <a:ext cx="12030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1E3A8A"/>
                </a:solidFill>
                <a:latin typeface="Menlo Regular"/>
                <a:ea typeface="Menlo Regular"/>
                <a:cs typeface="Menlo Regular"/>
                <a:sym typeface="Menlo Regular"/>
              </a:defRPr>
            </a:lvl1pPr>
          </a:lstStyle>
          <a:p>
            <a:pPr/>
            <a:r>
              <a:t>partidos = 0</a:t>
            </a:r>
          </a:p>
        </p:txBody>
      </p:sp>
      <p:sp>
        <p:nvSpPr>
          <p:cNvPr id="1147" name="Shape 31"/>
          <p:cNvSpPr/>
          <p:nvPr/>
        </p:nvSpPr>
        <p:spPr>
          <a:xfrm>
            <a:off x="8540495" y="3129533"/>
            <a:ext cx="1" cy="208026"/>
          </a:xfrm>
          <a:prstGeom prst="line">
            <a:avLst/>
          </a:prstGeom>
          <a:ln w="15875">
            <a:solidFill>
              <a:srgbClr val="64748B"/>
            </a:solidFill>
            <a:tailEnd type="triangle"/>
          </a:ln>
        </p:spPr>
        <p:txBody>
          <a:bodyPr lIns="45719" rIns="45719"/>
          <a:lstStyle/>
          <a:p>
            <a:pPr/>
          </a:p>
        </p:txBody>
      </p:sp>
      <p:sp>
        <p:nvSpPr>
          <p:cNvPr id="1148" name="Shape 32"/>
          <p:cNvSpPr/>
          <p:nvPr/>
        </p:nvSpPr>
        <p:spPr>
          <a:xfrm>
            <a:off x="7377417" y="3337559"/>
            <a:ext cx="2326158" cy="4000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800"/>
                </a:moveTo>
                <a:lnTo>
                  <a:pt x="929" y="0"/>
                </a:lnTo>
                <a:lnTo>
                  <a:pt x="20671" y="0"/>
                </a:lnTo>
                <a:lnTo>
                  <a:pt x="21600" y="10800"/>
                </a:lnTo>
                <a:lnTo>
                  <a:pt x="20671" y="21600"/>
                </a:lnTo>
                <a:lnTo>
                  <a:pt x="929" y="21600"/>
                </a:lnTo>
                <a:close/>
              </a:path>
            </a:pathLst>
          </a:custGeom>
          <a:solidFill>
            <a:srgbClr val="DCFCE7"/>
          </a:solidFill>
          <a:ln w="15875">
            <a:solidFill>
              <a:schemeClr val="accent2"/>
            </a:solidFill>
          </a:ln>
        </p:spPr>
        <p:txBody>
          <a:bodyPr lIns="45719" rIns="45719"/>
          <a:lstStyle/>
          <a:p>
            <a:pPr/>
          </a:p>
        </p:txBody>
      </p:sp>
      <p:sp>
        <p:nvSpPr>
          <p:cNvPr id="1149" name="Text 33"/>
          <p:cNvSpPr txBox="1"/>
          <p:nvPr/>
        </p:nvSpPr>
        <p:spPr>
          <a:xfrm>
            <a:off x="7377417" y="3474084"/>
            <a:ext cx="2326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14532D"/>
                </a:solidFill>
                <a:latin typeface="Menlo Regular"/>
                <a:ea typeface="Menlo Regular"/>
                <a:cs typeface="Menlo Regular"/>
                <a:sym typeface="Menlo Regular"/>
              </a:defRPr>
            </a:lvl1pPr>
          </a:lstStyle>
          <a:p>
            <a:pPr/>
            <a:r>
              <a:t>for goles in lista_goles</a:t>
            </a:r>
          </a:p>
        </p:txBody>
      </p:sp>
      <p:sp>
        <p:nvSpPr>
          <p:cNvPr id="1150" name="Shape 34"/>
          <p:cNvSpPr/>
          <p:nvPr/>
        </p:nvSpPr>
        <p:spPr>
          <a:xfrm>
            <a:off x="8540495" y="3737609"/>
            <a:ext cx="1" cy="208026"/>
          </a:xfrm>
          <a:prstGeom prst="line">
            <a:avLst/>
          </a:prstGeom>
          <a:ln w="15875">
            <a:solidFill>
              <a:srgbClr val="64748B"/>
            </a:solidFill>
            <a:tailEnd type="triangle"/>
          </a:ln>
        </p:spPr>
        <p:txBody>
          <a:bodyPr lIns="45719" rIns="45719"/>
          <a:lstStyle/>
          <a:p>
            <a:pPr/>
          </a:p>
        </p:txBody>
      </p:sp>
      <p:sp>
        <p:nvSpPr>
          <p:cNvPr id="1151" name="Text 35"/>
          <p:cNvSpPr txBox="1"/>
          <p:nvPr/>
        </p:nvSpPr>
        <p:spPr>
          <a:xfrm>
            <a:off x="8588502" y="3778122"/>
            <a:ext cx="88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475569"/>
                </a:solidFill>
              </a:defRPr>
            </a:lvl1pPr>
          </a:lstStyle>
          <a:p>
            <a:pPr/>
            <a:r>
              <a:t>siguiente</a:t>
            </a:r>
          </a:p>
        </p:txBody>
      </p:sp>
      <p:sp>
        <p:nvSpPr>
          <p:cNvPr id="1152" name="Shape 36"/>
          <p:cNvSpPr/>
          <p:nvPr/>
        </p:nvSpPr>
        <p:spPr>
          <a:xfrm>
            <a:off x="7607813" y="3945635"/>
            <a:ext cx="1865367" cy="320041"/>
          </a:xfrm>
          <a:prstGeom prst="rect">
            <a:avLst/>
          </a:prstGeom>
          <a:solidFill>
            <a:srgbClr val="DBEAFE"/>
          </a:solidFill>
          <a:ln w="15875">
            <a:solidFill>
              <a:schemeClr val="accent1"/>
            </a:solidFill>
          </a:ln>
        </p:spPr>
        <p:txBody>
          <a:bodyPr lIns="45719" rIns="45719"/>
          <a:lstStyle/>
          <a:p>
            <a:pPr/>
          </a:p>
        </p:txBody>
      </p:sp>
      <p:sp>
        <p:nvSpPr>
          <p:cNvPr id="1153" name="Text 37"/>
          <p:cNvSpPr txBox="1"/>
          <p:nvPr/>
        </p:nvSpPr>
        <p:spPr>
          <a:xfrm>
            <a:off x="7607813" y="4042155"/>
            <a:ext cx="186536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1E3A8A"/>
                </a:solidFill>
                <a:latin typeface="Menlo Regular"/>
                <a:ea typeface="Menlo Regular"/>
                <a:cs typeface="Menlo Regular"/>
                <a:sym typeface="Menlo Regular"/>
              </a:defRPr>
            </a:lvl1pPr>
          </a:lstStyle>
          <a:p>
            <a:pPr/>
            <a:r>
              <a:t>total = total + goles</a:t>
            </a:r>
          </a:p>
        </p:txBody>
      </p:sp>
      <p:sp>
        <p:nvSpPr>
          <p:cNvPr id="1154" name="Shape 38"/>
          <p:cNvSpPr/>
          <p:nvPr/>
        </p:nvSpPr>
        <p:spPr>
          <a:xfrm>
            <a:off x="8540495" y="4265676"/>
            <a:ext cx="1" cy="208026"/>
          </a:xfrm>
          <a:prstGeom prst="line">
            <a:avLst/>
          </a:prstGeom>
          <a:ln w="15875">
            <a:solidFill>
              <a:srgbClr val="64748B"/>
            </a:solidFill>
            <a:tailEnd type="triangle"/>
          </a:ln>
        </p:spPr>
        <p:txBody>
          <a:bodyPr lIns="45719" rIns="45719"/>
          <a:lstStyle/>
          <a:p>
            <a:pPr/>
          </a:p>
        </p:txBody>
      </p:sp>
      <p:sp>
        <p:nvSpPr>
          <p:cNvPr id="1155" name="Shape 39"/>
          <p:cNvSpPr/>
          <p:nvPr/>
        </p:nvSpPr>
        <p:spPr>
          <a:xfrm>
            <a:off x="7534226" y="4473702"/>
            <a:ext cx="2012541" cy="320041"/>
          </a:xfrm>
          <a:prstGeom prst="rect">
            <a:avLst/>
          </a:prstGeom>
          <a:solidFill>
            <a:srgbClr val="DBEAFE"/>
          </a:solidFill>
          <a:ln w="15875">
            <a:solidFill>
              <a:schemeClr val="accent1"/>
            </a:solidFill>
          </a:ln>
        </p:spPr>
        <p:txBody>
          <a:bodyPr lIns="45719" rIns="45719"/>
          <a:lstStyle/>
          <a:p>
            <a:pPr/>
          </a:p>
        </p:txBody>
      </p:sp>
      <p:sp>
        <p:nvSpPr>
          <p:cNvPr id="1156" name="Text 40"/>
          <p:cNvSpPr txBox="1"/>
          <p:nvPr/>
        </p:nvSpPr>
        <p:spPr>
          <a:xfrm>
            <a:off x="7534226" y="4570222"/>
            <a:ext cx="20125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1E3A8A"/>
                </a:solidFill>
                <a:latin typeface="Menlo Regular"/>
                <a:ea typeface="Menlo Regular"/>
                <a:cs typeface="Menlo Regular"/>
                <a:sym typeface="Menlo Regular"/>
              </a:defRPr>
            </a:lvl1pPr>
          </a:lstStyle>
          <a:p>
            <a:pPr/>
            <a:r>
              <a:t>partidos = partidos + 1</a:t>
            </a:r>
          </a:p>
        </p:txBody>
      </p:sp>
      <p:sp>
        <p:nvSpPr>
          <p:cNvPr id="1157" name="Shape 41"/>
          <p:cNvSpPr/>
          <p:nvPr/>
        </p:nvSpPr>
        <p:spPr>
          <a:xfrm>
            <a:off x="8540495" y="4793741"/>
            <a:ext cx="1" cy="160021"/>
          </a:xfrm>
          <a:prstGeom prst="line">
            <a:avLst/>
          </a:prstGeom>
          <a:ln w="15875">
            <a:solidFill>
              <a:srgbClr val="64748B"/>
            </a:solidFill>
          </a:ln>
        </p:spPr>
        <p:txBody>
          <a:bodyPr lIns="45719" rIns="45719"/>
          <a:lstStyle/>
          <a:p>
            <a:pPr/>
          </a:p>
        </p:txBody>
      </p:sp>
      <p:sp>
        <p:nvSpPr>
          <p:cNvPr id="1158" name="Shape 42"/>
          <p:cNvSpPr/>
          <p:nvPr/>
        </p:nvSpPr>
        <p:spPr>
          <a:xfrm flipH="1">
            <a:off x="7137386" y="4953761"/>
            <a:ext cx="1403110" cy="1"/>
          </a:xfrm>
          <a:prstGeom prst="line">
            <a:avLst/>
          </a:prstGeom>
          <a:ln w="15875">
            <a:solidFill>
              <a:srgbClr val="64748B"/>
            </a:solidFill>
          </a:ln>
        </p:spPr>
        <p:txBody>
          <a:bodyPr lIns="45719" rIns="45719"/>
          <a:lstStyle/>
          <a:p>
            <a:pPr/>
          </a:p>
        </p:txBody>
      </p:sp>
      <p:sp>
        <p:nvSpPr>
          <p:cNvPr id="1159" name="Shape 43"/>
          <p:cNvSpPr/>
          <p:nvPr/>
        </p:nvSpPr>
        <p:spPr>
          <a:xfrm flipV="1">
            <a:off x="7137386" y="3537584"/>
            <a:ext cx="1" cy="1416178"/>
          </a:xfrm>
          <a:prstGeom prst="line">
            <a:avLst/>
          </a:prstGeom>
          <a:ln w="15875">
            <a:solidFill>
              <a:srgbClr val="64748B"/>
            </a:solidFill>
          </a:ln>
        </p:spPr>
        <p:txBody>
          <a:bodyPr lIns="45719" rIns="45719"/>
          <a:lstStyle/>
          <a:p>
            <a:pPr/>
          </a:p>
        </p:txBody>
      </p:sp>
      <p:sp>
        <p:nvSpPr>
          <p:cNvPr id="1160" name="Shape 44"/>
          <p:cNvSpPr/>
          <p:nvPr/>
        </p:nvSpPr>
        <p:spPr>
          <a:xfrm>
            <a:off x="7137386" y="3537584"/>
            <a:ext cx="240031" cy="1"/>
          </a:xfrm>
          <a:prstGeom prst="line">
            <a:avLst/>
          </a:prstGeom>
          <a:ln w="15875">
            <a:solidFill>
              <a:srgbClr val="64748B"/>
            </a:solidFill>
            <a:tailEnd type="triangle"/>
          </a:ln>
        </p:spPr>
        <p:txBody>
          <a:bodyPr lIns="45719" rIns="45719"/>
          <a:lstStyle/>
          <a:p>
            <a:pPr/>
          </a:p>
        </p:txBody>
      </p:sp>
      <p:sp>
        <p:nvSpPr>
          <p:cNvPr id="1161" name="Shape 45"/>
          <p:cNvSpPr/>
          <p:nvPr/>
        </p:nvSpPr>
        <p:spPr>
          <a:xfrm>
            <a:off x="9703575" y="3537584"/>
            <a:ext cx="240031" cy="1"/>
          </a:xfrm>
          <a:prstGeom prst="line">
            <a:avLst/>
          </a:prstGeom>
          <a:ln w="15875">
            <a:solidFill>
              <a:srgbClr val="64748B"/>
            </a:solidFill>
          </a:ln>
        </p:spPr>
        <p:txBody>
          <a:bodyPr lIns="45719" rIns="45719"/>
          <a:lstStyle/>
          <a:p>
            <a:pPr/>
          </a:p>
        </p:txBody>
      </p:sp>
      <p:sp>
        <p:nvSpPr>
          <p:cNvPr id="1162" name="Text 46"/>
          <p:cNvSpPr txBox="1"/>
          <p:nvPr/>
        </p:nvSpPr>
        <p:spPr>
          <a:xfrm>
            <a:off x="9743579" y="3370071"/>
            <a:ext cx="88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solidFill>
                  <a:srgbClr val="475569"/>
                </a:solidFill>
              </a:defRPr>
            </a:lvl1pPr>
          </a:lstStyle>
          <a:p>
            <a:pPr/>
            <a:r>
              <a:t>terminó</a:t>
            </a:r>
          </a:p>
        </p:txBody>
      </p:sp>
      <p:sp>
        <p:nvSpPr>
          <p:cNvPr id="1163" name="Shape 47"/>
          <p:cNvSpPr/>
          <p:nvPr/>
        </p:nvSpPr>
        <p:spPr>
          <a:xfrm>
            <a:off x="9943604" y="3537584"/>
            <a:ext cx="1" cy="1608202"/>
          </a:xfrm>
          <a:prstGeom prst="line">
            <a:avLst/>
          </a:prstGeom>
          <a:ln w="15875">
            <a:solidFill>
              <a:srgbClr val="64748B"/>
            </a:solidFill>
          </a:ln>
        </p:spPr>
        <p:txBody>
          <a:bodyPr lIns="45719" rIns="45719"/>
          <a:lstStyle/>
          <a:p>
            <a:pPr/>
          </a:p>
        </p:txBody>
      </p:sp>
      <p:sp>
        <p:nvSpPr>
          <p:cNvPr id="1164" name="Shape 48"/>
          <p:cNvSpPr/>
          <p:nvPr/>
        </p:nvSpPr>
        <p:spPr>
          <a:xfrm flipH="1">
            <a:off x="8540495" y="5145785"/>
            <a:ext cx="1403110" cy="1"/>
          </a:xfrm>
          <a:prstGeom prst="line">
            <a:avLst/>
          </a:prstGeom>
          <a:ln w="15875">
            <a:solidFill>
              <a:srgbClr val="64748B"/>
            </a:solidFill>
            <a:tailEnd type="triangle"/>
          </a:ln>
        </p:spPr>
        <p:txBody>
          <a:bodyPr lIns="45719" rIns="45719"/>
          <a:lstStyle/>
          <a:p>
            <a:pPr/>
          </a:p>
        </p:txBody>
      </p:sp>
      <p:sp>
        <p:nvSpPr>
          <p:cNvPr id="1165" name="Shape 49"/>
          <p:cNvSpPr/>
          <p:nvPr/>
        </p:nvSpPr>
        <p:spPr>
          <a:xfrm>
            <a:off x="8540495" y="5145786"/>
            <a:ext cx="1" cy="208026"/>
          </a:xfrm>
          <a:prstGeom prst="line">
            <a:avLst/>
          </a:prstGeom>
          <a:ln w="15875">
            <a:solidFill>
              <a:srgbClr val="64748B"/>
            </a:solidFill>
            <a:tailEnd type="triangle"/>
          </a:ln>
        </p:spPr>
        <p:txBody>
          <a:bodyPr lIns="45719" rIns="45719"/>
          <a:lstStyle/>
          <a:p>
            <a:pPr/>
          </a:p>
        </p:txBody>
      </p:sp>
      <p:sp>
        <p:nvSpPr>
          <p:cNvPr id="1166" name="Shape 50"/>
          <p:cNvSpPr/>
          <p:nvPr/>
        </p:nvSpPr>
        <p:spPr>
          <a:xfrm>
            <a:off x="7394208" y="5353811"/>
            <a:ext cx="2292576" cy="3200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754" y="0"/>
                </a:lnTo>
                <a:lnTo>
                  <a:pt x="21600" y="0"/>
                </a:lnTo>
                <a:lnTo>
                  <a:pt x="20846" y="21600"/>
                </a:lnTo>
                <a:close/>
              </a:path>
            </a:pathLst>
          </a:custGeom>
          <a:solidFill>
            <a:srgbClr val="EDE9FE"/>
          </a:solidFill>
          <a:ln w="15875">
            <a:solidFill>
              <a:schemeClr val="accent3"/>
            </a:solidFill>
          </a:ln>
        </p:spPr>
        <p:txBody>
          <a:bodyPr lIns="45719" rIns="45719"/>
          <a:lstStyle/>
          <a:p>
            <a:pPr/>
          </a:p>
        </p:txBody>
      </p:sp>
      <p:sp>
        <p:nvSpPr>
          <p:cNvPr id="1167" name="Text 51"/>
          <p:cNvSpPr txBox="1"/>
          <p:nvPr/>
        </p:nvSpPr>
        <p:spPr>
          <a:xfrm>
            <a:off x="7394208" y="5450332"/>
            <a:ext cx="22925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4C1D95"/>
                </a:solidFill>
                <a:latin typeface="Menlo Regular"/>
                <a:ea typeface="Menlo Regular"/>
                <a:cs typeface="Menlo Regular"/>
                <a:sym typeface="Menlo Regular"/>
              </a:defRPr>
            </a:lvl1pPr>
          </a:lstStyle>
          <a:p>
            <a:pPr/>
            <a:r>
              <a:t>return total / partidos</a:t>
            </a:r>
          </a:p>
        </p:txBody>
      </p:sp>
      <p:sp>
        <p:nvSpPr>
          <p:cNvPr id="1168" name="Shape 52"/>
          <p:cNvSpPr/>
          <p:nvPr/>
        </p:nvSpPr>
        <p:spPr>
          <a:xfrm>
            <a:off x="8540495" y="5673852"/>
            <a:ext cx="1" cy="208026"/>
          </a:xfrm>
          <a:prstGeom prst="line">
            <a:avLst/>
          </a:prstGeom>
          <a:ln w="15875">
            <a:solidFill>
              <a:srgbClr val="64748B"/>
            </a:solidFill>
            <a:tailEnd type="triangle"/>
          </a:ln>
        </p:spPr>
        <p:txBody>
          <a:bodyPr lIns="45719" rIns="45719"/>
          <a:lstStyle/>
          <a:p>
            <a:pPr/>
          </a:p>
        </p:txBody>
      </p:sp>
      <p:sp>
        <p:nvSpPr>
          <p:cNvPr id="1169" name="Shape 53"/>
          <p:cNvSpPr/>
          <p:nvPr/>
        </p:nvSpPr>
        <p:spPr>
          <a:xfrm>
            <a:off x="8230090" y="5881878"/>
            <a:ext cx="620812" cy="336043"/>
          </a:xfrm>
          <a:prstGeom prst="roundRect">
            <a:avLst>
              <a:gd name="adj" fmla="val 50000"/>
            </a:avLst>
          </a:prstGeom>
          <a:solidFill>
            <a:srgbClr val="1E293B"/>
          </a:solidFill>
          <a:ln w="15875">
            <a:solidFill>
              <a:srgbClr val="1E293B"/>
            </a:solidFill>
          </a:ln>
        </p:spPr>
        <p:txBody>
          <a:bodyPr lIns="45719" rIns="45719"/>
          <a:lstStyle/>
          <a:p>
            <a:pPr/>
          </a:p>
        </p:txBody>
      </p:sp>
      <p:sp>
        <p:nvSpPr>
          <p:cNvPr id="1170" name="Text 54"/>
          <p:cNvSpPr txBox="1"/>
          <p:nvPr/>
        </p:nvSpPr>
        <p:spPr>
          <a:xfrm>
            <a:off x="8230090" y="5986399"/>
            <a:ext cx="62081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FFFFFF"/>
                </a:solidFill>
                <a:latin typeface="Menlo Regular"/>
                <a:ea typeface="Menlo Regular"/>
                <a:cs typeface="Menlo Regular"/>
                <a:sym typeface="Menlo Regular"/>
              </a:defRPr>
            </a:lvl1pPr>
          </a:lstStyle>
          <a:p>
            <a:pPr/>
            <a:r>
              <a:t>Fin</a:t>
            </a:r>
          </a:p>
        </p:txBody>
      </p:sp>
      <p:sp>
        <p:nvSpPr>
          <p:cNvPr id="1171"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5" name="Text 0"/>
          <p:cNvSpPr txBox="1"/>
          <p:nvPr>
            <p:ph type="title"/>
          </p:nvPr>
        </p:nvSpPr>
        <p:spPr>
          <a:prstGeom prst="rect">
            <a:avLst/>
          </a:prstGeom>
        </p:spPr>
        <p:txBody>
          <a:bodyPr lIns="0" tIns="0" rIns="0" bIns="0" anchor="ctr"/>
          <a:lstStyle/>
          <a:p>
            <a:pPr/>
            <a:r>
              <a:t>Tabla de equivalencias</a:t>
            </a:r>
          </a:p>
        </p:txBody>
      </p:sp>
      <p:sp>
        <p:nvSpPr>
          <p:cNvPr id="1176" name="Text 0"/>
          <p:cNvSpPr txBox="1"/>
          <p:nvPr>
            <p:ph type="body" sz="quarter" idx="1"/>
          </p:nvPr>
        </p:nvSpPr>
        <p:spPr>
          <a:prstGeom prst="rect">
            <a:avLst/>
          </a:prstGeom>
        </p:spPr>
        <p:txBody>
          <a:bodyPr lIns="0" tIns="0" rIns="0" bIns="0" anchor="ctr"/>
          <a:lstStyle/>
          <a:p>
            <a:pPr/>
            <a:r>
              <a:t>Python, diagrama de flujo y Nassi-Shneiderman, renglón por renglón.</a:t>
            </a:r>
          </a:p>
        </p:txBody>
      </p:sp>
      <p:graphicFrame>
        <p:nvGraphicFramePr>
          <p:cNvPr id="1177" name="Table 0"/>
          <p:cNvGraphicFramePr/>
          <p:nvPr/>
        </p:nvGraphicFramePr>
        <p:xfrm>
          <a:off x="594359" y="1417319"/>
          <a:ext cx="10927082" cy="380390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926080"/>
                <a:gridCol w="4000500"/>
                <a:gridCol w="4000500"/>
              </a:tblGrid>
              <a:tr h="475487">
                <a:tc>
                  <a:txBody>
                    <a:bodyPr/>
                    <a:lstStyle/>
                    <a:p>
                      <a:pPr algn="l">
                        <a:defRPr sz="1800">
                          <a:solidFill>
                            <a:srgbClr val="000000"/>
                          </a:solidFill>
                        </a:defRPr>
                      </a:pPr>
                      <a:r>
                        <a:rPr b="1" sz="1300">
                          <a:solidFill>
                            <a:srgbClr val="FFFFFF"/>
                          </a:solidFill>
                        </a:rPr>
                        <a:t>Python</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122238"/>
                    </a:solidFill>
                  </a:tcPr>
                </a:tc>
                <a:tc>
                  <a:txBody>
                    <a:bodyPr/>
                    <a:lstStyle/>
                    <a:p>
                      <a:pPr algn="l">
                        <a:defRPr sz="1800">
                          <a:solidFill>
                            <a:srgbClr val="000000"/>
                          </a:solidFill>
                        </a:defRPr>
                      </a:pPr>
                      <a:r>
                        <a:rPr b="1" sz="1300">
                          <a:solidFill>
                            <a:srgbClr val="FFFFFF"/>
                          </a:solidFill>
                        </a:rPr>
                        <a:t>Diagrama de flujo</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122238"/>
                    </a:solidFill>
                  </a:tcPr>
                </a:tc>
                <a:tc>
                  <a:txBody>
                    <a:bodyPr/>
                    <a:lstStyle/>
                    <a:p>
                      <a:pPr algn="l">
                        <a:defRPr sz="1800">
                          <a:solidFill>
                            <a:srgbClr val="000000"/>
                          </a:solidFill>
                        </a:defRPr>
                      </a:pPr>
                      <a:r>
                        <a:rPr b="1" sz="1300">
                          <a:solidFill>
                            <a:srgbClr val="FFFFFF"/>
                          </a:solidFill>
                        </a:rPr>
                        <a:t>Nassi-Shneiderman</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122238"/>
                    </a:solidFill>
                  </a:tcPr>
                </a:tc>
              </a:tr>
              <a:tr h="475487">
                <a:tc>
                  <a:txBody>
                    <a:bodyPr/>
                    <a:lstStyle/>
                    <a:p>
                      <a:pPr algn="l">
                        <a:defRPr sz="1800">
                          <a:solidFill>
                            <a:srgbClr val="000000"/>
                          </a:solidFill>
                        </a:defRPr>
                      </a:pPr>
                      <a:r>
                        <a:rPr b="1" sz="1300">
                          <a:solidFill>
                            <a:schemeClr val="accent1"/>
                          </a:solidFill>
                          <a:latin typeface="Menlo Regular"/>
                          <a:ea typeface="Menlo Regular"/>
                          <a:cs typeface="Menlo Regular"/>
                          <a:sym typeface="Menlo Regular"/>
                        </a:rPr>
                        <a:t>total = 0</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400">
                          <a:solidFill>
                            <a:srgbClr val="334155"/>
                          </a:solidFill>
                        </a:rPr>
                        <a:t>Rectángulo</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400">
                          <a:solidFill>
                            <a:srgbClr val="334155"/>
                          </a:solidFill>
                        </a:rPr>
                        <a:t>Bloque rectangular</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r>
              <a:tr h="475487">
                <a:tc>
                  <a:txBody>
                    <a:bodyPr/>
                    <a:lstStyle/>
                    <a:p>
                      <a:pPr algn="l">
                        <a:defRPr sz="1800">
                          <a:solidFill>
                            <a:srgbClr val="000000"/>
                          </a:solidFill>
                        </a:defRPr>
                      </a:pPr>
                      <a:r>
                        <a:rPr b="1" sz="1300">
                          <a:solidFill>
                            <a:schemeClr val="accent1"/>
                          </a:solidFill>
                          <a:latin typeface="Menlo Regular"/>
                          <a:ea typeface="Menlo Regular"/>
                          <a:cs typeface="Menlo Regular"/>
                          <a:sym typeface="Menlo Regular"/>
                        </a:rPr>
                        <a:t>return total</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400">
                          <a:solidFill>
                            <a:srgbClr val="334155"/>
                          </a:solidFill>
                        </a:rPr>
                        <a:t>Paralelogramo y luego Fin</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400">
                          <a:solidFill>
                            <a:srgbClr val="334155"/>
                          </a:solidFill>
                        </a:rPr>
                        <a:t>Bloque; la función termina ahí</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r>
              <a:tr h="475487">
                <a:tc>
                  <a:txBody>
                    <a:bodyPr/>
                    <a:lstStyle/>
                    <a:p>
                      <a:pPr algn="l">
                        <a:defRPr sz="1800">
                          <a:solidFill>
                            <a:srgbClr val="000000"/>
                          </a:solidFill>
                        </a:defRPr>
                      </a:pPr>
                      <a:r>
                        <a:rPr b="1" sz="1300">
                          <a:solidFill>
                            <a:schemeClr val="accent1"/>
                          </a:solidFill>
                          <a:latin typeface="Menlo Regular"/>
                          <a:ea typeface="Menlo Regular"/>
                          <a:cs typeface="Menlo Regular"/>
                          <a:sym typeface="Menlo Regular"/>
                        </a:rPr>
                        <a:t>if sin else</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400">
                          <a:solidFill>
                            <a:srgbClr val="334155"/>
                          </a:solidFill>
                        </a:rPr>
                        <a:t>Rombo; la rama No rodea el bloque</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400">
                          <a:solidFill>
                            <a:srgbClr val="334155"/>
                          </a:solidFill>
                        </a:rPr>
                        <a:t>Triángulo; columna No vacía</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r>
              <a:tr h="475487">
                <a:tc>
                  <a:txBody>
                    <a:bodyPr/>
                    <a:lstStyle/>
                    <a:p>
                      <a:pPr algn="l">
                        <a:defRPr sz="1800">
                          <a:solidFill>
                            <a:srgbClr val="000000"/>
                          </a:solidFill>
                        </a:defRPr>
                      </a:pPr>
                      <a:r>
                        <a:rPr b="1" sz="1300">
                          <a:solidFill>
                            <a:schemeClr val="accent1"/>
                          </a:solidFill>
                          <a:latin typeface="Menlo Regular"/>
                          <a:ea typeface="Menlo Regular"/>
                          <a:cs typeface="Menlo Regular"/>
                          <a:sym typeface="Menlo Regular"/>
                        </a:rPr>
                        <a:t>if / else</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400">
                          <a:solidFill>
                            <a:srgbClr val="334155"/>
                          </a:solidFill>
                        </a:rPr>
                        <a:t>Rombo con dos caminos que se juntan</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400">
                          <a:solidFill>
                            <a:srgbClr val="334155"/>
                          </a:solidFill>
                        </a:rPr>
                        <a:t>Triángulo con dos columnas</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r>
              <a:tr h="475487">
                <a:tc>
                  <a:txBody>
                    <a:bodyPr/>
                    <a:lstStyle/>
                    <a:p>
                      <a:pPr algn="l">
                        <a:defRPr sz="1800">
                          <a:solidFill>
                            <a:srgbClr val="000000"/>
                          </a:solidFill>
                        </a:defRPr>
                      </a:pPr>
                      <a:r>
                        <a:rPr b="1" sz="1300">
                          <a:solidFill>
                            <a:schemeClr val="accent1"/>
                          </a:solidFill>
                          <a:latin typeface="Menlo Regular"/>
                          <a:ea typeface="Menlo Regular"/>
                          <a:cs typeface="Menlo Regular"/>
                          <a:sym typeface="Menlo Regular"/>
                        </a:rPr>
                        <a:t>if / elif / else</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400">
                          <a:solidFill>
                            <a:srgbClr val="334155"/>
                          </a:solidFill>
                        </a:rPr>
                        <a:t>Escalera de rombos</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400">
                          <a:solidFill>
                            <a:srgbClr val="334155"/>
                          </a:solidFill>
                        </a:rPr>
                        <a:t>Triángulos anidados en la columna No</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r>
              <a:tr h="475487">
                <a:tc>
                  <a:txBody>
                    <a:bodyPr/>
                    <a:lstStyle/>
                    <a:p>
                      <a:pPr algn="l">
                        <a:defRPr sz="1800">
                          <a:solidFill>
                            <a:srgbClr val="000000"/>
                          </a:solidFill>
                        </a:defRPr>
                      </a:pPr>
                      <a:r>
                        <a:rPr b="1" sz="1300">
                          <a:solidFill>
                            <a:schemeClr val="accent1"/>
                          </a:solidFill>
                          <a:latin typeface="Menlo Regular"/>
                          <a:ea typeface="Menlo Regular"/>
                          <a:cs typeface="Menlo Regular"/>
                          <a:sym typeface="Menlo Regular"/>
                        </a:rPr>
                        <a:t>for x in lista:</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400">
                          <a:solidFill>
                            <a:srgbClr val="334155"/>
                          </a:solidFill>
                        </a:rPr>
                        <a:t>Hexágono + flecha de regreso</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c>
                  <a:txBody>
                    <a:bodyPr/>
                    <a:lstStyle/>
                    <a:p>
                      <a:pPr algn="l">
                        <a:defRPr sz="1800">
                          <a:solidFill>
                            <a:srgbClr val="000000"/>
                          </a:solidFill>
                        </a:defRPr>
                      </a:pPr>
                      <a:r>
                        <a:rPr sz="1400">
                          <a:solidFill>
                            <a:srgbClr val="334155"/>
                          </a:solidFill>
                        </a:rPr>
                        <a:t>Bloque en forma de L</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1F5F9"/>
                    </a:solidFill>
                  </a:tcPr>
                </a:tc>
              </a:tr>
              <a:tr h="475487">
                <a:tc>
                  <a:txBody>
                    <a:bodyPr/>
                    <a:lstStyle/>
                    <a:p>
                      <a:pPr algn="l">
                        <a:defRPr sz="1800">
                          <a:solidFill>
                            <a:srgbClr val="000000"/>
                          </a:solidFill>
                        </a:defRPr>
                      </a:pPr>
                      <a:r>
                        <a:rPr b="1" sz="1300">
                          <a:solidFill>
                            <a:schemeClr val="accent1"/>
                          </a:solidFill>
                          <a:latin typeface="Menlo Regular"/>
                          <a:ea typeface="Menlo Regular"/>
                          <a:cs typeface="Menlo Regular"/>
                          <a:sym typeface="Menlo Regular"/>
                        </a:rPr>
                        <a:t>sangría (4 espacios)</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400">
                          <a:solidFill>
                            <a:srgbClr val="334155"/>
                          </a:solidFill>
                        </a:rPr>
                        <a:t>Las cajas entre el rombo y el punto donde se juntan sus ramas</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c>
                  <a:txBody>
                    <a:bodyPr/>
                    <a:lstStyle/>
                    <a:p>
                      <a:pPr algn="l">
                        <a:defRPr sz="1800">
                          <a:solidFill>
                            <a:srgbClr val="000000"/>
                          </a:solidFill>
                        </a:defRPr>
                      </a:pPr>
                      <a:r>
                        <a:rPr sz="1400">
                          <a:solidFill>
                            <a:srgbClr val="334155"/>
                          </a:solidFill>
                        </a:rPr>
                        <a:t>Lo que queda dentro de un bloque</a:t>
                      </a:r>
                    </a:p>
                  </a:txBody>
                  <a:tcPr marL="45720" marR="45720" marT="45720" marB="45720" anchor="ctr" anchorCtr="0" horzOverflow="overflow">
                    <a:lnL>
                      <a:solidFill>
                        <a:srgbClr val="E2E8F0"/>
                      </a:solidFill>
                    </a:lnL>
                    <a:lnR>
                      <a:solidFill>
                        <a:srgbClr val="E2E8F0"/>
                      </a:solidFill>
                    </a:lnR>
                    <a:lnT>
                      <a:solidFill>
                        <a:srgbClr val="E2E8F0"/>
                      </a:solidFill>
                    </a:lnT>
                    <a:lnB>
                      <a:solidFill>
                        <a:srgbClr val="E2E8F0"/>
                      </a:solidFill>
                    </a:lnB>
                    <a:solidFill>
                      <a:srgbClr val="FFFFFF"/>
                    </a:solidFill>
                  </a:tcPr>
                </a:tc>
              </a:tr>
            </a:tbl>
          </a:graphicData>
        </a:graphic>
      </p:graphicFrame>
      <p:sp>
        <p:nvSpPr>
          <p:cNvPr id="1178" name="Shape 2"/>
          <p:cNvSpPr/>
          <p:nvPr/>
        </p:nvSpPr>
        <p:spPr>
          <a:xfrm>
            <a:off x="594359" y="5440679"/>
            <a:ext cx="10927082" cy="731521"/>
          </a:xfrm>
          <a:prstGeom prst="roundRect">
            <a:avLst>
              <a:gd name="adj" fmla="val 10000"/>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179" name="Text 3"/>
          <p:cNvSpPr txBox="1"/>
          <p:nvPr/>
        </p:nvSpPr>
        <p:spPr>
          <a:xfrm>
            <a:off x="822959" y="5713161"/>
            <a:ext cx="1046988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chemeClr val="accent3"/>
                </a:solidFill>
              </a:defRPr>
            </a:lvl1pPr>
          </a:lstStyle>
          <a:p>
            <a:pPr/>
            <a:r>
              <a:t>La sangría de Python y el anidado de N-S son la misma idea: lo que está adentro, pertenece.</a:t>
            </a:r>
          </a:p>
        </p:txBody>
      </p:sp>
      <p:sp>
        <p:nvSpPr>
          <p:cNvPr id="1180"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4" name="Text 0"/>
          <p:cNvSpPr txBox="1"/>
          <p:nvPr>
            <p:ph type="title"/>
          </p:nvPr>
        </p:nvSpPr>
        <p:spPr>
          <a:prstGeom prst="rect">
            <a:avLst/>
          </a:prstGeom>
        </p:spPr>
        <p:txBody>
          <a:bodyPr lIns="0" tIns="0" rIns="0" bIns="0" anchor="ctr"/>
          <a:lstStyle/>
          <a:p>
            <a:pPr/>
            <a:r>
              <a:t>⚠️ Errores típicos al dibujar</a:t>
            </a:r>
          </a:p>
        </p:txBody>
      </p:sp>
      <p:sp>
        <p:nvSpPr>
          <p:cNvPr id="1185" name="Text 0"/>
          <p:cNvSpPr txBox="1"/>
          <p:nvPr>
            <p:ph type="body" sz="quarter" idx="1"/>
          </p:nvPr>
        </p:nvSpPr>
        <p:spPr>
          <a:prstGeom prst="rect">
            <a:avLst/>
          </a:prstGeom>
        </p:spPr>
        <p:txBody>
          <a:bodyPr lIns="0" tIns="0" rIns="0" bIns="0" anchor="ctr"/>
          <a:lstStyle/>
          <a:p>
            <a:pPr/>
            <a:r>
              <a:t>Los que más aparecen cuando se traduce entre código y diagrama.</a:t>
            </a:r>
          </a:p>
        </p:txBody>
      </p:sp>
      <p:sp>
        <p:nvSpPr>
          <p:cNvPr id="1186" name="Shape 2"/>
          <p:cNvSpPr/>
          <p:nvPr/>
        </p:nvSpPr>
        <p:spPr>
          <a:xfrm>
            <a:off x="594359" y="1417319"/>
            <a:ext cx="5394961" cy="1920241"/>
          </a:xfrm>
          <a:prstGeom prst="roundRect">
            <a:avLst>
              <a:gd name="adj" fmla="val 3810"/>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187" name="Text 3"/>
          <p:cNvSpPr txBox="1"/>
          <p:nvPr/>
        </p:nvSpPr>
        <p:spPr>
          <a:xfrm>
            <a:off x="795528" y="1615248"/>
            <a:ext cx="499262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6"/>
                </a:solidFill>
              </a:defRPr>
            </a:lvl1pPr>
          </a:lstStyle>
          <a:p>
            <a:pPr/>
            <a:r>
              <a:t>Rombo con una sola salida</a:t>
            </a:r>
          </a:p>
        </p:txBody>
      </p:sp>
      <p:sp>
        <p:nvSpPr>
          <p:cNvPr id="1188" name="Text 4"/>
          <p:cNvSpPr txBox="1"/>
          <p:nvPr/>
        </p:nvSpPr>
        <p:spPr>
          <a:xfrm>
            <a:off x="795528" y="1929383"/>
            <a:ext cx="4992624" cy="4857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700">
                <a:solidFill>
                  <a:srgbClr val="334155"/>
                </a:solidFill>
              </a:defRPr>
            </a:pPr>
            <a:r>
              <a:t>Toda decisión tiene </a:t>
            </a:r>
            <a:r>
              <a:rPr b="1"/>
              <a:t>Sí</a:t>
            </a:r>
            <a:r>
              <a:t> y </a:t>
            </a:r>
            <a:r>
              <a:rPr b="1"/>
              <a:t>No</a:t>
            </a:r>
            <a:r>
              <a:t>, aunque la rama No no haga nada. Si falta, no se sabe a dónde ir.</a:t>
            </a:r>
          </a:p>
        </p:txBody>
      </p:sp>
      <p:sp>
        <p:nvSpPr>
          <p:cNvPr id="1189" name="Shape 5"/>
          <p:cNvSpPr/>
          <p:nvPr/>
        </p:nvSpPr>
        <p:spPr>
          <a:xfrm>
            <a:off x="6126479" y="1417319"/>
            <a:ext cx="5394961" cy="1920241"/>
          </a:xfrm>
          <a:prstGeom prst="roundRect">
            <a:avLst>
              <a:gd name="adj" fmla="val 3810"/>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190" name="Text 6"/>
          <p:cNvSpPr txBox="1"/>
          <p:nvPr/>
        </p:nvSpPr>
        <p:spPr>
          <a:xfrm>
            <a:off x="6327647" y="1615248"/>
            <a:ext cx="499262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2"/>
                </a:solidFill>
              </a:defRPr>
            </a:lvl1pPr>
          </a:lstStyle>
          <a:p>
            <a:pPr/>
            <a:r>
              <a:t>Ciclo sin flecha de regreso</a:t>
            </a:r>
          </a:p>
        </p:txBody>
      </p:sp>
      <p:sp>
        <p:nvSpPr>
          <p:cNvPr id="1191" name="Text 7"/>
          <p:cNvSpPr txBox="1"/>
          <p:nvPr/>
        </p:nvSpPr>
        <p:spPr>
          <a:xfrm>
            <a:off x="6327647" y="1929383"/>
            <a:ext cx="4992625" cy="5140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700">
                <a:solidFill>
                  <a:srgbClr val="334155"/>
                </a:solidFill>
              </a:defRPr>
            </a:pPr>
            <a:r>
              <a:t>Sin la flecha que sube al hexágono, el </a:t>
            </a:r>
            <a:r>
              <a:rPr sz="1600">
                <a:latin typeface="Menlo Regular"/>
                <a:ea typeface="Menlo Regular"/>
                <a:cs typeface="Menlo Regular"/>
                <a:sym typeface="Menlo Regular"/>
              </a:rPr>
              <a:t>for</a:t>
            </a:r>
            <a:r>
              <a:t> se ejecutaría una sola vez.</a:t>
            </a:r>
          </a:p>
        </p:txBody>
      </p:sp>
      <p:sp>
        <p:nvSpPr>
          <p:cNvPr id="1192" name="Shape 8"/>
          <p:cNvSpPr/>
          <p:nvPr/>
        </p:nvSpPr>
        <p:spPr>
          <a:xfrm>
            <a:off x="594359" y="3749040"/>
            <a:ext cx="5394961" cy="1920241"/>
          </a:xfrm>
          <a:prstGeom prst="roundRect">
            <a:avLst>
              <a:gd name="adj" fmla="val 3810"/>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193" name="Text 9"/>
          <p:cNvSpPr txBox="1"/>
          <p:nvPr/>
        </p:nvSpPr>
        <p:spPr>
          <a:xfrm>
            <a:off x="795528" y="3943641"/>
            <a:ext cx="4992624" cy="1960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chemeClr val="accent3"/>
                </a:solidFill>
                <a:latin typeface="Menlo Regular"/>
                <a:ea typeface="Menlo Regular"/>
                <a:cs typeface="Menlo Regular"/>
                <a:sym typeface="Menlo Regular"/>
              </a:defRPr>
            </a:pPr>
            <a:r>
              <a:t>return</a:t>
            </a:r>
            <a:r>
              <a:rPr sz="1400">
                <a:latin typeface="+mn-lt"/>
                <a:ea typeface="+mn-ea"/>
                <a:cs typeface="+mn-cs"/>
                <a:sym typeface="Calibri"/>
              </a:rPr>
              <a:t> dentro del ciclo</a:t>
            </a:r>
          </a:p>
        </p:txBody>
      </p:sp>
      <p:sp>
        <p:nvSpPr>
          <p:cNvPr id="1194" name="Text 10"/>
          <p:cNvSpPr txBox="1"/>
          <p:nvPr/>
        </p:nvSpPr>
        <p:spPr>
          <a:xfrm>
            <a:off x="795528" y="4261103"/>
            <a:ext cx="4992624" cy="7807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700">
                <a:solidFill>
                  <a:srgbClr val="334155"/>
                </a:solidFill>
              </a:defRPr>
            </a:pPr>
            <a:r>
              <a:t>Si el </a:t>
            </a:r>
            <a:r>
              <a:rPr sz="1600">
                <a:latin typeface="Menlo Regular"/>
                <a:ea typeface="Menlo Regular"/>
                <a:cs typeface="Menlo Regular"/>
                <a:sym typeface="Menlo Regular"/>
              </a:rPr>
              <a:t>return</a:t>
            </a:r>
            <a:r>
              <a:t> queda dentro del ciclo (antes de la flecha de regreso, o dentro de la L), la función termina en la </a:t>
            </a:r>
            <a:r>
              <a:rPr b="1"/>
              <a:t>primera vuelta</a:t>
            </a:r>
            <a:r>
              <a:t>.</a:t>
            </a:r>
          </a:p>
        </p:txBody>
      </p:sp>
      <p:sp>
        <p:nvSpPr>
          <p:cNvPr id="1195" name="Shape 11"/>
          <p:cNvSpPr/>
          <p:nvPr/>
        </p:nvSpPr>
        <p:spPr>
          <a:xfrm>
            <a:off x="6126479" y="3749040"/>
            <a:ext cx="5394961" cy="1920241"/>
          </a:xfrm>
          <a:prstGeom prst="roundRect">
            <a:avLst>
              <a:gd name="adj" fmla="val 3810"/>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196" name="Text 12"/>
          <p:cNvSpPr txBox="1"/>
          <p:nvPr/>
        </p:nvSpPr>
        <p:spPr>
          <a:xfrm>
            <a:off x="6327647" y="3946968"/>
            <a:ext cx="499262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Nombre sin verbo</a:t>
            </a:r>
          </a:p>
        </p:txBody>
      </p:sp>
      <p:sp>
        <p:nvSpPr>
          <p:cNvPr id="1197" name="Text 13"/>
          <p:cNvSpPr txBox="1"/>
          <p:nvPr/>
        </p:nvSpPr>
        <p:spPr>
          <a:xfrm>
            <a:off x="6327647" y="4261103"/>
            <a:ext cx="4992625" cy="5140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700">
                <a:solidFill>
                  <a:srgbClr val="334155"/>
                </a:solidFill>
              </a:defRPr>
            </a:pPr>
            <a:r>
              <a:t>El óvalo de inicio y la barra de N-S también llevan verbo + complemento: </a:t>
            </a:r>
            <a:r>
              <a:rPr sz="1600">
                <a:latin typeface="Menlo Regular"/>
                <a:ea typeface="Menlo Regular"/>
                <a:cs typeface="Menlo Regular"/>
                <a:sym typeface="Menlo Regular"/>
              </a:rPr>
              <a:t>contar_victorias</a:t>
            </a:r>
            <a:r>
              <a:t>, no </a:t>
            </a:r>
            <a:r>
              <a:rPr sz="1600">
                <a:latin typeface="Menlo Regular"/>
                <a:ea typeface="Menlo Regular"/>
                <a:cs typeface="Menlo Regular"/>
                <a:sym typeface="Menlo Regular"/>
              </a:rPr>
              <a:t>victorias</a:t>
            </a:r>
            <a:r>
              <a:t>.</a:t>
            </a:r>
          </a:p>
        </p:txBody>
      </p:sp>
      <p:sp>
        <p:nvSpPr>
          <p:cNvPr id="1198"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2" name="Text 0"/>
          <p:cNvSpPr txBox="1"/>
          <p:nvPr>
            <p:ph type="title"/>
          </p:nvPr>
        </p:nvSpPr>
        <p:spPr>
          <a:prstGeom prst="rect">
            <a:avLst/>
          </a:prstGeom>
        </p:spPr>
        <p:txBody>
          <a:bodyPr lIns="0" tIns="0" rIns="0" bIns="0" anchor="ctr"/>
          <a:lstStyle/>
          <a:p>
            <a:pPr/>
            <a:r>
              <a:t>Práctica</a:t>
            </a:r>
          </a:p>
        </p:txBody>
      </p:sp>
      <p:sp>
        <p:nvSpPr>
          <p:cNvPr id="1203" name="Text 0"/>
          <p:cNvSpPr txBox="1"/>
          <p:nvPr>
            <p:ph type="body" sz="quarter" idx="1"/>
          </p:nvPr>
        </p:nvSpPr>
        <p:spPr>
          <a:prstGeom prst="rect">
            <a:avLst/>
          </a:prstGeom>
        </p:spPr>
        <p:txBody>
          <a:bodyPr lIns="0" tIns="0" rIns="0" bIns="0" anchor="ctr"/>
          <a:lstStyle/>
          <a:p>
            <a:pPr/>
            <a:r>
              <a:t>Para cada enunciado, en este orden:</a:t>
            </a:r>
          </a:p>
        </p:txBody>
      </p:sp>
      <p:grpSp>
        <p:nvGrpSpPr>
          <p:cNvPr id="1206" name="Text 2"/>
          <p:cNvGrpSpPr/>
          <p:nvPr/>
        </p:nvGrpSpPr>
        <p:grpSpPr>
          <a:xfrm>
            <a:off x="594359" y="1371600"/>
            <a:ext cx="2514601" cy="502920"/>
            <a:chOff x="0" y="0"/>
            <a:chExt cx="2514600" cy="502919"/>
          </a:xfrm>
        </p:grpSpPr>
        <p:sp>
          <p:nvSpPr>
            <p:cNvPr id="1204" name="Rounded Rectangle"/>
            <p:cNvSpPr/>
            <p:nvPr/>
          </p:nvSpPr>
          <p:spPr>
            <a:xfrm>
              <a:off x="0" y="0"/>
              <a:ext cx="2514600" cy="502920"/>
            </a:xfrm>
            <a:prstGeom prst="roundRect">
              <a:avLst>
                <a:gd name="adj" fmla="val 49091"/>
              </a:avLst>
            </a:prstGeom>
            <a:solidFill>
              <a:srgbClr val="DBEAFE"/>
            </a:solidFill>
            <a:ln w="9525" cap="flat">
              <a:solidFill>
                <a:schemeClr val="accent1"/>
              </a:solidFill>
              <a:prstDash val="solid"/>
              <a:round/>
            </a:ln>
            <a:effectLst/>
          </p:spPr>
          <p:txBody>
            <a:bodyPr wrap="square" lIns="45719" tIns="45719" rIns="45719" bIns="45719" numCol="1" anchor="ctr">
              <a:noAutofit/>
            </a:bodyPr>
            <a:lstStyle/>
            <a:p>
              <a:pPr algn="ctr">
                <a:defRPr sz="1500"/>
              </a:pPr>
            </a:p>
          </p:txBody>
        </p:sp>
        <p:sp>
          <p:nvSpPr>
            <p:cNvPr id="1205" name="1 · Nombre"/>
            <p:cNvSpPr txBox="1"/>
            <p:nvPr/>
          </p:nvSpPr>
          <p:spPr>
            <a:xfrm>
              <a:off x="122793" y="112461"/>
              <a:ext cx="2269014" cy="27799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500">
                  <a:solidFill>
                    <a:srgbClr val="1E3A8A"/>
                  </a:solidFill>
                </a:defRPr>
              </a:lvl1pPr>
            </a:lstStyle>
            <a:p>
              <a:pPr/>
              <a:r>
                <a:t>1 · Nombre</a:t>
              </a:r>
            </a:p>
          </p:txBody>
        </p:sp>
      </p:grpSp>
      <p:sp>
        <p:nvSpPr>
          <p:cNvPr id="1207" name="Text 3"/>
          <p:cNvSpPr txBox="1"/>
          <p:nvPr/>
        </p:nvSpPr>
        <p:spPr>
          <a:xfrm>
            <a:off x="3108960" y="1502235"/>
            <a:ext cx="274321"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475569"/>
                </a:solidFill>
              </a:defRPr>
            </a:lvl1pPr>
          </a:lstStyle>
          <a:p>
            <a:pPr/>
            <a:r>
              <a:t>→</a:t>
            </a:r>
          </a:p>
        </p:txBody>
      </p:sp>
      <p:grpSp>
        <p:nvGrpSpPr>
          <p:cNvPr id="1210" name="Text 4"/>
          <p:cNvGrpSpPr/>
          <p:nvPr/>
        </p:nvGrpSpPr>
        <p:grpSpPr>
          <a:xfrm>
            <a:off x="3383279" y="1371600"/>
            <a:ext cx="2514601" cy="502920"/>
            <a:chOff x="0" y="0"/>
            <a:chExt cx="2514600" cy="502919"/>
          </a:xfrm>
        </p:grpSpPr>
        <p:sp>
          <p:nvSpPr>
            <p:cNvPr id="1208" name="Rounded Rectangle"/>
            <p:cNvSpPr/>
            <p:nvPr/>
          </p:nvSpPr>
          <p:spPr>
            <a:xfrm>
              <a:off x="0" y="0"/>
              <a:ext cx="2514600" cy="502920"/>
            </a:xfrm>
            <a:prstGeom prst="roundRect">
              <a:avLst>
                <a:gd name="adj" fmla="val 49091"/>
              </a:avLst>
            </a:prstGeom>
            <a:solidFill>
              <a:srgbClr val="DCFCE7"/>
            </a:solidFill>
            <a:ln w="9525" cap="flat">
              <a:solidFill>
                <a:schemeClr val="accent2"/>
              </a:solidFill>
              <a:prstDash val="solid"/>
              <a:round/>
            </a:ln>
            <a:effectLst/>
          </p:spPr>
          <p:txBody>
            <a:bodyPr wrap="square" lIns="45719" tIns="45719" rIns="45719" bIns="45719" numCol="1" anchor="ctr">
              <a:noAutofit/>
            </a:bodyPr>
            <a:lstStyle/>
            <a:p>
              <a:pPr algn="ctr">
                <a:defRPr sz="1500"/>
              </a:pPr>
            </a:p>
          </p:txBody>
        </p:sp>
        <p:sp>
          <p:nvSpPr>
            <p:cNvPr id="1209" name="2 · Diagrama de flujo"/>
            <p:cNvSpPr txBox="1"/>
            <p:nvPr/>
          </p:nvSpPr>
          <p:spPr>
            <a:xfrm>
              <a:off x="122793" y="112461"/>
              <a:ext cx="2269014" cy="27799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500">
                  <a:solidFill>
                    <a:srgbClr val="14532D"/>
                  </a:solidFill>
                </a:defRPr>
              </a:lvl1pPr>
            </a:lstStyle>
            <a:p>
              <a:pPr/>
              <a:r>
                <a:t>2 · Diagrama de flujo</a:t>
              </a:r>
            </a:p>
          </p:txBody>
        </p:sp>
      </p:grpSp>
      <p:sp>
        <p:nvSpPr>
          <p:cNvPr id="1211" name="Text 5"/>
          <p:cNvSpPr txBox="1"/>
          <p:nvPr/>
        </p:nvSpPr>
        <p:spPr>
          <a:xfrm>
            <a:off x="5897879" y="1502235"/>
            <a:ext cx="274321"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475569"/>
                </a:solidFill>
              </a:defRPr>
            </a:lvl1pPr>
          </a:lstStyle>
          <a:p>
            <a:pPr/>
            <a:r>
              <a:t>→</a:t>
            </a:r>
          </a:p>
        </p:txBody>
      </p:sp>
      <p:grpSp>
        <p:nvGrpSpPr>
          <p:cNvPr id="1214" name="Text 6"/>
          <p:cNvGrpSpPr/>
          <p:nvPr/>
        </p:nvGrpSpPr>
        <p:grpSpPr>
          <a:xfrm>
            <a:off x="6172200" y="1371600"/>
            <a:ext cx="2514600" cy="502920"/>
            <a:chOff x="0" y="0"/>
            <a:chExt cx="2514600" cy="502919"/>
          </a:xfrm>
        </p:grpSpPr>
        <p:sp>
          <p:nvSpPr>
            <p:cNvPr id="1212" name="Rounded Rectangle"/>
            <p:cNvSpPr/>
            <p:nvPr/>
          </p:nvSpPr>
          <p:spPr>
            <a:xfrm>
              <a:off x="0" y="0"/>
              <a:ext cx="2514600" cy="502920"/>
            </a:xfrm>
            <a:prstGeom prst="roundRect">
              <a:avLst>
                <a:gd name="adj" fmla="val 49091"/>
              </a:avLst>
            </a:prstGeom>
            <a:solidFill>
              <a:srgbClr val="EDE9FE"/>
            </a:solidFill>
            <a:ln w="9525" cap="flat">
              <a:solidFill>
                <a:schemeClr val="accent3"/>
              </a:solidFill>
              <a:prstDash val="solid"/>
              <a:round/>
            </a:ln>
            <a:effectLst/>
          </p:spPr>
          <p:txBody>
            <a:bodyPr wrap="square" lIns="45719" tIns="45719" rIns="45719" bIns="45719" numCol="1" anchor="ctr">
              <a:noAutofit/>
            </a:bodyPr>
            <a:lstStyle/>
            <a:p>
              <a:pPr algn="ctr">
                <a:defRPr sz="1500"/>
              </a:pPr>
            </a:p>
          </p:txBody>
        </p:sp>
        <p:sp>
          <p:nvSpPr>
            <p:cNvPr id="1213" name="3 · Nassi-Shneiderman"/>
            <p:cNvSpPr txBox="1"/>
            <p:nvPr/>
          </p:nvSpPr>
          <p:spPr>
            <a:xfrm>
              <a:off x="122793" y="112461"/>
              <a:ext cx="2269014" cy="27799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500">
                  <a:solidFill>
                    <a:srgbClr val="4C1D95"/>
                  </a:solidFill>
                </a:defRPr>
              </a:lvl1pPr>
            </a:lstStyle>
            <a:p>
              <a:pPr/>
              <a:r>
                <a:t>3 · Nassi-Shneiderman</a:t>
              </a:r>
            </a:p>
          </p:txBody>
        </p:sp>
      </p:grpSp>
      <p:sp>
        <p:nvSpPr>
          <p:cNvPr id="1215" name="Text 7"/>
          <p:cNvSpPr txBox="1"/>
          <p:nvPr/>
        </p:nvSpPr>
        <p:spPr>
          <a:xfrm>
            <a:off x="8686800" y="1502235"/>
            <a:ext cx="274321"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475569"/>
                </a:solidFill>
              </a:defRPr>
            </a:lvl1pPr>
          </a:lstStyle>
          <a:p>
            <a:pPr/>
            <a:r>
              <a:t>→</a:t>
            </a:r>
          </a:p>
        </p:txBody>
      </p:sp>
      <p:grpSp>
        <p:nvGrpSpPr>
          <p:cNvPr id="1218" name="Text 8"/>
          <p:cNvGrpSpPr/>
          <p:nvPr/>
        </p:nvGrpSpPr>
        <p:grpSpPr>
          <a:xfrm>
            <a:off x="8961119" y="1371600"/>
            <a:ext cx="2514601" cy="502920"/>
            <a:chOff x="0" y="0"/>
            <a:chExt cx="2514600" cy="502919"/>
          </a:xfrm>
        </p:grpSpPr>
        <p:sp>
          <p:nvSpPr>
            <p:cNvPr id="1216" name="Rounded Rectangle"/>
            <p:cNvSpPr/>
            <p:nvPr/>
          </p:nvSpPr>
          <p:spPr>
            <a:xfrm>
              <a:off x="0" y="0"/>
              <a:ext cx="2514600" cy="502920"/>
            </a:xfrm>
            <a:prstGeom prst="roundRect">
              <a:avLst>
                <a:gd name="adj" fmla="val 49091"/>
              </a:avLst>
            </a:prstGeom>
            <a:solidFill>
              <a:srgbClr val="0F172A"/>
            </a:solidFill>
            <a:ln w="9525" cap="flat">
              <a:solidFill>
                <a:srgbClr val="0F172A"/>
              </a:solidFill>
              <a:prstDash val="solid"/>
              <a:round/>
            </a:ln>
            <a:effectLst/>
          </p:spPr>
          <p:txBody>
            <a:bodyPr wrap="square" lIns="45719" tIns="45719" rIns="45719" bIns="45719" numCol="1" anchor="ctr">
              <a:noAutofit/>
            </a:bodyPr>
            <a:lstStyle/>
            <a:p>
              <a:pPr algn="ctr">
                <a:defRPr sz="1500"/>
              </a:pPr>
            </a:p>
          </p:txBody>
        </p:sp>
        <p:sp>
          <p:nvSpPr>
            <p:cNvPr id="1217" name="4 · Python"/>
            <p:cNvSpPr txBox="1"/>
            <p:nvPr/>
          </p:nvSpPr>
          <p:spPr>
            <a:xfrm>
              <a:off x="122793" y="112461"/>
              <a:ext cx="2269014" cy="27799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500">
                  <a:solidFill>
                    <a:srgbClr val="D4D4D4"/>
                  </a:solidFill>
                </a:defRPr>
              </a:lvl1pPr>
            </a:lstStyle>
            <a:p>
              <a:pPr/>
              <a:r>
                <a:t>4 · Python</a:t>
              </a:r>
            </a:p>
          </p:txBody>
        </p:sp>
      </p:grpSp>
      <p:sp>
        <p:nvSpPr>
          <p:cNvPr id="1219" name="Shape 9"/>
          <p:cNvSpPr/>
          <p:nvPr/>
        </p:nvSpPr>
        <p:spPr>
          <a:xfrm>
            <a:off x="594359" y="2194560"/>
            <a:ext cx="5394961" cy="1783080"/>
          </a:xfrm>
          <a:prstGeom prst="roundRect">
            <a:avLst>
              <a:gd name="adj" fmla="val 410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220" name="Text 10"/>
          <p:cNvSpPr txBox="1"/>
          <p:nvPr/>
        </p:nvSpPr>
        <p:spPr>
          <a:xfrm>
            <a:off x="795528" y="2392488"/>
            <a:ext cx="499262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1"/>
                </a:solidFill>
              </a:defRPr>
            </a:lvl1pPr>
          </a:lstStyle>
          <a:p>
            <a:pPr/>
            <a:r>
              <a:t>Ejercicio A</a:t>
            </a:r>
          </a:p>
        </p:txBody>
      </p:sp>
      <p:sp>
        <p:nvSpPr>
          <p:cNvPr id="1221" name="Text 11"/>
          <p:cNvSpPr txBox="1"/>
          <p:nvPr/>
        </p:nvSpPr>
        <p:spPr>
          <a:xfrm>
            <a:off x="795528" y="2706623"/>
            <a:ext cx="4992624" cy="4857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700">
                <a:solidFill>
                  <a:srgbClr val="334155"/>
                </a:solidFill>
              </a:defRPr>
            </a:pPr>
            <a:r>
              <a:t>Recibe una lista de precios y regresa </a:t>
            </a:r>
            <a:r>
              <a:rPr b="1"/>
              <a:t>cuántos</a:t>
            </a:r>
            <a:r>
              <a:t> cuestan más de 100.</a:t>
            </a:r>
          </a:p>
        </p:txBody>
      </p:sp>
      <p:sp>
        <p:nvSpPr>
          <p:cNvPr id="1222" name="Shape 12"/>
          <p:cNvSpPr/>
          <p:nvPr/>
        </p:nvSpPr>
        <p:spPr>
          <a:xfrm>
            <a:off x="6126479" y="2194560"/>
            <a:ext cx="5394961" cy="1783080"/>
          </a:xfrm>
          <a:prstGeom prst="roundRect">
            <a:avLst>
              <a:gd name="adj" fmla="val 410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223" name="Text 13"/>
          <p:cNvSpPr txBox="1"/>
          <p:nvPr/>
        </p:nvSpPr>
        <p:spPr>
          <a:xfrm>
            <a:off x="6327647" y="2392488"/>
            <a:ext cx="499262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2"/>
                </a:solidFill>
              </a:defRPr>
            </a:lvl1pPr>
          </a:lstStyle>
          <a:p>
            <a:pPr/>
            <a:r>
              <a:t>Ejercicio B</a:t>
            </a:r>
          </a:p>
        </p:txBody>
      </p:sp>
      <p:sp>
        <p:nvSpPr>
          <p:cNvPr id="1224" name="Text 14"/>
          <p:cNvSpPr txBox="1"/>
          <p:nvPr/>
        </p:nvSpPr>
        <p:spPr>
          <a:xfrm>
            <a:off x="6327647" y="2706623"/>
            <a:ext cx="4992625" cy="5140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700">
                <a:solidFill>
                  <a:srgbClr val="334155"/>
                </a:solidFill>
              </a:defRPr>
            </a:pPr>
            <a:r>
              <a:t>Recibe una lista de calificaciones y regresa la </a:t>
            </a:r>
            <a:r>
              <a:rPr b="1"/>
              <a:t>más baja</a:t>
            </a:r>
            <a:r>
              <a:t>. Si la lista está vacía, regresa </a:t>
            </a:r>
            <a:r>
              <a:rPr sz="1600">
                <a:latin typeface="Menlo Regular"/>
                <a:ea typeface="Menlo Regular"/>
                <a:cs typeface="Menlo Regular"/>
                <a:sym typeface="Menlo Regular"/>
              </a:rPr>
              <a:t>None</a:t>
            </a:r>
            <a:r>
              <a:t>.</a:t>
            </a:r>
          </a:p>
        </p:txBody>
      </p:sp>
      <p:sp>
        <p:nvSpPr>
          <p:cNvPr id="1225" name="Shape 15"/>
          <p:cNvSpPr/>
          <p:nvPr/>
        </p:nvSpPr>
        <p:spPr>
          <a:xfrm>
            <a:off x="594359" y="4206240"/>
            <a:ext cx="5394961" cy="1783081"/>
          </a:xfrm>
          <a:prstGeom prst="roundRect">
            <a:avLst>
              <a:gd name="adj" fmla="val 410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226" name="Text 16"/>
          <p:cNvSpPr txBox="1"/>
          <p:nvPr/>
        </p:nvSpPr>
        <p:spPr>
          <a:xfrm>
            <a:off x="795528" y="4404168"/>
            <a:ext cx="499262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6"/>
                </a:solidFill>
              </a:defRPr>
            </a:lvl1pPr>
          </a:lstStyle>
          <a:p>
            <a:pPr/>
            <a:r>
              <a:t>Ejercicio C</a:t>
            </a:r>
          </a:p>
        </p:txBody>
      </p:sp>
      <p:sp>
        <p:nvSpPr>
          <p:cNvPr id="1227" name="Text 17"/>
          <p:cNvSpPr txBox="1"/>
          <p:nvPr/>
        </p:nvSpPr>
        <p:spPr>
          <a:xfrm>
            <a:off x="795528" y="4718303"/>
            <a:ext cx="4992624" cy="8090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700">
                <a:solidFill>
                  <a:srgbClr val="334155"/>
                </a:solidFill>
              </a:defRPr>
            </a:pPr>
            <a:r>
              <a:t>Recibe una temperatura y regresa </a:t>
            </a:r>
            <a:r>
              <a:rPr sz="1600">
                <a:latin typeface="Menlo Regular"/>
                <a:ea typeface="Menlo Regular"/>
                <a:cs typeface="Menlo Regular"/>
                <a:sym typeface="Menlo Regular"/>
              </a:rPr>
              <a:t>"frío"</a:t>
            </a:r>
            <a:r>
              <a:t> si es menor a 15, </a:t>
            </a:r>
            <a:r>
              <a:rPr sz="1600">
                <a:latin typeface="Menlo Regular"/>
                <a:ea typeface="Menlo Regular"/>
                <a:cs typeface="Menlo Regular"/>
                <a:sym typeface="Menlo Regular"/>
              </a:rPr>
              <a:t>"templado"</a:t>
            </a:r>
            <a:r>
              <a:t> si es menor a 25 y </a:t>
            </a:r>
            <a:r>
              <a:rPr sz="1600">
                <a:latin typeface="Menlo Regular"/>
                <a:ea typeface="Menlo Regular"/>
                <a:cs typeface="Menlo Regular"/>
                <a:sym typeface="Menlo Regular"/>
              </a:rPr>
              <a:t>"calor"</a:t>
            </a:r>
            <a:r>
              <a:t> en otro caso.</a:t>
            </a:r>
          </a:p>
        </p:txBody>
      </p:sp>
      <p:sp>
        <p:nvSpPr>
          <p:cNvPr id="1228" name="Shape 18"/>
          <p:cNvSpPr/>
          <p:nvPr/>
        </p:nvSpPr>
        <p:spPr>
          <a:xfrm>
            <a:off x="6126479" y="4206240"/>
            <a:ext cx="5394961" cy="1783081"/>
          </a:xfrm>
          <a:prstGeom prst="roundRect">
            <a:avLst>
              <a:gd name="adj" fmla="val 4103"/>
            </a:avLst>
          </a:prstGeom>
          <a:solidFill>
            <a:srgbClr val="FFFFFF"/>
          </a:solidFill>
          <a:ln>
            <a:solidFill>
              <a:srgbClr val="E2E8F0"/>
            </a:solidFill>
          </a:ln>
          <a:effectLst>
            <a:outerShdw sx="100000" sy="100000" kx="0" ky="0" algn="b" rotWithShape="0" blurRad="76200" dist="25400" dir="5400000">
              <a:srgbClr val="000000">
                <a:alpha val="12000"/>
              </a:srgbClr>
            </a:outerShdw>
          </a:effectLst>
        </p:spPr>
        <p:txBody>
          <a:bodyPr lIns="45719" rIns="45719"/>
          <a:lstStyle/>
          <a:p>
            <a:pPr/>
          </a:p>
        </p:txBody>
      </p:sp>
      <p:sp>
        <p:nvSpPr>
          <p:cNvPr id="1229" name="Text 19"/>
          <p:cNvSpPr txBox="1"/>
          <p:nvPr/>
        </p:nvSpPr>
        <p:spPr>
          <a:xfrm>
            <a:off x="6327647" y="4404168"/>
            <a:ext cx="499262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chemeClr val="accent3"/>
                </a:solidFill>
              </a:defRPr>
            </a:lvl1pPr>
          </a:lstStyle>
          <a:p>
            <a:pPr/>
            <a:r>
              <a:t>Ejercicio D</a:t>
            </a:r>
          </a:p>
        </p:txBody>
      </p:sp>
      <p:sp>
        <p:nvSpPr>
          <p:cNvPr id="1230" name="Text 20"/>
          <p:cNvSpPr txBox="1"/>
          <p:nvPr/>
        </p:nvSpPr>
        <p:spPr>
          <a:xfrm>
            <a:off x="6327647" y="4718303"/>
            <a:ext cx="4992625" cy="4857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400"/>
              </a:spcBef>
              <a:defRPr sz="1700">
                <a:solidFill>
                  <a:srgbClr val="334155"/>
                </a:solidFill>
              </a:defRPr>
            </a:pPr>
            <a:r>
              <a:t>Recibe las horas que dormiste cada día de la semana y regresa el </a:t>
            </a:r>
            <a:r>
              <a:rPr b="1"/>
              <a:t>promedio</a:t>
            </a:r>
            <a:r>
              <a:t>.</a:t>
            </a:r>
          </a:p>
        </p:txBody>
      </p:sp>
      <p:sp>
        <p:nvSpPr>
          <p:cNvPr id="1231"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5" name="Text 0"/>
          <p:cNvSpPr txBox="1"/>
          <p:nvPr>
            <p:ph type="title"/>
          </p:nvPr>
        </p:nvSpPr>
        <p:spPr>
          <a:prstGeom prst="rect">
            <a:avLst/>
          </a:prstGeom>
        </p:spPr>
        <p:txBody>
          <a:bodyPr lIns="0" tIns="0" rIns="0" bIns="0" anchor="ctr"/>
          <a:lstStyle/>
          <a:p>
            <a:pPr/>
            <a:r>
              <a:t>Referencias</a:t>
            </a:r>
          </a:p>
        </p:txBody>
      </p:sp>
      <p:sp>
        <p:nvSpPr>
          <p:cNvPr id="1236" name="Text 0"/>
          <p:cNvSpPr txBox="1"/>
          <p:nvPr>
            <p:ph type="body" sz="quarter" idx="1"/>
          </p:nvPr>
        </p:nvSpPr>
        <p:spPr>
          <a:prstGeom prst="rect">
            <a:avLst/>
          </a:prstGeom>
        </p:spPr>
        <p:txBody>
          <a:bodyPr lIns="0" tIns="0" rIns="0" bIns="0" anchor="ctr"/>
          <a:lstStyle/>
          <a:p>
            <a:pPr/>
            <a:r>
              <a:t>Para quien quiera leer más.</a:t>
            </a:r>
          </a:p>
        </p:txBody>
      </p:sp>
      <p:sp>
        <p:nvSpPr>
          <p:cNvPr id="1237" name="Text 2"/>
          <p:cNvSpPr txBox="1"/>
          <p:nvPr/>
        </p:nvSpPr>
        <p:spPr>
          <a:xfrm>
            <a:off x="594359" y="1417319"/>
            <a:ext cx="5349242" cy="34334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sz="1200">
                <a:solidFill>
                  <a:srgbClr val="334155"/>
                </a:solidFill>
              </a:defRPr>
            </a:pPr>
            <a:r>
              <a:t>AlSuhaibani, R., Newman, C., Decker, M., Collard, M. y Maletic, J. (2021). On the naming of methods: A survey of professional developers. </a:t>
            </a:r>
            <a:r>
              <a:rPr i="1"/>
              <a:t>ICSE 2021</a:t>
            </a:r>
            <a:r>
              <a:t>.</a:t>
            </a:r>
          </a:p>
          <a:p>
            <a:pPr>
              <a:spcBef>
                <a:spcPts val="800"/>
              </a:spcBef>
              <a:defRPr sz="1200">
                <a:solidFill>
                  <a:srgbClr val="334155"/>
                </a:solidFill>
              </a:defRPr>
            </a:pPr>
            <a:r>
              <a:t>Arnaoudova, V., Di Penta, M. y Antoniol, G. (2016). Linguistic antipatterns: What they are and how developers perceive them. </a:t>
            </a:r>
            <a:r>
              <a:rPr i="1"/>
              <a:t>Empirical Software Engineering</a:t>
            </a:r>
            <a:r>
              <a:t>, 21(1), 104–158.</a:t>
            </a:r>
          </a:p>
          <a:p>
            <a:pPr>
              <a:spcBef>
                <a:spcPts val="800"/>
              </a:spcBef>
              <a:defRPr sz="1200">
                <a:solidFill>
                  <a:srgbClr val="334155"/>
                </a:solidFill>
              </a:defRPr>
            </a:pPr>
            <a:r>
              <a:t>Chen, J.-Y. (2007). Do Chinese and English speakers think about time differently? Failure of replicating Boroditsky (2001). </a:t>
            </a:r>
            <a:r>
              <a:rPr i="1"/>
              <a:t>Cognition</a:t>
            </a:r>
            <a:r>
              <a:t>, 104(2), 427–436.</a:t>
            </a:r>
          </a:p>
          <a:p>
            <a:pPr>
              <a:spcBef>
                <a:spcPts val="800"/>
              </a:spcBef>
              <a:defRPr sz="1200">
                <a:solidFill>
                  <a:srgbClr val="334155"/>
                </a:solidFill>
              </a:defRPr>
            </a:pPr>
            <a:r>
              <a:t>Fausey, C. y Boroditsky, L. (2011). Who dunnit? Cross-linguistic differences in eye-witness memory. </a:t>
            </a:r>
            <a:r>
              <a:rPr i="1"/>
              <a:t>Psychonomic Bulletin &amp; Review</a:t>
            </a:r>
            <a:r>
              <a:t>, 18, 150–157.</a:t>
            </a:r>
          </a:p>
          <a:p>
            <a:pPr>
              <a:spcBef>
                <a:spcPts val="800"/>
              </a:spcBef>
              <a:defRPr sz="1200">
                <a:solidFill>
                  <a:srgbClr val="334155"/>
                </a:solidFill>
              </a:defRPr>
            </a:pPr>
            <a:r>
              <a:t>Feitelson, D. et al. (2022). How developers choose names. </a:t>
            </a:r>
            <a:r>
              <a:rPr i="1"/>
              <a:t>IEEE Transactions on Software Engineering</a:t>
            </a:r>
            <a:r>
              <a:t>, 48(1), 37–52.</a:t>
            </a:r>
          </a:p>
          <a:p>
            <a:pPr>
              <a:spcBef>
                <a:spcPts val="800"/>
              </a:spcBef>
              <a:defRPr sz="1200">
                <a:solidFill>
                  <a:srgbClr val="334155"/>
                </a:solidFill>
              </a:defRPr>
            </a:pPr>
            <a:r>
              <a:t>Goldstine, H. y von Neumann, J. (1947). </a:t>
            </a:r>
            <a:r>
              <a:rPr i="1"/>
              <a:t>Planning and Coding of Problems for an Electronic Computing Instrument</a:t>
            </a:r>
            <a:r>
              <a:t>. Institute for Advanced Study.</a:t>
            </a:r>
          </a:p>
          <a:p>
            <a:pPr>
              <a:spcBef>
                <a:spcPts val="800"/>
              </a:spcBef>
              <a:defRPr sz="1200">
                <a:solidFill>
                  <a:srgbClr val="334155"/>
                </a:solidFill>
              </a:defRPr>
            </a:pPr>
            <a:r>
              <a:t>Hofmeister, J., Siegmund, J. y Holt, D. (2017). Shorter identifier names take longer to comprehend. </a:t>
            </a:r>
            <a:r>
              <a:rPr i="1"/>
              <a:t>SANER 2017</a:t>
            </a:r>
            <a:r>
              <a:t>, 217–227.</a:t>
            </a:r>
          </a:p>
        </p:txBody>
      </p:sp>
      <p:sp>
        <p:nvSpPr>
          <p:cNvPr id="1238" name="Text 3"/>
          <p:cNvSpPr txBox="1"/>
          <p:nvPr/>
        </p:nvSpPr>
        <p:spPr>
          <a:xfrm>
            <a:off x="6172200" y="1417319"/>
            <a:ext cx="5349241" cy="28619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spcBef>
                <a:spcPts val="800"/>
              </a:spcBef>
              <a:defRPr sz="1200">
                <a:solidFill>
                  <a:srgbClr val="334155"/>
                </a:solidFill>
              </a:defRPr>
            </a:pPr>
            <a:r>
              <a:t>Høst, E. y Østvold, B. (2009). Debugging method names. </a:t>
            </a:r>
            <a:r>
              <a:rPr i="1"/>
              <a:t>ECOOP 2009</a:t>
            </a:r>
            <a:r>
              <a:t>, LNCS 5653, 294–317.</a:t>
            </a:r>
          </a:p>
          <a:p>
            <a:pPr>
              <a:spcBef>
                <a:spcPts val="800"/>
              </a:spcBef>
              <a:defRPr sz="1200">
                <a:solidFill>
                  <a:srgbClr val="334155"/>
                </a:solidFill>
              </a:defRPr>
            </a:pPr>
            <a:r>
              <a:t>January, D. y Kako, E. (2007). Re-evaluating evidence for linguistic relativity: Reply to Boroditsky (2001). </a:t>
            </a:r>
            <a:r>
              <a:rPr i="1"/>
              <a:t>Cognition</a:t>
            </a:r>
            <a:r>
              <a:t>, 104(2), 417–426.</a:t>
            </a:r>
          </a:p>
          <a:p>
            <a:pPr>
              <a:spcBef>
                <a:spcPts val="800"/>
              </a:spcBef>
              <a:defRPr sz="1200">
                <a:solidFill>
                  <a:srgbClr val="334155"/>
                </a:solidFill>
              </a:defRPr>
            </a:pPr>
            <a:r>
              <a:t>Kernighan, B. y Pike, R. (1999). </a:t>
            </a:r>
            <a:r>
              <a:rPr i="1"/>
              <a:t>The Practice of Programming</a:t>
            </a:r>
            <a:r>
              <a:t>. Addison-Wesley.</a:t>
            </a:r>
          </a:p>
          <a:p>
            <a:pPr>
              <a:spcBef>
                <a:spcPts val="800"/>
              </a:spcBef>
              <a:defRPr sz="1200">
                <a:solidFill>
                  <a:srgbClr val="334155"/>
                </a:solidFill>
              </a:defRPr>
            </a:pPr>
            <a:r>
              <a:t>Lupyan, G. y Ward, E. (2013). Language can boost otherwise unseen objects into visual awareness. </a:t>
            </a:r>
            <a:r>
              <a:rPr i="1"/>
              <a:t>PNAS</a:t>
            </a:r>
            <a:r>
              <a:t>, 110(35), 14196–14201.</a:t>
            </a:r>
          </a:p>
          <a:p>
            <a:pPr>
              <a:spcBef>
                <a:spcPts val="800"/>
              </a:spcBef>
              <a:defRPr sz="1200">
                <a:solidFill>
                  <a:srgbClr val="334155"/>
                </a:solidFill>
              </a:defRPr>
            </a:pPr>
            <a:r>
              <a:t>McConnell, S. (2004). </a:t>
            </a:r>
            <a:r>
              <a:rPr i="1"/>
              <a:t>Code Complete</a:t>
            </a:r>
            <a:r>
              <a:t> (2.ª ed.). Microsoft Press.</a:t>
            </a:r>
          </a:p>
          <a:p>
            <a:pPr>
              <a:spcBef>
                <a:spcPts val="800"/>
              </a:spcBef>
              <a:defRPr sz="1200">
                <a:solidFill>
                  <a:srgbClr val="334155"/>
                </a:solidFill>
              </a:defRPr>
            </a:pPr>
            <a:r>
              <a:t>Nassi, I. y Shneiderman, B. (1973). Flowchart techniques for structured programming. </a:t>
            </a:r>
            <a:r>
              <a:rPr i="1"/>
              <a:t>SIGPLAN Notices</a:t>
            </a:r>
            <a:r>
              <a:t>, 8(8), 12–26.</a:t>
            </a:r>
          </a:p>
          <a:p>
            <a:pPr>
              <a:spcBef>
                <a:spcPts val="800"/>
              </a:spcBef>
              <a:defRPr sz="1200">
                <a:solidFill>
                  <a:srgbClr val="334155"/>
                </a:solidFill>
              </a:defRPr>
            </a:pPr>
            <a:r>
              <a:t>Winawer, J. et al. (2007). Russian blues reveal effects of language on color discrimination. </a:t>
            </a:r>
            <a:r>
              <a:rPr i="1"/>
              <a:t>PNAS</a:t>
            </a:r>
            <a:r>
              <a:t>, 104(19), 7780–7785.</a:t>
            </a:r>
          </a:p>
        </p:txBody>
      </p:sp>
      <p:sp>
        <p:nvSpPr>
          <p:cNvPr id="1239" name="Slide Number Placeholder 0"/>
          <p:cNvSpPr txBox="1"/>
          <p:nvPr>
            <p:ph type="sldNum" sz="quarter" idx="4294967295"/>
          </p:nvPr>
        </p:nvSpPr>
        <p:spPr>
          <a:xfrm>
            <a:off x="11511749" y="6473952"/>
            <a:ext cx="220004" cy="205914"/>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1" name="Text 0"/>
          <p:cNvSpPr txBox="1"/>
          <p:nvPr>
            <p:ph type="title"/>
          </p:nvPr>
        </p:nvSpPr>
        <p:spPr>
          <a:prstGeom prst="rect">
            <a:avLst/>
          </a:prstGeom>
        </p:spPr>
        <p:txBody>
          <a:bodyPr lIns="0" tIns="0" rIns="0" bIns="0" anchor="ctr"/>
          <a:lstStyle/>
          <a:p>
            <a:pPr defTabSz="896111">
              <a:defRPr sz="3920"/>
            </a:pPr>
            <a:r>
              <a:t>Primero el verbo.</a:t>
            </a:r>
          </a:p>
          <a:p>
            <a:pPr defTabSz="896111">
              <a:defRPr sz="3920"/>
            </a:pPr>
            <a:r>
              <a:t>Después el dibujo.</a:t>
            </a:r>
          </a:p>
          <a:p>
            <a:pPr defTabSz="896111">
              <a:defRPr sz="3920"/>
            </a:pPr>
            <a:r>
              <a:t>Al final, el código.</a:t>
            </a:r>
          </a:p>
        </p:txBody>
      </p:sp>
      <p:sp>
        <p:nvSpPr>
          <p:cNvPr id="1242" name="Text 0"/>
          <p:cNvSpPr txBox="1"/>
          <p:nvPr>
            <p:ph type="body" sz="quarter" idx="1"/>
          </p:nvPr>
        </p:nvSpPr>
        <p:spPr>
          <a:prstGeom prst="rect">
            <a:avLst/>
          </a:prstGeom>
        </p:spPr>
        <p:txBody>
          <a:bodyPr lIns="0" tIns="0" rIns="0" bIns="0"/>
          <a:lstStyle/>
          <a:p>
            <a:pPr/>
            <a:r>
              <a:t>Desde hoy, toda función: verbo en infinitivo + complemento. Si regresa True / False: es_ + complemento.</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lase Algoritmos">
  <a:themeElements>
    <a:clrScheme name="Clase Algoritmos">
      <a:dk1>
        <a:srgbClr val="0F172A"/>
      </a:dk1>
      <a:lt1>
        <a:srgbClr val="122238"/>
      </a:lt1>
      <a:dk2>
        <a:srgbClr val="A7A7A7"/>
      </a:dk2>
      <a:lt2>
        <a:srgbClr val="535353"/>
      </a:lt2>
      <a:accent1>
        <a:srgbClr val="2563EB"/>
      </a:accent1>
      <a:accent2>
        <a:srgbClr val="16A34A"/>
      </a:accent2>
      <a:accent3>
        <a:srgbClr val="7C3AED"/>
      </a:accent3>
      <a:accent4>
        <a:srgbClr val="DC2626"/>
      </a:accent4>
      <a:accent5>
        <a:srgbClr val="EA580C"/>
      </a:accent5>
      <a:accent6>
        <a:srgbClr val="D97706"/>
      </a:accent6>
      <a:hlink>
        <a:srgbClr val="0000FF"/>
      </a:hlink>
      <a:folHlink>
        <a:srgbClr val="FF00FF"/>
      </a:folHlink>
    </a:clrScheme>
    <a:fontScheme name="Clase Algoritmos">
      <a:majorFont>
        <a:latin typeface="Helvetica"/>
        <a:ea typeface="Helvetica"/>
        <a:cs typeface="Helvetica"/>
      </a:majorFont>
      <a:minorFont>
        <a:latin typeface="Calibri"/>
        <a:ea typeface="Calibri"/>
        <a:cs typeface="Calibri"/>
      </a:minorFont>
    </a:fontScheme>
    <a:fmtScheme name="Clase Algoritm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lase Algoritmos">
  <a:themeElements>
    <a:clrScheme name="Clase Algoritmos">
      <a:dk1>
        <a:srgbClr val="0F172A"/>
      </a:dk1>
      <a:lt1>
        <a:srgbClr val="2A261B"/>
      </a:lt1>
      <a:dk2>
        <a:srgbClr val="A7A7A7"/>
      </a:dk2>
      <a:lt2>
        <a:srgbClr val="535353"/>
      </a:lt2>
      <a:accent1>
        <a:srgbClr val="2563EB"/>
      </a:accent1>
      <a:accent2>
        <a:srgbClr val="16A34A"/>
      </a:accent2>
      <a:accent3>
        <a:srgbClr val="7C3AED"/>
      </a:accent3>
      <a:accent4>
        <a:srgbClr val="DC2626"/>
      </a:accent4>
      <a:accent5>
        <a:srgbClr val="EA580C"/>
      </a:accent5>
      <a:accent6>
        <a:srgbClr val="D97706"/>
      </a:accent6>
      <a:hlink>
        <a:srgbClr val="0000FF"/>
      </a:hlink>
      <a:folHlink>
        <a:srgbClr val="FF00FF"/>
      </a:folHlink>
    </a:clrScheme>
    <a:fontScheme name="Clase Algoritmos">
      <a:majorFont>
        <a:latin typeface="Helvetica"/>
        <a:ea typeface="Helvetica"/>
        <a:cs typeface="Helvetica"/>
      </a:majorFont>
      <a:minorFont>
        <a:latin typeface="Calibri"/>
        <a:ea typeface="Calibri"/>
        <a:cs typeface="Calibri"/>
      </a:minorFont>
    </a:fontScheme>
    <a:fmtScheme name="Clase Algoritm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F172A"/>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