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097280"/>
            <a:ext cx="5625646" cy="1246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4100">
                <a:solidFill>
                  <a:srgbClr val="FFFFFF"/>
                </a:solidFill>
              </a:defRPr>
            </a:pPr>
            <a:r>
              <a:t>Big O de memoria +</a:t>
            </a:r>
          </a:p>
          <a:p>
            <a:pPr>
              <a:defRPr b="1" sz="4100">
                <a:solidFill>
                  <a:srgbClr val="FFFFFF"/>
                </a:solidFill>
              </a:defRPr>
            </a:pPr>
            <a:r>
              <a:t>expresiones y operadores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3383279"/>
            <a:ext cx="5376006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BFDBFE"/>
                </a:solidFill>
              </a:defRPr>
            </a:lvl1pPr>
          </a:lstStyle>
          <a:p>
            <a:pPr/>
            <a:r>
              <a:t>Clase 8 · Martes 6 de octubre de 2026 · Laboratorio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594359" y="228600"/>
            <a:ext cx="1806754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 tech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2478" y="954051"/>
            <a:ext cx="7874344" cy="4949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594359" y="228600"/>
            <a:ext cx="3614681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9232" y="752131"/>
            <a:ext cx="6540836" cy="5353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594359" y="228600"/>
            <a:ext cx="265446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Big O de memoria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621791" y="859536"/>
            <a:ext cx="439485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Medimos memoria auxiliar: estructuras nuevas que crea el algoritmo.</a:t>
            </a:r>
          </a:p>
        </p:txBody>
      </p:sp>
      <p:sp>
        <p:nvSpPr>
          <p:cNvPr id="109" name="Rounded Rectangle 4"/>
          <p:cNvSpPr/>
          <p:nvPr/>
        </p:nvSpPr>
        <p:spPr>
          <a:xfrm>
            <a:off x="731519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5"/>
          <p:cNvSpPr txBox="1"/>
          <p:nvPr/>
        </p:nvSpPr>
        <p:spPr>
          <a:xfrm>
            <a:off x="960119" y="1508760"/>
            <a:ext cx="4711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O(1)</a:t>
            </a:r>
          </a:p>
        </p:txBody>
      </p:sp>
      <p:sp>
        <p:nvSpPr>
          <p:cNvPr id="111" name="TextBox 6"/>
          <p:cNvSpPr txBox="1"/>
          <p:nvPr/>
        </p:nvSpPr>
        <p:spPr>
          <a:xfrm>
            <a:off x="960119" y="1965960"/>
            <a:ext cx="3553233" cy="735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Pocas variables cuyo número no crece con n.</a:t>
            </a:r>
            <a:br/>
            <a:br/>
            <a:r>
              <a:t>contador, suma, candidato...</a:t>
            </a:r>
          </a:p>
        </p:txBody>
      </p:sp>
      <p:sp>
        <p:nvSpPr>
          <p:cNvPr id="112" name="Rounded Rectangle 7"/>
          <p:cNvSpPr/>
          <p:nvPr/>
        </p:nvSpPr>
        <p:spPr>
          <a:xfrm>
            <a:off x="6263640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8"/>
          <p:cNvSpPr txBox="1"/>
          <p:nvPr/>
        </p:nvSpPr>
        <p:spPr>
          <a:xfrm>
            <a:off x="6492240" y="1508760"/>
            <a:ext cx="47720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O(n)</a:t>
            </a:r>
          </a:p>
        </p:txBody>
      </p:sp>
      <p:sp>
        <p:nvSpPr>
          <p:cNvPr id="114" name="TextBox 9"/>
          <p:cNvSpPr txBox="1"/>
          <p:nvPr/>
        </p:nvSpPr>
        <p:spPr>
          <a:xfrm>
            <a:off x="6492240" y="1965960"/>
            <a:ext cx="2981453" cy="735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Estructuras que pueden crecer con n.</a:t>
            </a:r>
            <a:br/>
            <a:br/>
            <a:r>
              <a:t>set, dict, lista auxiliar, copia...</a:t>
            </a:r>
          </a:p>
        </p:txBody>
      </p:sp>
      <p:sp>
        <p:nvSpPr>
          <p:cNvPr id="115" name="Rounded Rectangle 10"/>
          <p:cNvSpPr/>
          <p:nvPr/>
        </p:nvSpPr>
        <p:spPr>
          <a:xfrm>
            <a:off x="1463039" y="4937759"/>
            <a:ext cx="9235442" cy="1060111"/>
          </a:xfrm>
          <a:prstGeom prst="roundRect">
            <a:avLst>
              <a:gd name="adj" fmla="val 12939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11"/>
          <p:cNvSpPr txBox="1"/>
          <p:nvPr/>
        </p:nvSpPr>
        <p:spPr>
          <a:xfrm>
            <a:off x="1691639" y="5074920"/>
            <a:ext cx="157634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Entrada ≠ auxiliar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1691639" y="5532120"/>
            <a:ext cx="530826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La lista recibida ya existía; contamos la memoria NUEVA que agregamos.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594359" y="228600"/>
            <a:ext cx="4432919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Trade-off: tiempo vs. memoria</a:t>
            </a:r>
          </a:p>
        </p:txBody>
      </p:sp>
      <p:sp>
        <p:nvSpPr>
          <p:cNvPr id="121" name="Rounded Rectangle 3"/>
          <p:cNvSpPr/>
          <p:nvPr/>
        </p:nvSpPr>
        <p:spPr>
          <a:xfrm>
            <a:off x="640080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4"/>
          <p:cNvSpPr txBox="1"/>
          <p:nvPr/>
        </p:nvSpPr>
        <p:spPr>
          <a:xfrm>
            <a:off x="868678" y="1600200"/>
            <a:ext cx="127363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Más memoria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868678" y="2057400"/>
            <a:ext cx="2661319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set/dict suelen acelerar búsquedas.</a:t>
            </a:r>
          </a:p>
        </p:txBody>
      </p:sp>
      <p:sp>
        <p:nvSpPr>
          <p:cNvPr id="124" name="Rounded Rectangle 6"/>
          <p:cNvSpPr/>
          <p:nvPr/>
        </p:nvSpPr>
        <p:spPr>
          <a:xfrm>
            <a:off x="4370832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7"/>
          <p:cNvSpPr txBox="1"/>
          <p:nvPr/>
        </p:nvSpPr>
        <p:spPr>
          <a:xfrm>
            <a:off x="4599432" y="1600200"/>
            <a:ext cx="149389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Menos memoria</a:t>
            </a:r>
          </a:p>
        </p:txBody>
      </p:sp>
      <p:sp>
        <p:nvSpPr>
          <p:cNvPr id="126" name="TextBox 8"/>
          <p:cNvSpPr txBox="1"/>
          <p:nvPr/>
        </p:nvSpPr>
        <p:spPr>
          <a:xfrm>
            <a:off x="4599432" y="2057400"/>
            <a:ext cx="2088330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Matemáticas, invariantes o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más comparaciones.</a:t>
            </a:r>
          </a:p>
        </p:txBody>
      </p:sp>
      <p:sp>
        <p:nvSpPr>
          <p:cNvPr id="127" name="Rounded Rectangle 9"/>
          <p:cNvSpPr/>
          <p:nvPr/>
        </p:nvSpPr>
        <p:spPr>
          <a:xfrm>
            <a:off x="8101583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0"/>
          <p:cNvSpPr txBox="1"/>
          <p:nvPr/>
        </p:nvSpPr>
        <p:spPr>
          <a:xfrm>
            <a:off x="8330183" y="1600200"/>
            <a:ext cx="197133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No hay regla universal</a:t>
            </a:r>
          </a:p>
        </p:txBody>
      </p:sp>
      <p:sp>
        <p:nvSpPr>
          <p:cNvPr id="129" name="TextBox 11"/>
          <p:cNvSpPr txBox="1"/>
          <p:nvPr/>
        </p:nvSpPr>
        <p:spPr>
          <a:xfrm>
            <a:off x="8330183" y="2057400"/>
            <a:ext cx="3005458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O(1) espacio puede costar O(n²) tiempo.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594359" y="228600"/>
            <a:ext cx="386834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Ejercicio · Missing Number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621791" y="859536"/>
            <a:ext cx="78949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[3,0,1] → 2</a:t>
            </a:r>
          </a:p>
        </p:txBody>
      </p:sp>
      <p:sp>
        <p:nvSpPr>
          <p:cNvPr id="134" name="Rounded Rectangle 4"/>
          <p:cNvSpPr/>
          <p:nvPr/>
        </p:nvSpPr>
        <p:spPr>
          <a:xfrm>
            <a:off x="594359" y="1325880"/>
            <a:ext cx="5303522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5"/>
          <p:cNvSpPr txBox="1"/>
          <p:nvPr/>
        </p:nvSpPr>
        <p:spPr>
          <a:xfrm>
            <a:off x="822959" y="1435607"/>
            <a:ext cx="121328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memoria extra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841247" y="1801367"/>
            <a:ext cx="5058779" cy="346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A: buscar cada valor de 0 a n en la lista.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Tiempo O(n²): "valor in nums" recorre toda la lista,</a:t>
            </a: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y lo hacemos n + 1 veces.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numero_faltante_dos_ciclos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valor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 </a:t>
            </a:r>
            <a:r>
              <a:rPr>
                <a:solidFill>
                  <a:srgbClr val="D4D4D4"/>
                </a:solidFill>
              </a:rPr>
              <a:t>+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  <a:r>
              <a:t>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valor </a:t>
            </a:r>
            <a:r>
              <a:rPr>
                <a:solidFill>
                  <a:srgbClr val="569CD6"/>
                </a:solidFill>
              </a:rPr>
              <a:t>not</a:t>
            </a:r>
            <a:r>
              <a:t> </a:t>
            </a:r>
            <a:r>
              <a:rPr>
                <a:solidFill>
                  <a:srgbClr val="569CD6"/>
                </a:solidFill>
              </a:rPr>
              <a:t>in</a:t>
            </a:r>
            <a:r>
              <a:t> nums: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valor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B: guardar los números en un set.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Tiempo O(n), pero memoria O(n) por el set.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numero_faltante_con_set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vistos </a:t>
            </a:r>
            <a:r>
              <a:rPr>
                <a:solidFill>
                  <a:srgbClr val="D4D4D4"/>
                </a:solidFill>
              </a:rPr>
              <a:t>=</a:t>
            </a:r>
            <a:r>
              <a:t> </a:t>
            </a:r>
            <a:r>
              <a:rPr>
                <a:solidFill>
                  <a:srgbClr val="4EC9B0"/>
                </a:solidFill>
              </a:rPr>
              <a:t>set</a:t>
            </a:r>
            <a:r>
              <a:t>()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numero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nums: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vistos.add(numero)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valor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 </a:t>
            </a:r>
            <a:r>
              <a:rPr>
                <a:solidFill>
                  <a:srgbClr val="D4D4D4"/>
                </a:solidFill>
              </a:rPr>
              <a:t>+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  <a:r>
              <a:t>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valor </a:t>
            </a:r>
            <a:r>
              <a:rPr>
                <a:solidFill>
                  <a:srgbClr val="569CD6"/>
                </a:solidFill>
              </a:rPr>
              <a:t>not</a:t>
            </a:r>
            <a:r>
              <a:t> </a:t>
            </a:r>
            <a:r>
              <a:rPr>
                <a:solidFill>
                  <a:srgbClr val="569CD6"/>
                </a:solidFill>
              </a:rPr>
              <a:t>in</a:t>
            </a:r>
            <a:r>
              <a:t> vistos: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valor</a:t>
            </a:r>
          </a:p>
        </p:txBody>
      </p:sp>
      <p:sp>
        <p:nvSpPr>
          <p:cNvPr id="137" name="Rounded Rectangle 7"/>
          <p:cNvSpPr/>
          <p:nvPr/>
        </p:nvSpPr>
        <p:spPr>
          <a:xfrm>
            <a:off x="6263640" y="1325880"/>
            <a:ext cx="5303521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8"/>
          <p:cNvSpPr txBox="1"/>
          <p:nvPr/>
        </p:nvSpPr>
        <p:spPr>
          <a:xfrm>
            <a:off x="6492240" y="1435607"/>
            <a:ext cx="13067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menos memoria</a:t>
            </a:r>
          </a:p>
        </p:txBody>
      </p:sp>
      <p:sp>
        <p:nvSpPr>
          <p:cNvPr id="139" name="Rounded Rectangle 10"/>
          <p:cNvSpPr/>
          <p:nvPr/>
        </p:nvSpPr>
        <p:spPr>
          <a:xfrm>
            <a:off x="731519" y="5715000"/>
            <a:ext cx="4937761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1"/>
          <p:cNvSpPr txBox="1"/>
          <p:nvPr/>
        </p:nvSpPr>
        <p:spPr>
          <a:xfrm>
            <a:off x="960119" y="5852159"/>
            <a:ext cx="151443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set: O(n) espacio</a:t>
            </a:r>
          </a:p>
        </p:txBody>
      </p:sp>
      <p:sp>
        <p:nvSpPr>
          <p:cNvPr id="141" name="Rounded Rectangle 13"/>
          <p:cNvSpPr/>
          <p:nvPr/>
        </p:nvSpPr>
        <p:spPr>
          <a:xfrm>
            <a:off x="6492240" y="5715000"/>
            <a:ext cx="49377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14"/>
          <p:cNvSpPr txBox="1"/>
          <p:nvPr/>
        </p:nvSpPr>
        <p:spPr>
          <a:xfrm>
            <a:off x="6720839" y="5852159"/>
            <a:ext cx="171168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suma: O(1) espacio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594359" y="228600"/>
            <a:ext cx="303218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Ejercicio · Max Profit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621791" y="859536"/>
            <a:ext cx="113529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[7,1,5,3,6,4] → 5</a:t>
            </a:r>
          </a:p>
        </p:txBody>
      </p:sp>
      <p:sp>
        <p:nvSpPr>
          <p:cNvPr id="147" name="Rounded Rectangle 4"/>
          <p:cNvSpPr/>
          <p:nvPr/>
        </p:nvSpPr>
        <p:spPr>
          <a:xfrm>
            <a:off x="594359" y="1325880"/>
            <a:ext cx="5303522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"/>
          <p:cNvSpPr txBox="1"/>
          <p:nvPr/>
        </p:nvSpPr>
        <p:spPr>
          <a:xfrm>
            <a:off x="822959" y="1435607"/>
            <a:ext cx="121328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memoria extra</a:t>
            </a:r>
          </a:p>
        </p:txBody>
      </p:sp>
      <p:sp>
        <p:nvSpPr>
          <p:cNvPr id="149" name="TextBox 6"/>
          <p:cNvSpPr txBox="1"/>
          <p:nvPr/>
        </p:nvSpPr>
        <p:spPr>
          <a:xfrm>
            <a:off x="670855" y="1807629"/>
            <a:ext cx="5150530" cy="275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válida: probar todas las parejas (día de compra, </a:t>
            </a: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día de venta posterior).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Memoria O(1), pero tiempo O(n²) por los dos ciclos </a:t>
            </a: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anidados.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mejor_ganancia_dos_ciclos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precios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mejor </a:t>
            </a:r>
            <a:r>
              <a:rPr>
                <a:solidFill>
                  <a:srgbClr val="D4D4D4"/>
                </a:solidFill>
              </a:rPr>
              <a:t>=</a:t>
            </a:r>
            <a:r>
              <a:t> </a:t>
            </a:r>
            <a:r>
              <a:rPr>
                <a:solidFill>
                  <a:srgbClr val="B5CEA8"/>
                </a:solidFill>
              </a:rPr>
              <a:t>0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compra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(precios)):</a:t>
            </a: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CCCCCC"/>
                </a:solidFill>
              </a:rPr>
              <a:t>    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rPr>
                <a:solidFill>
                  <a:srgbClr val="CCCCCC"/>
                </a:solidFill>
              </a:rPr>
              <a:t> venta </a:t>
            </a:r>
            <a:r>
              <a:rPr>
                <a:solidFill>
                  <a:srgbClr val="C586C0"/>
                </a:solidFill>
              </a:rPr>
              <a:t>in</a:t>
            </a:r>
            <a:r>
              <a:rPr>
                <a:solidFill>
                  <a:srgbClr val="CCCCCC"/>
                </a:solidFill>
              </a:rP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rPr>
                <a:solidFill>
                  <a:srgbClr val="CCCCCC"/>
                </a:solidFill>
              </a:rPr>
              <a:t>(compra </a:t>
            </a:r>
            <a:r>
              <a:rPr>
                <a:solidFill>
                  <a:srgbClr val="D4D4D4"/>
                </a:solidFill>
              </a:rPr>
              <a:t>+</a:t>
            </a:r>
            <a:r>
              <a:rPr>
                <a:solidFill>
                  <a:srgbClr val="CCCCCC"/>
                </a:solidFill>
              </a:rPr>
              <a:t> </a:t>
            </a:r>
            <a:r>
              <a:rPr>
                <a:solidFill>
                  <a:srgbClr val="B5CEA8"/>
                </a:solidFill>
              </a:rPr>
              <a:t>1</a:t>
            </a:r>
            <a:r>
              <a:rPr>
                <a:solidFill>
                  <a:srgbClr val="CCCCCC"/>
                </a:solidFill>
              </a:rPr>
              <a:t>, </a:t>
            </a:r>
            <a:r>
              <a:rPr>
                <a:solidFill>
                  <a:srgbClr val="DCDCAA"/>
                </a:solidFill>
              </a:rPr>
              <a:t>len</a:t>
            </a:r>
            <a:r>
              <a:rPr>
                <a:solidFill>
                  <a:srgbClr val="CCCCCC"/>
                </a:solidFill>
              </a:rPr>
              <a:t>(precios)):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ganancia </a:t>
            </a:r>
            <a:r>
              <a:rPr>
                <a:solidFill>
                  <a:srgbClr val="D4D4D4"/>
                </a:solidFill>
              </a:rPr>
              <a:t>=</a:t>
            </a:r>
            <a:r>
              <a:t> precios[venta] </a:t>
            </a:r>
            <a:r>
              <a:rPr>
                <a:solidFill>
                  <a:srgbClr val="D4D4D4"/>
                </a:solidFill>
              </a:rPr>
              <a:t>-</a:t>
            </a:r>
            <a:r>
              <a:t> precios[compra]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ganancia </a:t>
            </a:r>
            <a:r>
              <a:rPr>
                <a:solidFill>
                  <a:srgbClr val="D4D4D4"/>
                </a:solidFill>
              </a:rPr>
              <a:t>&gt;</a:t>
            </a:r>
            <a:r>
              <a:t> mejor: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mejor </a:t>
            </a:r>
            <a:r>
              <a:rPr>
                <a:solidFill>
                  <a:srgbClr val="D4D4D4"/>
                </a:solidFill>
              </a:rPr>
              <a:t>=</a:t>
            </a:r>
            <a:r>
              <a:t> ganancia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mejor</a:t>
            </a:r>
          </a:p>
        </p:txBody>
      </p:sp>
      <p:sp>
        <p:nvSpPr>
          <p:cNvPr id="150" name="Rounded Rectangle 7"/>
          <p:cNvSpPr/>
          <p:nvPr/>
        </p:nvSpPr>
        <p:spPr>
          <a:xfrm>
            <a:off x="6263640" y="1325880"/>
            <a:ext cx="5303521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8"/>
          <p:cNvSpPr txBox="1"/>
          <p:nvPr/>
        </p:nvSpPr>
        <p:spPr>
          <a:xfrm>
            <a:off x="6492240" y="1435607"/>
            <a:ext cx="13067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menos memoria</a:t>
            </a:r>
          </a:p>
        </p:txBody>
      </p:sp>
      <p:sp>
        <p:nvSpPr>
          <p:cNvPr id="152" name="Rounded Rectangle 10"/>
          <p:cNvSpPr/>
          <p:nvPr/>
        </p:nvSpPr>
        <p:spPr>
          <a:xfrm>
            <a:off x="731519" y="5715000"/>
            <a:ext cx="4937761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11"/>
          <p:cNvSpPr txBox="1"/>
          <p:nvPr/>
        </p:nvSpPr>
        <p:spPr>
          <a:xfrm>
            <a:off x="960119" y="5852159"/>
            <a:ext cx="228030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lista auxiliar: O(n) espacio</a:t>
            </a:r>
          </a:p>
        </p:txBody>
      </p:sp>
      <p:sp>
        <p:nvSpPr>
          <p:cNvPr id="154" name="Rounded Rectangle 13"/>
          <p:cNvSpPr/>
          <p:nvPr/>
        </p:nvSpPr>
        <p:spPr>
          <a:xfrm>
            <a:off x="6492240" y="5715000"/>
            <a:ext cx="49377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4"/>
          <p:cNvSpPr txBox="1"/>
          <p:nvPr/>
        </p:nvSpPr>
        <p:spPr>
          <a:xfrm>
            <a:off x="6720839" y="5852159"/>
            <a:ext cx="23594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dos variables: O(1) espacio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2"/>
          <p:cNvSpPr txBox="1"/>
          <p:nvPr/>
        </p:nvSpPr>
        <p:spPr>
          <a:xfrm>
            <a:off x="594359" y="228600"/>
            <a:ext cx="4016349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Ejercicio · Majority Element</a:t>
            </a:r>
          </a:p>
        </p:txBody>
      </p:sp>
      <p:sp>
        <p:nvSpPr>
          <p:cNvPr id="159" name="TextBox 3"/>
          <p:cNvSpPr txBox="1"/>
          <p:nvPr/>
        </p:nvSpPr>
        <p:spPr>
          <a:xfrm>
            <a:off x="621791" y="859536"/>
            <a:ext cx="125056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[2,2,1,1,1,2,2] → 2</a:t>
            </a:r>
          </a:p>
        </p:txBody>
      </p:sp>
      <p:sp>
        <p:nvSpPr>
          <p:cNvPr id="160" name="Rounded Rectangle 4"/>
          <p:cNvSpPr/>
          <p:nvPr/>
        </p:nvSpPr>
        <p:spPr>
          <a:xfrm>
            <a:off x="594359" y="1325880"/>
            <a:ext cx="5303522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5"/>
          <p:cNvSpPr txBox="1"/>
          <p:nvPr/>
        </p:nvSpPr>
        <p:spPr>
          <a:xfrm>
            <a:off x="822959" y="1435607"/>
            <a:ext cx="121328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memoria extra</a:t>
            </a:r>
          </a:p>
        </p:txBody>
      </p:sp>
      <p:sp>
        <p:nvSpPr>
          <p:cNvPr id="162" name="TextBox 6"/>
          <p:cNvSpPr txBox="1"/>
          <p:nvPr/>
        </p:nvSpPr>
        <p:spPr>
          <a:xfrm>
            <a:off x="646897" y="1807629"/>
            <a:ext cx="5198446" cy="293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A: contar cuántas veces aparece cada número </a:t>
            </a: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con un diccionario.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Tiempo O(n), pero memoria O(n) por el diccionario.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elemento_mayoritario_con_diccionario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conteo </a:t>
            </a:r>
            <a:r>
              <a:rPr>
                <a:solidFill>
                  <a:srgbClr val="D4D4D4"/>
                </a:solidFill>
              </a:rPr>
              <a:t>=</a:t>
            </a:r>
            <a:r>
              <a:t> {}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numero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nums: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numero </a:t>
            </a:r>
            <a:r>
              <a:rPr>
                <a:solidFill>
                  <a:srgbClr val="569CD6"/>
                </a:solidFill>
              </a:rPr>
              <a:t>in</a:t>
            </a:r>
            <a:r>
              <a:t> conteo: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conteo[numero] </a:t>
            </a:r>
            <a:r>
              <a:rPr>
                <a:solidFill>
                  <a:srgbClr val="D4D4D4"/>
                </a:solidFill>
              </a:rPr>
              <a:t>=</a:t>
            </a:r>
            <a:r>
              <a:t> conteo[numero] </a:t>
            </a:r>
            <a:r>
              <a:rPr>
                <a:solidFill>
                  <a:srgbClr val="D4D4D4"/>
                </a:solidFill>
              </a:rPr>
              <a:t>+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else</a:t>
            </a:r>
            <a:r>
              <a:t>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conteo[numero] </a:t>
            </a:r>
            <a:r>
              <a:rPr>
                <a:solidFill>
                  <a:srgbClr val="D4D4D4"/>
                </a:solidFill>
              </a:rPr>
              <a:t>=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numero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conteo: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conteo[numero] </a:t>
            </a:r>
            <a:r>
              <a:rPr>
                <a:solidFill>
                  <a:srgbClr val="D4D4D4"/>
                </a:solidFill>
              </a:rPr>
              <a:t>&gt;</a:t>
            </a:r>
            <a:r>
              <a:t> 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 </a:t>
            </a:r>
            <a:r>
              <a:rPr>
                <a:solidFill>
                  <a:srgbClr val="D4D4D4"/>
                </a:solidFill>
              </a:rPr>
              <a:t>/</a:t>
            </a:r>
            <a:r>
              <a:t> </a:t>
            </a:r>
            <a:r>
              <a:rPr>
                <a:solidFill>
                  <a:srgbClr val="B5CEA8"/>
                </a:solidFill>
              </a:rPr>
              <a:t>2</a:t>
            </a:r>
            <a:r>
              <a:t>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numero</a:t>
            </a:r>
          </a:p>
        </p:txBody>
      </p:sp>
      <p:sp>
        <p:nvSpPr>
          <p:cNvPr id="163" name="Rounded Rectangle 7"/>
          <p:cNvSpPr/>
          <p:nvPr/>
        </p:nvSpPr>
        <p:spPr>
          <a:xfrm>
            <a:off x="6263640" y="1325880"/>
            <a:ext cx="5303521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8"/>
          <p:cNvSpPr txBox="1"/>
          <p:nvPr/>
        </p:nvSpPr>
        <p:spPr>
          <a:xfrm>
            <a:off x="6492240" y="1435607"/>
            <a:ext cx="13067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menos memoria</a:t>
            </a:r>
          </a:p>
        </p:txBody>
      </p:sp>
      <p:sp>
        <p:nvSpPr>
          <p:cNvPr id="165" name="Rounded Rectangle 10"/>
          <p:cNvSpPr/>
          <p:nvPr/>
        </p:nvSpPr>
        <p:spPr>
          <a:xfrm>
            <a:off x="731519" y="5715000"/>
            <a:ext cx="4937761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11"/>
          <p:cNvSpPr txBox="1"/>
          <p:nvPr/>
        </p:nvSpPr>
        <p:spPr>
          <a:xfrm>
            <a:off x="960119" y="5852159"/>
            <a:ext cx="157644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dict: O(n) espacio</a:t>
            </a:r>
          </a:p>
        </p:txBody>
      </p:sp>
      <p:sp>
        <p:nvSpPr>
          <p:cNvPr id="167" name="Rounded Rectangle 13"/>
          <p:cNvSpPr/>
          <p:nvPr/>
        </p:nvSpPr>
        <p:spPr>
          <a:xfrm>
            <a:off x="6492240" y="5715000"/>
            <a:ext cx="49377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6720839" y="5852159"/>
            <a:ext cx="237297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Boyer-Moore: O(1) espacio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"/>
          <p:cNvSpPr txBox="1"/>
          <p:nvPr/>
        </p:nvSpPr>
        <p:spPr>
          <a:xfrm>
            <a:off x="594359" y="228600"/>
            <a:ext cx="2834449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Ejercicio · Two Sum</a:t>
            </a:r>
          </a:p>
        </p:txBody>
      </p:sp>
      <p:sp>
        <p:nvSpPr>
          <p:cNvPr id="172" name="TextBox 3"/>
          <p:cNvSpPr txBox="1"/>
          <p:nvPr/>
        </p:nvSpPr>
        <p:spPr>
          <a:xfrm>
            <a:off x="621791" y="859536"/>
            <a:ext cx="185123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[2,7,11,15], target=9 → True</a:t>
            </a:r>
          </a:p>
        </p:txBody>
      </p:sp>
      <p:sp>
        <p:nvSpPr>
          <p:cNvPr id="173" name="Rounded Rectangle 4"/>
          <p:cNvSpPr/>
          <p:nvPr/>
        </p:nvSpPr>
        <p:spPr>
          <a:xfrm>
            <a:off x="594359" y="1325880"/>
            <a:ext cx="5303522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5"/>
          <p:cNvSpPr txBox="1"/>
          <p:nvPr/>
        </p:nvSpPr>
        <p:spPr>
          <a:xfrm>
            <a:off x="822959" y="1435607"/>
            <a:ext cx="121328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memoria extra</a:t>
            </a:r>
          </a:p>
        </p:txBody>
      </p:sp>
      <p:sp>
        <p:nvSpPr>
          <p:cNvPr id="175" name="TextBox 6"/>
          <p:cNvSpPr txBox="1"/>
          <p:nvPr/>
        </p:nvSpPr>
        <p:spPr>
          <a:xfrm>
            <a:off x="841247" y="1801367"/>
            <a:ext cx="4233006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A: probar todas las parejas.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Memoria O(1), pero tiempo O(n²).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dos_sumas_dos_ciclos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, </a:t>
            </a:r>
            <a:r>
              <a:rPr>
                <a:solidFill>
                  <a:srgbClr val="9CDCFE"/>
                </a:solidFill>
              </a:rPr>
              <a:t>objetivo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i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j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(i </a:t>
            </a:r>
            <a:r>
              <a:rPr>
                <a:solidFill>
                  <a:srgbClr val="D4D4D4"/>
                </a:solidFill>
              </a:rPr>
              <a:t>+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  <a:r>
              <a:t>, 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nums[i] </a:t>
            </a:r>
            <a:r>
              <a:rPr>
                <a:solidFill>
                  <a:srgbClr val="D4D4D4"/>
                </a:solidFill>
              </a:rPr>
              <a:t>+</a:t>
            </a:r>
            <a:r>
              <a:t> nums[j] </a:t>
            </a:r>
            <a:r>
              <a:rPr>
                <a:solidFill>
                  <a:srgbClr val="D4D4D4"/>
                </a:solidFill>
              </a:rPr>
              <a:t>==</a:t>
            </a:r>
            <a:r>
              <a:t> objetivo: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[i, j]</a:t>
            </a:r>
          </a:p>
        </p:txBody>
      </p:sp>
      <p:sp>
        <p:nvSpPr>
          <p:cNvPr id="176" name="Rounded Rectangle 7"/>
          <p:cNvSpPr/>
          <p:nvPr/>
        </p:nvSpPr>
        <p:spPr>
          <a:xfrm>
            <a:off x="6263640" y="1325880"/>
            <a:ext cx="5303521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8"/>
          <p:cNvSpPr txBox="1"/>
          <p:nvPr/>
        </p:nvSpPr>
        <p:spPr>
          <a:xfrm>
            <a:off x="6492240" y="1435607"/>
            <a:ext cx="13067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menos memoria</a:t>
            </a:r>
          </a:p>
        </p:txBody>
      </p:sp>
      <p:sp>
        <p:nvSpPr>
          <p:cNvPr id="178" name="Rounded Rectangle 10"/>
          <p:cNvSpPr/>
          <p:nvPr/>
        </p:nvSpPr>
        <p:spPr>
          <a:xfrm>
            <a:off x="731519" y="5715000"/>
            <a:ext cx="4937761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11"/>
          <p:cNvSpPr txBox="1"/>
          <p:nvPr/>
        </p:nvSpPr>
        <p:spPr>
          <a:xfrm>
            <a:off x="960119" y="5852159"/>
            <a:ext cx="263501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set: O(n) espacio, O(n) tiempo</a:t>
            </a:r>
          </a:p>
        </p:txBody>
      </p:sp>
      <p:sp>
        <p:nvSpPr>
          <p:cNvPr id="180" name="Rounded Rectangle 13"/>
          <p:cNvSpPr/>
          <p:nvPr/>
        </p:nvSpPr>
        <p:spPr>
          <a:xfrm>
            <a:off x="6492240" y="5715000"/>
            <a:ext cx="49377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4"/>
          <p:cNvSpPr txBox="1"/>
          <p:nvPr/>
        </p:nvSpPr>
        <p:spPr>
          <a:xfrm>
            <a:off x="6720839" y="5852159"/>
            <a:ext cx="291490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sin set: O(1) espacio, O(n) tiempo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2"/>
          <p:cNvSpPr txBox="1"/>
          <p:nvPr/>
        </p:nvSpPr>
        <p:spPr>
          <a:xfrm>
            <a:off x="594359" y="228600"/>
            <a:ext cx="536769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Ejercicio · Find the Duplicate Number</a:t>
            </a:r>
          </a:p>
        </p:txBody>
      </p:sp>
      <p:sp>
        <p:nvSpPr>
          <p:cNvPr id="185" name="TextBox 3"/>
          <p:cNvSpPr txBox="1"/>
          <p:nvPr/>
        </p:nvSpPr>
        <p:spPr>
          <a:xfrm>
            <a:off x="621791" y="859536"/>
            <a:ext cx="110136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[1,2,3,1] → True</a:t>
            </a:r>
          </a:p>
        </p:txBody>
      </p:sp>
      <p:sp>
        <p:nvSpPr>
          <p:cNvPr id="186" name="Rounded Rectangle 4"/>
          <p:cNvSpPr/>
          <p:nvPr/>
        </p:nvSpPr>
        <p:spPr>
          <a:xfrm>
            <a:off x="594359" y="1325880"/>
            <a:ext cx="5466080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5"/>
          <p:cNvSpPr txBox="1"/>
          <p:nvPr/>
        </p:nvSpPr>
        <p:spPr>
          <a:xfrm>
            <a:off x="822959" y="1435607"/>
            <a:ext cx="121328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memoria extra</a:t>
            </a:r>
          </a:p>
        </p:txBody>
      </p:sp>
      <p:sp>
        <p:nvSpPr>
          <p:cNvPr id="188" name="TextBox 6"/>
          <p:cNvSpPr txBox="1"/>
          <p:nvPr/>
        </p:nvSpPr>
        <p:spPr>
          <a:xfrm>
            <a:off x="614505" y="1852019"/>
            <a:ext cx="5425788" cy="311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A: comparar cada par.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modifica nums y usa memoria O(1), pero tiempo O(n²).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encontrar_repetido_dos_ciclos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i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j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</a:t>
            </a:r>
            <a:r>
              <a:rPr>
                <a:solidFill>
                  <a:srgbClr val="DCDCAA"/>
                </a:solidFill>
              </a:rPr>
              <a:t>range</a:t>
            </a:r>
            <a:r>
              <a:t>(i </a:t>
            </a:r>
            <a:r>
              <a:rPr>
                <a:solidFill>
                  <a:srgbClr val="D4D4D4"/>
                </a:solidFill>
              </a:rPr>
              <a:t>+</a:t>
            </a:r>
            <a:r>
              <a:t> </a:t>
            </a:r>
            <a:r>
              <a:rPr>
                <a:solidFill>
                  <a:srgbClr val="B5CEA8"/>
                </a:solidFill>
              </a:rPr>
              <a:t>1</a:t>
            </a:r>
            <a:r>
              <a:t>, </a:t>
            </a:r>
            <a:r>
              <a:rPr>
                <a:solidFill>
                  <a:srgbClr val="DCDCAA"/>
                </a:solidFill>
              </a:rPr>
              <a:t>len</a:t>
            </a:r>
            <a:r>
              <a:t>(nums)):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nums[i] </a:t>
            </a:r>
            <a:r>
              <a:rPr>
                <a:solidFill>
                  <a:srgbClr val="D4D4D4"/>
                </a:solidFill>
              </a:rPr>
              <a:t>==</a:t>
            </a:r>
            <a:r>
              <a:t> nums[j]: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nums[i]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No válida B: guardar en un set los números que ya vimos.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6A995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Tiempo O(n), pero memoria O(n) por el set.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DCDCA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569CD6"/>
                </a:solidFill>
              </a:rPr>
              <a:t>def</a:t>
            </a:r>
            <a:r>
              <a:rPr>
                <a:solidFill>
                  <a:srgbClr val="CCCCCC"/>
                </a:solidFill>
              </a:rPr>
              <a:t> </a:t>
            </a:r>
            <a:r>
              <a:t>encontrar_repetido_con_set</a:t>
            </a:r>
            <a:r>
              <a:rPr>
                <a:solidFill>
                  <a:srgbClr val="CCCCCC"/>
                </a:solidFill>
              </a:rPr>
              <a:t>(</a:t>
            </a:r>
            <a:r>
              <a:rPr>
                <a:solidFill>
                  <a:srgbClr val="9CDCFE"/>
                </a:solidFill>
              </a:rPr>
              <a:t>nums</a:t>
            </a:r>
            <a:r>
              <a:rPr>
                <a:solidFill>
                  <a:srgbClr val="CCCCCC"/>
                </a:solidFill>
              </a:rPr>
              <a:t>):</a:t>
            </a:r>
            <a:endParaRPr>
              <a:solidFill>
                <a:srgbClr val="CCCCCC"/>
              </a:solidFill>
            </a:endParaRP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vistos </a:t>
            </a:r>
            <a:r>
              <a:rPr>
                <a:solidFill>
                  <a:srgbClr val="D4D4D4"/>
                </a:solidFill>
              </a:rPr>
              <a:t>=</a:t>
            </a:r>
            <a:r>
              <a:t> </a:t>
            </a:r>
            <a:r>
              <a:rPr>
                <a:solidFill>
                  <a:srgbClr val="4EC9B0"/>
                </a:solidFill>
              </a:rPr>
              <a:t>set</a:t>
            </a:r>
            <a:r>
              <a:t>()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C586C0"/>
                </a:solidFill>
              </a:rPr>
              <a:t>for</a:t>
            </a:r>
            <a:r>
              <a:t> numero </a:t>
            </a:r>
            <a:r>
              <a:rPr>
                <a:solidFill>
                  <a:srgbClr val="C586C0"/>
                </a:solidFill>
              </a:rPr>
              <a:t>in</a:t>
            </a:r>
            <a:r>
              <a:t> nums: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C586C0"/>
                </a:solidFill>
              </a:rPr>
              <a:t>if</a:t>
            </a:r>
            <a:r>
              <a:t> numero </a:t>
            </a:r>
            <a:r>
              <a:rPr>
                <a:solidFill>
                  <a:srgbClr val="569CD6"/>
                </a:solidFill>
              </a:rPr>
              <a:t>in</a:t>
            </a:r>
            <a:r>
              <a:t> vistos: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C586C0"/>
                </a:solidFill>
              </a:rPr>
              <a:t>return</a:t>
            </a:r>
            <a:r>
              <a:t> numero</a:t>
            </a:r>
          </a:p>
          <a:p>
            <a:pPr>
              <a:defRPr sz="1200">
                <a:solidFill>
                  <a:srgbClr val="CCCCC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vistos.add(numero)</a:t>
            </a:r>
          </a:p>
        </p:txBody>
      </p:sp>
      <p:sp>
        <p:nvSpPr>
          <p:cNvPr id="189" name="Rounded Rectangle 7"/>
          <p:cNvSpPr/>
          <p:nvPr/>
        </p:nvSpPr>
        <p:spPr>
          <a:xfrm>
            <a:off x="6263640" y="1325880"/>
            <a:ext cx="5303521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8"/>
          <p:cNvSpPr txBox="1"/>
          <p:nvPr/>
        </p:nvSpPr>
        <p:spPr>
          <a:xfrm>
            <a:off x="6492240" y="1435607"/>
            <a:ext cx="13067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Con menos memoria</a:t>
            </a:r>
          </a:p>
        </p:txBody>
      </p:sp>
      <p:sp>
        <p:nvSpPr>
          <p:cNvPr id="191" name="Rounded Rectangle 10"/>
          <p:cNvSpPr/>
          <p:nvPr/>
        </p:nvSpPr>
        <p:spPr>
          <a:xfrm>
            <a:off x="731519" y="5715000"/>
            <a:ext cx="4937761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1"/>
          <p:cNvSpPr txBox="1"/>
          <p:nvPr/>
        </p:nvSpPr>
        <p:spPr>
          <a:xfrm>
            <a:off x="960119" y="5852159"/>
            <a:ext cx="263501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set: O(n) espacio, O(n) tiempo</a:t>
            </a:r>
          </a:p>
        </p:txBody>
      </p:sp>
      <p:sp>
        <p:nvSpPr>
          <p:cNvPr id="193" name="Rounded Rectangle 13"/>
          <p:cNvSpPr/>
          <p:nvPr/>
        </p:nvSpPr>
        <p:spPr>
          <a:xfrm>
            <a:off x="6492240" y="5715000"/>
            <a:ext cx="49377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14"/>
          <p:cNvSpPr txBox="1"/>
          <p:nvPr/>
        </p:nvSpPr>
        <p:spPr>
          <a:xfrm>
            <a:off x="6720839" y="5852159"/>
            <a:ext cx="337131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6A34A"/>
                </a:solidFill>
              </a:defRPr>
            </a:lvl1pPr>
          </a:lstStyle>
          <a:p>
            <a:pPr/>
            <a:r>
              <a:t>sin set: O(1) espacio, O(n log n) tiempo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"/>
          <p:cNvSpPr txBox="1"/>
          <p:nvPr/>
        </p:nvSpPr>
        <p:spPr>
          <a:xfrm>
            <a:off x="594359" y="228600"/>
            <a:ext cx="4790721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Qué aprendimos de los ejercicios</a:t>
            </a:r>
          </a:p>
        </p:txBody>
      </p:sp>
      <p:sp>
        <p:nvSpPr>
          <p:cNvPr id="198" name="Rounded Rectangle 3"/>
          <p:cNvSpPr/>
          <p:nvPr/>
        </p:nvSpPr>
        <p:spPr>
          <a:xfrm>
            <a:off x="640080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4"/>
          <p:cNvSpPr txBox="1"/>
          <p:nvPr/>
        </p:nvSpPr>
        <p:spPr>
          <a:xfrm>
            <a:off x="868678" y="1600200"/>
            <a:ext cx="119971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Matemáticas</a:t>
            </a:r>
          </a:p>
        </p:txBody>
      </p:sp>
      <p:sp>
        <p:nvSpPr>
          <p:cNvPr id="200" name="TextBox 5"/>
          <p:cNvSpPr txBox="1"/>
          <p:nvPr/>
        </p:nvSpPr>
        <p:spPr>
          <a:xfrm>
            <a:off x="868678" y="2057400"/>
            <a:ext cx="2945990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Missing Number elimina una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estructura auxiliar usando una fórmula.</a:t>
            </a:r>
          </a:p>
        </p:txBody>
      </p:sp>
      <p:sp>
        <p:nvSpPr>
          <p:cNvPr id="201" name="Rounded Rectangle 6"/>
          <p:cNvSpPr/>
          <p:nvPr/>
        </p:nvSpPr>
        <p:spPr>
          <a:xfrm>
            <a:off x="4370832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7"/>
          <p:cNvSpPr txBox="1"/>
          <p:nvPr/>
        </p:nvSpPr>
        <p:spPr>
          <a:xfrm>
            <a:off x="4599432" y="1600200"/>
            <a:ext cx="95781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Invariante</a:t>
            </a:r>
          </a:p>
        </p:txBody>
      </p:sp>
      <p:sp>
        <p:nvSpPr>
          <p:cNvPr id="203" name="TextBox 8"/>
          <p:cNvSpPr txBox="1"/>
          <p:nvPr/>
        </p:nvSpPr>
        <p:spPr>
          <a:xfrm>
            <a:off x="4599432" y="2057400"/>
            <a:ext cx="2452611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Majority y Max Profit conservan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únicamente el estado necesario.</a:t>
            </a:r>
          </a:p>
        </p:txBody>
      </p:sp>
      <p:sp>
        <p:nvSpPr>
          <p:cNvPr id="204" name="Rounded Rectangle 9"/>
          <p:cNvSpPr/>
          <p:nvPr/>
        </p:nvSpPr>
        <p:spPr>
          <a:xfrm>
            <a:off x="8101583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0"/>
          <p:cNvSpPr txBox="1"/>
          <p:nvPr/>
        </p:nvSpPr>
        <p:spPr>
          <a:xfrm>
            <a:off x="8330183" y="1600200"/>
            <a:ext cx="153041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Sacrificar tiempo</a:t>
            </a:r>
          </a:p>
        </p:txBody>
      </p:sp>
      <p:sp>
        <p:nvSpPr>
          <p:cNvPr id="206" name="TextBox 11"/>
          <p:cNvSpPr txBox="1"/>
          <p:nvPr/>
        </p:nvSpPr>
        <p:spPr>
          <a:xfrm>
            <a:off x="8330183" y="2057400"/>
            <a:ext cx="2842070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Two Sum puede ahorrar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memoria usando más comparaciones.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2"/>
          <p:cNvSpPr txBox="1"/>
          <p:nvPr/>
        </p:nvSpPr>
        <p:spPr>
          <a:xfrm>
            <a:off x="594359" y="228600"/>
            <a:ext cx="631870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Contenido oficial: expresiones y operadores</a:t>
            </a:r>
          </a:p>
        </p:txBody>
      </p:sp>
      <p:sp>
        <p:nvSpPr>
          <p:cNvPr id="210" name="Rounded Rectangle 3"/>
          <p:cNvSpPr/>
          <p:nvPr/>
        </p:nvSpPr>
        <p:spPr>
          <a:xfrm>
            <a:off x="640080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4"/>
          <p:cNvSpPr txBox="1"/>
          <p:nvPr/>
        </p:nvSpPr>
        <p:spPr>
          <a:xfrm>
            <a:off x="868678" y="1600200"/>
            <a:ext cx="10807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Aritméticos</a:t>
            </a:r>
          </a:p>
        </p:txBody>
      </p:sp>
      <p:sp>
        <p:nvSpPr>
          <p:cNvPr id="212" name="TextBox 5"/>
          <p:cNvSpPr txBox="1"/>
          <p:nvPr/>
        </p:nvSpPr>
        <p:spPr>
          <a:xfrm>
            <a:off x="868678" y="2057400"/>
            <a:ext cx="307044" cy="157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+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-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/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//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%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**</a:t>
            </a:r>
          </a:p>
        </p:txBody>
      </p:sp>
      <p:sp>
        <p:nvSpPr>
          <p:cNvPr id="213" name="Rounded Rectangle 6"/>
          <p:cNvSpPr/>
          <p:nvPr/>
        </p:nvSpPr>
        <p:spPr>
          <a:xfrm>
            <a:off x="4370832" y="1463039"/>
            <a:ext cx="3474721" cy="2759315"/>
          </a:xfrm>
          <a:prstGeom prst="roundRect">
            <a:avLst>
              <a:gd name="adj" fmla="val 1436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7"/>
          <p:cNvSpPr txBox="1"/>
          <p:nvPr/>
        </p:nvSpPr>
        <p:spPr>
          <a:xfrm>
            <a:off x="4599432" y="1600200"/>
            <a:ext cx="11548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0D9488"/>
                </a:solidFill>
              </a:defRPr>
            </a:lvl1pPr>
          </a:lstStyle>
          <a:p>
            <a:pPr/>
            <a:r>
              <a:t>Relacionales</a:t>
            </a:r>
          </a:p>
        </p:txBody>
      </p:sp>
      <p:sp>
        <p:nvSpPr>
          <p:cNvPr id="215" name="TextBox 8"/>
          <p:cNvSpPr txBox="1"/>
          <p:nvPr/>
        </p:nvSpPr>
        <p:spPr>
          <a:xfrm>
            <a:off x="4599432" y="2057400"/>
            <a:ext cx="352485" cy="157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==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!=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&gt;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&lt;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&gt;=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&lt;=</a:t>
            </a:r>
          </a:p>
        </p:txBody>
      </p:sp>
      <p:sp>
        <p:nvSpPr>
          <p:cNvPr id="216" name="Rounded Rectangle 9"/>
          <p:cNvSpPr/>
          <p:nvPr/>
        </p:nvSpPr>
        <p:spPr>
          <a:xfrm>
            <a:off x="8101583" y="1463039"/>
            <a:ext cx="3474721" cy="2759315"/>
          </a:xfrm>
          <a:prstGeom prst="roundRect">
            <a:avLst>
              <a:gd name="adj" fmla="val 1436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10"/>
          <p:cNvSpPr txBox="1"/>
          <p:nvPr/>
        </p:nvSpPr>
        <p:spPr>
          <a:xfrm>
            <a:off x="8330183" y="1600200"/>
            <a:ext cx="178927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Lógicos / asignación</a:t>
            </a:r>
          </a:p>
        </p:txBody>
      </p:sp>
      <p:sp>
        <p:nvSpPr>
          <p:cNvPr id="218" name="TextBox 11"/>
          <p:cNvSpPr txBox="1"/>
          <p:nvPr/>
        </p:nvSpPr>
        <p:spPr>
          <a:xfrm>
            <a:off x="8330183" y="2057400"/>
            <a:ext cx="460931" cy="207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and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or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not</a:t>
            </a:r>
            <a:br/>
            <a:r>
              <a:t>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+=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-=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*=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/=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594359" y="228600"/>
            <a:ext cx="1802401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Expresiones</a:t>
            </a:r>
          </a:p>
        </p:txBody>
      </p:sp>
      <p:sp>
        <p:nvSpPr>
          <p:cNvPr id="222" name="Rounded Rectangle 3"/>
          <p:cNvSpPr/>
          <p:nvPr/>
        </p:nvSpPr>
        <p:spPr>
          <a:xfrm>
            <a:off x="731519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TextBox 4"/>
          <p:cNvSpPr txBox="1"/>
          <p:nvPr/>
        </p:nvSpPr>
        <p:spPr>
          <a:xfrm>
            <a:off x="960119" y="1508760"/>
            <a:ext cx="62255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Válida</a:t>
            </a:r>
          </a:p>
        </p:txBody>
      </p:sp>
      <p:sp>
        <p:nvSpPr>
          <p:cNvPr id="224" name="TextBox 5"/>
          <p:cNvSpPr txBox="1"/>
          <p:nvPr/>
        </p:nvSpPr>
        <p:spPr>
          <a:xfrm>
            <a:off x="960119" y="1965960"/>
            <a:ext cx="1709811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(a + b) * 2</a:t>
            </a:r>
            <a:br/>
            <a:br/>
            <a:r>
              <a:t>Produce un valor.</a:t>
            </a:r>
          </a:p>
        </p:txBody>
      </p:sp>
      <p:sp>
        <p:nvSpPr>
          <p:cNvPr id="225" name="Rounded Rectangle 6"/>
          <p:cNvSpPr/>
          <p:nvPr/>
        </p:nvSpPr>
        <p:spPr>
          <a:xfrm>
            <a:off x="6263640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7"/>
          <p:cNvSpPr txBox="1"/>
          <p:nvPr/>
        </p:nvSpPr>
        <p:spPr>
          <a:xfrm>
            <a:off x="6492240" y="1508760"/>
            <a:ext cx="76712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DC2626"/>
                </a:solidFill>
              </a:defRPr>
            </a:lvl1pPr>
          </a:lstStyle>
          <a:p>
            <a:pPr/>
            <a:r>
              <a:t>Inválida</a:t>
            </a:r>
          </a:p>
        </p:txBody>
      </p:sp>
      <p:sp>
        <p:nvSpPr>
          <p:cNvPr id="227" name="TextBox 8"/>
          <p:cNvSpPr txBox="1"/>
          <p:nvPr/>
        </p:nvSpPr>
        <p:spPr>
          <a:xfrm>
            <a:off x="6492240" y="1965960"/>
            <a:ext cx="2795437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a + (</a:t>
            </a:r>
            <a:br/>
            <a:br/>
            <a:r>
              <a:t>Está incompleta: SyntaxError.</a:t>
            </a:r>
          </a:p>
        </p:txBody>
      </p:sp>
      <p:sp>
        <p:nvSpPr>
          <p:cNvPr id="228" name="Rounded Rectangle 9"/>
          <p:cNvSpPr/>
          <p:nvPr/>
        </p:nvSpPr>
        <p:spPr>
          <a:xfrm>
            <a:off x="1463039" y="4937759"/>
            <a:ext cx="9235442" cy="907764"/>
          </a:xfrm>
          <a:prstGeom prst="roundRect">
            <a:avLst>
              <a:gd name="adj" fmla="val 1511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0"/>
          <p:cNvSpPr txBox="1"/>
          <p:nvPr/>
        </p:nvSpPr>
        <p:spPr>
          <a:xfrm>
            <a:off x="1691639" y="5074920"/>
            <a:ext cx="79093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0D9488"/>
                </a:solidFill>
              </a:defRPr>
            </a:lvl1pPr>
          </a:lstStyle>
          <a:p>
            <a:pPr/>
            <a:r>
              <a:t>Ejemplo</a:t>
            </a:r>
          </a:p>
        </p:txBody>
      </p:sp>
      <p:sp>
        <p:nvSpPr>
          <p:cNvPr id="230" name="TextBox 11"/>
          <p:cNvSpPr txBox="1"/>
          <p:nvPr/>
        </p:nvSpPr>
        <p:spPr>
          <a:xfrm>
            <a:off x="1691639" y="5532120"/>
            <a:ext cx="143803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base * altura /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2"/>
          <p:cNvSpPr txBox="1"/>
          <p:nvPr/>
        </p:nvSpPr>
        <p:spPr>
          <a:xfrm>
            <a:off x="594359" y="228600"/>
            <a:ext cx="345913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Operadores aritméticos</a:t>
            </a:r>
          </a:p>
        </p:txBody>
      </p:sp>
      <p:sp>
        <p:nvSpPr>
          <p:cNvPr id="234" name="Rounded Rectangle 3"/>
          <p:cNvSpPr/>
          <p:nvPr/>
        </p:nvSpPr>
        <p:spPr>
          <a:xfrm>
            <a:off x="640080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4"/>
          <p:cNvSpPr txBox="1"/>
          <p:nvPr/>
        </p:nvSpPr>
        <p:spPr>
          <a:xfrm>
            <a:off x="868678" y="1600200"/>
            <a:ext cx="251283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+ </a:t>
            </a:r>
          </a:p>
          <a:p>
            <a:pPr>
              <a:defRPr b="1" sz="1600">
                <a:solidFill>
                  <a:srgbClr val="2563EB"/>
                </a:solidFill>
              </a:defRPr>
            </a:pPr>
            <a:r>
              <a:t>- </a:t>
            </a:r>
          </a:p>
          <a:p>
            <a:pPr>
              <a:defRPr b="1" sz="1600">
                <a:solidFill>
                  <a:srgbClr val="2563EB"/>
                </a:solidFill>
              </a:defRPr>
            </a:pPr>
            <a:r>
              <a:t>*</a:t>
            </a:r>
          </a:p>
        </p:txBody>
      </p:sp>
      <p:sp>
        <p:nvSpPr>
          <p:cNvPr id="236" name="TextBox 5"/>
          <p:cNvSpPr txBox="1"/>
          <p:nvPr/>
        </p:nvSpPr>
        <p:spPr>
          <a:xfrm>
            <a:off x="868678" y="2362200"/>
            <a:ext cx="2260475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suma · resta · multiplicación</a:t>
            </a:r>
          </a:p>
        </p:txBody>
      </p:sp>
      <p:sp>
        <p:nvSpPr>
          <p:cNvPr id="237" name="Rounded Rectangle 6"/>
          <p:cNvSpPr/>
          <p:nvPr/>
        </p:nvSpPr>
        <p:spPr>
          <a:xfrm>
            <a:off x="4370832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7"/>
          <p:cNvSpPr txBox="1"/>
          <p:nvPr/>
        </p:nvSpPr>
        <p:spPr>
          <a:xfrm>
            <a:off x="4599432" y="1600200"/>
            <a:ext cx="324704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0D9488"/>
                </a:solidFill>
              </a:defRPr>
            </a:pPr>
            <a:r>
              <a:t>/ </a:t>
            </a:r>
          </a:p>
          <a:p>
            <a:pPr>
              <a:defRPr b="1" sz="1600">
                <a:solidFill>
                  <a:srgbClr val="0D9488"/>
                </a:solidFill>
              </a:defRPr>
            </a:pPr>
            <a:r>
              <a:t>// </a:t>
            </a:r>
          </a:p>
          <a:p>
            <a:pPr>
              <a:defRPr b="1" sz="1600">
                <a:solidFill>
                  <a:srgbClr val="0D9488"/>
                </a:solidFill>
              </a:defRPr>
            </a:pPr>
            <a:r>
              <a:t>%</a:t>
            </a:r>
          </a:p>
        </p:txBody>
      </p:sp>
      <p:sp>
        <p:nvSpPr>
          <p:cNvPr id="239" name="TextBox 8"/>
          <p:cNvSpPr txBox="1"/>
          <p:nvPr/>
        </p:nvSpPr>
        <p:spPr>
          <a:xfrm>
            <a:off x="4599432" y="2413000"/>
            <a:ext cx="20458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división · entera · residuo</a:t>
            </a:r>
          </a:p>
        </p:txBody>
      </p:sp>
      <p:sp>
        <p:nvSpPr>
          <p:cNvPr id="240" name="Rounded Rectangle 9"/>
          <p:cNvSpPr/>
          <p:nvPr/>
        </p:nvSpPr>
        <p:spPr>
          <a:xfrm>
            <a:off x="8101583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10"/>
          <p:cNvSpPr txBox="1"/>
          <p:nvPr/>
        </p:nvSpPr>
        <p:spPr>
          <a:xfrm>
            <a:off x="8330183" y="1600200"/>
            <a:ext cx="30654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**</a:t>
            </a:r>
          </a:p>
        </p:txBody>
      </p:sp>
      <p:sp>
        <p:nvSpPr>
          <p:cNvPr id="242" name="TextBox 11"/>
          <p:cNvSpPr txBox="1"/>
          <p:nvPr/>
        </p:nvSpPr>
        <p:spPr>
          <a:xfrm>
            <a:off x="8330183" y="2057400"/>
            <a:ext cx="776844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potencia</a:t>
            </a:r>
          </a:p>
        </p:txBody>
      </p:sp>
      <p:sp>
        <p:nvSpPr>
          <p:cNvPr id="243" name="Rounded Rectangle 12"/>
          <p:cNvSpPr/>
          <p:nvPr/>
        </p:nvSpPr>
        <p:spPr>
          <a:xfrm>
            <a:off x="1920239" y="4251959"/>
            <a:ext cx="8321042" cy="11887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3"/>
          <p:cNvSpPr txBox="1"/>
          <p:nvPr/>
        </p:nvSpPr>
        <p:spPr>
          <a:xfrm>
            <a:off x="2148840" y="4361688"/>
            <a:ext cx="632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Ejemplos</a:t>
            </a:r>
          </a:p>
        </p:txBody>
      </p:sp>
      <p:sp>
        <p:nvSpPr>
          <p:cNvPr id="245" name="TextBox 14"/>
          <p:cNvSpPr txBox="1"/>
          <p:nvPr/>
        </p:nvSpPr>
        <p:spPr>
          <a:xfrm>
            <a:off x="2167127" y="4727447"/>
            <a:ext cx="387665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7/2=3.5   7//2=3   7%2=1   2**3=8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594359" y="228600"/>
            <a:ext cx="317299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Relacionales y lógicos</a:t>
            </a:r>
          </a:p>
        </p:txBody>
      </p:sp>
      <p:sp>
        <p:nvSpPr>
          <p:cNvPr id="249" name="Rounded Rectangle 3"/>
          <p:cNvSpPr/>
          <p:nvPr/>
        </p:nvSpPr>
        <p:spPr>
          <a:xfrm>
            <a:off x="731519" y="1371600"/>
            <a:ext cx="5212081" cy="3291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4"/>
          <p:cNvSpPr txBox="1"/>
          <p:nvPr/>
        </p:nvSpPr>
        <p:spPr>
          <a:xfrm>
            <a:off x="960119" y="1508760"/>
            <a:ext cx="140023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Comparaciones</a:t>
            </a:r>
          </a:p>
        </p:txBody>
      </p:sp>
      <p:sp>
        <p:nvSpPr>
          <p:cNvPr id="251" name="TextBox 5"/>
          <p:cNvSpPr txBox="1"/>
          <p:nvPr/>
        </p:nvSpPr>
        <p:spPr>
          <a:xfrm>
            <a:off x="960119" y="1965960"/>
            <a:ext cx="1316681" cy="843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5 &gt; 3 → True</a:t>
            </a:r>
            <a:br/>
            <a:r>
              <a:t>5 == 5 → True</a:t>
            </a:r>
            <a:br/>
            <a:r>
              <a:t>5 != 2 → True</a:t>
            </a:r>
          </a:p>
        </p:txBody>
      </p:sp>
      <p:sp>
        <p:nvSpPr>
          <p:cNvPr id="252" name="Rounded Rectangle 6"/>
          <p:cNvSpPr/>
          <p:nvPr/>
        </p:nvSpPr>
        <p:spPr>
          <a:xfrm>
            <a:off x="6263640" y="1371600"/>
            <a:ext cx="5212081" cy="3291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7"/>
          <p:cNvSpPr txBox="1"/>
          <p:nvPr/>
        </p:nvSpPr>
        <p:spPr>
          <a:xfrm>
            <a:off x="6492240" y="1508760"/>
            <a:ext cx="6297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Lógica</a:t>
            </a:r>
          </a:p>
        </p:txBody>
      </p:sp>
      <p:sp>
        <p:nvSpPr>
          <p:cNvPr id="254" name="TextBox 8"/>
          <p:cNvSpPr txBox="1"/>
          <p:nvPr/>
        </p:nvSpPr>
        <p:spPr>
          <a:xfrm>
            <a:off x="6492240" y="1965960"/>
            <a:ext cx="1572324" cy="843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and: ambas</a:t>
            </a:r>
            <a:br/>
            <a:r>
              <a:t>or: al menos una</a:t>
            </a:r>
            <a:br/>
            <a:r>
              <a:t>not: invierte</a:t>
            </a:r>
          </a:p>
        </p:txBody>
      </p:sp>
      <p:sp>
        <p:nvSpPr>
          <p:cNvPr id="255" name="Rounded Rectangle 9"/>
          <p:cNvSpPr/>
          <p:nvPr/>
        </p:nvSpPr>
        <p:spPr>
          <a:xfrm>
            <a:off x="1463039" y="5074920"/>
            <a:ext cx="9235442" cy="981576"/>
          </a:xfrm>
          <a:prstGeom prst="roundRect">
            <a:avLst>
              <a:gd name="adj" fmla="val 12421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10"/>
          <p:cNvSpPr txBox="1"/>
          <p:nvPr/>
        </p:nvSpPr>
        <p:spPr>
          <a:xfrm>
            <a:off x="1691639" y="5212079"/>
            <a:ext cx="8535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DC2626"/>
                </a:solidFill>
              </a:defRPr>
            </a:lvl1pPr>
          </a:lstStyle>
          <a:p>
            <a:pPr/>
            <a:r>
              <a:t>Atención</a:t>
            </a:r>
          </a:p>
        </p:txBody>
      </p:sp>
      <p:sp>
        <p:nvSpPr>
          <p:cNvPr id="257" name="TextBox 11"/>
          <p:cNvSpPr txBox="1"/>
          <p:nvPr/>
        </p:nvSpPr>
        <p:spPr>
          <a:xfrm>
            <a:off x="1691639" y="5669279"/>
            <a:ext cx="1776318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= asigna · == compara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2"/>
          <p:cNvSpPr txBox="1"/>
          <p:nvPr/>
        </p:nvSpPr>
        <p:spPr>
          <a:xfrm>
            <a:off x="594359" y="228600"/>
            <a:ext cx="164484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Asignación</a:t>
            </a:r>
          </a:p>
        </p:txBody>
      </p:sp>
      <p:sp>
        <p:nvSpPr>
          <p:cNvPr id="261" name="Rounded Rectangle 3"/>
          <p:cNvSpPr/>
          <p:nvPr/>
        </p:nvSpPr>
        <p:spPr>
          <a:xfrm>
            <a:off x="731519" y="1371600"/>
            <a:ext cx="5120642" cy="3200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4"/>
          <p:cNvSpPr txBox="1"/>
          <p:nvPr/>
        </p:nvSpPr>
        <p:spPr>
          <a:xfrm>
            <a:off x="960119" y="1481327"/>
            <a:ext cx="6615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Completa</a:t>
            </a:r>
          </a:p>
        </p:txBody>
      </p:sp>
      <p:sp>
        <p:nvSpPr>
          <p:cNvPr id="263" name="TextBox 5"/>
          <p:cNvSpPr txBox="1"/>
          <p:nvPr/>
        </p:nvSpPr>
        <p:spPr>
          <a:xfrm>
            <a:off x="978408" y="1847088"/>
            <a:ext cx="1689358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total=10</a:t>
            </a:r>
          </a:p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total=total+5</a:t>
            </a:r>
          </a:p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total=total-2</a:t>
            </a:r>
          </a:p>
        </p:txBody>
      </p:sp>
      <p:sp>
        <p:nvSpPr>
          <p:cNvPr id="264" name="Rounded Rectangle 6"/>
          <p:cNvSpPr/>
          <p:nvPr/>
        </p:nvSpPr>
        <p:spPr>
          <a:xfrm>
            <a:off x="6309359" y="1371600"/>
            <a:ext cx="5120641" cy="3200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7"/>
          <p:cNvSpPr txBox="1"/>
          <p:nvPr/>
        </p:nvSpPr>
        <p:spPr>
          <a:xfrm>
            <a:off x="6537959" y="1481327"/>
            <a:ext cx="685247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BFDBFE"/>
                </a:solidFill>
              </a:defRPr>
            </a:lvl1pPr>
          </a:lstStyle>
          <a:p>
            <a:pPr/>
            <a:r>
              <a:t>Compacta</a:t>
            </a:r>
          </a:p>
        </p:txBody>
      </p:sp>
      <p:sp>
        <p:nvSpPr>
          <p:cNvPr id="266" name="TextBox 8"/>
          <p:cNvSpPr txBox="1"/>
          <p:nvPr/>
        </p:nvSpPr>
        <p:spPr>
          <a:xfrm>
            <a:off x="6556247" y="1847088"/>
            <a:ext cx="1079660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total=10</a:t>
            </a:r>
          </a:p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total+=5</a:t>
            </a:r>
          </a:p>
          <a:p>
            <a:pPr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total-=2</a:t>
            </a:r>
          </a:p>
        </p:txBody>
      </p:sp>
      <p:sp>
        <p:nvSpPr>
          <p:cNvPr id="267" name="Rounded Rectangle 9"/>
          <p:cNvSpPr/>
          <p:nvPr/>
        </p:nvSpPr>
        <p:spPr>
          <a:xfrm>
            <a:off x="1554480" y="4937759"/>
            <a:ext cx="9052560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10"/>
          <p:cNvSpPr txBox="1"/>
          <p:nvPr/>
        </p:nvSpPr>
        <p:spPr>
          <a:xfrm>
            <a:off x="1783080" y="5074920"/>
            <a:ext cx="94492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Resultado</a:t>
            </a:r>
          </a:p>
        </p:txBody>
      </p:sp>
      <p:sp>
        <p:nvSpPr>
          <p:cNvPr id="269" name="TextBox 11"/>
          <p:cNvSpPr txBox="1"/>
          <p:nvPr/>
        </p:nvSpPr>
        <p:spPr>
          <a:xfrm>
            <a:off x="1783080" y="5532120"/>
            <a:ext cx="2532458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Ambas terminan con total = 13.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2"/>
          <p:cNvSpPr txBox="1"/>
          <p:nvPr/>
        </p:nvSpPr>
        <p:spPr>
          <a:xfrm>
            <a:off x="594359" y="228600"/>
            <a:ext cx="1297929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Literales</a:t>
            </a:r>
          </a:p>
        </p:txBody>
      </p:sp>
      <p:sp>
        <p:nvSpPr>
          <p:cNvPr id="273" name="Rounded Rectangle 3"/>
          <p:cNvSpPr/>
          <p:nvPr/>
        </p:nvSpPr>
        <p:spPr>
          <a:xfrm>
            <a:off x="640080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4"/>
          <p:cNvSpPr txBox="1"/>
          <p:nvPr/>
        </p:nvSpPr>
        <p:spPr>
          <a:xfrm>
            <a:off x="868678" y="1600200"/>
            <a:ext cx="100197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Numéricas</a:t>
            </a:r>
          </a:p>
        </p:txBody>
      </p:sp>
      <p:sp>
        <p:nvSpPr>
          <p:cNvPr id="275" name="TextBox 5"/>
          <p:cNvSpPr txBox="1"/>
          <p:nvPr/>
        </p:nvSpPr>
        <p:spPr>
          <a:xfrm>
            <a:off x="868678" y="2057400"/>
            <a:ext cx="101893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5 · 3.14 · -2</a:t>
            </a:r>
          </a:p>
        </p:txBody>
      </p:sp>
      <p:sp>
        <p:nvSpPr>
          <p:cNvPr id="276" name="Rounded Rectangle 6"/>
          <p:cNvSpPr/>
          <p:nvPr/>
        </p:nvSpPr>
        <p:spPr>
          <a:xfrm>
            <a:off x="4370832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7"/>
          <p:cNvSpPr txBox="1"/>
          <p:nvPr/>
        </p:nvSpPr>
        <p:spPr>
          <a:xfrm>
            <a:off x="4599432" y="1600200"/>
            <a:ext cx="55737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0D9488"/>
                </a:solidFill>
              </a:defRPr>
            </a:lvl1pPr>
          </a:lstStyle>
          <a:p>
            <a:pPr/>
            <a:r>
              <a:t>Texto</a:t>
            </a:r>
          </a:p>
        </p:txBody>
      </p:sp>
      <p:sp>
        <p:nvSpPr>
          <p:cNvPr id="278" name="TextBox 8"/>
          <p:cNvSpPr txBox="1"/>
          <p:nvPr/>
        </p:nvSpPr>
        <p:spPr>
          <a:xfrm>
            <a:off x="4599432" y="2057400"/>
            <a:ext cx="23632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'A' · "Diseño de algoritmos"</a:t>
            </a:r>
          </a:p>
        </p:txBody>
      </p:sp>
      <p:sp>
        <p:nvSpPr>
          <p:cNvPr id="279" name="Rounded Rectangle 9"/>
          <p:cNvSpPr/>
          <p:nvPr/>
        </p:nvSpPr>
        <p:spPr>
          <a:xfrm>
            <a:off x="8101583" y="1463039"/>
            <a:ext cx="3474721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10"/>
          <p:cNvSpPr txBox="1"/>
          <p:nvPr/>
        </p:nvSpPr>
        <p:spPr>
          <a:xfrm>
            <a:off x="8330183" y="1600200"/>
            <a:ext cx="97944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Booleanas</a:t>
            </a:r>
          </a:p>
        </p:txBody>
      </p:sp>
      <p:sp>
        <p:nvSpPr>
          <p:cNvPr id="281" name="TextBox 11"/>
          <p:cNvSpPr txBox="1"/>
          <p:nvPr/>
        </p:nvSpPr>
        <p:spPr>
          <a:xfrm>
            <a:off x="8330183" y="2057400"/>
            <a:ext cx="102489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True · False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2"/>
          <p:cNvSpPr txBox="1"/>
          <p:nvPr/>
        </p:nvSpPr>
        <p:spPr>
          <a:xfrm>
            <a:off x="594359" y="228600"/>
            <a:ext cx="401953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Precedencia y asociatividad</a:t>
            </a:r>
          </a:p>
        </p:txBody>
      </p:sp>
      <p:sp>
        <p:nvSpPr>
          <p:cNvPr id="285" name="Rounded Rectangle 3"/>
          <p:cNvSpPr/>
          <p:nvPr/>
        </p:nvSpPr>
        <p:spPr>
          <a:xfrm>
            <a:off x="731519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4"/>
          <p:cNvSpPr txBox="1"/>
          <p:nvPr/>
        </p:nvSpPr>
        <p:spPr>
          <a:xfrm>
            <a:off x="960119" y="1508760"/>
            <a:ext cx="112748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Precedencia</a:t>
            </a:r>
          </a:p>
        </p:txBody>
      </p:sp>
      <p:sp>
        <p:nvSpPr>
          <p:cNvPr id="287" name="TextBox 5"/>
          <p:cNvSpPr txBox="1"/>
          <p:nvPr/>
        </p:nvSpPr>
        <p:spPr>
          <a:xfrm>
            <a:off x="960119" y="1965960"/>
            <a:ext cx="1549821" cy="62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900">
                <a:solidFill>
                  <a:srgbClr val="475569"/>
                </a:solidFill>
              </a:defRPr>
            </a:pPr>
            <a:r>
              <a:t>2 + 3 * 4 = 14</a:t>
            </a:r>
            <a:br/>
            <a:r>
              <a:t>(2 + 3) * 4 = 20</a:t>
            </a:r>
          </a:p>
        </p:txBody>
      </p:sp>
      <p:sp>
        <p:nvSpPr>
          <p:cNvPr id="288" name="Rounded Rectangle 6"/>
          <p:cNvSpPr/>
          <p:nvPr/>
        </p:nvSpPr>
        <p:spPr>
          <a:xfrm>
            <a:off x="6263640" y="1371600"/>
            <a:ext cx="521208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7"/>
          <p:cNvSpPr txBox="1"/>
          <p:nvPr/>
        </p:nvSpPr>
        <p:spPr>
          <a:xfrm>
            <a:off x="6492240" y="1508760"/>
            <a:ext cx="12357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Asociatividad</a:t>
            </a:r>
          </a:p>
        </p:txBody>
      </p:sp>
      <p:sp>
        <p:nvSpPr>
          <p:cNvPr id="290" name="TextBox 8"/>
          <p:cNvSpPr txBox="1"/>
          <p:nvPr/>
        </p:nvSpPr>
        <p:spPr>
          <a:xfrm>
            <a:off x="6492240" y="1965960"/>
            <a:ext cx="1457212" cy="62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900">
                <a:solidFill>
                  <a:srgbClr val="475569"/>
                </a:solidFill>
              </a:defRPr>
            </a:pPr>
            <a:r>
              <a:t>10 - 4 - 2 = 4</a:t>
            </a:r>
            <a:br/>
            <a:r>
              <a:t>10 - (4 - 2) = 8</a:t>
            </a:r>
          </a:p>
        </p:txBody>
      </p:sp>
      <p:sp>
        <p:nvSpPr>
          <p:cNvPr id="291" name="Rounded Rectangle 9"/>
          <p:cNvSpPr/>
          <p:nvPr/>
        </p:nvSpPr>
        <p:spPr>
          <a:xfrm>
            <a:off x="1463039" y="4937759"/>
            <a:ext cx="9235442" cy="1084784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0"/>
          <p:cNvSpPr txBox="1"/>
          <p:nvPr/>
        </p:nvSpPr>
        <p:spPr>
          <a:xfrm>
            <a:off x="1691639" y="5074920"/>
            <a:ext cx="77446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Consejo</a:t>
            </a:r>
          </a:p>
        </p:txBody>
      </p:sp>
      <p:sp>
        <p:nvSpPr>
          <p:cNvPr id="293" name="TextBox 11"/>
          <p:cNvSpPr txBox="1"/>
          <p:nvPr/>
        </p:nvSpPr>
        <p:spPr>
          <a:xfrm>
            <a:off x="1691639" y="5532120"/>
            <a:ext cx="3800753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Usa paréntesis para hacer explícita tu intención.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2"/>
          <p:cNvSpPr txBox="1"/>
          <p:nvPr/>
        </p:nvSpPr>
        <p:spPr>
          <a:xfrm>
            <a:off x="594359" y="228600"/>
            <a:ext cx="498912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Práctica: predice antes de ejecutar</a:t>
            </a:r>
          </a:p>
        </p:txBody>
      </p:sp>
      <p:sp>
        <p:nvSpPr>
          <p:cNvPr id="297" name="Rounded Rectangle 3"/>
          <p:cNvSpPr/>
          <p:nvPr/>
        </p:nvSpPr>
        <p:spPr>
          <a:xfrm>
            <a:off x="640080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4"/>
          <p:cNvSpPr txBox="1"/>
          <p:nvPr/>
        </p:nvSpPr>
        <p:spPr>
          <a:xfrm>
            <a:off x="868678" y="1600200"/>
            <a:ext cx="41132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1–2</a:t>
            </a:r>
          </a:p>
        </p:txBody>
      </p:sp>
      <p:sp>
        <p:nvSpPr>
          <p:cNvPr id="299" name="TextBox 5"/>
          <p:cNvSpPr txBox="1"/>
          <p:nvPr/>
        </p:nvSpPr>
        <p:spPr>
          <a:xfrm>
            <a:off x="868678" y="2057400"/>
            <a:ext cx="886159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5 + 2 * 3</a:t>
            </a:r>
            <a:br/>
            <a:r>
              <a:t>17 // 5</a:t>
            </a:r>
          </a:p>
        </p:txBody>
      </p:sp>
      <p:sp>
        <p:nvSpPr>
          <p:cNvPr id="300" name="Rounded Rectangle 6"/>
          <p:cNvSpPr/>
          <p:nvPr/>
        </p:nvSpPr>
        <p:spPr>
          <a:xfrm>
            <a:off x="4370832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7"/>
          <p:cNvSpPr txBox="1"/>
          <p:nvPr/>
        </p:nvSpPr>
        <p:spPr>
          <a:xfrm>
            <a:off x="4599432" y="1600200"/>
            <a:ext cx="4113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0D9488"/>
                </a:solidFill>
              </a:defRPr>
            </a:lvl1pPr>
          </a:lstStyle>
          <a:p>
            <a:pPr/>
            <a:r>
              <a:t>3–4</a:t>
            </a:r>
          </a:p>
        </p:txBody>
      </p:sp>
      <p:sp>
        <p:nvSpPr>
          <p:cNvPr id="302" name="TextBox 8"/>
          <p:cNvSpPr txBox="1"/>
          <p:nvPr/>
        </p:nvSpPr>
        <p:spPr>
          <a:xfrm>
            <a:off x="4599432" y="2057400"/>
            <a:ext cx="1568944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17 % 5</a:t>
            </a:r>
            <a:br/>
            <a:r>
              <a:t>8 &gt; 3 and 2 == 2</a:t>
            </a:r>
          </a:p>
        </p:txBody>
      </p:sp>
      <p:sp>
        <p:nvSpPr>
          <p:cNvPr id="303" name="Rounded Rectangle 9"/>
          <p:cNvSpPr/>
          <p:nvPr/>
        </p:nvSpPr>
        <p:spPr>
          <a:xfrm>
            <a:off x="8101583" y="1463039"/>
            <a:ext cx="3474721" cy="2560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0"/>
          <p:cNvSpPr txBox="1"/>
          <p:nvPr/>
        </p:nvSpPr>
        <p:spPr>
          <a:xfrm>
            <a:off x="8330183" y="1600200"/>
            <a:ext cx="4113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7C3AED"/>
                </a:solidFill>
              </a:defRPr>
            </a:lvl1pPr>
          </a:lstStyle>
          <a:p>
            <a:pPr/>
            <a:r>
              <a:t>5–6</a:t>
            </a:r>
          </a:p>
        </p:txBody>
      </p:sp>
      <p:sp>
        <p:nvSpPr>
          <p:cNvPr id="305" name="TextBox 11"/>
          <p:cNvSpPr txBox="1"/>
          <p:nvPr/>
        </p:nvSpPr>
        <p:spPr>
          <a:xfrm>
            <a:off x="8330183" y="2057400"/>
            <a:ext cx="1176484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not (10 &lt; 4)</a:t>
            </a:r>
            <a:br/>
            <a:r>
              <a:t>x=5; x+=3</a:t>
            </a:r>
          </a:p>
        </p:txBody>
      </p:sp>
      <p:sp>
        <p:nvSpPr>
          <p:cNvPr id="306" name="Rounded Rectangle 12"/>
          <p:cNvSpPr/>
          <p:nvPr/>
        </p:nvSpPr>
        <p:spPr>
          <a:xfrm>
            <a:off x="1463039" y="4846320"/>
            <a:ext cx="9235442" cy="1106515"/>
          </a:xfrm>
          <a:prstGeom prst="roundRect">
            <a:avLst>
              <a:gd name="adj" fmla="val 12396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13"/>
          <p:cNvSpPr txBox="1"/>
          <p:nvPr/>
        </p:nvSpPr>
        <p:spPr>
          <a:xfrm>
            <a:off x="1691639" y="4983479"/>
            <a:ext cx="77863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EA580C"/>
                </a:solidFill>
              </a:defRPr>
            </a:lvl1pPr>
          </a:lstStyle>
          <a:p>
            <a:pPr/>
            <a:r>
              <a:t>Método</a:t>
            </a:r>
          </a:p>
        </p:txBody>
      </p:sp>
      <p:sp>
        <p:nvSpPr>
          <p:cNvPr id="308" name="TextBox 14"/>
          <p:cNvSpPr txBox="1"/>
          <p:nvPr/>
        </p:nvSpPr>
        <p:spPr>
          <a:xfrm>
            <a:off x="1691639" y="5440679"/>
            <a:ext cx="349345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Predice → ejecuta → compara → explica.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